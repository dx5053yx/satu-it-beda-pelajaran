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56" r:id="rId1"/>
  </p:sldMasterIdLst>
  <p:notesMasterIdLst>
    <p:notesMasterId r:id="rId27"/>
  </p:notesMasterIdLst>
  <p:sldIdLst>
    <p:sldId id="291" r:id="rId2"/>
    <p:sldId id="333" r:id="rId3"/>
    <p:sldId id="385" r:id="rId4"/>
    <p:sldId id="374" r:id="rId5"/>
    <p:sldId id="375" r:id="rId6"/>
    <p:sldId id="376" r:id="rId7"/>
    <p:sldId id="377" r:id="rId8"/>
    <p:sldId id="378" r:id="rId9"/>
    <p:sldId id="396" r:id="rId10"/>
    <p:sldId id="380" r:id="rId11"/>
    <p:sldId id="382" r:id="rId12"/>
    <p:sldId id="383" r:id="rId13"/>
    <p:sldId id="386" r:id="rId14"/>
    <p:sldId id="387" r:id="rId15"/>
    <p:sldId id="388" r:id="rId16"/>
    <p:sldId id="398" r:id="rId17"/>
    <p:sldId id="397" r:id="rId18"/>
    <p:sldId id="389" r:id="rId19"/>
    <p:sldId id="390" r:id="rId20"/>
    <p:sldId id="391" r:id="rId21"/>
    <p:sldId id="400" r:id="rId22"/>
    <p:sldId id="392" r:id="rId23"/>
    <p:sldId id="401" r:id="rId24"/>
    <p:sldId id="393" r:id="rId25"/>
    <p:sldId id="38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422C16"/>
    <a:srgbClr val="0C788E"/>
    <a:srgbClr val="025198"/>
    <a:srgbClr val="1C1C1C"/>
    <a:srgbClr val="660066"/>
    <a:srgbClr val="000058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99476" autoAdjust="0"/>
  </p:normalViewPr>
  <p:slideViewPr>
    <p:cSldViewPr>
      <p:cViewPr varScale="1">
        <p:scale>
          <a:sx n="67" d="100"/>
          <a:sy n="67" d="100"/>
        </p:scale>
        <p:origin x="13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aster\%23UB_Project\%23Penelitian%202013\PPT%20Presentasi\Bentuk%20Visualisasi%20data.xlsx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aster\%23UB_Project\%23Penelitian%202013\PPT%20Presentasi\Bentuk%20Visualisasi%20data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5D5-4D94-B149-8F378B0BE1D4}"/>
            </c:ext>
          </c:extLst>
        </c:ser>
        <c:ser>
          <c:idx val="1"/>
          <c:order val="1"/>
          <c:tx>
            <c:v>KElas</c:v>
          </c:tx>
          <c:spPr>
            <a:ln w="47625">
              <a:noFill/>
            </a:ln>
          </c:spPr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C5D5-4D94-B149-8F378B0BE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272128"/>
        <c:axId val="70274432"/>
      </c:scatterChart>
      <c:valAx>
        <c:axId val="7027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70274432"/>
        <c:crosses val="autoZero"/>
        <c:crossBetween val="midCat"/>
      </c:valAx>
      <c:valAx>
        <c:axId val="70274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7027212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9C8-4101-A490-EA17F1051623}"/>
            </c:ext>
          </c:extLst>
        </c:ser>
        <c:ser>
          <c:idx val="1"/>
          <c:order val="1"/>
          <c:tx>
            <c:v>KElas</c:v>
          </c:tx>
          <c:spPr>
            <a:ln w="47625">
              <a:noFill/>
            </a:ln>
          </c:spPr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39C8-4101-A490-EA17F1051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06944"/>
        <c:axId val="71108864"/>
      </c:scatterChart>
      <c:valAx>
        <c:axId val="7110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71108864"/>
        <c:crosses val="autoZero"/>
        <c:crossBetween val="midCat"/>
      </c:valAx>
      <c:valAx>
        <c:axId val="71108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7110694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Kelas -1</c:v>
          </c:tx>
          <c:spPr>
            <a:ln w="28575">
              <a:noFill/>
            </a:ln>
          </c:spPr>
          <c:marker>
            <c:spPr>
              <a:noFill/>
            </c:spPr>
          </c:marker>
          <c:dPt>
            <c:idx val="1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9B4-41BB-899E-B1B904B7521E}"/>
              </c:ext>
            </c:extLst>
          </c:dPt>
          <c:dPt>
            <c:idx val="2"/>
            <c:marker>
              <c:symbol val="diamond"/>
              <c:size val="15"/>
              <c:spPr>
                <a:solidFill>
                  <a:schemeClr val="accent1">
                    <a:lumMod val="90000"/>
                  </a:schemeClr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A9B4-41BB-899E-B1B904B7521E}"/>
              </c:ext>
            </c:extLst>
          </c:dPt>
          <c:dPt>
            <c:idx val="3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9B4-41BB-899E-B1B904B7521E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9B4-41BB-899E-B1B904B7521E}"/>
            </c:ext>
          </c:extLst>
        </c:ser>
        <c:ser>
          <c:idx val="1"/>
          <c:order val="1"/>
          <c:tx>
            <c:v>Kelas +1</c:v>
          </c:tx>
          <c:spPr>
            <a:ln w="28575">
              <a:noFill/>
            </a:ln>
          </c:spPr>
          <c:dPt>
            <c:idx val="0"/>
            <c:marker>
              <c:symbol val="square"/>
              <c:size val="11"/>
            </c:marker>
            <c:bubble3D val="0"/>
            <c:extLst>
              <c:ext xmlns:c16="http://schemas.microsoft.com/office/drawing/2014/chart" uri="{C3380CC4-5D6E-409C-BE32-E72D297353CC}">
                <c16:uniqueId val="{00000005-A9B4-41BB-899E-B1B904B7521E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A9B4-41BB-899E-B1B904B752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830208"/>
        <c:axId val="78520704"/>
      </c:scatterChart>
      <c:valAx>
        <c:axId val="768302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x1</a:t>
                </a:r>
              </a:p>
            </c:rich>
          </c:tx>
          <c:layout>
            <c:manualLayout>
              <c:xMode val="edge"/>
              <c:yMode val="edge"/>
              <c:x val="0.72664238845144347"/>
              <c:y val="0.35419986068082676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78520704"/>
        <c:crosses val="autoZero"/>
        <c:crossBetween val="midCat"/>
      </c:valAx>
      <c:valAx>
        <c:axId val="7852070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x2</a:t>
                </a:r>
              </a:p>
            </c:rich>
          </c:tx>
          <c:layout>
            <c:manualLayout>
              <c:xMode val="edge"/>
              <c:yMode val="edge"/>
              <c:x val="0.44444444444444442"/>
              <c:y val="2.8681450829481273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76830208"/>
        <c:crosses val="autoZero"/>
        <c:crossBetween val="midCat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9097922134733156"/>
          <c:y val="0.3885961650627005"/>
          <c:w val="0.19235411198600175"/>
          <c:h val="0.19040026246719161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Kelas -1</c:v>
          </c:tx>
          <c:spPr>
            <a:ln w="28575">
              <a:noFill/>
            </a:ln>
          </c:spPr>
          <c:marker>
            <c:spPr>
              <a:noFill/>
            </c:spPr>
          </c:marker>
          <c:dPt>
            <c:idx val="1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6D5-46A0-A204-2A23C6087FE2}"/>
              </c:ext>
            </c:extLst>
          </c:dPt>
          <c:dPt>
            <c:idx val="2"/>
            <c:marker>
              <c:symbol val="diamond"/>
              <c:size val="15"/>
              <c:spPr>
                <a:solidFill>
                  <a:schemeClr val="accent1">
                    <a:lumMod val="90000"/>
                  </a:schemeClr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6D5-46A0-A204-2A23C6087FE2}"/>
              </c:ext>
            </c:extLst>
          </c:dPt>
          <c:dPt>
            <c:idx val="3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6D5-46A0-A204-2A23C6087FE2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6D5-46A0-A204-2A23C6087FE2}"/>
            </c:ext>
          </c:extLst>
        </c:ser>
        <c:ser>
          <c:idx val="1"/>
          <c:order val="1"/>
          <c:tx>
            <c:v>Kelas +1</c:v>
          </c:tx>
          <c:spPr>
            <a:ln w="28575">
              <a:noFill/>
            </a:ln>
          </c:spPr>
          <c:dPt>
            <c:idx val="0"/>
            <c:marker>
              <c:symbol val="square"/>
              <c:size val="11"/>
            </c:marker>
            <c:bubble3D val="0"/>
            <c:extLst>
              <c:ext xmlns:c16="http://schemas.microsoft.com/office/drawing/2014/chart" uri="{C3380CC4-5D6E-409C-BE32-E72D297353CC}">
                <c16:uniqueId val="{00000005-96D5-46A0-A204-2A23C6087FE2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96D5-46A0-A204-2A23C6087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949824"/>
        <c:axId val="130307584"/>
      </c:scatterChart>
      <c:valAx>
        <c:axId val="127949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x1</a:t>
                </a:r>
              </a:p>
            </c:rich>
          </c:tx>
          <c:layout>
            <c:manualLayout>
              <c:xMode val="edge"/>
              <c:yMode val="edge"/>
              <c:x val="0.7238646106736657"/>
              <c:y val="0.3726851851851851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30307584"/>
        <c:crosses val="autoZero"/>
        <c:crossBetween val="midCat"/>
      </c:valAx>
      <c:valAx>
        <c:axId val="13030758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x2</a:t>
                </a:r>
              </a:p>
            </c:rich>
          </c:tx>
          <c:layout>
            <c:manualLayout>
              <c:xMode val="edge"/>
              <c:yMode val="edge"/>
              <c:x val="0.44444444444444442"/>
              <c:y val="2.8657407407407395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27949824"/>
        <c:crosses val="autoZero"/>
        <c:crossBetween val="midCat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9097922134733156"/>
          <c:y val="0.3885961650627005"/>
          <c:w val="0.19235411198600175"/>
          <c:h val="0.19040026246719161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28569">
              <a:noFill/>
            </a:ln>
          </c:spPr>
          <c:dPt>
            <c:idx val="0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976-478C-8FC8-73DF25553370}"/>
              </c:ext>
            </c:extLst>
          </c:dPt>
          <c:dPt>
            <c:idx val="1"/>
            <c:marker>
              <c:symbol val="diamond"/>
              <c:size val="6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976-478C-8FC8-73DF25553370}"/>
              </c:ext>
            </c:extLst>
          </c:dPt>
          <c:dPt>
            <c:idx val="3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976-478C-8FC8-73DF25553370}"/>
              </c:ext>
            </c:extLst>
          </c:dPt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976-478C-8FC8-73DF25553370}"/>
            </c:ext>
          </c:extLst>
        </c:ser>
        <c:ser>
          <c:idx val="1"/>
          <c:order val="1"/>
          <c:tx>
            <c:v>KElas</c:v>
          </c:tx>
          <c:spPr>
            <a:ln w="28569">
              <a:noFill/>
            </a:ln>
          </c:spPr>
          <c:marker>
            <c:symbol val="diamond"/>
            <c:size val="6"/>
            <c:spPr>
              <a:solidFill>
                <a:schemeClr val="accent1"/>
              </a:solidFill>
            </c:spPr>
          </c:marker>
          <c:dPt>
            <c:idx val="0"/>
            <c:marker>
              <c:spPr>
                <a:solidFill>
                  <a:schemeClr val="accent1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976-478C-8FC8-73DF25553370}"/>
              </c:ext>
            </c:extLst>
          </c:dPt>
          <c:xVal>
            <c:numRef>
              <c:f>Sheet1!$C$2:$C$5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2976-478C-8FC8-73DF25553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502016"/>
        <c:axId val="42503552"/>
      </c:scatterChart>
      <c:valAx>
        <c:axId val="4250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2503552"/>
        <c:crosses val="autoZero"/>
        <c:crossBetween val="midCat"/>
      </c:valAx>
      <c:valAx>
        <c:axId val="425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2502016"/>
        <c:crosses val="autoZero"/>
        <c:crossBetween val="midCat"/>
      </c:valAx>
      <c:spPr>
        <a:noFill/>
        <a:ln w="25395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28554">
              <a:noFill/>
            </a:ln>
          </c:spPr>
          <c:dPt>
            <c:idx val="0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835-4FC5-B264-8610D84AD567}"/>
              </c:ext>
            </c:extLst>
          </c:dPt>
          <c:dPt>
            <c:idx val="1"/>
            <c:marker>
              <c:symbol val="diamond"/>
              <c:size val="6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6835-4FC5-B264-8610D84AD567}"/>
              </c:ext>
            </c:extLst>
          </c:dPt>
          <c:dPt>
            <c:idx val="3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6835-4FC5-B264-8610D84AD567}"/>
              </c:ext>
            </c:extLst>
          </c:dPt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835-4FC5-B264-8610D84AD567}"/>
            </c:ext>
          </c:extLst>
        </c:ser>
        <c:ser>
          <c:idx val="1"/>
          <c:order val="1"/>
          <c:tx>
            <c:v>KElas</c:v>
          </c:tx>
          <c:spPr>
            <a:ln w="28554">
              <a:noFill/>
            </a:ln>
          </c:spPr>
          <c:marker>
            <c:symbol val="diamond"/>
            <c:size val="6"/>
            <c:spPr>
              <a:solidFill>
                <a:schemeClr val="accent1"/>
              </a:solidFill>
            </c:spPr>
          </c:marker>
          <c:dPt>
            <c:idx val="0"/>
            <c:marker>
              <c:spPr>
                <a:solidFill>
                  <a:schemeClr val="accent1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6835-4FC5-B264-8610D84AD567}"/>
              </c:ext>
            </c:extLst>
          </c:dPt>
          <c:xVal>
            <c:numRef>
              <c:f>Sheet1!$C$2:$C$5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6835-4FC5-B264-8610D84AD5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785408"/>
        <c:axId val="42791296"/>
      </c:scatterChart>
      <c:valAx>
        <c:axId val="4278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999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2791296"/>
        <c:crosses val="autoZero"/>
        <c:crossBetween val="midCat"/>
      </c:valAx>
      <c:valAx>
        <c:axId val="42791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2785408"/>
        <c:crosses val="autoZero"/>
        <c:crossBetween val="midCat"/>
      </c:valAx>
      <c:spPr>
        <a:noFill/>
        <a:ln w="25381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8F808C0-0879-4892-B50E-1E89239C2F47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F7FE866-D602-4F51-BC5A-FD79091400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071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/>
              <a:t>Additive Kernel yang digunakan di paper reference hanya diterapkan pada kasus dengan hyperplane Linier.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/>
              <a:t>Konsep Additive kernel adalah menambahkan beberapa hasil K(x,y) dari 2 kernel atau lebih.</a:t>
            </a:r>
          </a:p>
          <a:p>
            <a:pPr marL="171450" indent="-171450"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A0F222E-E1A3-45A6-BE63-E165550EF6FB}" type="slidenum">
              <a:rPr lang="en-US" smtClean="0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F0821-1FD9-4BD4-9F3F-F40EBFBC588A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D5439-56FD-4955-843E-2F66A55D0D3E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AC4F4-84F3-9F8E-27C3-536244FF9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r="8450"/>
          <a:stretch>
            <a:fillRect/>
          </a:stretch>
        </p:blipFill>
        <p:spPr bwMode="auto">
          <a:xfrm>
            <a:off x="-1588" y="1098550"/>
            <a:ext cx="9144001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FAAAEC-920A-A9D4-32DF-0CC51F9DD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36"/>
          <a:stretch>
            <a:fillRect/>
          </a:stretch>
        </p:blipFill>
        <p:spPr bwMode="auto">
          <a:xfrm>
            <a:off x="-1588" y="19050"/>
            <a:ext cx="9144001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73496AF-8E10-DEB9-0084-CA204BAEB7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5"/>
          <a:stretch>
            <a:fillRect/>
          </a:stretch>
        </p:blipFill>
        <p:spPr bwMode="auto">
          <a:xfrm>
            <a:off x="7938" y="15875"/>
            <a:ext cx="914241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7E4DF8A9-B95E-AF38-BEF8-120270639C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1" t="-2" r="80624" b="-882"/>
          <a:stretch>
            <a:fillRect/>
          </a:stretch>
        </p:blipFill>
        <p:spPr bwMode="auto">
          <a:xfrm>
            <a:off x="107950" y="260350"/>
            <a:ext cx="70802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35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DF628-FE75-4F1A-AC18-30208698EC45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9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77BAA-512C-4256-A4B3-69E2C0DDC88E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457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F872F-384F-4E55-B4CC-78AEA11D7BC4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50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82E985-F1DA-4A9F-81F3-4AFC38EC0845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359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005C53-4520-473B-8F0B-810C957CE544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9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1CE921-B092-4E13-98E2-707DF7FB45F6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51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BE3F16-3AC5-417F-A0DE-F8B0CC8448C9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51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97DA90-FE03-4A26-A66C-2956B39E72E6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016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40555C-5786-4FC0-A966-6A2E74D051C1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62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D568BDA-C7B6-44B3-86B9-A48050B3847A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0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7" r:id="rId1"/>
    <p:sldLayoutId id="2147484658" r:id="rId2"/>
    <p:sldLayoutId id="2147484659" r:id="rId3"/>
    <p:sldLayoutId id="2147484660" r:id="rId4"/>
    <p:sldLayoutId id="2147484661" r:id="rId5"/>
    <p:sldLayoutId id="2147484662" r:id="rId6"/>
    <p:sldLayoutId id="2147484663" r:id="rId7"/>
    <p:sldLayoutId id="2147484664" r:id="rId8"/>
    <p:sldLayoutId id="2147484665" r:id="rId9"/>
    <p:sldLayoutId id="2147484666" r:id="rId10"/>
    <p:sldLayoutId id="21474846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36.w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8.wmf"/><Relationship Id="rId5" Type="http://schemas.openxmlformats.org/officeDocument/2006/relationships/image" Target="../media/image29.png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35.wmf"/><Relationship Id="rId9" Type="http://schemas.openxmlformats.org/officeDocument/2006/relationships/image" Target="../media/image3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0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8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2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647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Pokok Pembahasan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5113338"/>
          </a:xfrm>
        </p:spPr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2800"/>
              <a:t>Support Vector Machine (SVM)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Pengertian SVM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Model SVM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Visualisasi SVM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Karakteristik SVM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2800"/>
              <a:t>Case Study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2800"/>
              <a:t>Latihan Individu &amp; Diskusi Kelompok</a:t>
            </a:r>
          </a:p>
          <a:p>
            <a:pPr marL="514350" indent="-514350" eaLnBrk="1" hangingPunct="1">
              <a:buFontTx/>
              <a:buAutoNum type="arabicPeriod"/>
            </a:pP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</a:t>
            </a:r>
            <a:endParaRPr lang="en-SG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en-US" sz="2000" dirty="0" err="1"/>
              <a:t>Konsep</a:t>
            </a:r>
            <a:r>
              <a:rPr lang="en-US" sz="2000" dirty="0"/>
              <a:t> </a:t>
            </a:r>
            <a:r>
              <a:rPr lang="en-US" sz="2000" dirty="0" err="1"/>
              <a:t>Klasifikasi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Support Vector Machine (SVM)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mencari</a:t>
            </a:r>
            <a:r>
              <a:rPr lang="en-US" sz="2000" dirty="0"/>
              <a:t> </a:t>
            </a:r>
            <a:r>
              <a:rPr lang="en-US" sz="2000" dirty="0" err="1"/>
              <a:t>hyperplane</a:t>
            </a:r>
            <a:r>
              <a:rPr lang="en-US" sz="2000" dirty="0"/>
              <a:t> </a:t>
            </a:r>
            <a:r>
              <a:rPr lang="en-US" sz="2000" dirty="0" err="1"/>
              <a:t>terbaik</a:t>
            </a:r>
            <a:r>
              <a:rPr lang="en-US" sz="2000" dirty="0"/>
              <a:t> yang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pemisah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kelas</a:t>
            </a:r>
            <a:r>
              <a:rPr lang="en-US" sz="2000" dirty="0"/>
              <a:t> data.</a:t>
            </a:r>
          </a:p>
          <a:p>
            <a:pPr algn="just" eaLnBrk="1" hangingPunct="1">
              <a:defRPr/>
            </a:pPr>
            <a:r>
              <a:rPr lang="en-US" sz="2000" dirty="0"/>
              <a:t>Ide </a:t>
            </a:r>
            <a:r>
              <a:rPr lang="en-US" sz="2000" dirty="0" err="1"/>
              <a:t>sederhana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SVM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memaksimalkan</a:t>
            </a:r>
            <a:r>
              <a:rPr lang="en-US" sz="2000" dirty="0"/>
              <a:t> margin, yang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jarak</a:t>
            </a:r>
            <a:r>
              <a:rPr lang="en-US" sz="2000" dirty="0"/>
              <a:t> </a:t>
            </a:r>
            <a:r>
              <a:rPr lang="en-US" sz="2000" dirty="0" err="1"/>
              <a:t>pemisah</a:t>
            </a:r>
            <a:r>
              <a:rPr lang="en-US" sz="2000" dirty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kelas</a:t>
            </a:r>
            <a:r>
              <a:rPr lang="en-US" sz="2000" dirty="0"/>
              <a:t> data.</a:t>
            </a:r>
          </a:p>
          <a:p>
            <a:pPr algn="just" eaLnBrk="1" hangingPunct="1">
              <a:defRPr/>
            </a:pPr>
            <a:r>
              <a:rPr lang="en-US" sz="2000" dirty="0"/>
              <a:t>SVM </a:t>
            </a:r>
            <a:r>
              <a:rPr lang="en-US" sz="2000" dirty="0" err="1"/>
              <a:t>mampu</a:t>
            </a:r>
            <a:r>
              <a:rPr lang="en-US" sz="2000" dirty="0"/>
              <a:t> </a:t>
            </a:r>
            <a:r>
              <a:rPr lang="en-US" sz="2000" dirty="0" err="1"/>
              <a:t>bekerja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dataset yang </a:t>
            </a:r>
            <a:r>
              <a:rPr lang="en-US" sz="2000" dirty="0" err="1"/>
              <a:t>berdimensi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kernel </a:t>
            </a:r>
            <a:r>
              <a:rPr lang="en-US" sz="2000" dirty="0" err="1"/>
              <a:t>trik</a:t>
            </a:r>
            <a:r>
              <a:rPr lang="en-US" sz="2000" dirty="0"/>
              <a:t>.</a:t>
            </a:r>
          </a:p>
          <a:p>
            <a:pPr algn="just" eaLnBrk="1" hangingPunct="1">
              <a:defRPr/>
            </a:pPr>
            <a:r>
              <a:rPr lang="en-US" sz="2000" dirty="0"/>
              <a:t>SVM </a:t>
            </a: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data </a:t>
            </a:r>
            <a:r>
              <a:rPr lang="en-US" sz="2000" dirty="0" err="1"/>
              <a:t>terpilih</a:t>
            </a:r>
            <a:r>
              <a:rPr lang="en-US" sz="2000" dirty="0"/>
              <a:t> yang </a:t>
            </a:r>
            <a:r>
              <a:rPr lang="en-US" sz="2000" dirty="0" err="1"/>
              <a:t>berkontribusi</a:t>
            </a:r>
            <a:r>
              <a:rPr lang="en-US" sz="2000" dirty="0"/>
              <a:t> (Support Vector)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membentuk</a:t>
            </a:r>
            <a:r>
              <a:rPr lang="en-US" sz="2000" dirty="0"/>
              <a:t> model yang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proses </a:t>
            </a:r>
            <a:r>
              <a:rPr lang="en-US" sz="2000" dirty="0" err="1"/>
              <a:t>klasifikasi</a:t>
            </a:r>
            <a:r>
              <a:rPr lang="en-US" sz="2000" dirty="0"/>
              <a:t>.</a:t>
            </a:r>
          </a:p>
          <a:p>
            <a:pPr algn="just" eaLnBrk="1" hangingPunct="1">
              <a:defRPr/>
            </a:pPr>
            <a:r>
              <a:rPr lang="en-US" sz="2000" dirty="0" err="1"/>
              <a:t>Macam-Macam</a:t>
            </a:r>
            <a:r>
              <a:rPr lang="en-US" sz="2000" dirty="0"/>
              <a:t> Training </a:t>
            </a:r>
            <a:r>
              <a:rPr lang="en-US" sz="2000" dirty="0" err="1"/>
              <a:t>untuk</a:t>
            </a:r>
            <a:r>
              <a:rPr lang="en-US" sz="2000" dirty="0"/>
              <a:t> SVM :  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+mj-lt"/>
              </a:rPr>
              <a:t>Chunking (Quadratic Programming).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 err="1">
                <a:latin typeface="+mj-lt"/>
              </a:rPr>
              <a:t>Osuna</a:t>
            </a:r>
            <a:r>
              <a:rPr lang="en-US" sz="2000" dirty="0">
                <a:latin typeface="+mj-lt"/>
              </a:rPr>
              <a:t> (</a:t>
            </a:r>
            <a:r>
              <a:rPr lang="en-US" sz="2000" dirty="0" err="1">
                <a:latin typeface="+mj-lt"/>
              </a:rPr>
              <a:t>Dekomposisi</a:t>
            </a:r>
            <a:r>
              <a:rPr lang="en-US" sz="2000" dirty="0">
                <a:latin typeface="+mj-lt"/>
              </a:rPr>
              <a:t>).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+mj-lt"/>
              </a:rPr>
              <a:t>Sequential Minimum </a:t>
            </a:r>
            <a:r>
              <a:rPr lang="en-US" sz="2000" dirty="0" err="1">
                <a:latin typeface="+mj-lt"/>
              </a:rPr>
              <a:t>Optimation</a:t>
            </a:r>
            <a:r>
              <a:rPr lang="en-US" sz="2000" dirty="0">
                <a:latin typeface="+mj-lt"/>
              </a:rPr>
              <a:t> (SMO).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/>
              <a:t>Least Square (LS)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.</a:t>
            </a:r>
            <a:endParaRPr lang="en-US" sz="2000" dirty="0">
              <a:latin typeface="+mj-lt"/>
            </a:endParaRPr>
          </a:p>
          <a:p>
            <a:pPr lvl="1" algn="just" eaLnBrk="1" hangingPunct="1">
              <a:defRPr/>
            </a:pP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SVM</a:t>
            </a:r>
            <a:endParaRPr lang="en-SG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 eaLnBrk="1" hangingPunct="1">
              <a:defRPr/>
            </a:pPr>
            <a:r>
              <a:rPr lang="en-US" sz="1800" dirty="0" err="1"/>
              <a:t>Titik</a:t>
            </a:r>
            <a:r>
              <a:rPr lang="en-US" sz="1800" dirty="0"/>
              <a:t> data : x</a:t>
            </a:r>
            <a:r>
              <a:rPr lang="en-US" sz="1800" baseline="-25000" dirty="0"/>
              <a:t>i</a:t>
            </a:r>
            <a:r>
              <a:rPr lang="en-US" sz="1800" dirty="0"/>
              <a:t> = {x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,….,</a:t>
            </a:r>
            <a:r>
              <a:rPr lang="en-US" sz="1800" dirty="0" err="1"/>
              <a:t>x</a:t>
            </a:r>
            <a:r>
              <a:rPr lang="en-US" sz="1800" baseline="-25000" dirty="0" err="1"/>
              <a:t>n</a:t>
            </a:r>
            <a:r>
              <a:rPr lang="en-US" sz="1800" dirty="0"/>
              <a:t>} </a:t>
            </a:r>
            <a:r>
              <a:rPr lang="el-GR" sz="1800" dirty="0"/>
              <a:t>ϵ</a:t>
            </a:r>
            <a:r>
              <a:rPr lang="en-US" sz="1800" dirty="0"/>
              <a:t> </a:t>
            </a:r>
            <a:r>
              <a:rPr lang="en-US" sz="1800" dirty="0" err="1"/>
              <a:t>R</a:t>
            </a:r>
            <a:r>
              <a:rPr lang="en-US" sz="1800" baseline="30000" dirty="0" err="1"/>
              <a:t>n</a:t>
            </a:r>
            <a:endParaRPr lang="en-US" sz="1800" baseline="30000" dirty="0"/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Kelas</a:t>
            </a:r>
            <a:r>
              <a:rPr lang="en-US" sz="1800" dirty="0">
                <a:latin typeface="+mj-lt"/>
              </a:rPr>
              <a:t> data : </a:t>
            </a:r>
            <a:r>
              <a:rPr lang="en-US" sz="1800" dirty="0" err="1">
                <a:latin typeface="+mj-lt"/>
              </a:rPr>
              <a:t>y</a:t>
            </a:r>
            <a:r>
              <a:rPr lang="en-US" sz="1800" baseline="-25000" dirty="0" err="1">
                <a:latin typeface="+mj-lt"/>
              </a:rPr>
              <a:t>i</a:t>
            </a:r>
            <a:r>
              <a:rPr lang="en-US" sz="1800" dirty="0">
                <a:latin typeface="+mj-lt"/>
              </a:rPr>
              <a:t> </a:t>
            </a:r>
            <a:r>
              <a:rPr lang="el-GR" sz="1800" dirty="0"/>
              <a:t>ϵ</a:t>
            </a:r>
            <a:r>
              <a:rPr lang="en-US" sz="1800" dirty="0"/>
              <a:t> {-1,+1}</a:t>
            </a: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Pasangan</a:t>
            </a:r>
            <a:r>
              <a:rPr lang="en-US" sz="1800" dirty="0">
                <a:latin typeface="+mj-lt"/>
              </a:rPr>
              <a:t> data </a:t>
            </a:r>
            <a:r>
              <a:rPr lang="en-US" sz="1800" dirty="0" err="1">
                <a:latin typeface="+mj-lt"/>
              </a:rPr>
              <a:t>dan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kelas</a:t>
            </a:r>
            <a:r>
              <a:rPr lang="en-US" sz="1800" dirty="0">
                <a:latin typeface="+mj-lt"/>
              </a:rPr>
              <a:t> : </a:t>
            </a:r>
            <a:endParaRPr lang="en-US" sz="1800" baseline="-250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Maksimalkan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fungsi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berikut</a:t>
            </a:r>
            <a:r>
              <a:rPr lang="en-US" sz="1800" dirty="0">
                <a:latin typeface="+mj-lt"/>
              </a:rPr>
              <a:t> :</a:t>
            </a: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Hitung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nilai</a:t>
            </a:r>
            <a:r>
              <a:rPr lang="en-US" sz="1800" dirty="0">
                <a:latin typeface="+mj-lt"/>
              </a:rPr>
              <a:t> w </a:t>
            </a:r>
            <a:r>
              <a:rPr lang="en-US" sz="1800" dirty="0" err="1">
                <a:latin typeface="+mj-lt"/>
              </a:rPr>
              <a:t>dan</a:t>
            </a:r>
            <a:r>
              <a:rPr lang="en-US" sz="1800" dirty="0">
                <a:latin typeface="+mj-lt"/>
              </a:rPr>
              <a:t> b :</a:t>
            </a: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Fungsi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keputusan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klasifikasi</a:t>
            </a:r>
            <a:r>
              <a:rPr lang="en-US" sz="1800" dirty="0">
                <a:latin typeface="+mj-lt"/>
              </a:rPr>
              <a:t> sign(f(x)) :</a:t>
            </a: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marL="0" indent="0" algn="just" eaLnBrk="1" hangingPunct="1">
              <a:buFontTx/>
              <a:buNone/>
              <a:defRPr/>
            </a:pPr>
            <a:r>
              <a:rPr lang="en-US" sz="1600" i="1" dirty="0" err="1">
                <a:latin typeface="+mj-lt"/>
              </a:rPr>
              <a:t>Keterangan</a:t>
            </a:r>
            <a:r>
              <a:rPr lang="en-US" sz="1600" i="1" dirty="0">
                <a:latin typeface="+mj-lt"/>
              </a:rPr>
              <a:t> : 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n-US" sz="1800" dirty="0">
                <a:latin typeface="+mj-lt"/>
              </a:rPr>
              <a:t>      N (</a:t>
            </a:r>
            <a:r>
              <a:rPr lang="en-US" sz="1800" dirty="0" err="1">
                <a:latin typeface="+mj-lt"/>
              </a:rPr>
              <a:t>banyaknya</a:t>
            </a:r>
            <a:r>
              <a:rPr lang="en-US" sz="1800" dirty="0">
                <a:latin typeface="+mj-lt"/>
              </a:rPr>
              <a:t> data), n (</a:t>
            </a:r>
            <a:r>
              <a:rPr lang="en-US" sz="1800" dirty="0" err="1">
                <a:latin typeface="+mj-lt"/>
              </a:rPr>
              <a:t>dimensi</a:t>
            </a:r>
            <a:r>
              <a:rPr lang="en-US" sz="1800" dirty="0">
                <a:latin typeface="+mj-lt"/>
              </a:rPr>
              <a:t> data </a:t>
            </a:r>
            <a:r>
              <a:rPr lang="en-US" sz="1800" dirty="0" err="1">
                <a:latin typeface="+mj-lt"/>
              </a:rPr>
              <a:t>atau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banyaknya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fitur</a:t>
            </a:r>
            <a:r>
              <a:rPr lang="en-US" sz="1800" dirty="0">
                <a:latin typeface="+mj-lt"/>
              </a:rPr>
              <a:t>), </a:t>
            </a:r>
            <a:r>
              <a:rPr lang="en-US" sz="1800" dirty="0" err="1">
                <a:latin typeface="+mj-lt"/>
              </a:rPr>
              <a:t>Ld</a:t>
            </a:r>
            <a:r>
              <a:rPr lang="en-US" sz="1800" dirty="0">
                <a:latin typeface="+mj-lt"/>
              </a:rPr>
              <a:t> (</a:t>
            </a:r>
            <a:r>
              <a:rPr lang="en-US" sz="1800" dirty="0" err="1">
                <a:latin typeface="+mj-lt"/>
              </a:rPr>
              <a:t>Dualitas</a:t>
            </a:r>
            <a:r>
              <a:rPr lang="en-US" sz="1800" dirty="0">
                <a:latin typeface="+mj-lt"/>
              </a:rPr>
              <a:t> 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n-US" sz="1800" dirty="0">
                <a:latin typeface="+mj-lt"/>
              </a:rPr>
              <a:t>      Lagrange </a:t>
            </a:r>
            <a:r>
              <a:rPr lang="en-US" sz="1800" dirty="0" err="1">
                <a:latin typeface="+mj-lt"/>
              </a:rPr>
              <a:t>Multipier</a:t>
            </a:r>
            <a:r>
              <a:rPr lang="en-US" sz="1800" dirty="0">
                <a:latin typeface="+mj-lt"/>
              </a:rPr>
              <a:t>), </a:t>
            </a:r>
            <a:r>
              <a:rPr lang="el-GR" sz="1800" dirty="0">
                <a:latin typeface="+mj-lt"/>
              </a:rPr>
              <a:t>α</a:t>
            </a:r>
            <a:r>
              <a:rPr lang="en-US" sz="1800" baseline="-25000" dirty="0">
                <a:latin typeface="+mj-lt"/>
              </a:rPr>
              <a:t>i</a:t>
            </a:r>
            <a:r>
              <a:rPr lang="en-US" sz="1800" dirty="0">
                <a:latin typeface="+mj-lt"/>
              </a:rPr>
              <a:t> (</a:t>
            </a:r>
            <a:r>
              <a:rPr lang="en-US" sz="1800" dirty="0" err="1">
                <a:latin typeface="+mj-lt"/>
              </a:rPr>
              <a:t>nilai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bobot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setiap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titik</a:t>
            </a:r>
            <a:r>
              <a:rPr lang="en-US" sz="1800" dirty="0">
                <a:latin typeface="+mj-lt"/>
              </a:rPr>
              <a:t> data), C (</a:t>
            </a:r>
            <a:r>
              <a:rPr lang="en-US" sz="1800" dirty="0" err="1">
                <a:latin typeface="+mj-lt"/>
              </a:rPr>
              <a:t>nilai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konstanta</a:t>
            </a:r>
            <a:r>
              <a:rPr lang="en-US" sz="1800" dirty="0">
                <a:latin typeface="+mj-lt"/>
              </a:rPr>
              <a:t>), m 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n-US" sz="1800" dirty="0">
                <a:latin typeface="+mj-lt"/>
              </a:rPr>
              <a:t>      (</a:t>
            </a:r>
            <a:r>
              <a:rPr lang="en-US" sz="1800" dirty="0" err="1">
                <a:latin typeface="+mj-lt"/>
              </a:rPr>
              <a:t>jumlah</a:t>
            </a:r>
            <a:r>
              <a:rPr lang="en-US" sz="1800" dirty="0">
                <a:latin typeface="+mj-lt"/>
              </a:rPr>
              <a:t> support vector/</a:t>
            </a:r>
            <a:r>
              <a:rPr lang="en-US" sz="1800" dirty="0" err="1">
                <a:latin typeface="+mj-lt"/>
              </a:rPr>
              <a:t>titik</a:t>
            </a:r>
            <a:r>
              <a:rPr lang="en-US" sz="1800" dirty="0">
                <a:latin typeface="+mj-lt"/>
              </a:rPr>
              <a:t> data yang </a:t>
            </a:r>
            <a:r>
              <a:rPr lang="en-US" sz="1800" dirty="0" err="1">
                <a:latin typeface="+mj-lt"/>
              </a:rPr>
              <a:t>memiliki</a:t>
            </a:r>
            <a:r>
              <a:rPr lang="en-US" sz="1800" dirty="0">
                <a:latin typeface="+mj-lt"/>
              </a:rPr>
              <a:t> </a:t>
            </a:r>
            <a:r>
              <a:rPr lang="el-GR" sz="1800" dirty="0"/>
              <a:t>α</a:t>
            </a:r>
            <a:r>
              <a:rPr lang="en-US" sz="1800" baseline="-25000" dirty="0"/>
              <a:t>i </a:t>
            </a:r>
            <a:r>
              <a:rPr lang="en-US" sz="1800" dirty="0"/>
              <a:t>&gt; 0</a:t>
            </a:r>
            <a:r>
              <a:rPr lang="en-US" sz="1800" dirty="0">
                <a:latin typeface="+mj-lt"/>
              </a:rPr>
              <a:t>), K(</a:t>
            </a:r>
            <a:r>
              <a:rPr lang="en-US" sz="1800" dirty="0" err="1">
                <a:latin typeface="+mj-lt"/>
              </a:rPr>
              <a:t>x,x</a:t>
            </a:r>
            <a:r>
              <a:rPr lang="en-US" sz="1800" baseline="-25000" dirty="0" err="1">
                <a:latin typeface="+mj-lt"/>
              </a:rPr>
              <a:t>i</a:t>
            </a:r>
            <a:r>
              <a:rPr lang="en-US" sz="1800" dirty="0">
                <a:latin typeface="+mj-lt"/>
              </a:rPr>
              <a:t>) (</a:t>
            </a:r>
            <a:r>
              <a:rPr lang="en-US" sz="1800" dirty="0" err="1">
                <a:latin typeface="+mj-lt"/>
              </a:rPr>
              <a:t>fungsi</a:t>
            </a:r>
            <a:r>
              <a:rPr lang="en-US" sz="1800" dirty="0">
                <a:latin typeface="+mj-lt"/>
              </a:rPr>
              <a:t> kernel).</a:t>
            </a:r>
            <a:endParaRPr lang="en-US" sz="1800" baseline="-25000" dirty="0">
              <a:latin typeface="+mj-lt"/>
            </a:endParaRPr>
          </a:p>
          <a:p>
            <a:pPr marL="457200" lvl="1" indent="0" algn="just" eaLnBrk="1" hangingPunct="1">
              <a:buFontTx/>
              <a:buNone/>
              <a:defRPr/>
            </a:pPr>
            <a:endParaRPr lang="en-US" sz="1600" dirty="0">
              <a:latin typeface="+mj-lt"/>
            </a:endParaRPr>
          </a:p>
          <a:p>
            <a:pPr marL="457200" lvl="1" indent="0" algn="just" eaLnBrk="1" hangingPunct="1">
              <a:buFontTx/>
              <a:buNone/>
              <a:defRPr/>
            </a:pPr>
            <a:endParaRPr lang="en-US" sz="1600" dirty="0">
              <a:latin typeface="+mj-lt"/>
            </a:endParaRPr>
          </a:p>
        </p:txBody>
      </p:sp>
      <p:graphicFrame>
        <p:nvGraphicFramePr>
          <p:cNvPr id="6148" name="Object 2"/>
          <p:cNvGraphicFramePr>
            <a:graphicFrameLocks noChangeAspect="1"/>
          </p:cNvGraphicFramePr>
          <p:nvPr/>
        </p:nvGraphicFramePr>
        <p:xfrm>
          <a:off x="871538" y="4508500"/>
          <a:ext cx="575468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431800" progId="Equation.3">
                  <p:embed/>
                </p:oleObj>
              </mc:Choice>
              <mc:Fallback>
                <p:oleObj name="Equation" r:id="rId2" imgW="31369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4508500"/>
                        <a:ext cx="5754687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827088" y="3548063"/>
          <a:ext cx="15843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31613" progId="Equation.3">
                  <p:embed/>
                </p:oleObj>
              </mc:Choice>
              <mc:Fallback>
                <p:oleObj name="Equation" r:id="rId4" imgW="850531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48063"/>
                        <a:ext cx="158432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4"/>
          <p:cNvGraphicFramePr>
            <a:graphicFrameLocks noChangeAspect="1"/>
          </p:cNvGraphicFramePr>
          <p:nvPr/>
        </p:nvGraphicFramePr>
        <p:xfrm>
          <a:off x="2555875" y="3500438"/>
          <a:ext cx="236378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449" imgH="393529" progId="Equation.3">
                  <p:embed/>
                </p:oleObj>
              </mc:Choice>
              <mc:Fallback>
                <p:oleObj name="Equation" r:id="rId6" imgW="1269449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500438"/>
                        <a:ext cx="2363788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5"/>
          <p:cNvGraphicFramePr>
            <a:graphicFrameLocks noChangeAspect="1"/>
          </p:cNvGraphicFramePr>
          <p:nvPr/>
        </p:nvGraphicFramePr>
        <p:xfrm>
          <a:off x="827088" y="2565400"/>
          <a:ext cx="7381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33900" imgH="444500" progId="Equation.3">
                  <p:embed/>
                </p:oleObj>
              </mc:Choice>
              <mc:Fallback>
                <p:oleObj name="Equation" r:id="rId8" imgW="45339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565400"/>
                        <a:ext cx="73818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7"/>
          <p:cNvGraphicFramePr>
            <a:graphicFrameLocks noChangeAspect="1"/>
          </p:cNvGraphicFramePr>
          <p:nvPr/>
        </p:nvGraphicFramePr>
        <p:xfrm>
          <a:off x="3670300" y="1870075"/>
          <a:ext cx="12049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47419" imgH="253890" progId="Equation.3">
                  <p:embed/>
                </p:oleObj>
              </mc:Choice>
              <mc:Fallback>
                <p:oleObj name="Equation" r:id="rId10" imgW="647419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1870075"/>
                        <a:ext cx="120491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Model SVM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defRPr/>
            </a:pP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Macam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Kernel Support Vector Machine (SVM) :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Kernel Linier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ketika</a:t>
            </a:r>
            <a:r>
              <a:rPr lang="en-US" sz="1800" dirty="0"/>
              <a:t> data yang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diklasifikasi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terpisah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garis</a:t>
            </a:r>
            <a:r>
              <a:rPr lang="en-US" sz="1800" dirty="0"/>
              <a:t>/</a:t>
            </a:r>
            <a:r>
              <a:rPr lang="en-US" sz="1800" dirty="0" err="1"/>
              <a:t>hyperplane</a:t>
            </a:r>
            <a:r>
              <a:rPr lang="en-US" sz="1800" dirty="0"/>
              <a:t>.</a:t>
            </a:r>
          </a:p>
          <a:p>
            <a:pPr algn="just">
              <a:defRPr/>
            </a:pPr>
            <a:r>
              <a:rPr lang="en-US" sz="1800" dirty="0"/>
              <a:t>Kernel non-Linier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ketika</a:t>
            </a:r>
            <a:r>
              <a:rPr lang="en-US" sz="1800" dirty="0"/>
              <a:t> data </a:t>
            </a:r>
            <a:r>
              <a:rPr lang="en-US" sz="1800" dirty="0" err="1"/>
              <a:t>hanya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dipisahkan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garis</a:t>
            </a:r>
            <a:r>
              <a:rPr lang="en-US" sz="1800" dirty="0"/>
              <a:t> </a:t>
            </a:r>
            <a:r>
              <a:rPr lang="en-US" sz="1800" dirty="0" err="1"/>
              <a:t>lengkung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bidang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ruang</a:t>
            </a:r>
            <a:r>
              <a:rPr lang="en-US" sz="1800" dirty="0"/>
              <a:t> </a:t>
            </a:r>
            <a:r>
              <a:rPr lang="en-US" sz="1800" dirty="0" err="1"/>
              <a:t>dimensi</a:t>
            </a:r>
            <a:r>
              <a:rPr lang="en-US" sz="1800" dirty="0"/>
              <a:t> </a:t>
            </a:r>
            <a:r>
              <a:rPr lang="en-US" sz="1800" dirty="0" err="1"/>
              <a:t>tinggi</a:t>
            </a:r>
            <a:r>
              <a:rPr lang="en-US" sz="1800" dirty="0"/>
              <a:t> (Kernel </a:t>
            </a:r>
            <a:r>
              <a:rPr lang="en-US" sz="1800" dirty="0" err="1"/>
              <a:t>Trik</a:t>
            </a:r>
            <a:r>
              <a:rPr lang="en-US" sz="1800" dirty="0"/>
              <a:t>, No.2 </a:t>
            </a:r>
            <a:r>
              <a:rPr lang="en-US" sz="1800" dirty="0" err="1"/>
              <a:t>sampai</a:t>
            </a:r>
            <a:r>
              <a:rPr lang="en-US" sz="1800" dirty="0"/>
              <a:t> 6).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marL="0" indent="0" algn="just">
              <a:buFontTx/>
              <a:buNone/>
              <a:defRPr/>
            </a:pPr>
            <a:endParaRPr lang="en-US" sz="1800" dirty="0"/>
          </a:p>
          <a:p>
            <a:pPr marL="0" indent="0" algn="just">
              <a:buFontTx/>
              <a:buNone/>
              <a:defRPr/>
            </a:pPr>
            <a:endParaRPr lang="en-US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99592" y="1650008"/>
          <a:ext cx="7776865" cy="32692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3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1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Nama</a:t>
                      </a:r>
                      <a:r>
                        <a:rPr lang="en-US" dirty="0"/>
                        <a:t>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Definisi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Fungsi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 = </a:t>
                      </a:r>
                      <a:r>
                        <a:rPr lang="en-US" dirty="0" err="1"/>
                        <a:t>x.y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Polinomial</a:t>
                      </a:r>
                      <a:r>
                        <a:rPr lang="en-US" dirty="0"/>
                        <a:t> of</a:t>
                      </a:r>
                      <a:r>
                        <a:rPr lang="en-US" baseline="0" dirty="0"/>
                        <a:t> degree 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 = (</a:t>
                      </a:r>
                      <a:r>
                        <a:rPr lang="en-US" dirty="0" err="1"/>
                        <a:t>x.y</a:t>
                      </a:r>
                      <a:r>
                        <a:rPr lang="en-US" dirty="0"/>
                        <a:t>)</a:t>
                      </a:r>
                      <a:r>
                        <a:rPr lang="en-US" baseline="300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Polinomial</a:t>
                      </a:r>
                      <a:r>
                        <a:rPr lang="en-US" dirty="0"/>
                        <a:t> of</a:t>
                      </a:r>
                      <a:r>
                        <a:rPr lang="en-US" baseline="0" dirty="0"/>
                        <a:t> degree up to 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 = (</a:t>
                      </a:r>
                      <a:r>
                        <a:rPr lang="en-US" dirty="0" err="1"/>
                        <a:t>x.y</a:t>
                      </a:r>
                      <a:r>
                        <a:rPr lang="en-US" dirty="0"/>
                        <a:t> + c)</a:t>
                      </a:r>
                      <a:r>
                        <a:rPr lang="en-US" baseline="300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9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Gaussian</a:t>
                      </a:r>
                      <a:r>
                        <a:rPr lang="en-US" baseline="0" dirty="0"/>
                        <a:t> RBF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225301" r="-175" b="-390361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Sigmoid</a:t>
                      </a:r>
                      <a:r>
                        <a:rPr lang="en-US" baseline="0" dirty="0"/>
                        <a:t> (</a:t>
                      </a:r>
                      <a:r>
                        <a:rPr lang="en-US" baseline="0" dirty="0" err="1"/>
                        <a:t>Tangen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Hiperbolik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442623" r="-175" b="-431148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798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 Multi </a:t>
                      </a:r>
                      <a:r>
                        <a:rPr lang="en-US" dirty="0" err="1"/>
                        <a:t>Kuadratik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376136" r="-175" b="-198864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686885" r="-175" b="-186885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Visualisasi SVM</a:t>
            </a:r>
            <a:endParaRPr lang="en-SG" sz="4000"/>
          </a:p>
        </p:txBody>
      </p:sp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468313" y="1282700"/>
            <a:ext cx="8229600" cy="4857750"/>
          </a:xfrm>
        </p:spPr>
        <p:txBody>
          <a:bodyPr/>
          <a:lstStyle/>
          <a:p>
            <a:pPr algn="just"/>
            <a:r>
              <a:rPr lang="en-US" sz="2400"/>
              <a:t>Linier Kernel :</a:t>
            </a:r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Non-Linier Kernel :</a:t>
            </a:r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SG" sz="2000"/>
          </a:p>
        </p:txBody>
      </p:sp>
      <p:sp>
        <p:nvSpPr>
          <p:cNvPr id="8195" name="Rectangle 97"/>
          <p:cNvSpPr>
            <a:spLocks noChangeArrowheads="1"/>
          </p:cNvSpPr>
          <p:nvPr/>
        </p:nvSpPr>
        <p:spPr bwMode="auto">
          <a:xfrm>
            <a:off x="5337175" y="2617788"/>
            <a:ext cx="2259013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sz="1400"/>
              <a:t>   Support Vector kelas -1</a:t>
            </a:r>
          </a:p>
          <a:p>
            <a:r>
              <a:rPr lang="en-US" sz="1400"/>
              <a:t>   Support Vector kelas +1</a:t>
            </a:r>
          </a:p>
        </p:txBody>
      </p:sp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2" t="35243" r="26379" b="21875"/>
          <a:stretch>
            <a:fillRect/>
          </a:stretch>
        </p:blipFill>
        <p:spPr bwMode="auto">
          <a:xfrm>
            <a:off x="827088" y="4797425"/>
            <a:ext cx="3673475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2432050" y="1725613"/>
            <a:ext cx="0" cy="2566987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03350" y="3448050"/>
            <a:ext cx="2701925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190750" y="2724150"/>
            <a:ext cx="71438" cy="714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5" name="Oval 14"/>
          <p:cNvSpPr/>
          <p:nvPr/>
        </p:nvSpPr>
        <p:spPr>
          <a:xfrm>
            <a:off x="2725738" y="3551238"/>
            <a:ext cx="73025" cy="7143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6" name="Oval 15"/>
          <p:cNvSpPr/>
          <p:nvPr/>
        </p:nvSpPr>
        <p:spPr>
          <a:xfrm>
            <a:off x="2314575" y="2936875"/>
            <a:ext cx="71438" cy="714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5" name="Oval 24"/>
          <p:cNvSpPr/>
          <p:nvPr/>
        </p:nvSpPr>
        <p:spPr>
          <a:xfrm>
            <a:off x="3595688" y="2965450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2432050" y="3289300"/>
            <a:ext cx="461963" cy="15875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803525" y="2152650"/>
            <a:ext cx="762000" cy="198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027363" y="1871663"/>
            <a:ext cx="839787" cy="22240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384425" y="1924050"/>
            <a:ext cx="839788" cy="22240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0350" y="2809875"/>
            <a:ext cx="557213" cy="2159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9" name="Rectangle 7"/>
          <p:cNvSpPr>
            <a:spLocks noChangeArrowheads="1"/>
          </p:cNvSpPr>
          <p:nvPr/>
        </p:nvSpPr>
        <p:spPr bwMode="auto">
          <a:xfrm>
            <a:off x="900113" y="2152650"/>
            <a:ext cx="1227137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(w.x) + b = -1</a:t>
            </a:r>
          </a:p>
        </p:txBody>
      </p:sp>
      <p:sp>
        <p:nvSpPr>
          <p:cNvPr id="8210" name="Rectangle 28"/>
          <p:cNvSpPr>
            <a:spLocks noChangeArrowheads="1"/>
          </p:cNvSpPr>
          <p:nvPr/>
        </p:nvSpPr>
        <p:spPr bwMode="auto">
          <a:xfrm>
            <a:off x="3468688" y="1831975"/>
            <a:ext cx="1273175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(w.x) + b = +1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3184525" y="1998663"/>
            <a:ext cx="261938" cy="23177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124075" y="2306638"/>
            <a:ext cx="484188" cy="19685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3" name="Rectangle 34"/>
          <p:cNvSpPr>
            <a:spLocks noChangeArrowheads="1"/>
          </p:cNvSpPr>
          <p:nvPr/>
        </p:nvSpPr>
        <p:spPr bwMode="auto">
          <a:xfrm>
            <a:off x="4084638" y="4121150"/>
            <a:ext cx="1168400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(w.x) + b = 0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3406775" y="3711575"/>
            <a:ext cx="1262063" cy="38417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5" name="Rectangle 39"/>
          <p:cNvSpPr>
            <a:spLocks noChangeArrowheads="1"/>
          </p:cNvSpPr>
          <p:nvPr/>
        </p:nvSpPr>
        <p:spPr bwMode="auto">
          <a:xfrm>
            <a:off x="2451100" y="3121025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w</a:t>
            </a:r>
          </a:p>
        </p:txBody>
      </p:sp>
      <p:sp>
        <p:nvSpPr>
          <p:cNvPr id="8216" name="Rectangle 40"/>
          <p:cNvSpPr>
            <a:spLocks noChangeArrowheads="1"/>
          </p:cNvSpPr>
          <p:nvPr/>
        </p:nvSpPr>
        <p:spPr bwMode="auto">
          <a:xfrm>
            <a:off x="3702050" y="2601913"/>
            <a:ext cx="6810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y = +1</a:t>
            </a:r>
          </a:p>
        </p:txBody>
      </p:sp>
      <p:sp>
        <p:nvSpPr>
          <p:cNvPr id="8217" name="Rectangle 41"/>
          <p:cNvSpPr>
            <a:spLocks noChangeArrowheads="1"/>
          </p:cNvSpPr>
          <p:nvPr/>
        </p:nvSpPr>
        <p:spPr bwMode="auto">
          <a:xfrm>
            <a:off x="1643063" y="3046413"/>
            <a:ext cx="636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y = -1</a:t>
            </a:r>
          </a:p>
        </p:txBody>
      </p:sp>
      <p:sp>
        <p:nvSpPr>
          <p:cNvPr id="8218" name="Rectangle 42"/>
          <p:cNvSpPr>
            <a:spLocks noChangeArrowheads="1"/>
          </p:cNvSpPr>
          <p:nvPr/>
        </p:nvSpPr>
        <p:spPr bwMode="auto">
          <a:xfrm rot="-1274190">
            <a:off x="2430463" y="1873250"/>
            <a:ext cx="6159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100"/>
              <a:t>margin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2487613" y="2003425"/>
            <a:ext cx="574675" cy="22542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23" idx="1"/>
          </p:cNvCxnSpPr>
          <p:nvPr/>
        </p:nvCxnSpPr>
        <p:spPr>
          <a:xfrm>
            <a:off x="3516313" y="2525713"/>
            <a:ext cx="344487" cy="482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2" idx="6"/>
          </p:cNvCxnSpPr>
          <p:nvPr/>
        </p:nvCxnSpPr>
        <p:spPr>
          <a:xfrm>
            <a:off x="2273300" y="2760663"/>
            <a:ext cx="466725" cy="444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4"/>
          </p:cNvCxnSpPr>
          <p:nvPr/>
        </p:nvCxnSpPr>
        <p:spPr>
          <a:xfrm>
            <a:off x="2346325" y="3783013"/>
            <a:ext cx="715963" cy="1079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13" idx="4"/>
            <a:endCxn id="14" idx="4"/>
          </p:cNvCxnSpPr>
          <p:nvPr/>
        </p:nvCxnSpPr>
        <p:spPr>
          <a:xfrm>
            <a:off x="2225675" y="2795588"/>
            <a:ext cx="120650" cy="9874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3371850" y="2514600"/>
            <a:ext cx="133350" cy="3254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endCxn id="24" idx="4"/>
          </p:cNvCxnSpPr>
          <p:nvPr/>
        </p:nvCxnSpPr>
        <p:spPr>
          <a:xfrm flipH="1">
            <a:off x="3673475" y="3038475"/>
            <a:ext cx="214313" cy="2873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384550" y="2806700"/>
            <a:ext cx="300038" cy="5191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462338" y="2489200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3" name="Oval 22"/>
          <p:cNvSpPr/>
          <p:nvPr/>
        </p:nvSpPr>
        <p:spPr>
          <a:xfrm>
            <a:off x="3851275" y="2997200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4" name="Oval 23"/>
          <p:cNvSpPr/>
          <p:nvPr/>
        </p:nvSpPr>
        <p:spPr>
          <a:xfrm>
            <a:off x="3636963" y="3254375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0" name="Oval 9"/>
          <p:cNvSpPr/>
          <p:nvPr/>
        </p:nvSpPr>
        <p:spPr>
          <a:xfrm>
            <a:off x="3335338" y="2768600"/>
            <a:ext cx="73025" cy="7143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" name="Oval 1"/>
          <p:cNvSpPr/>
          <p:nvPr/>
        </p:nvSpPr>
        <p:spPr>
          <a:xfrm>
            <a:off x="2668588" y="2768600"/>
            <a:ext cx="71437" cy="714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9" name="Oval 8"/>
          <p:cNvSpPr/>
          <p:nvPr/>
        </p:nvSpPr>
        <p:spPr>
          <a:xfrm>
            <a:off x="3084513" y="3860800"/>
            <a:ext cx="71437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4" name="Oval 13"/>
          <p:cNvSpPr/>
          <p:nvPr/>
        </p:nvSpPr>
        <p:spPr>
          <a:xfrm>
            <a:off x="2311400" y="3711575"/>
            <a:ext cx="71438" cy="714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grpSp>
        <p:nvGrpSpPr>
          <p:cNvPr id="8234" name="Group 46"/>
          <p:cNvGrpSpPr>
            <a:grpSpLocks/>
          </p:cNvGrpSpPr>
          <p:nvPr/>
        </p:nvGrpSpPr>
        <p:grpSpPr bwMode="auto">
          <a:xfrm>
            <a:off x="2973388" y="2955925"/>
            <a:ext cx="146050" cy="112713"/>
            <a:chOff x="2469480" y="2994819"/>
            <a:chExt cx="145926" cy="113063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2577338" y="2994819"/>
              <a:ext cx="38068" cy="1130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2469480" y="2996412"/>
              <a:ext cx="111031" cy="477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235" name="Object 48"/>
          <p:cNvGraphicFramePr>
            <a:graphicFrameLocks noChangeAspect="1"/>
          </p:cNvGraphicFramePr>
          <p:nvPr/>
        </p:nvGraphicFramePr>
        <p:xfrm>
          <a:off x="5384800" y="1679575"/>
          <a:ext cx="252095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500" imgH="482600" progId="Equation.3">
                  <p:embed/>
                </p:oleObj>
              </mc:Choice>
              <mc:Fallback>
                <p:oleObj name="Equation" r:id="rId3" imgW="1714500" imgH="482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1679575"/>
                        <a:ext cx="252095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6" name="Rectangle 91"/>
          <p:cNvSpPr>
            <a:spLocks noChangeArrowheads="1"/>
          </p:cNvSpPr>
          <p:nvPr/>
        </p:nvSpPr>
        <p:spPr bwMode="auto">
          <a:xfrm rot="4123085">
            <a:off x="2585244" y="2361406"/>
            <a:ext cx="914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100"/>
              <a:t>Hyperplane</a:t>
            </a:r>
          </a:p>
        </p:txBody>
      </p:sp>
      <p:sp>
        <p:nvSpPr>
          <p:cNvPr id="96" name="Oval 95"/>
          <p:cNvSpPr/>
          <p:nvPr/>
        </p:nvSpPr>
        <p:spPr>
          <a:xfrm>
            <a:off x="5426075" y="2755900"/>
            <a:ext cx="71438" cy="714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97" name="Oval 96"/>
          <p:cNvSpPr/>
          <p:nvPr/>
        </p:nvSpPr>
        <p:spPr>
          <a:xfrm>
            <a:off x="5422900" y="2997200"/>
            <a:ext cx="73025" cy="7143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8239" name="Rectangle 98"/>
          <p:cNvSpPr>
            <a:spLocks noChangeArrowheads="1"/>
          </p:cNvSpPr>
          <p:nvPr/>
        </p:nvSpPr>
        <p:spPr bwMode="auto">
          <a:xfrm>
            <a:off x="5337175" y="1616075"/>
            <a:ext cx="2619375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400"/>
          </a:p>
        </p:txBody>
      </p:sp>
      <p:sp>
        <p:nvSpPr>
          <p:cNvPr id="8240" name="Rectangle 97"/>
          <p:cNvSpPr>
            <a:spLocks noChangeArrowheads="1"/>
          </p:cNvSpPr>
          <p:nvPr/>
        </p:nvSpPr>
        <p:spPr bwMode="auto">
          <a:xfrm>
            <a:off x="5337175" y="3305175"/>
            <a:ext cx="3411538" cy="1814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sz="1400"/>
              <a:t>   Jarak titik (x</a:t>
            </a:r>
            <a:r>
              <a:rPr lang="en-US" sz="1400" baseline="-25000"/>
              <a:t>i</a:t>
            </a:r>
            <a:r>
              <a:rPr lang="en-US" sz="1400"/>
              <a:t>) ke Hyperplane :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</p:txBody>
      </p:sp>
      <p:sp>
        <p:nvSpPr>
          <p:cNvPr id="51" name="Oval 50"/>
          <p:cNvSpPr/>
          <p:nvPr/>
        </p:nvSpPr>
        <p:spPr>
          <a:xfrm>
            <a:off x="5435600" y="3429000"/>
            <a:ext cx="73025" cy="7143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graphicFrame>
        <p:nvGraphicFramePr>
          <p:cNvPr id="8242" name="Object 2"/>
          <p:cNvGraphicFramePr>
            <a:graphicFrameLocks noChangeAspect="1"/>
          </p:cNvGraphicFramePr>
          <p:nvPr/>
        </p:nvGraphicFramePr>
        <p:xfrm>
          <a:off x="5535613" y="3679825"/>
          <a:ext cx="30067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4700" imgH="444500" progId="Equation.3">
                  <p:embed/>
                </p:oleObj>
              </mc:Choice>
              <mc:Fallback>
                <p:oleObj name="Equation" r:id="rId5" imgW="20447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3679825"/>
                        <a:ext cx="30067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" name="Object 7"/>
          <p:cNvGraphicFramePr>
            <a:graphicFrameLocks noChangeAspect="1"/>
          </p:cNvGraphicFramePr>
          <p:nvPr/>
        </p:nvGraphicFramePr>
        <p:xfrm>
          <a:off x="5521325" y="4437063"/>
          <a:ext cx="25209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500" imgH="444500" progId="Equation.3">
                  <p:embed/>
                </p:oleObj>
              </mc:Choice>
              <mc:Fallback>
                <p:oleObj name="Equation" r:id="rId7" imgW="17145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325" y="4437063"/>
                        <a:ext cx="25209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Karakteristik SVM</a:t>
            </a:r>
            <a:endParaRPr lang="en-SG" sz="400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/>
              <a:t>Karakteristik SVM :</a:t>
            </a:r>
          </a:p>
          <a:p>
            <a:pPr lvl="1" algn="just"/>
            <a:r>
              <a:rPr lang="en-US" sz="2000"/>
              <a:t>SVM memerlukan proses pelatihan dengan menyimpan hasil support vektor yang didapatkan untuk digunakan kembali pada saat proses prediksi/testing.</a:t>
            </a:r>
          </a:p>
          <a:p>
            <a:pPr lvl="1" algn="just"/>
            <a:r>
              <a:rPr lang="en-US" sz="2000"/>
              <a:t>SVM selalu memberikan model yang sama dan solusi yang sama dengan margin maksimal.</a:t>
            </a:r>
          </a:p>
          <a:p>
            <a:pPr lvl="1" algn="just"/>
            <a:r>
              <a:rPr lang="en-US" sz="2000"/>
              <a:t>SVM dapat memisahkan data yang distribusi kelasnya bersifat linier maupun non linier.</a:t>
            </a:r>
          </a:p>
          <a:p>
            <a:pPr lvl="1" algn="just"/>
            <a:r>
              <a:rPr lang="en-US" sz="2000"/>
              <a:t>SVM tidak dipengaruhi oleh dimensi data yang tinggi, sehingga tidak ada proses reduksi dimensi didalamnya.</a:t>
            </a:r>
          </a:p>
          <a:p>
            <a:pPr lvl="1" algn="just"/>
            <a:r>
              <a:rPr lang="en-US" sz="2000"/>
              <a:t>Memori yang digunakan dalam SVM dipengaruhi oleh banyaknya data, bukan besarnya dimensi data.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SG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</a:t>
            </a:r>
            <a:endParaRPr lang="en-SG" sz="4000" b="1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sz="2000" dirty="0" err="1"/>
              <a:t>Contoh</a:t>
            </a:r>
            <a:r>
              <a:rPr lang="en-US" sz="2000" dirty="0"/>
              <a:t> SVM Linier </a:t>
            </a:r>
            <a:r>
              <a:rPr lang="en-US" sz="2000" dirty="0" err="1"/>
              <a:t>pada</a:t>
            </a:r>
            <a:r>
              <a:rPr lang="en-US" sz="2000" dirty="0"/>
              <a:t> dataset </a:t>
            </a:r>
            <a:r>
              <a:rPr lang="en-US" sz="2000" dirty="0" err="1"/>
              <a:t>berikut</a:t>
            </a:r>
            <a:r>
              <a:rPr lang="en-US" sz="2000" dirty="0"/>
              <a:t> :</a:t>
            </a:r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     </a:t>
            </a:r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Hyperplanenya</a:t>
            </a:r>
            <a:r>
              <a:rPr lang="en-US" sz="2000" dirty="0"/>
              <a:t> !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Visualisasi</a:t>
            </a:r>
            <a:r>
              <a:rPr lang="en-US" sz="2000" dirty="0"/>
              <a:t> data :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00113" y="2133600"/>
          <a:ext cx="6551612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 Vector (SV)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899592" y="4509120"/>
          <a:ext cx="5040560" cy="2088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7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05" r="26617" b="80936"/>
          <a:stretch>
            <a:fillRect/>
          </a:stretch>
        </p:blipFill>
        <p:spPr bwMode="auto">
          <a:xfrm>
            <a:off x="6156325" y="4443413"/>
            <a:ext cx="1557338" cy="100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en-US" sz="2000" dirty="0" err="1"/>
              <a:t>Contoh</a:t>
            </a:r>
            <a:r>
              <a:rPr lang="en-US" sz="2000" dirty="0"/>
              <a:t> SVM Linier :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lvl="1" algn="just">
              <a:defRPr/>
            </a:pP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(x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x</a:t>
            </a:r>
            <a:r>
              <a:rPr lang="en-US" sz="1600" baseline="-25000" dirty="0"/>
              <a:t>2</a:t>
            </a:r>
            <a:r>
              <a:rPr lang="en-US" sz="1600" dirty="0"/>
              <a:t>), </a:t>
            </a:r>
            <a:r>
              <a:rPr lang="en-US" sz="1600" dirty="0" err="1"/>
              <a:t>maka</a:t>
            </a:r>
            <a:r>
              <a:rPr lang="en-US" sz="1600" dirty="0"/>
              <a:t> w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2 </a:t>
            </a:r>
            <a:r>
              <a:rPr lang="en-US" sz="1600" dirty="0" err="1"/>
              <a:t>fitur</a:t>
            </a:r>
            <a:r>
              <a:rPr lang="en-US" sz="1600" dirty="0"/>
              <a:t> (w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w</a:t>
            </a:r>
            <a:r>
              <a:rPr lang="en-US" sz="1600" baseline="-25000" dirty="0"/>
              <a:t>2</a:t>
            </a:r>
            <a:r>
              <a:rPr lang="en-US" sz="1600" dirty="0"/>
              <a:t>).</a:t>
            </a:r>
          </a:p>
          <a:p>
            <a:pPr lvl="1" algn="just">
              <a:defRPr/>
            </a:pPr>
            <a:r>
              <a:rPr lang="en-US" sz="1600" dirty="0" err="1"/>
              <a:t>Formulasi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lvl="2" algn="just">
              <a:defRPr/>
            </a:pPr>
            <a:r>
              <a:rPr lang="en-US" sz="1600" dirty="0" err="1"/>
              <a:t>Meminimalkan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: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	</a:t>
            </a:r>
          </a:p>
          <a:p>
            <a:pPr lvl="2" algn="just">
              <a:defRPr/>
            </a:pPr>
            <a:r>
              <a:rPr lang="en-US" sz="1600" dirty="0" err="1"/>
              <a:t>Syarat</a:t>
            </a:r>
            <a:r>
              <a:rPr lang="en-US" sz="1600" dirty="0"/>
              <a:t> :</a:t>
            </a:r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1550" y="1773238"/>
          <a:ext cx="209867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3419872" y="1628800"/>
          <a:ext cx="3744416" cy="194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47664" y="5661248"/>
            <a:ext cx="4344972" cy="369332"/>
          </a:xfrm>
          <a:prstGeom prst="rect">
            <a:avLst/>
          </a:prstGeom>
          <a:blipFill rotWithShape="1">
            <a:blip r:embed="rId3"/>
            <a:stretch>
              <a:fillRect b="-833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129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628775"/>
            <a:ext cx="1554162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97" name="Picture 3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7"/>
          <a:stretch>
            <a:fillRect/>
          </a:stretch>
        </p:blipFill>
        <p:spPr bwMode="auto">
          <a:xfrm>
            <a:off x="1666875" y="4737100"/>
            <a:ext cx="26289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defRPr/>
            </a:pP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(x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x</a:t>
            </a:r>
            <a:r>
              <a:rPr lang="en-US" sz="1600" baseline="-25000" dirty="0"/>
              <a:t>2</a:t>
            </a:r>
            <a:r>
              <a:rPr lang="en-US" sz="1600" dirty="0"/>
              <a:t>), </a:t>
            </a:r>
            <a:r>
              <a:rPr lang="en-US" sz="1600" dirty="0" err="1"/>
              <a:t>maka</a:t>
            </a:r>
            <a:r>
              <a:rPr lang="en-US" sz="1600" dirty="0"/>
              <a:t> w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2 </a:t>
            </a:r>
            <a:r>
              <a:rPr lang="en-US" sz="1600" dirty="0" err="1"/>
              <a:t>fitur</a:t>
            </a:r>
            <a:r>
              <a:rPr lang="en-US" sz="1600" dirty="0"/>
              <a:t> (w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w</a:t>
            </a:r>
            <a:r>
              <a:rPr lang="en-US" sz="1600" baseline="-25000" dirty="0"/>
              <a:t>2</a:t>
            </a:r>
            <a:r>
              <a:rPr lang="en-US" sz="1600" dirty="0"/>
              <a:t>).</a:t>
            </a:r>
          </a:p>
          <a:p>
            <a:pPr lvl="1" algn="just">
              <a:defRPr/>
            </a:pPr>
            <a:r>
              <a:rPr lang="en-US" sz="1600" dirty="0" err="1"/>
              <a:t>Formulasi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lvl="2" algn="just">
              <a:defRPr/>
            </a:pPr>
            <a:r>
              <a:rPr lang="en-US" sz="1600" dirty="0" err="1"/>
              <a:t>Meminimalkan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margin :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	</a:t>
            </a:r>
          </a:p>
          <a:p>
            <a:pPr lvl="2" algn="just">
              <a:defRPr/>
            </a:pPr>
            <a:r>
              <a:rPr lang="en-US" sz="1600" dirty="0" err="1"/>
              <a:t>Syarat</a:t>
            </a:r>
            <a:r>
              <a:rPr lang="en-US" sz="1600" dirty="0"/>
              <a:t> :</a:t>
            </a:r>
          </a:p>
          <a:p>
            <a:pPr lvl="2" algn="just">
              <a:defRPr/>
            </a:pPr>
            <a:endParaRPr lang="en-US" sz="1600" dirty="0"/>
          </a:p>
          <a:p>
            <a:pPr lvl="2" algn="just">
              <a:defRPr/>
            </a:pPr>
            <a:endParaRPr lang="en-US" sz="1600" dirty="0"/>
          </a:p>
          <a:p>
            <a:pPr lvl="2" algn="just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sp>
        <p:nvSpPr>
          <p:cNvPr id="7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43472" y="2169992"/>
            <a:ext cx="2792559" cy="610936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47664" y="3140968"/>
            <a:ext cx="4378378" cy="646331"/>
          </a:xfrm>
          <a:prstGeom prst="rect">
            <a:avLst/>
          </a:prstGeom>
          <a:blipFill rotWithShape="1">
            <a:blip r:embed="rId3"/>
            <a:stretch>
              <a:fillRect b="-377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76287" y="3995772"/>
            <a:ext cx="5876352" cy="1754326"/>
          </a:xfrm>
          <a:prstGeom prst="rect">
            <a:avLst/>
          </a:prstGeom>
          <a:blipFill rotWithShape="1">
            <a:blip r:embed="rId4"/>
            <a:stretch>
              <a:fillRect l="-93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29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1957388"/>
            <a:ext cx="177165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-541338" y="1268413"/>
            <a:ext cx="6553201" cy="4968875"/>
          </a:xfrm>
        </p:spPr>
        <p:txBody>
          <a:bodyPr>
            <a:normAutofit fontScale="62500" lnSpcReduction="20000"/>
          </a:bodyPr>
          <a:lstStyle/>
          <a:p>
            <a:pPr marL="914400" lvl="2" indent="0">
              <a:buFontTx/>
              <a:buNone/>
              <a:defRPr/>
            </a:pP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lvl="2">
              <a:defRPr/>
            </a:pPr>
            <a:r>
              <a:rPr lang="en-US" sz="1600" dirty="0" err="1"/>
              <a:t>Menjumlahkan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(1) </a:t>
            </a:r>
            <a:r>
              <a:rPr lang="en-US" sz="1600" dirty="0" err="1"/>
              <a:t>dan</a:t>
            </a:r>
            <a:r>
              <a:rPr lang="en-US" sz="1600" dirty="0"/>
              <a:t> (2)  :</a:t>
            </a:r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</a:t>
            </a:r>
            <a:r>
              <a:rPr lang="en-US" sz="1600" dirty="0" err="1"/>
              <a:t>hyperplane</a:t>
            </a:r>
            <a:r>
              <a:rPr lang="en-US" sz="1600" dirty="0"/>
              <a:t>  :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w</a:t>
            </a:r>
            <a:r>
              <a:rPr lang="en-US" sz="1600" baseline="-25000" dirty="0"/>
              <a:t>1</a:t>
            </a: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w</a:t>
            </a:r>
            <a:r>
              <a:rPr lang="en-US" sz="1600" baseline="-25000" dirty="0"/>
              <a:t>2</a:t>
            </a: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+ b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x</a:t>
            </a:r>
            <a:r>
              <a:rPr lang="en-US" sz="1600" baseline="-25000" dirty="0"/>
              <a:t>2</a:t>
            </a:r>
            <a:r>
              <a:rPr lang="en-US" sz="1600" dirty="0"/>
              <a:t> - 1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= 1 -  x</a:t>
            </a:r>
            <a:r>
              <a:rPr lang="en-US" sz="1600" baseline="-25000" dirty="0"/>
              <a:t>1</a:t>
            </a:r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536" y="1628800"/>
            <a:ext cx="2450799" cy="1200329"/>
          </a:xfrm>
          <a:prstGeom prst="rect">
            <a:avLst/>
          </a:prstGeom>
          <a:blipFill rotWithShape="1">
            <a:blip r:embed="rId2"/>
            <a:stretch>
              <a:fillRect l="-2239" t="-2538" b="-710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9592" y="3429000"/>
            <a:ext cx="2768707" cy="1477328"/>
          </a:xfrm>
          <a:prstGeom prst="rect">
            <a:avLst/>
          </a:prstGeom>
          <a:blipFill rotWithShape="1">
            <a:blip r:embed="rId3"/>
            <a:stretch>
              <a:fillRect l="-1982" r="-881" b="-537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635375" y="1628775"/>
            <a:ext cx="5843588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2">
              <a:defRPr/>
            </a:pPr>
            <a:r>
              <a:rPr lang="en-US" sz="1600" dirty="0" err="1"/>
              <a:t>Menjumlahkan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(1) </a:t>
            </a:r>
            <a:r>
              <a:rPr lang="en-US" sz="1600" dirty="0" err="1"/>
              <a:t>dan</a:t>
            </a:r>
            <a:r>
              <a:rPr lang="en-US" sz="1600" dirty="0"/>
              <a:t> (3)  :</a:t>
            </a:r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r>
              <a:rPr lang="en-US" sz="1600" dirty="0" err="1"/>
              <a:t>Menjumlahkan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(2) </a:t>
            </a:r>
            <a:r>
              <a:rPr lang="en-US" sz="1600" dirty="0" err="1"/>
              <a:t>dan</a:t>
            </a:r>
            <a:r>
              <a:rPr lang="en-US" sz="1600" dirty="0"/>
              <a:t> (3)  :</a:t>
            </a:r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sp>
        <p:nvSpPr>
          <p:cNvPr id="12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92080" y="1890698"/>
            <a:ext cx="2601994" cy="1754326"/>
          </a:xfrm>
          <a:prstGeom prst="rect">
            <a:avLst/>
          </a:prstGeom>
          <a:blipFill rotWithShape="1">
            <a:blip r:embed="rId4"/>
            <a:stretch>
              <a:fillRect l="-1874" r="-117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3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75564" y="3645024"/>
            <a:ext cx="3268844" cy="1477328"/>
          </a:xfrm>
          <a:prstGeom prst="rect">
            <a:avLst/>
          </a:prstGeom>
          <a:blipFill rotWithShape="1">
            <a:blip r:embed="rId5"/>
            <a:stretch>
              <a:fillRect r="-933" b="-578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Rectangle 1"/>
          <p:cNvSpPr/>
          <p:nvPr/>
        </p:nvSpPr>
        <p:spPr>
          <a:xfrm>
            <a:off x="395288" y="2997200"/>
            <a:ext cx="4176712" cy="208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0" y="1628775"/>
            <a:ext cx="4176713" cy="1728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0" y="3357563"/>
            <a:ext cx="4176713" cy="172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-541338" y="1268413"/>
            <a:ext cx="7200901" cy="4968875"/>
          </a:xfrm>
        </p:spPr>
        <p:txBody>
          <a:bodyPr/>
          <a:lstStyle/>
          <a:p>
            <a:pPr marL="914400" lvl="2" indent="0">
              <a:buFontTx/>
              <a:buNone/>
              <a:defRPr/>
            </a:pPr>
            <a:r>
              <a:rPr lang="en-US" sz="1600" dirty="0" err="1"/>
              <a:t>Visualisasi</a:t>
            </a:r>
            <a:r>
              <a:rPr lang="en-US" sz="1600" dirty="0"/>
              <a:t> </a:t>
            </a:r>
            <a:r>
              <a:rPr lang="en-US" sz="1600" dirty="0" err="1"/>
              <a:t>garis</a:t>
            </a:r>
            <a:r>
              <a:rPr lang="en-US" sz="1600" dirty="0"/>
              <a:t> </a:t>
            </a:r>
            <a:r>
              <a:rPr lang="en-US" sz="1600" dirty="0" err="1"/>
              <a:t>hyperplane</a:t>
            </a:r>
            <a:r>
              <a:rPr lang="en-US" sz="1600" dirty="0"/>
              <a:t> (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fungsi</a:t>
            </a:r>
            <a:r>
              <a:rPr lang="en-US" sz="1600" dirty="0"/>
              <a:t> </a:t>
            </a:r>
            <a:r>
              <a:rPr lang="en-US" sz="1600" dirty="0" err="1"/>
              <a:t>klasifikasi</a:t>
            </a:r>
            <a:r>
              <a:rPr lang="en-US" sz="1600" dirty="0"/>
              <a:t>)  :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w</a:t>
            </a:r>
            <a:r>
              <a:rPr lang="en-US" sz="1600" baseline="-25000" dirty="0"/>
              <a:t>1</a:t>
            </a: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w</a:t>
            </a:r>
            <a:r>
              <a:rPr lang="en-US" sz="1600" baseline="-25000" dirty="0"/>
              <a:t>2</a:t>
            </a: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+ b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x</a:t>
            </a:r>
            <a:r>
              <a:rPr lang="en-US" sz="1600" baseline="-25000" dirty="0"/>
              <a:t>2</a:t>
            </a:r>
            <a:r>
              <a:rPr lang="en-US" sz="1600" dirty="0"/>
              <a:t> - 1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= 1 -  x</a:t>
            </a:r>
            <a:r>
              <a:rPr lang="en-US" sz="1600" baseline="-25000" dirty="0"/>
              <a:t>1</a:t>
            </a:r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5288" y="2708275"/>
          <a:ext cx="2736850" cy="22256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dirty="0"/>
                        <a:t> = 1 – x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-2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4363" name="Group 3"/>
          <p:cNvGrpSpPr>
            <a:grpSpLocks/>
          </p:cNvGrpSpPr>
          <p:nvPr/>
        </p:nvGrpSpPr>
        <p:grpSpPr bwMode="auto">
          <a:xfrm>
            <a:off x="3408363" y="1916113"/>
            <a:ext cx="5124450" cy="3384550"/>
            <a:chOff x="2009775" y="1743075"/>
            <a:chExt cx="5124450" cy="3384376"/>
          </a:xfrm>
        </p:grpSpPr>
        <p:graphicFrame>
          <p:nvGraphicFramePr>
            <p:cNvPr id="17" name="Chart 16"/>
            <p:cNvGraphicFramePr>
              <a:graphicFrameLocks/>
            </p:cNvGraphicFramePr>
            <p:nvPr/>
          </p:nvGraphicFramePr>
          <p:xfrm>
            <a:off x="2009775" y="2371725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8" name="Straight Connector 17"/>
            <p:cNvCxnSpPr/>
            <p:nvPr/>
          </p:nvCxnSpPr>
          <p:spPr>
            <a:xfrm>
              <a:off x="2381250" y="1743075"/>
              <a:ext cx="4752975" cy="33843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64" name="Rectangle 6"/>
          <p:cNvSpPr>
            <a:spLocks noChangeArrowheads="1"/>
          </p:cNvSpPr>
          <p:nvPr/>
        </p:nvSpPr>
        <p:spPr bwMode="auto">
          <a:xfrm>
            <a:off x="3132138" y="1747838"/>
            <a:ext cx="20558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2" algn="ctr"/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 = 1 -  x</a:t>
            </a:r>
            <a:r>
              <a:rPr lang="en-US" sz="1600" baseline="-25000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-541338" y="1268413"/>
            <a:ext cx="7200901" cy="4968875"/>
          </a:xfrm>
        </p:spPr>
        <p:txBody>
          <a:bodyPr/>
          <a:lstStyle/>
          <a:p>
            <a:pPr marL="914400" lvl="2" indent="0">
              <a:buFontTx/>
              <a:buNone/>
              <a:defRPr/>
            </a:pPr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diketahui</a:t>
            </a:r>
            <a:r>
              <a:rPr lang="en-US" sz="1600" dirty="0"/>
              <a:t> data </a:t>
            </a:r>
            <a:r>
              <a:rPr lang="en-US" sz="1600" dirty="0" err="1"/>
              <a:t>uji</a:t>
            </a:r>
            <a:r>
              <a:rPr lang="en-US" sz="1600" dirty="0"/>
              <a:t>/ data testing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  	</a:t>
            </a:r>
            <a:r>
              <a:rPr lang="en-US" sz="1600" dirty="0" err="1"/>
              <a:t>Diketahui</a:t>
            </a:r>
            <a:r>
              <a:rPr lang="en-US" sz="1600" dirty="0"/>
              <a:t> : f(x) = x</a:t>
            </a:r>
            <a:r>
              <a:rPr lang="en-US" sz="1600" baseline="-25000" dirty="0"/>
              <a:t>1</a:t>
            </a:r>
            <a:r>
              <a:rPr lang="en-US" sz="1600" dirty="0"/>
              <a:t> + x</a:t>
            </a:r>
            <a:r>
              <a:rPr lang="en-US" sz="1600" baseline="-25000" dirty="0"/>
              <a:t>2</a:t>
            </a:r>
            <a:r>
              <a:rPr lang="en-US" sz="1600" dirty="0"/>
              <a:t> – 1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 	</a:t>
            </a:r>
            <a:r>
              <a:rPr lang="en-US" sz="1600" dirty="0" err="1"/>
              <a:t>Kelas</a:t>
            </a:r>
            <a:r>
              <a:rPr lang="en-US" sz="1600" dirty="0"/>
              <a:t> = sign(f(x))</a:t>
            </a:r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5288" y="2644775"/>
          <a:ext cx="4176712" cy="29908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653">
                <a:tc rowSpan="2">
                  <a:txBody>
                    <a:bodyPr/>
                    <a:lstStyle/>
                    <a:p>
                      <a:r>
                        <a:rPr lang="en-US" sz="1400" baseline="0" dirty="0"/>
                        <a:t>No</a:t>
                      </a:r>
                    </a:p>
                  </a:txBody>
                  <a:tcPr marL="91445" marR="91445" marT="45704" marB="45704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Data </a:t>
                      </a:r>
                      <a:r>
                        <a:rPr lang="en-US" sz="1200" baseline="0" dirty="0" err="1"/>
                        <a:t>Uji</a:t>
                      </a:r>
                      <a:endParaRPr lang="en-US" sz="1200" baseline="0" dirty="0"/>
                    </a:p>
                  </a:txBody>
                  <a:tcPr marL="91445" marR="91445" marT="45704" marB="45704" anchor="ctr"/>
                </a:tc>
                <a:tc hMerge="1">
                  <a:txBody>
                    <a:bodyPr/>
                    <a:lstStyle/>
                    <a:p>
                      <a:endParaRPr lang="en-US" sz="1800" baseline="-25000" dirty="0"/>
                    </a:p>
                  </a:txBody>
                  <a:tcPr marL="91445" marR="91445" marT="45710" marB="4571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/>
                        <a:t>Hasil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Klasifikasi</a:t>
                      </a:r>
                      <a:endParaRPr lang="en-US" sz="1200" baseline="0" dirty="0"/>
                    </a:p>
                  </a:txBody>
                  <a:tcPr marL="91445" marR="91445" marT="45704" marB="457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653">
                <a:tc vMerge="1">
                  <a:txBody>
                    <a:bodyPr/>
                    <a:lstStyle/>
                    <a:p>
                      <a:endParaRPr lang="en-US" sz="1400" baseline="0" dirty="0"/>
                    </a:p>
                  </a:txBody>
                  <a:tcPr marL="91445" marR="91445" marT="45710" marB="4571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L="91445" marR="91445" marT="45704" marB="45704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2</a:t>
                      </a:r>
                    </a:p>
                  </a:txBody>
                  <a:tcPr marL="91445" marR="91445" marT="45704" marB="4570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/>
                        <a:t>Kelas</a:t>
                      </a:r>
                      <a:r>
                        <a:rPr lang="en-US" sz="1200" baseline="0" dirty="0"/>
                        <a:t> = sign(</a:t>
                      </a:r>
                      <a:r>
                        <a:rPr lang="en-US" sz="1200" dirty="0"/>
                        <a:t>x</a:t>
                      </a:r>
                      <a:r>
                        <a:rPr lang="en-US" sz="1200" baseline="-25000" dirty="0"/>
                        <a:t>1 </a:t>
                      </a:r>
                      <a:r>
                        <a:rPr lang="en-US" sz="1200" baseline="0" dirty="0"/>
                        <a:t>+ </a:t>
                      </a:r>
                      <a:r>
                        <a:rPr lang="en-US" sz="1200" dirty="0"/>
                        <a:t>x</a:t>
                      </a:r>
                      <a:r>
                        <a:rPr lang="en-US" sz="1200" baseline="-25000" dirty="0"/>
                        <a:t>2 </a:t>
                      </a:r>
                      <a:r>
                        <a:rPr lang="en-US" sz="1200" baseline="0" dirty="0"/>
                        <a:t> - 1)</a:t>
                      </a:r>
                      <a:endParaRPr lang="en-US" sz="1200" baseline="-25000" dirty="0"/>
                    </a:p>
                  </a:txBody>
                  <a:tcPr marL="91445" marR="91445" marT="45704" marB="457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sign (1  + 5 - 1)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 +1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(-1 + 4 - 1)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+1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(0  + 7 - 1)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 +1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-9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(-9 + 0 - 1)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-1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-2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(2   - 2 - 1)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>
                          <a:sym typeface="Wingdings" pitchFamily="2" charset="2"/>
                        </a:rPr>
                        <a:t>=</a:t>
                      </a:r>
                      <a:r>
                        <a:rPr lang="en-US" sz="1800" dirty="0"/>
                        <a:t> -1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407" name="Group 3"/>
          <p:cNvGrpSpPr>
            <a:grpSpLocks/>
          </p:cNvGrpSpPr>
          <p:nvPr/>
        </p:nvGrpSpPr>
        <p:grpSpPr bwMode="auto">
          <a:xfrm>
            <a:off x="4500563" y="1997075"/>
            <a:ext cx="4572000" cy="3371850"/>
            <a:chOff x="2009775" y="1743075"/>
            <a:chExt cx="4572000" cy="3371850"/>
          </a:xfrm>
        </p:grpSpPr>
        <p:graphicFrame>
          <p:nvGraphicFramePr>
            <p:cNvPr id="17" name="Chart 16"/>
            <p:cNvGraphicFramePr>
              <a:graphicFrameLocks/>
            </p:cNvGraphicFramePr>
            <p:nvPr/>
          </p:nvGraphicFramePr>
          <p:xfrm>
            <a:off x="2009775" y="2371725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8" name="Straight Connector 17"/>
            <p:cNvCxnSpPr/>
            <p:nvPr/>
          </p:nvCxnSpPr>
          <p:spPr>
            <a:xfrm>
              <a:off x="2381250" y="1743075"/>
              <a:ext cx="4105275" cy="2952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08" name="Rectangle 6"/>
          <p:cNvSpPr>
            <a:spLocks noChangeArrowheads="1"/>
          </p:cNvSpPr>
          <p:nvPr/>
        </p:nvSpPr>
        <p:spPr bwMode="auto">
          <a:xfrm>
            <a:off x="4187825" y="1831975"/>
            <a:ext cx="2055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2" algn="ctr"/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 = 1 -  x</a:t>
            </a:r>
            <a:r>
              <a:rPr lang="en-US" sz="1600" baseline="-25000"/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</a:t>
            </a:r>
            <a:endParaRPr lang="en-SG" sz="400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/>
              <a:t>Contoh SVM Non Linier pada dataset berikut :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r>
              <a:rPr lang="en-US" sz="2000"/>
              <a:t>Bentuk Visualisasi data :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SG" sz="2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1550" y="1773238"/>
          <a:ext cx="6985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 Vector (SP)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971550" y="4365625"/>
          <a:ext cx="5256213" cy="201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42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4441825"/>
            <a:ext cx="1006475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2000"/>
              <a:t>Contoh SVM Non Linier :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lvl="1"/>
            <a:r>
              <a:rPr lang="en-US" sz="1600"/>
              <a:t>Karena ada dua fitur (x</a:t>
            </a:r>
            <a:r>
              <a:rPr lang="en-US" sz="1600" baseline="-25000"/>
              <a:t>1</a:t>
            </a:r>
            <a:r>
              <a:rPr lang="en-US" sz="1600"/>
              <a:t> dan x</a:t>
            </a:r>
            <a:r>
              <a:rPr lang="en-US" sz="1600" baseline="-25000"/>
              <a:t>2</a:t>
            </a:r>
            <a:r>
              <a:rPr lang="en-US" sz="1600"/>
              <a:t>), dan kelompok datanya tidak linear, maka digunakan fungsi kernel. Misal menggunakan fungsi kernel polynomial ordo 2, yaitu :</a:t>
            </a:r>
            <a:br>
              <a:rPr lang="en-US" sz="1600"/>
            </a:br>
            <a:r>
              <a:rPr lang="en-US" sz="1800" b="1"/>
              <a:t>K(x,y) = (x.y + c)</a:t>
            </a:r>
            <a:r>
              <a:rPr lang="en-US" sz="1800" b="1" baseline="30000"/>
              <a:t>d</a:t>
            </a:r>
            <a:r>
              <a:rPr lang="en-US" sz="1800" baseline="30000"/>
              <a:t> </a:t>
            </a:r>
            <a:r>
              <a:rPr lang="en-US" sz="1800"/>
              <a:t>  </a:t>
            </a:r>
            <a:r>
              <a:rPr lang="en-US" sz="1600"/>
              <a:t>dengan c = 1 dan d = 2. </a:t>
            </a:r>
          </a:p>
          <a:p>
            <a:pPr lvl="1"/>
            <a:r>
              <a:rPr lang="en-US" sz="1600"/>
              <a:t>Fungsi kernel dituliskan kembali menjadi berikut :</a:t>
            </a:r>
            <a:br>
              <a:rPr lang="en-US" sz="1600"/>
            </a:br>
            <a:r>
              <a:rPr lang="en-US" sz="1800" b="1"/>
              <a:t>K(x,x</a:t>
            </a:r>
            <a:r>
              <a:rPr lang="en-US" sz="1800" b="1" baseline="-25000"/>
              <a:t>i</a:t>
            </a:r>
            <a:r>
              <a:rPr lang="en-US" sz="1800" b="1"/>
              <a:t>) = (x</a:t>
            </a:r>
            <a:r>
              <a:rPr lang="en-US" sz="1800" b="1" baseline="30000"/>
              <a:t>T</a:t>
            </a:r>
            <a:r>
              <a:rPr lang="en-US" sz="1800" b="1"/>
              <a:t>.x</a:t>
            </a:r>
            <a:r>
              <a:rPr lang="en-US" sz="1800" b="1" baseline="-25000"/>
              <a:t>i</a:t>
            </a:r>
            <a:r>
              <a:rPr lang="en-US" sz="1800" b="1"/>
              <a:t> + 1)</a:t>
            </a:r>
            <a:r>
              <a:rPr lang="en-US" sz="1800" b="1" baseline="30000"/>
              <a:t>2</a:t>
            </a:r>
            <a:r>
              <a:rPr lang="en-US" sz="1800" b="1"/>
              <a:t>  </a:t>
            </a:r>
            <a:r>
              <a:rPr lang="en-US" sz="1800"/>
              <a:t>dengan </a:t>
            </a:r>
            <a:endParaRPr lang="en-US" sz="2000"/>
          </a:p>
          <a:p>
            <a:pPr lvl="1"/>
            <a:r>
              <a:rPr lang="en-US" sz="1600"/>
              <a:t>Menghitung matrik kernel K :</a:t>
            </a:r>
            <a:br>
              <a:rPr lang="en-US" sz="1600"/>
            </a:br>
            <a:r>
              <a:rPr lang="en-US" sz="1600" b="1"/>
              <a:t>K(x,x</a:t>
            </a:r>
            <a:r>
              <a:rPr lang="en-US" sz="1600" b="1" baseline="-25000"/>
              <a:t>i</a:t>
            </a:r>
            <a:r>
              <a:rPr lang="en-US" sz="1600" b="1"/>
              <a:t>) = </a:t>
            </a:r>
            <a:r>
              <a:rPr lang="en-US" sz="2400" b="1"/>
              <a:t>ᶲ</a:t>
            </a:r>
            <a:r>
              <a:rPr lang="en-US" sz="1600" b="1"/>
              <a:t>(x).</a:t>
            </a:r>
            <a:r>
              <a:rPr lang="en-US" sz="2400" b="1"/>
              <a:t>ᶲ</a:t>
            </a:r>
            <a:r>
              <a:rPr lang="en-US" sz="1600" b="1"/>
              <a:t>(</a:t>
            </a:r>
            <a:r>
              <a:rPr lang="en-US" sz="1800" b="1"/>
              <a:t>x</a:t>
            </a:r>
            <a:r>
              <a:rPr lang="en-US" sz="1600" b="1" baseline="-25000"/>
              <a:t>i</a:t>
            </a:r>
            <a:r>
              <a:rPr lang="en-US" sz="1600" b="1"/>
              <a:t>)</a:t>
            </a:r>
            <a:endParaRPr lang="en-US" sz="2000"/>
          </a:p>
          <a:p>
            <a:pPr algn="just"/>
            <a:endParaRPr lang="en-SG" sz="2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1550" y="1773238"/>
          <a:ext cx="209867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8"/>
          <p:cNvGraphicFramePr>
            <a:graphicFrameLocks/>
          </p:cNvGraphicFramePr>
          <p:nvPr/>
        </p:nvGraphicFramePr>
        <p:xfrm>
          <a:off x="3111500" y="1700213"/>
          <a:ext cx="4583113" cy="201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4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613" y="1819275"/>
            <a:ext cx="1006475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440" name="Object 1"/>
          <p:cNvGraphicFramePr>
            <a:graphicFrameLocks noChangeAspect="1"/>
          </p:cNvGraphicFramePr>
          <p:nvPr/>
        </p:nvGraphicFramePr>
        <p:xfrm>
          <a:off x="4237038" y="5013325"/>
          <a:ext cx="17748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444307" progId="Equation.3">
                  <p:embed/>
                </p:oleObj>
              </mc:Choice>
              <mc:Fallback>
                <p:oleObj name="Equation" r:id="rId4" imgW="1079032" imgH="444307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5013325"/>
                        <a:ext cx="17748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Fungsi</a:t>
            </a:r>
            <a:r>
              <a:rPr lang="en-US" sz="1600" dirty="0"/>
              <a:t> kernel </a:t>
            </a:r>
            <a:r>
              <a:rPr lang="en-US" sz="1600" dirty="0" err="1"/>
              <a:t>dituliskan</a:t>
            </a:r>
            <a:r>
              <a:rPr lang="en-US" sz="1600" dirty="0"/>
              <a:t> </a:t>
            </a:r>
            <a:r>
              <a:rPr lang="en-US" sz="1600" dirty="0" err="1"/>
              <a:t>kembali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  <a:br>
              <a:rPr lang="en-US" sz="1600" dirty="0"/>
            </a:br>
            <a:r>
              <a:rPr lang="en-US" sz="1800" b="1" dirty="0"/>
              <a:t>K(</a:t>
            </a:r>
            <a:r>
              <a:rPr lang="en-US" sz="1800" b="1" dirty="0" err="1"/>
              <a:t>x,x</a:t>
            </a:r>
            <a:r>
              <a:rPr lang="en-US" sz="1800" b="1" baseline="-25000" dirty="0" err="1"/>
              <a:t>i</a:t>
            </a:r>
            <a:r>
              <a:rPr lang="en-US" sz="1800" b="1" dirty="0"/>
              <a:t>) = (</a:t>
            </a:r>
            <a:r>
              <a:rPr lang="en-US" sz="1800" b="1" dirty="0" err="1"/>
              <a:t>x</a:t>
            </a:r>
            <a:r>
              <a:rPr lang="en-US" sz="1800" b="1" baseline="30000" dirty="0" err="1"/>
              <a:t>T</a:t>
            </a:r>
            <a:r>
              <a:rPr lang="en-US" sz="1800" b="1" dirty="0" err="1"/>
              <a:t>.x</a:t>
            </a:r>
            <a:r>
              <a:rPr lang="en-US" sz="1800" b="1" baseline="-25000" dirty="0" err="1"/>
              <a:t>i</a:t>
            </a:r>
            <a:r>
              <a:rPr lang="en-US" sz="1800" b="1" dirty="0"/>
              <a:t> + 1)</a:t>
            </a:r>
            <a:r>
              <a:rPr lang="en-US" sz="1800" b="1" baseline="30000" dirty="0"/>
              <a:t>2</a:t>
            </a:r>
            <a:r>
              <a:rPr lang="en-US" sz="1800" b="1" dirty="0"/>
              <a:t> 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endParaRPr lang="en-US" sz="2000" dirty="0"/>
          </a:p>
          <a:p>
            <a:pPr lvl="1">
              <a:defRPr/>
            </a:pP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matrik</a:t>
            </a:r>
            <a:r>
              <a:rPr lang="en-US" sz="1600" dirty="0"/>
              <a:t> kernel </a:t>
            </a:r>
            <a:r>
              <a:rPr lang="en-US" sz="1600" b="1" dirty="0"/>
              <a:t>K(</a:t>
            </a:r>
            <a:r>
              <a:rPr lang="en-US" sz="1600" b="1" dirty="0" err="1"/>
              <a:t>x,x</a:t>
            </a:r>
            <a:r>
              <a:rPr lang="en-US" sz="1600" b="1" baseline="-25000" dirty="0" err="1"/>
              <a:t>i</a:t>
            </a:r>
            <a:r>
              <a:rPr lang="en-US" sz="1600" b="1" dirty="0"/>
              <a:t>) = </a:t>
            </a:r>
            <a:r>
              <a:rPr lang="en-US" b="1" dirty="0"/>
              <a:t>ᶲ</a:t>
            </a:r>
            <a:r>
              <a:rPr lang="en-US" sz="1800" b="1" dirty="0"/>
              <a:t>(x).</a:t>
            </a:r>
            <a:r>
              <a:rPr lang="en-US" b="1" dirty="0"/>
              <a:t>ᶲ</a:t>
            </a:r>
            <a:r>
              <a:rPr lang="en-US" sz="1800" b="1" dirty="0"/>
              <a:t>(x</a:t>
            </a:r>
            <a:r>
              <a:rPr lang="en-US" sz="1800" b="1" baseline="-25000" dirty="0"/>
              <a:t>i</a:t>
            </a:r>
            <a:r>
              <a:rPr lang="en-US" sz="1800" b="1" dirty="0"/>
              <a:t>)</a:t>
            </a:r>
          </a:p>
          <a:p>
            <a:pPr lvl="1">
              <a:defRPr/>
            </a:pPr>
            <a:r>
              <a:rPr lang="en-US" sz="1800" dirty="0" err="1"/>
              <a:t>Misal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K(</a:t>
            </a:r>
            <a:r>
              <a:rPr lang="en-US" sz="1800" dirty="0" err="1"/>
              <a:t>u,z</a:t>
            </a:r>
            <a:r>
              <a:rPr lang="en-US" sz="1800" dirty="0"/>
              <a:t>) : </a:t>
            </a:r>
            <a:r>
              <a:rPr lang="en-US" sz="1800" dirty="0" err="1"/>
              <a:t>dengan</a:t>
            </a:r>
            <a:r>
              <a:rPr lang="en-US" sz="1800" dirty="0"/>
              <a:t> u=(1,1) </a:t>
            </a:r>
            <a:r>
              <a:rPr lang="en-US" sz="1800" dirty="0" err="1"/>
              <a:t>dan</a:t>
            </a:r>
            <a:r>
              <a:rPr lang="en-US" sz="1800" dirty="0"/>
              <a:t> z=(1,-1)</a:t>
            </a:r>
          </a:p>
          <a:p>
            <a:pPr marL="457200" lvl="1" indent="0">
              <a:buFontTx/>
              <a:buNone/>
              <a:defRPr/>
            </a:pPr>
            <a:r>
              <a:rPr lang="en-US" sz="2000" b="1" dirty="0"/>
              <a:t>    </a:t>
            </a:r>
            <a:r>
              <a:rPr lang="en-US" sz="1600" dirty="0"/>
              <a:t>k(</a:t>
            </a:r>
            <a:r>
              <a:rPr lang="en-US" sz="1200" dirty="0"/>
              <a:t>U</a:t>
            </a:r>
            <a:r>
              <a:rPr lang="en-US" sz="1400" dirty="0"/>
              <a:t>=(1,1),</a:t>
            </a:r>
            <a:r>
              <a:rPr lang="en-US" sz="1200" dirty="0"/>
              <a:t>Z</a:t>
            </a:r>
            <a:r>
              <a:rPr lang="en-US" sz="1400" dirty="0"/>
              <a:t>=(1,-1)</a:t>
            </a:r>
            <a:r>
              <a:rPr lang="en-US" sz="1600" dirty="0"/>
              <a:t>) </a:t>
            </a:r>
            <a:r>
              <a:rPr lang="en-US" sz="1400" dirty="0"/>
              <a:t>= (((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))+1)</a:t>
            </a:r>
            <a:r>
              <a:rPr lang="en-US" sz="1400" baseline="30000" dirty="0"/>
              <a:t>2</a:t>
            </a:r>
            <a:r>
              <a:rPr lang="en-US" sz="1400" dirty="0"/>
              <a:t> =</a:t>
            </a:r>
            <a:r>
              <a:rPr lang="en-US" sz="1600" dirty="0"/>
              <a:t> </a:t>
            </a:r>
            <a:r>
              <a:rPr lang="en-US" sz="1400" dirty="0"/>
              <a:t>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</a:t>
            </a:r>
            <a:r>
              <a:rPr lang="en-US" sz="1400" baseline="30000" dirty="0"/>
              <a:t>2</a:t>
            </a:r>
            <a:r>
              <a:rPr lang="en-US" sz="1400" dirty="0"/>
              <a:t>+2((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)).1 + 1</a:t>
            </a:r>
            <a:r>
              <a:rPr lang="en-US" sz="1400" baseline="30000" dirty="0"/>
              <a:t>2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600" dirty="0"/>
              <a:t>=</a:t>
            </a:r>
            <a:r>
              <a:rPr lang="en-US" sz="1800" dirty="0"/>
              <a:t> </a:t>
            </a:r>
            <a:r>
              <a:rPr lang="en-US" sz="1600" dirty="0"/>
              <a:t>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 + 2(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+ 1</a:t>
            </a:r>
          </a:p>
          <a:p>
            <a:pPr marL="457200" lvl="1" indent="0">
              <a:buFontTx/>
              <a:buNone/>
              <a:defRPr/>
            </a:pPr>
            <a:r>
              <a:rPr lang="en-US" sz="1800" dirty="0"/>
              <a:t>    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8437" name="Object 2"/>
          <p:cNvGraphicFramePr>
            <a:graphicFrameLocks noChangeAspect="1"/>
          </p:cNvGraphicFramePr>
          <p:nvPr/>
        </p:nvGraphicFramePr>
        <p:xfrm>
          <a:off x="4237038" y="1411288"/>
          <a:ext cx="17748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444307" progId="Equation.3">
                  <p:embed/>
                </p:oleObj>
              </mc:Choice>
              <mc:Fallback>
                <p:oleObj name="Equation" r:id="rId3" imgW="1079032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411288"/>
                        <a:ext cx="17748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2"/>
          <p:cNvGraphicFramePr>
            <a:graphicFrameLocks noChangeAspect="1"/>
          </p:cNvGraphicFramePr>
          <p:nvPr/>
        </p:nvGraphicFramePr>
        <p:xfrm>
          <a:off x="1258888" y="3463925"/>
          <a:ext cx="5870575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8200" imgH="2311400" progId="Equation.3">
                  <p:embed/>
                </p:oleObj>
              </mc:Choice>
              <mc:Fallback>
                <p:oleObj name="Equation" r:id="rId5" imgW="33782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63925"/>
                        <a:ext cx="5870575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Fungsi</a:t>
            </a:r>
            <a:r>
              <a:rPr lang="en-US" sz="1600" dirty="0"/>
              <a:t> kernel </a:t>
            </a:r>
            <a:r>
              <a:rPr lang="en-US" sz="1600" dirty="0" err="1"/>
              <a:t>dituliskan</a:t>
            </a:r>
            <a:r>
              <a:rPr lang="en-US" sz="1600" dirty="0"/>
              <a:t> </a:t>
            </a:r>
            <a:r>
              <a:rPr lang="en-US" sz="1600" dirty="0" err="1"/>
              <a:t>kembali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  <a:br>
              <a:rPr lang="en-US" sz="1600" dirty="0"/>
            </a:br>
            <a:r>
              <a:rPr lang="en-US" sz="1800" b="1" dirty="0"/>
              <a:t>K(</a:t>
            </a:r>
            <a:r>
              <a:rPr lang="en-US" sz="1800" b="1" dirty="0" err="1"/>
              <a:t>x,x</a:t>
            </a:r>
            <a:r>
              <a:rPr lang="en-US" sz="1800" b="1" baseline="-25000" dirty="0" err="1"/>
              <a:t>i</a:t>
            </a:r>
            <a:r>
              <a:rPr lang="en-US" sz="1800" b="1" dirty="0"/>
              <a:t>) = (</a:t>
            </a:r>
            <a:r>
              <a:rPr lang="en-US" sz="1800" b="1" dirty="0" err="1"/>
              <a:t>x</a:t>
            </a:r>
            <a:r>
              <a:rPr lang="en-US" sz="1800" b="1" baseline="30000" dirty="0" err="1"/>
              <a:t>T</a:t>
            </a:r>
            <a:r>
              <a:rPr lang="en-US" sz="1800" b="1" dirty="0" err="1"/>
              <a:t>.x</a:t>
            </a:r>
            <a:r>
              <a:rPr lang="en-US" sz="1800" b="1" baseline="-25000" dirty="0" err="1"/>
              <a:t>i</a:t>
            </a:r>
            <a:r>
              <a:rPr lang="en-US" sz="1800" b="1" dirty="0"/>
              <a:t> + 1)</a:t>
            </a:r>
            <a:r>
              <a:rPr lang="en-US" sz="1800" b="1" baseline="30000" dirty="0"/>
              <a:t>2</a:t>
            </a:r>
            <a:r>
              <a:rPr lang="en-US" sz="1800" b="1" dirty="0"/>
              <a:t> 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endParaRPr lang="en-US" sz="2000" dirty="0"/>
          </a:p>
          <a:p>
            <a:pPr lvl="1">
              <a:defRPr/>
            </a:pP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matrik</a:t>
            </a:r>
            <a:r>
              <a:rPr lang="en-US" sz="1600" dirty="0"/>
              <a:t> kernel </a:t>
            </a:r>
            <a:r>
              <a:rPr lang="en-US" sz="1600" b="1" dirty="0"/>
              <a:t>K(</a:t>
            </a:r>
            <a:r>
              <a:rPr lang="en-US" sz="1600" b="1" dirty="0" err="1"/>
              <a:t>x,x</a:t>
            </a:r>
            <a:r>
              <a:rPr lang="en-US" sz="1600" b="1" baseline="-25000" dirty="0" err="1"/>
              <a:t>i</a:t>
            </a:r>
            <a:r>
              <a:rPr lang="en-US" sz="1600" b="1" dirty="0"/>
              <a:t>) = </a:t>
            </a:r>
            <a:r>
              <a:rPr lang="en-US" b="1" dirty="0"/>
              <a:t>ᶲ</a:t>
            </a:r>
            <a:r>
              <a:rPr lang="en-US" sz="1800" b="1" dirty="0"/>
              <a:t>(x).</a:t>
            </a:r>
            <a:r>
              <a:rPr lang="en-US" b="1" dirty="0"/>
              <a:t>ᶲ</a:t>
            </a:r>
            <a:r>
              <a:rPr lang="en-US" sz="1800" b="1" dirty="0"/>
              <a:t>(x</a:t>
            </a:r>
            <a:r>
              <a:rPr lang="en-US" sz="1800" b="1" baseline="-25000" dirty="0"/>
              <a:t>i</a:t>
            </a:r>
            <a:r>
              <a:rPr lang="en-US" sz="1800" b="1" dirty="0"/>
              <a:t>)</a:t>
            </a:r>
          </a:p>
          <a:p>
            <a:pPr lvl="1">
              <a:defRPr/>
            </a:pPr>
            <a:r>
              <a:rPr lang="en-US" sz="1800" dirty="0" err="1"/>
              <a:t>Misal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K(</a:t>
            </a:r>
            <a:r>
              <a:rPr lang="en-US" sz="1800" dirty="0" err="1"/>
              <a:t>u,z</a:t>
            </a:r>
            <a:r>
              <a:rPr lang="en-US" sz="1800" dirty="0"/>
              <a:t>) : </a:t>
            </a:r>
            <a:r>
              <a:rPr lang="en-US" sz="1800" dirty="0" err="1"/>
              <a:t>dengan</a:t>
            </a:r>
            <a:r>
              <a:rPr lang="en-US" sz="1800" dirty="0"/>
              <a:t> u=(1,1) </a:t>
            </a:r>
            <a:r>
              <a:rPr lang="en-US" sz="1800" dirty="0" err="1"/>
              <a:t>dan</a:t>
            </a:r>
            <a:r>
              <a:rPr lang="en-US" sz="1800" dirty="0"/>
              <a:t> z=(1,-1)</a:t>
            </a:r>
          </a:p>
          <a:p>
            <a:pPr marL="457200" lvl="1" indent="0">
              <a:buFontTx/>
              <a:buNone/>
              <a:defRPr/>
            </a:pPr>
            <a:r>
              <a:rPr lang="en-US" sz="2000" b="1" dirty="0"/>
              <a:t>    </a:t>
            </a:r>
            <a:r>
              <a:rPr lang="en-US" sz="1600" dirty="0"/>
              <a:t>k(</a:t>
            </a:r>
            <a:r>
              <a:rPr lang="en-US" sz="1200" dirty="0"/>
              <a:t>U</a:t>
            </a:r>
            <a:r>
              <a:rPr lang="en-US" sz="1400" dirty="0"/>
              <a:t>=(1,1),</a:t>
            </a:r>
            <a:r>
              <a:rPr lang="en-US" sz="1200" dirty="0"/>
              <a:t>Z</a:t>
            </a:r>
            <a:r>
              <a:rPr lang="en-US" sz="1400" dirty="0"/>
              <a:t>=(1,-1)</a:t>
            </a:r>
            <a:r>
              <a:rPr lang="en-US" sz="1600" dirty="0"/>
              <a:t>) </a:t>
            </a:r>
            <a:r>
              <a:rPr lang="en-US" sz="1400" dirty="0"/>
              <a:t>= (((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))+1)</a:t>
            </a:r>
            <a:r>
              <a:rPr lang="en-US" sz="1400" baseline="30000" dirty="0"/>
              <a:t>2</a:t>
            </a:r>
            <a:r>
              <a:rPr lang="en-US" sz="1400" dirty="0"/>
              <a:t> =</a:t>
            </a:r>
            <a:r>
              <a:rPr lang="en-US" sz="1600" dirty="0"/>
              <a:t> </a:t>
            </a:r>
            <a:r>
              <a:rPr lang="en-US" sz="1400" dirty="0"/>
              <a:t>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</a:t>
            </a:r>
            <a:r>
              <a:rPr lang="en-US" sz="1400" baseline="30000" dirty="0"/>
              <a:t>2</a:t>
            </a:r>
            <a:r>
              <a:rPr lang="en-US" sz="1400" dirty="0"/>
              <a:t>+2((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)).1 + 1</a:t>
            </a:r>
            <a:r>
              <a:rPr lang="en-US" sz="1400" baseline="30000" dirty="0"/>
              <a:t>2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600" dirty="0"/>
              <a:t>=</a:t>
            </a:r>
            <a:r>
              <a:rPr lang="en-US" sz="1800" dirty="0"/>
              <a:t> </a:t>
            </a:r>
            <a:r>
              <a:rPr lang="en-US" sz="1600" dirty="0"/>
              <a:t>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 + 2(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+ 1</a:t>
            </a:r>
          </a:p>
          <a:p>
            <a:pPr marL="457200" lvl="1" indent="0">
              <a:buFontTx/>
              <a:buNone/>
              <a:defRPr/>
            </a:pPr>
            <a:r>
              <a:rPr lang="en-US" sz="1800" dirty="0"/>
              <a:t>    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461" name="Object 2"/>
          <p:cNvGraphicFramePr>
            <a:graphicFrameLocks noChangeAspect="1"/>
          </p:cNvGraphicFramePr>
          <p:nvPr/>
        </p:nvGraphicFramePr>
        <p:xfrm>
          <a:off x="4237038" y="1411288"/>
          <a:ext cx="17748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444307" progId="Equation.3">
                  <p:embed/>
                </p:oleObj>
              </mc:Choice>
              <mc:Fallback>
                <p:oleObj name="Equation" r:id="rId3" imgW="1079032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411288"/>
                        <a:ext cx="17748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2"/>
          <p:cNvGraphicFramePr>
            <a:graphicFrameLocks noChangeAspect="1"/>
          </p:cNvGraphicFramePr>
          <p:nvPr/>
        </p:nvGraphicFramePr>
        <p:xfrm>
          <a:off x="1258888" y="3463925"/>
          <a:ext cx="5870575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8200" imgH="2311400" progId="Equation.3">
                  <p:embed/>
                </p:oleObj>
              </mc:Choice>
              <mc:Fallback>
                <p:oleObj name="Equation" r:id="rId5" imgW="33782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63925"/>
                        <a:ext cx="5870575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800" dirty="0" err="1"/>
              <a:t>Misal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K(</a:t>
            </a:r>
            <a:r>
              <a:rPr lang="en-US" sz="1800" dirty="0" err="1"/>
              <a:t>u,z</a:t>
            </a:r>
            <a:r>
              <a:rPr lang="en-US" sz="1800" dirty="0"/>
              <a:t>) : </a:t>
            </a:r>
            <a:r>
              <a:rPr lang="en-US" sz="1800" dirty="0" err="1"/>
              <a:t>dengan</a:t>
            </a:r>
            <a:r>
              <a:rPr lang="en-US" sz="1800" dirty="0"/>
              <a:t> u=(1,1) </a:t>
            </a:r>
            <a:r>
              <a:rPr lang="en-US" sz="1800" dirty="0" err="1"/>
              <a:t>dan</a:t>
            </a:r>
            <a:r>
              <a:rPr lang="en-US" sz="1800" dirty="0"/>
              <a:t> z=(1,-1)</a:t>
            </a:r>
          </a:p>
          <a:p>
            <a:pPr marL="457200" lvl="1" indent="0">
              <a:buFontTx/>
              <a:buNone/>
              <a:defRPr/>
            </a:pPr>
            <a:r>
              <a:rPr lang="en-US" sz="2000" b="1" dirty="0"/>
              <a:t>    </a:t>
            </a:r>
            <a:r>
              <a:rPr lang="en-US" sz="1600" dirty="0"/>
              <a:t>k(</a:t>
            </a:r>
            <a:r>
              <a:rPr lang="en-US" sz="1200" dirty="0"/>
              <a:t>U</a:t>
            </a:r>
            <a:r>
              <a:rPr lang="en-US" sz="1400" dirty="0"/>
              <a:t>=(1,1),</a:t>
            </a:r>
            <a:r>
              <a:rPr lang="en-US" sz="1200" dirty="0"/>
              <a:t>Z</a:t>
            </a:r>
            <a:r>
              <a:rPr lang="en-US" sz="1400" dirty="0"/>
              <a:t>=(1,-1)</a:t>
            </a:r>
            <a:r>
              <a:rPr lang="en-US" sz="1600" dirty="0"/>
              <a:t>) </a:t>
            </a:r>
            <a:r>
              <a:rPr lang="en-US" sz="1400" dirty="0"/>
              <a:t>= (((</a:t>
            </a:r>
            <a:r>
              <a:rPr lang="en-US" sz="1200" dirty="0"/>
              <a:t>1</a:t>
            </a:r>
            <a:r>
              <a:rPr lang="en-US" sz="1400" dirty="0"/>
              <a:t>.</a:t>
            </a:r>
            <a:r>
              <a:rPr lang="en-US" sz="1200" dirty="0"/>
              <a:t>1</a:t>
            </a:r>
            <a:r>
              <a:rPr lang="en-US" sz="1400" dirty="0"/>
              <a:t>)+(</a:t>
            </a:r>
            <a:r>
              <a:rPr lang="en-US" sz="1200" dirty="0"/>
              <a:t>1</a:t>
            </a:r>
            <a:r>
              <a:rPr lang="en-US" sz="1400" dirty="0"/>
              <a:t>.(-1)))+1)</a:t>
            </a:r>
            <a:r>
              <a:rPr lang="en-US" sz="1400" baseline="30000" dirty="0"/>
              <a:t>2</a:t>
            </a:r>
            <a:r>
              <a:rPr lang="en-US" sz="1400" dirty="0"/>
              <a:t> =</a:t>
            </a:r>
            <a:r>
              <a:rPr lang="en-US" sz="1600" dirty="0"/>
              <a:t> </a:t>
            </a:r>
            <a:r>
              <a:rPr lang="en-US" sz="1400" dirty="0"/>
              <a:t>((</a:t>
            </a:r>
            <a:r>
              <a:rPr lang="en-US" sz="1200" dirty="0"/>
              <a:t>1</a:t>
            </a:r>
            <a:r>
              <a:rPr lang="en-US" sz="1400" dirty="0"/>
              <a:t>.</a:t>
            </a:r>
            <a:r>
              <a:rPr lang="en-US" sz="1200" dirty="0"/>
              <a:t>1</a:t>
            </a:r>
            <a:r>
              <a:rPr lang="en-US" sz="1400" dirty="0"/>
              <a:t>)+(</a:t>
            </a:r>
            <a:r>
              <a:rPr lang="en-US" sz="1200" dirty="0"/>
              <a:t>1</a:t>
            </a:r>
            <a:r>
              <a:rPr lang="en-US" sz="1400" dirty="0"/>
              <a:t>.(-</a:t>
            </a:r>
            <a:r>
              <a:rPr lang="en-US" sz="1200" dirty="0"/>
              <a:t>1)</a:t>
            </a:r>
            <a:r>
              <a:rPr lang="en-US" sz="1400" dirty="0"/>
              <a:t>))</a:t>
            </a:r>
            <a:r>
              <a:rPr lang="en-US" sz="1400" baseline="30000" dirty="0"/>
              <a:t>2</a:t>
            </a:r>
            <a:r>
              <a:rPr lang="en-US" sz="1400" dirty="0"/>
              <a:t>+2((</a:t>
            </a:r>
            <a:r>
              <a:rPr lang="en-US" sz="1200" dirty="0"/>
              <a:t>1</a:t>
            </a:r>
            <a:r>
              <a:rPr lang="en-US" sz="1400" dirty="0"/>
              <a:t>.</a:t>
            </a:r>
            <a:r>
              <a:rPr lang="en-US" sz="1200" dirty="0"/>
              <a:t>1</a:t>
            </a:r>
            <a:r>
              <a:rPr lang="en-US" sz="1400" dirty="0"/>
              <a:t>)+(</a:t>
            </a:r>
            <a:r>
              <a:rPr lang="en-US" sz="1200" dirty="0"/>
              <a:t>1</a:t>
            </a:r>
            <a:r>
              <a:rPr lang="en-US" sz="1400" dirty="0"/>
              <a:t>.(-</a:t>
            </a:r>
            <a:r>
              <a:rPr lang="en-US" sz="1200" dirty="0"/>
              <a:t>1)</a:t>
            </a:r>
            <a:r>
              <a:rPr lang="en-US" sz="1400" dirty="0"/>
              <a:t>)).1 + 1</a:t>
            </a:r>
            <a:r>
              <a:rPr lang="en-US" sz="1400" baseline="30000" dirty="0"/>
              <a:t>2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600" dirty="0"/>
              <a:t>=</a:t>
            </a:r>
            <a:r>
              <a:rPr lang="en-US" sz="1800" dirty="0"/>
              <a:t> </a:t>
            </a:r>
            <a:r>
              <a:rPr lang="en-US" sz="1600" dirty="0"/>
              <a:t>(</a:t>
            </a:r>
            <a:r>
              <a:rPr lang="en-US" sz="1400" dirty="0"/>
              <a:t>1</a:t>
            </a:r>
            <a:r>
              <a:rPr lang="en-US" sz="1600" dirty="0"/>
              <a:t>.</a:t>
            </a:r>
            <a:r>
              <a:rPr lang="en-US" sz="1400" dirty="0"/>
              <a:t>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1</a:t>
            </a:r>
            <a:r>
              <a:rPr lang="en-US" sz="1600" dirty="0"/>
              <a:t>.</a:t>
            </a:r>
            <a:r>
              <a:rPr lang="en-US" sz="1400" dirty="0"/>
              <a:t>1</a:t>
            </a:r>
            <a:r>
              <a:rPr lang="en-US" sz="1600" dirty="0"/>
              <a:t>)(</a:t>
            </a:r>
            <a:r>
              <a:rPr lang="en-US" sz="1400" dirty="0"/>
              <a:t>1</a:t>
            </a:r>
            <a:r>
              <a:rPr lang="en-US" sz="1600" dirty="0"/>
              <a:t>.(-</a:t>
            </a:r>
            <a:r>
              <a:rPr lang="en-US" sz="1400" dirty="0"/>
              <a:t>1)</a:t>
            </a:r>
            <a:r>
              <a:rPr lang="en-US" sz="1600" dirty="0"/>
              <a:t>) + (</a:t>
            </a:r>
            <a:r>
              <a:rPr lang="en-US" sz="1400" dirty="0"/>
              <a:t>1</a:t>
            </a:r>
            <a:r>
              <a:rPr lang="en-US" sz="1600" dirty="0"/>
              <a:t>.(-</a:t>
            </a:r>
            <a:r>
              <a:rPr lang="en-US" sz="1400" dirty="0"/>
              <a:t>1)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1</a:t>
            </a:r>
            <a:r>
              <a:rPr lang="en-US" sz="1600" dirty="0"/>
              <a:t>.</a:t>
            </a:r>
            <a:r>
              <a:rPr lang="en-US" sz="1400" dirty="0"/>
              <a:t>1</a:t>
            </a:r>
            <a:r>
              <a:rPr lang="en-US" sz="1600" dirty="0"/>
              <a:t>) + 2(</a:t>
            </a:r>
            <a:r>
              <a:rPr lang="en-US" sz="1400" dirty="0"/>
              <a:t>1</a:t>
            </a:r>
            <a:r>
              <a:rPr lang="en-US" sz="1600" dirty="0"/>
              <a:t>.(-</a:t>
            </a:r>
            <a:r>
              <a:rPr lang="en-US" sz="1400" dirty="0"/>
              <a:t>1)</a:t>
            </a:r>
            <a:r>
              <a:rPr lang="en-US" sz="1600" dirty="0"/>
              <a:t>) + 1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= 1 - 2 + 1 + 2 - 2 + 1 = 1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</a:p>
          <a:p>
            <a:pPr marL="457200" lvl="1" indent="0">
              <a:buFontTx/>
              <a:buNone/>
              <a:defRPr/>
            </a:pPr>
            <a:r>
              <a:rPr lang="en-US" sz="1800" dirty="0"/>
              <a:t>    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20484" name="Object 2"/>
          <p:cNvGraphicFramePr>
            <a:graphicFrameLocks noChangeAspect="1"/>
          </p:cNvGraphicFramePr>
          <p:nvPr/>
        </p:nvGraphicFramePr>
        <p:xfrm>
          <a:off x="153988" y="2889250"/>
          <a:ext cx="8959850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56200" imgH="2311400" progId="Equation.3">
                  <p:embed/>
                </p:oleObj>
              </mc:Choice>
              <mc:Fallback>
                <p:oleObj name="Equation" r:id="rId2" imgW="51562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8" y="2889250"/>
                        <a:ext cx="8959850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matrik</a:t>
            </a:r>
            <a:r>
              <a:rPr lang="en-US" sz="1600" dirty="0"/>
              <a:t> kernel 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K(</a:t>
            </a:r>
            <a:r>
              <a:rPr lang="en-US" sz="1600" b="1" dirty="0" err="1">
                <a:solidFill>
                  <a:srgbClr val="000000"/>
                </a:solidFill>
                <a:ea typeface="+mn-ea"/>
              </a:rPr>
              <a:t>x,x</a:t>
            </a:r>
            <a:r>
              <a:rPr lang="en-US" sz="1600" b="1" baseline="-25000" dirty="0" err="1">
                <a:solidFill>
                  <a:srgbClr val="000000"/>
                </a:solidFill>
                <a:ea typeface="+mn-ea"/>
              </a:rPr>
              <a:t>i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) = </a:t>
            </a:r>
            <a:r>
              <a:rPr lang="en-US" b="1" dirty="0">
                <a:solidFill>
                  <a:srgbClr val="000000"/>
                </a:solidFill>
                <a:ea typeface="+mn-ea"/>
              </a:rPr>
              <a:t>ᶲ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(x).</a:t>
            </a:r>
            <a:r>
              <a:rPr lang="en-US" b="1" dirty="0">
                <a:solidFill>
                  <a:srgbClr val="000000"/>
                </a:solidFill>
                <a:ea typeface="+mn-ea"/>
              </a:rPr>
              <a:t>ᶲ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(x</a:t>
            </a:r>
            <a:r>
              <a:rPr lang="en-US" sz="1600" b="1" baseline="-25000" dirty="0">
                <a:solidFill>
                  <a:srgbClr val="000000"/>
                </a:solidFill>
                <a:ea typeface="+mn-ea"/>
              </a:rPr>
              <a:t>i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)</a:t>
            </a:r>
            <a:endParaRPr lang="en-SG" sz="1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04925" y="1773238"/>
          <a:ext cx="5618163" cy="451014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52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1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1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1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/>
                        <a:t>K(1,1)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(1.1 + 1.1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3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9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2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/>
                        <a:t>K(1,2)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2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(1.1 + 1.(-1)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1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1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3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/>
                        <a:t>K(1,3)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3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(1.(-1) + 1.1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1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1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4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/>
                        <a:t>K(1,4)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4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(1.(-1) + 1.(-1)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(-1)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1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61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1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/>
                        <a:t>K(2,1)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1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(1.1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K(2,2)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(1.1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3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9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K(2,3)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(1.(-1)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K(2,4)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(1.(-1)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61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1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/>
                        <a:t>K(3,1)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1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+ 1.1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K(3,2)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+ 1.(-1)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K(3,3)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+ 1.1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3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9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K(3,4)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+ 1.(-1)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261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1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/>
                        <a:t>K(4,1)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1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K(4,2)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K(4,3)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K(4,4)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3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9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215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t="-376" b="-715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25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60" name="Rectangle 98"/>
          <p:cNvSpPr>
            <a:spLocks noChangeArrowheads="1"/>
          </p:cNvSpPr>
          <p:nvPr/>
        </p:nvSpPr>
        <p:spPr bwMode="auto">
          <a:xfrm>
            <a:off x="395288" y="5661025"/>
            <a:ext cx="8734425" cy="7889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1400"/>
          </a:p>
        </p:txBody>
      </p:sp>
      <p:sp>
        <p:nvSpPr>
          <p:cNvPr id="2" name="Rectangle 1"/>
          <p:cNvSpPr/>
          <p:nvPr/>
        </p:nvSpPr>
        <p:spPr>
          <a:xfrm>
            <a:off x="2089820" y="2234008"/>
            <a:ext cx="756084" cy="611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03422"/>
              </p:ext>
            </p:extLst>
          </p:nvPr>
        </p:nvGraphicFramePr>
        <p:xfrm>
          <a:off x="2195736" y="1700808"/>
          <a:ext cx="2376488" cy="14636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4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Contoh</a:t>
            </a:r>
            <a:r>
              <a:rPr lang="en-US" sz="4000" dirty="0"/>
              <a:t> </a:t>
            </a:r>
            <a:r>
              <a:rPr lang="en-US" sz="4000" dirty="0" err="1"/>
              <a:t>Studi</a:t>
            </a:r>
            <a:r>
              <a:rPr lang="en-US" sz="4000" dirty="0"/>
              <a:t> </a:t>
            </a:r>
            <a:r>
              <a:rPr lang="en-US" sz="4000" dirty="0" err="1"/>
              <a:t>Kasus</a:t>
            </a:r>
            <a:r>
              <a:rPr lang="en-US" sz="4000" dirty="0"/>
              <a:t> 2 (Cont.)</a:t>
            </a:r>
            <a:endParaRPr lang="en-SG" sz="4000" dirty="0"/>
          </a:p>
        </p:txBody>
      </p:sp>
      <p:sp>
        <p:nvSpPr>
          <p:cNvPr id="8195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t="-37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aphicFrame>
        <p:nvGraphicFramePr>
          <p:cNvPr id="23556" name="Object 1"/>
          <p:cNvGraphicFramePr>
            <a:graphicFrameLocks noChangeAspect="1"/>
          </p:cNvGraphicFramePr>
          <p:nvPr/>
        </p:nvGraphicFramePr>
        <p:xfrm>
          <a:off x="1692275" y="3013075"/>
          <a:ext cx="33845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73300" imgH="431800" progId="Equation.3">
                  <p:embed/>
                </p:oleObj>
              </mc:Choice>
              <mc:Fallback>
                <p:oleObj name="Equation" r:id="rId3" imgW="22733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013075"/>
                        <a:ext cx="33845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128726"/>
              </p:ext>
            </p:extLst>
          </p:nvPr>
        </p:nvGraphicFramePr>
        <p:xfrm>
          <a:off x="3392264" y="4954588"/>
          <a:ext cx="35560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507960" progId="Equation.3">
                  <p:embed/>
                </p:oleObj>
              </mc:Choice>
              <mc:Fallback>
                <p:oleObj name="Equation" r:id="rId6" imgW="2501640" imgH="507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264" y="4954588"/>
                        <a:ext cx="355600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753264"/>
              </p:ext>
            </p:extLst>
          </p:nvPr>
        </p:nvGraphicFramePr>
        <p:xfrm>
          <a:off x="1280840" y="5517232"/>
          <a:ext cx="51244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06480" imgH="457200" progId="Equation.3">
                  <p:embed/>
                </p:oleObj>
              </mc:Choice>
              <mc:Fallback>
                <p:oleObj name="Equation" r:id="rId8" imgW="360648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840" y="5517232"/>
                        <a:ext cx="51244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 bwMode="auto">
          <a:xfrm>
            <a:off x="1185664" y="5949280"/>
            <a:ext cx="65546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1600" dirty="0" err="1">
                <a:solidFill>
                  <a:schemeClr val="tx1"/>
                </a:solidFill>
              </a:rPr>
              <a:t>dimana</a:t>
            </a:r>
            <a:r>
              <a:rPr lang="en-US" sz="1600" dirty="0">
                <a:solidFill>
                  <a:schemeClr val="tx1"/>
                </a:solidFill>
              </a:rPr>
              <a:t>       </a:t>
            </a:r>
            <a:r>
              <a:rPr lang="en-US" sz="1600" dirty="0" err="1">
                <a:solidFill>
                  <a:schemeClr val="tx1"/>
                </a:solidFill>
              </a:rPr>
              <a:t>adalah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nilai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dimensi</a:t>
            </a:r>
            <a:r>
              <a:rPr lang="en-US" sz="1600" dirty="0">
                <a:solidFill>
                  <a:schemeClr val="tx1"/>
                </a:solidFill>
              </a:rPr>
              <a:t> ke-1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data </a:t>
            </a:r>
            <a:r>
              <a:rPr lang="en-US" sz="1600" dirty="0" err="1">
                <a:solidFill>
                  <a:schemeClr val="tx1"/>
                </a:solidFill>
              </a:rPr>
              <a:t>ke</a:t>
            </a:r>
            <a:r>
              <a:rPr lang="en-US" sz="1600" dirty="0">
                <a:solidFill>
                  <a:schemeClr val="tx1"/>
                </a:solidFill>
              </a:rPr>
              <a:t>-i.</a:t>
            </a:r>
            <a:endParaRPr lang="en-SG" sz="1600" dirty="0">
              <a:solidFill>
                <a:schemeClr val="tx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515172"/>
              </p:ext>
            </p:extLst>
          </p:nvPr>
        </p:nvGraphicFramePr>
        <p:xfrm>
          <a:off x="2032794" y="6165304"/>
          <a:ext cx="2349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53800" progId="Equation.3">
                  <p:embed/>
                </p:oleObj>
              </mc:Choice>
              <mc:Fallback>
                <p:oleObj name="Equation" r:id="rId10" imgW="16488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794" y="6165304"/>
                        <a:ext cx="2349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Contoh</a:t>
            </a:r>
            <a:r>
              <a:rPr lang="en-US" sz="4000" dirty="0"/>
              <a:t> </a:t>
            </a:r>
            <a:r>
              <a:rPr lang="en-US" sz="4000" dirty="0" err="1"/>
              <a:t>Studi</a:t>
            </a:r>
            <a:r>
              <a:rPr lang="en-US" sz="4000" dirty="0"/>
              <a:t> </a:t>
            </a:r>
            <a:r>
              <a:rPr lang="en-US" sz="4000" dirty="0" err="1"/>
              <a:t>Kasus</a:t>
            </a:r>
            <a:r>
              <a:rPr lang="en-US" sz="4000" dirty="0"/>
              <a:t> 2 (Cont.)</a:t>
            </a:r>
            <a:endParaRPr lang="en-SG" sz="4000" dirty="0"/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754636"/>
              </p:ext>
            </p:extLst>
          </p:nvPr>
        </p:nvGraphicFramePr>
        <p:xfrm>
          <a:off x="3275856" y="1124744"/>
          <a:ext cx="35560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640" imgH="507960" progId="Equation.3">
                  <p:embed/>
                </p:oleObj>
              </mc:Choice>
              <mc:Fallback>
                <p:oleObj name="Equation" r:id="rId3" imgW="25016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124744"/>
                        <a:ext cx="355600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775456"/>
              </p:ext>
            </p:extLst>
          </p:nvPr>
        </p:nvGraphicFramePr>
        <p:xfrm>
          <a:off x="1183432" y="1687388"/>
          <a:ext cx="51244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6480" imgH="457200" progId="Equation.3">
                  <p:embed/>
                </p:oleObj>
              </mc:Choice>
              <mc:Fallback>
                <p:oleObj name="Equation" r:id="rId5" imgW="3606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432" y="1687388"/>
                        <a:ext cx="51244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 bwMode="auto">
          <a:xfrm>
            <a:off x="1088256" y="2119436"/>
            <a:ext cx="65546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1600" dirty="0" err="1">
                <a:solidFill>
                  <a:schemeClr val="tx1"/>
                </a:solidFill>
              </a:rPr>
              <a:t>dimana</a:t>
            </a:r>
            <a:r>
              <a:rPr lang="en-US" sz="1600" dirty="0">
                <a:solidFill>
                  <a:schemeClr val="tx1"/>
                </a:solidFill>
              </a:rPr>
              <a:t>       </a:t>
            </a:r>
            <a:r>
              <a:rPr lang="en-US" sz="1600" dirty="0" err="1">
                <a:solidFill>
                  <a:schemeClr val="tx1"/>
                </a:solidFill>
              </a:rPr>
              <a:t>adalah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nilai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dimensi</a:t>
            </a:r>
            <a:r>
              <a:rPr lang="en-US" sz="1600" dirty="0">
                <a:solidFill>
                  <a:schemeClr val="tx1"/>
                </a:solidFill>
              </a:rPr>
              <a:t> ke-1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data </a:t>
            </a:r>
            <a:r>
              <a:rPr lang="en-US" sz="1600" dirty="0" err="1">
                <a:solidFill>
                  <a:schemeClr val="tx1"/>
                </a:solidFill>
              </a:rPr>
              <a:t>ke</a:t>
            </a:r>
            <a:r>
              <a:rPr lang="en-US" sz="1600" dirty="0">
                <a:solidFill>
                  <a:schemeClr val="tx1"/>
                </a:solidFill>
              </a:rPr>
              <a:t>-i.</a:t>
            </a:r>
            <a:endParaRPr lang="en-SG" sz="1600" dirty="0">
              <a:solidFill>
                <a:schemeClr val="tx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099887"/>
              </p:ext>
            </p:extLst>
          </p:nvPr>
        </p:nvGraphicFramePr>
        <p:xfrm>
          <a:off x="1907704" y="2335460"/>
          <a:ext cx="2349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53800" progId="Equation.3">
                  <p:embed/>
                </p:oleObj>
              </mc:Choice>
              <mc:Fallback>
                <p:oleObj name="Equation" r:id="rId7" imgW="164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335460"/>
                        <a:ext cx="2349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 bwMode="auto">
          <a:xfrm>
            <a:off x="899592" y="1052736"/>
            <a:ext cx="3456384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SG" sz="3200" dirty="0">
                <a:solidFill>
                  <a:schemeClr val="tx1"/>
                </a:solidFill>
              </a:rPr>
              <a:t>-</a:t>
            </a:r>
            <a:r>
              <a:rPr lang="en-SG" sz="1600" dirty="0">
                <a:solidFill>
                  <a:schemeClr val="tx1"/>
                </a:solidFill>
              </a:rPr>
              <a:t> </a:t>
            </a:r>
            <a:r>
              <a:rPr lang="en-SG" sz="1600" dirty="0" err="1">
                <a:solidFill>
                  <a:schemeClr val="tx1"/>
                </a:solidFill>
              </a:rPr>
              <a:t>Hitung</a:t>
            </a:r>
            <a:r>
              <a:rPr lang="en-SG" sz="1600" dirty="0">
                <a:solidFill>
                  <a:schemeClr val="tx1"/>
                </a:solidFill>
              </a:rPr>
              <a:t> </a:t>
            </a:r>
            <a:r>
              <a:rPr lang="en-SG" sz="1600" dirty="0" err="1">
                <a:solidFill>
                  <a:schemeClr val="tx1"/>
                </a:solidFill>
              </a:rPr>
              <a:t>nilai</a:t>
            </a:r>
            <a:r>
              <a:rPr lang="en-SG" sz="1600" dirty="0">
                <a:solidFill>
                  <a:schemeClr val="tx1"/>
                </a:solidFill>
              </a:rPr>
              <a:t> w </a:t>
            </a:r>
            <a:r>
              <a:rPr lang="en-SG" sz="1600" dirty="0" err="1">
                <a:solidFill>
                  <a:schemeClr val="tx1"/>
                </a:solidFill>
              </a:rPr>
              <a:t>dan</a:t>
            </a:r>
            <a:r>
              <a:rPr lang="en-SG" sz="1600" dirty="0">
                <a:solidFill>
                  <a:schemeClr val="tx1"/>
                </a:solidFill>
              </a:rPr>
              <a:t> b 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642960"/>
              </p:ext>
            </p:extLst>
          </p:nvPr>
        </p:nvGraphicFramePr>
        <p:xfrm>
          <a:off x="1011238" y="2674938"/>
          <a:ext cx="8107362" cy="334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02040" imgH="2361960" progId="Equation.3">
                  <p:embed/>
                </p:oleObj>
              </mc:Choice>
              <mc:Fallback>
                <p:oleObj name="Equation" r:id="rId9" imgW="5702040" imgH="2361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2674938"/>
                        <a:ext cx="8107362" cy="334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7745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Max </a:t>
            </a:r>
            <a:r>
              <a:rPr lang="en-US" sz="1600" dirty="0" err="1"/>
              <a:t>Ld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l-GR" sz="1600" dirty="0"/>
              <a:t>α</a:t>
            </a:r>
            <a:r>
              <a:rPr lang="en-US" sz="1600" baseline="-25000" dirty="0"/>
              <a:t>1</a:t>
            </a:r>
            <a:r>
              <a:rPr lang="en-US" sz="1600" dirty="0"/>
              <a:t> = </a:t>
            </a:r>
            <a:r>
              <a:rPr lang="el-GR" sz="1600" dirty="0"/>
              <a:t>α</a:t>
            </a:r>
            <a:r>
              <a:rPr lang="en-US" sz="1600" baseline="-25000" dirty="0"/>
              <a:t>2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3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4 </a:t>
            </a:r>
            <a:r>
              <a:rPr lang="en-US" sz="1600" dirty="0"/>
              <a:t>= 0.125. 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Ld</a:t>
            </a:r>
            <a:r>
              <a:rPr lang="en-US" sz="1600" dirty="0"/>
              <a:t> = 0.25.</a:t>
            </a:r>
          </a:p>
          <a:p>
            <a:pPr lvl="1">
              <a:defRPr/>
            </a:pPr>
            <a:r>
              <a:rPr lang="en-US" sz="1600" dirty="0" err="1"/>
              <a:t>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w </a:t>
            </a:r>
            <a:r>
              <a:rPr lang="en-US" sz="1600" dirty="0" err="1"/>
              <a:t>dan</a:t>
            </a:r>
            <a:r>
              <a:rPr lang="en-US" sz="1600" dirty="0"/>
              <a:t> b :</a:t>
            </a:r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Pilih</a:t>
            </a:r>
            <a:r>
              <a:rPr lang="en-US" sz="1600" dirty="0"/>
              <a:t> </a:t>
            </a:r>
            <a:r>
              <a:rPr lang="en-US" sz="1600" dirty="0" err="1"/>
              <a:t>salah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Support Vector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Kelas</a:t>
            </a:r>
            <a:r>
              <a:rPr lang="en-US" sz="1600" dirty="0"/>
              <a:t> “+1” </a:t>
            </a:r>
            <a:r>
              <a:rPr lang="en-US" sz="1600" dirty="0" err="1"/>
              <a:t>dan</a:t>
            </a:r>
            <a:r>
              <a:rPr lang="en-US" sz="1600" dirty="0"/>
              <a:t> “-1”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b. 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311797"/>
              </p:ext>
            </p:extLst>
          </p:nvPr>
        </p:nvGraphicFramePr>
        <p:xfrm>
          <a:off x="1763688" y="2309382"/>
          <a:ext cx="2620963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1371600" progId="Equation.3">
                  <p:embed/>
                </p:oleObj>
              </mc:Choice>
              <mc:Fallback>
                <p:oleObj name="Equation" r:id="rId3" imgW="170172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309382"/>
                        <a:ext cx="2620963" cy="187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01398"/>
              </p:ext>
            </p:extLst>
          </p:nvPr>
        </p:nvGraphicFramePr>
        <p:xfrm>
          <a:off x="1763688" y="4549355"/>
          <a:ext cx="5892190" cy="2223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95400" imgH="1396800" progId="Equation.3">
                  <p:embed/>
                </p:oleObj>
              </mc:Choice>
              <mc:Fallback>
                <p:oleObj name="Equation" r:id="rId5" imgW="3695400" imgH="1396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549355"/>
                        <a:ext cx="5892190" cy="2223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Max </a:t>
            </a:r>
            <a:r>
              <a:rPr lang="en-US" sz="1600" dirty="0" err="1"/>
              <a:t>Ld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l-GR" sz="1600" dirty="0"/>
              <a:t>α</a:t>
            </a:r>
            <a:r>
              <a:rPr lang="en-US" sz="1600" baseline="-25000" dirty="0"/>
              <a:t>1</a:t>
            </a:r>
            <a:r>
              <a:rPr lang="en-US" sz="1600" dirty="0"/>
              <a:t> = </a:t>
            </a:r>
            <a:r>
              <a:rPr lang="el-GR" sz="1600" dirty="0"/>
              <a:t>α</a:t>
            </a:r>
            <a:r>
              <a:rPr lang="en-US" sz="1600" baseline="-25000" dirty="0"/>
              <a:t>2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3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4 </a:t>
            </a:r>
            <a:r>
              <a:rPr lang="en-US" sz="1600" dirty="0"/>
              <a:t>= 0.125. 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Ld</a:t>
            </a:r>
            <a:r>
              <a:rPr lang="en-US" sz="1600" dirty="0"/>
              <a:t> = 0.25.</a:t>
            </a:r>
          </a:p>
          <a:p>
            <a:pPr lvl="1">
              <a:defRPr/>
            </a:pPr>
            <a:r>
              <a:rPr lang="en-US" sz="1600" dirty="0" err="1"/>
              <a:t>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w </a:t>
            </a:r>
            <a:r>
              <a:rPr lang="en-US" sz="1600" dirty="0" err="1"/>
              <a:t>dan</a:t>
            </a:r>
            <a:r>
              <a:rPr lang="en-US" sz="1600" dirty="0"/>
              <a:t> b :</a:t>
            </a:r>
          </a:p>
          <a:p>
            <a:pPr lvl="1"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Pilih</a:t>
            </a:r>
            <a:r>
              <a:rPr lang="en-US" sz="1600" dirty="0"/>
              <a:t> </a:t>
            </a:r>
            <a:r>
              <a:rPr lang="en-US" sz="1600" dirty="0" err="1"/>
              <a:t>salah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Support Vector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Kelas</a:t>
            </a:r>
            <a:r>
              <a:rPr lang="en-US" sz="1600" dirty="0"/>
              <a:t> “+1” </a:t>
            </a:r>
            <a:r>
              <a:rPr lang="en-US" sz="1600" dirty="0" err="1"/>
              <a:t>dan</a:t>
            </a:r>
            <a:r>
              <a:rPr lang="en-US" sz="1600" dirty="0"/>
              <a:t> “-1”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b. 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591942"/>
              </p:ext>
            </p:extLst>
          </p:nvPr>
        </p:nvGraphicFramePr>
        <p:xfrm>
          <a:off x="384050" y="2912070"/>
          <a:ext cx="8580438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09800" imgH="1828800" progId="Equation.3">
                  <p:embed/>
                </p:oleObj>
              </mc:Choice>
              <mc:Fallback>
                <p:oleObj name="Equation" r:id="rId3" imgW="46098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50" y="2912070"/>
                        <a:ext cx="8580438" cy="339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7833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w </a:t>
            </a:r>
            <a:r>
              <a:rPr lang="en-US" sz="1600" dirty="0" err="1"/>
              <a:t>dan</a:t>
            </a:r>
            <a:r>
              <a:rPr lang="en-US" sz="1600" dirty="0"/>
              <a:t> b :</a:t>
            </a:r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Maka</a:t>
            </a:r>
            <a:r>
              <a:rPr lang="en-US" sz="1600" dirty="0"/>
              <a:t> model SVM </a:t>
            </a:r>
            <a:r>
              <a:rPr lang="en-US" sz="1600" dirty="0" err="1"/>
              <a:t>siap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proses </a:t>
            </a:r>
            <a:r>
              <a:rPr lang="en-US" sz="1600" dirty="0" err="1"/>
              <a:t>klasifikasi</a:t>
            </a:r>
            <a:r>
              <a:rPr lang="en-US" sz="1600" dirty="0"/>
              <a:t>.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Misalkan</a:t>
            </a:r>
            <a:r>
              <a:rPr lang="en-US" sz="1600" dirty="0"/>
              <a:t> data uji/ data test </a:t>
            </a:r>
            <a:r>
              <a:rPr lang="en-US" sz="1600" dirty="0" err="1"/>
              <a:t>x</a:t>
            </a:r>
            <a:r>
              <a:rPr lang="en-US" sz="1600" baseline="-25000" dirty="0" err="1"/>
              <a:t>t</a:t>
            </a:r>
            <a:r>
              <a:rPr lang="en-US" sz="1600" dirty="0"/>
              <a:t> = (1,5) maka </a:t>
            </a:r>
            <a:r>
              <a:rPr lang="en-US" sz="1600" b="1" dirty="0"/>
              <a:t>K(</a:t>
            </a:r>
            <a:r>
              <a:rPr lang="en-US" sz="1600" b="1" dirty="0" err="1"/>
              <a:t>x</a:t>
            </a:r>
            <a:r>
              <a:rPr lang="en-US" sz="1600" b="1" baseline="-25000" dirty="0" err="1"/>
              <a:t>i</a:t>
            </a:r>
            <a:r>
              <a:rPr lang="en-US" sz="1600" b="1" dirty="0" err="1"/>
              <a:t>,x</a:t>
            </a:r>
            <a:r>
              <a:rPr lang="en-US" sz="1600" b="1" baseline="-25000" dirty="0" err="1"/>
              <a:t>t</a:t>
            </a:r>
            <a:r>
              <a:rPr lang="en-US" sz="1600" b="1" dirty="0"/>
              <a:t>) = </a:t>
            </a:r>
            <a:r>
              <a:rPr lang="en-US" sz="2400" b="1" dirty="0"/>
              <a:t>ᶲ</a:t>
            </a:r>
            <a:r>
              <a:rPr lang="en-US" sz="1600" b="1" dirty="0"/>
              <a:t>(x</a:t>
            </a:r>
            <a:r>
              <a:rPr lang="en-US" sz="1600" b="1" baseline="-25000" dirty="0"/>
              <a:t>i</a:t>
            </a:r>
            <a:r>
              <a:rPr lang="en-US" sz="1600" b="1" dirty="0"/>
              <a:t>).</a:t>
            </a:r>
            <a:r>
              <a:rPr lang="en-US" sz="2400" b="1" dirty="0"/>
              <a:t>ᶲ</a:t>
            </a:r>
            <a:r>
              <a:rPr lang="en-US" sz="1600" b="1" dirty="0"/>
              <a:t>(</a:t>
            </a:r>
            <a:r>
              <a:rPr lang="en-US" sz="1800" b="1" dirty="0" err="1"/>
              <a:t>x</a:t>
            </a:r>
            <a:r>
              <a:rPr lang="en-US" sz="1600" b="1" baseline="-25000" dirty="0" err="1"/>
              <a:t>t</a:t>
            </a:r>
            <a:r>
              <a:rPr lang="en-US" sz="1600" b="1" dirty="0"/>
              <a:t>)</a:t>
            </a:r>
            <a:r>
              <a:rPr lang="en-US" sz="1600" dirty="0"/>
              <a:t> 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235425"/>
              </p:ext>
            </p:extLst>
          </p:nvPr>
        </p:nvGraphicFramePr>
        <p:xfrm>
          <a:off x="1330797" y="1639565"/>
          <a:ext cx="1296987" cy="11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1371600" progId="Equation.3">
                  <p:embed/>
                </p:oleObj>
              </mc:Choice>
              <mc:Fallback>
                <p:oleObj name="Equation" r:id="rId3" imgW="787320" imgH="1371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797" y="1639565"/>
                        <a:ext cx="1296987" cy="11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59329"/>
              </p:ext>
            </p:extLst>
          </p:nvPr>
        </p:nvGraphicFramePr>
        <p:xfrm>
          <a:off x="2771800" y="2060848"/>
          <a:ext cx="6397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603" imgH="177646" progId="Equation.3">
                  <p:embed/>
                </p:oleObj>
              </mc:Choice>
              <mc:Fallback>
                <p:oleObj name="Equation" r:id="rId5" imgW="342603" imgH="1776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060848"/>
                        <a:ext cx="639763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366559"/>
              </p:ext>
            </p:extLst>
          </p:nvPr>
        </p:nvGraphicFramePr>
        <p:xfrm>
          <a:off x="992845" y="2693364"/>
          <a:ext cx="62404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52680" imgH="457200" progId="Equation.3">
                  <p:embed/>
                </p:oleObj>
              </mc:Choice>
              <mc:Fallback>
                <p:oleObj name="Equation" r:id="rId7" imgW="335268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845" y="2693364"/>
                        <a:ext cx="62404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034798"/>
              </p:ext>
            </p:extLst>
          </p:nvPr>
        </p:nvGraphicFramePr>
        <p:xfrm>
          <a:off x="836092" y="4179279"/>
          <a:ext cx="7658373" cy="1463072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9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568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0" i="0" dirty="0" err="1"/>
                        <a:t>x</a:t>
                      </a:r>
                      <a:r>
                        <a:rPr lang="en-US" sz="1600" b="0" i="0" baseline="-25000" dirty="0" err="1"/>
                        <a:t>t</a:t>
                      </a:r>
                      <a:r>
                        <a:rPr lang="en-US" sz="1600" b="0" i="0" baseline="0" dirty="0"/>
                        <a:t>=(1,5)</a:t>
                      </a:r>
                      <a:endParaRPr lang="en-US" sz="1600" b="0" i="0" baseline="-2500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1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/>
                        <a:t>K(1,t) = (x</a:t>
                      </a:r>
                      <a:r>
                        <a:rPr lang="en-US" sz="1600" b="0" i="0" baseline="-25000" dirty="0"/>
                        <a:t>1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(1.1 + 5.1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7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49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/>
                        <a:t>(-0.125)(49)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2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K(2,t) = (x</a:t>
                      </a:r>
                      <a:r>
                        <a:rPr lang="en-US" sz="1600" b="0" i="0" baseline="-25000" dirty="0"/>
                        <a:t>2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(1.1 + 5.(-1)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3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9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(0.125)(9)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3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K(3,t) = (x</a:t>
                      </a:r>
                      <a:r>
                        <a:rPr lang="en-US" sz="1600" b="0" i="0" baseline="-25000" dirty="0"/>
                        <a:t>3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(1.(-1) + 5.1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5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25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(0.125)(25)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4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K(4,t) = (x</a:t>
                      </a:r>
                      <a:r>
                        <a:rPr lang="en-US" sz="1600" b="0" i="0" baseline="-25000" dirty="0"/>
                        <a:t>4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(1.(-1) + 5.(-1)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(-5)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25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(-0.125)(25)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18400"/>
              </p:ext>
            </p:extLst>
          </p:nvPr>
        </p:nvGraphicFramePr>
        <p:xfrm>
          <a:off x="780976" y="5883299"/>
          <a:ext cx="8110289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97480" imgH="228600" progId="Equation.3">
                  <p:embed/>
                </p:oleObj>
              </mc:Choice>
              <mc:Fallback>
                <p:oleObj name="Equation" r:id="rId9" imgW="53974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976" y="5883299"/>
                        <a:ext cx="8110289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188403"/>
              </p:ext>
            </p:extLst>
          </p:nvPr>
        </p:nvGraphicFramePr>
        <p:xfrm>
          <a:off x="4283968" y="1916832"/>
          <a:ext cx="2695724" cy="644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98600" imgH="660240" progId="Equation.3">
                  <p:embed/>
                </p:oleObj>
              </mc:Choice>
              <mc:Fallback>
                <p:oleObj name="Equation" r:id="rId11" imgW="2298600" imgH="6602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916832"/>
                        <a:ext cx="2695724" cy="64493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7020272" y="2367794"/>
            <a:ext cx="1368152" cy="16372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054180" y="4030464"/>
            <a:ext cx="144028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 txBox="1">
            <a:spLocks/>
          </p:cNvSpPr>
          <p:nvPr/>
        </p:nvSpPr>
        <p:spPr bwMode="auto">
          <a:xfrm>
            <a:off x="696268" y="6009531"/>
            <a:ext cx="65546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1600" dirty="0" err="1">
                <a:solidFill>
                  <a:schemeClr val="tx1"/>
                </a:solidFill>
              </a:rPr>
              <a:t>Jadi</a:t>
            </a:r>
            <a:r>
              <a:rPr lang="en-US" sz="1600" dirty="0">
                <a:solidFill>
                  <a:schemeClr val="tx1"/>
                </a:solidFill>
              </a:rPr>
              <a:t> data </a:t>
            </a:r>
            <a:r>
              <a:rPr lang="en-US" sz="1600" dirty="0" err="1">
                <a:solidFill>
                  <a:schemeClr val="tx1"/>
                </a:solidFill>
              </a:rPr>
              <a:t>x</a:t>
            </a:r>
            <a:r>
              <a:rPr lang="en-US" sz="1600" baseline="-25000" dirty="0" err="1">
                <a:solidFill>
                  <a:schemeClr val="tx1"/>
                </a:solidFill>
              </a:rPr>
              <a:t>t</a:t>
            </a:r>
            <a:r>
              <a:rPr lang="en-US" sz="1600" baseline="-250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= (1,5) </a:t>
            </a:r>
            <a:r>
              <a:rPr lang="en-US" sz="1600" dirty="0" err="1">
                <a:solidFill>
                  <a:schemeClr val="tx1"/>
                </a:solidFill>
              </a:rPr>
              <a:t>tersebut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masuk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kelas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negatif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SG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7032972" y="5563840"/>
            <a:ext cx="144028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 txBox="1">
            <a:spLocks/>
          </p:cNvSpPr>
          <p:nvPr/>
        </p:nvSpPr>
        <p:spPr bwMode="auto">
          <a:xfrm>
            <a:off x="8433817" y="5339308"/>
            <a:ext cx="504056" cy="41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+</a:t>
            </a:r>
            <a:endParaRPr lang="en-SG" sz="2800" dirty="0">
              <a:solidFill>
                <a:schemeClr val="tx1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7442001" y="5529932"/>
            <a:ext cx="504056" cy="41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-5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Latihan Individu</a:t>
            </a:r>
            <a:endParaRPr lang="en-SG" sz="4000" b="1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000" dirty="0"/>
              <a:t>1. </a:t>
            </a:r>
            <a:r>
              <a:rPr lang="en-US" sz="2000" dirty="0" err="1"/>
              <a:t>Perhatikan</a:t>
            </a:r>
            <a:r>
              <a:rPr lang="en-US" sz="2000" dirty="0"/>
              <a:t> dataset SVM Linier </a:t>
            </a:r>
            <a:r>
              <a:rPr lang="en-US" sz="2000" dirty="0" err="1"/>
              <a:t>berikut</a:t>
            </a:r>
            <a:r>
              <a:rPr lang="en-US" sz="2000" dirty="0"/>
              <a:t> :</a:t>
            </a:r>
          </a:p>
          <a:p>
            <a:pPr algn="just"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 </a:t>
            </a:r>
          </a:p>
          <a:p>
            <a:pPr marL="0" indent="0" algn="just">
              <a:buFontTx/>
              <a:buNone/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Visualisasi</a:t>
            </a:r>
            <a:r>
              <a:rPr lang="en-US" sz="2000" dirty="0"/>
              <a:t> </a:t>
            </a:r>
            <a:r>
              <a:rPr lang="en-US" sz="2000" dirty="0" err="1"/>
              <a:t>Hyperplane</a:t>
            </a:r>
            <a:r>
              <a:rPr lang="en-US" sz="2000" dirty="0"/>
              <a:t> </a:t>
            </a:r>
            <a:r>
              <a:rPr lang="en-US" sz="2000" dirty="0" err="1"/>
              <a:t>masing-masing</a:t>
            </a:r>
            <a:r>
              <a:rPr lang="en-US" sz="2000" dirty="0"/>
              <a:t> dataset di </a:t>
            </a:r>
            <a:r>
              <a:rPr lang="en-US" sz="2000" dirty="0" err="1"/>
              <a:t>atas</a:t>
            </a:r>
            <a:r>
              <a:rPr lang="en-US" sz="2000" dirty="0"/>
              <a:t> !</a:t>
            </a:r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2. </a:t>
            </a:r>
            <a:r>
              <a:rPr lang="en-US" sz="2000" dirty="0" err="1"/>
              <a:t>Perhatikan</a:t>
            </a:r>
            <a:r>
              <a:rPr lang="en-US" sz="2000" dirty="0"/>
              <a:t> dataset SVM non-Linier </a:t>
            </a:r>
            <a:r>
              <a:rPr lang="en-US" sz="2000" dirty="0" err="1"/>
              <a:t>berikut</a:t>
            </a:r>
            <a:r>
              <a:rPr lang="en-US" sz="2000" dirty="0"/>
              <a:t> :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7088" y="1712913"/>
          <a:ext cx="3960812" cy="17684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9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Kelas</a:t>
                      </a:r>
                      <a:r>
                        <a:rPr lang="en-US" sz="1400" dirty="0"/>
                        <a:t> (y)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Support</a:t>
                      </a:r>
                      <a:r>
                        <a:rPr lang="en-US" sz="1400" baseline="0" dirty="0"/>
                        <a:t> Vector (SV)</a:t>
                      </a:r>
                      <a:endParaRPr lang="en-US" sz="1400" dirty="0"/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68888" y="1719263"/>
          <a:ext cx="3174999" cy="1768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9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Kelas</a:t>
                      </a:r>
                      <a:r>
                        <a:rPr lang="en-US" sz="1400" dirty="0"/>
                        <a:t> (y)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SV2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98" name="Rectangle 1"/>
          <p:cNvSpPr>
            <a:spLocks noChangeArrowheads="1"/>
          </p:cNvSpPr>
          <p:nvPr/>
        </p:nvSpPr>
        <p:spPr bwMode="auto">
          <a:xfrm>
            <a:off x="6253163" y="3429000"/>
            <a:ext cx="1198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 dataset 2</a:t>
            </a:r>
          </a:p>
        </p:txBody>
      </p:sp>
      <p:sp>
        <p:nvSpPr>
          <p:cNvPr id="26699" name="Rectangle 6"/>
          <p:cNvSpPr>
            <a:spLocks noChangeArrowheads="1"/>
          </p:cNvSpPr>
          <p:nvPr/>
        </p:nvSpPr>
        <p:spPr bwMode="auto">
          <a:xfrm>
            <a:off x="1717675" y="3429000"/>
            <a:ext cx="1198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 dataset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33438" y="4652963"/>
          <a:ext cx="3162299" cy="1768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06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9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Kelas</a:t>
                      </a:r>
                      <a:r>
                        <a:rPr lang="en-US" sz="1400" dirty="0"/>
                        <a:t> (y)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0.5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-0.5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-0.5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732" name="Rectangle 3"/>
          <p:cNvSpPr>
            <a:spLocks noChangeArrowheads="1"/>
          </p:cNvSpPr>
          <p:nvPr/>
        </p:nvSpPr>
        <p:spPr bwMode="auto">
          <a:xfrm>
            <a:off x="4176713" y="5805488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000"/>
              <a:t>Tentukan persamaan Hyperplanenya,</a:t>
            </a:r>
          </a:p>
          <a:p>
            <a:pPr algn="just"/>
            <a:r>
              <a:rPr lang="en-US" sz="2000"/>
              <a:t>lalu uji kelas data x</a:t>
            </a:r>
            <a:r>
              <a:rPr lang="en-US" sz="2000" baseline="-25000"/>
              <a:t>t </a:t>
            </a:r>
            <a:r>
              <a:rPr lang="en-US" sz="2000"/>
              <a:t>= (1,1)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16973</TotalTime>
  <Words>2642</Words>
  <Application>Microsoft Office PowerPoint</Application>
  <PresentationFormat>On-screen Show (4:3)</PresentationFormat>
  <Paragraphs>638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Retrospect</vt:lpstr>
      <vt:lpstr>Equation</vt:lpstr>
      <vt:lpstr>Pokok Pembahasan</vt:lpstr>
      <vt:lpstr>Support Vector Machine</vt:lpstr>
      <vt:lpstr>Model SVM</vt:lpstr>
      <vt:lpstr>Model SVM (Cont.)</vt:lpstr>
      <vt:lpstr>Visualisasi SVM</vt:lpstr>
      <vt:lpstr>Karakteristik SVM</vt:lpstr>
      <vt:lpstr>Contoh Studi Kasus</vt:lpstr>
      <vt:lpstr>Contoh Studi Kasus 1 (Cont.)</vt:lpstr>
      <vt:lpstr>Contoh Studi Kasus 1 (Cont.)</vt:lpstr>
      <vt:lpstr>Contoh Studi Kasus 1 (Cont.)</vt:lpstr>
      <vt:lpstr>Contoh Studi Kasus 1 (Cont.)</vt:lpstr>
      <vt:lpstr>Contoh Studi Kasus 1 (Cont.)</vt:lpstr>
      <vt:lpstr>Contoh Studi Kasus 2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Latihan Individu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 (SVM)</dc:title>
  <dc:creator>Imam Cholissodin</dc:creator>
  <cp:keywords>Pengenalan Pola</cp:keywords>
  <cp:lastModifiedBy>arief kelik nugroho</cp:lastModifiedBy>
  <cp:revision>2088</cp:revision>
  <dcterms:created xsi:type="dcterms:W3CDTF">2010-05-23T14:28:12Z</dcterms:created>
  <dcterms:modified xsi:type="dcterms:W3CDTF">2026-08-18T14:07:51Z</dcterms:modified>
</cp:coreProperties>
</file>