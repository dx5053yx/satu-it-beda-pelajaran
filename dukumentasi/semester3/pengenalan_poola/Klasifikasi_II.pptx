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B65F3-4248-442D-8318-05D036749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5A63C-9ED4-4C26-A37E-6EF5A4662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3E580-2C1F-414B-B2F0-18C54E60D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87A21-9BED-4937-911C-2AA5C535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DC11A-D3C4-46CE-AA6A-3FBDF665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850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E1CE-EA42-4468-B3DE-4574E85E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711A-3E46-4336-BEEE-A31A95FB7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006C8-51C7-42BE-B60E-96B8BE34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35FAB-10E3-4940-98D4-7E996FC1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7B8AE-0A5A-4A16-8F7B-2DD69E04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0209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0FE2-0D7F-499A-B162-40E546DF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F9CDE-6891-4F8D-B613-97B784614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9BE8E-DE9C-462A-BE2C-7E312F5A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B8A8C-B020-4CA1-A179-479E6473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64FD1-2337-4230-82FB-2FAFC26A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205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91A5-7E31-44C9-AFA9-6511DAAD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AFD05-7FD6-4787-85CD-BA039990A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EBBFE-102E-4032-AB1C-62E27C32E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BC4B0-2E60-4FCE-ACA2-D99F8BEE0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B3C45-A71A-4649-A751-B769BABC7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D81BB-9844-419A-A1E8-3FBF00F9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163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3BD3-533B-4730-9FD8-43A111C3E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745F9-35C8-4234-B4C0-3190E4670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558A3-A644-40AC-BC51-7730EA9E2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CFB6C-95CA-41D5-B850-3F3889E04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109EC-5EB0-48E8-872A-82F1F645C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40531-3434-466D-872B-F1716086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B66A98-9CC7-435F-9432-782BA338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2C550-03AA-4854-8679-45851F78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781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6676-BD87-4130-BCFA-4ADAA1DD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663EE-FCF1-4E51-BF3F-B393BCA0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F65E-AF48-4F31-B7FB-89C298E7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9E332-BFCF-4919-A2C8-F97B943E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4796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69CFC-2253-4F24-B981-A1F544F1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ECAE9-857E-4810-8F57-8BAD6A62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7A2E5-DF22-4B39-8DDA-17FC3C5D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201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96EC-06B2-41BD-9AF5-34D3C718B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A5E0E-096B-469A-B286-D57D19A53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85D66-FEF2-414C-9104-9317261C0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EB13B-F8A9-4EEE-B9F1-7579270A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A3488-289F-46AD-B091-3B4CF059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810E8-8A59-4A2B-9C7B-43BEFC48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738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F0A5-7C55-4737-A899-07B5AA8C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D1D57-3191-466B-A5C3-C9C56B8E0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A028F-E527-4DBA-8B6B-EFA6294B8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6EB62-CB00-4B4F-A976-0742FF2CC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760F5-F790-40C3-B1B0-37D6C219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DFF13-67D9-4C86-9AD4-0334A15E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045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5AFA-2CB1-4B90-8A98-83D99A24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9EBFE-536F-465A-8CF7-333003E21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83B40-0515-4BE8-950B-DED7AE1B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6D125-1735-4756-8CC8-C5DCD133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F14C6-D5BC-4B1C-B6AB-AC1DEC39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32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5992F-5C3E-4DDB-BBC4-B5E9C9164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EDDD0-462A-44DE-AB98-93911EAC5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7EFB0-83F5-477C-A0EA-B9ECDAC4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2487E-4F10-4183-B730-39E72AE4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23FD0-0135-4EE6-A7AD-62E096A2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801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355DB1-5101-4EDC-8E41-F60868A3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20D7-2C14-44DF-A05C-8B70B9794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F6A0E-EE76-4ED8-912B-88B81AB4A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B9BF4-A7CA-4A31-A943-CF71065F7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17067-1BEA-4A2F-8E15-89ECE9857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445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ieeexplore.ieee.org/xpl/periodicals.js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3200400"/>
            <a:ext cx="48482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Arial"/>
                <a:cs typeface="Arial"/>
              </a:rPr>
              <a:t>Pengenalan Pola/  Pattern</a:t>
            </a:r>
            <a:r>
              <a:rPr sz="4000" b="1" spc="-55" dirty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Recognition</a:t>
            </a:r>
            <a:endParaRPr sz="4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4407" y="149428"/>
            <a:ext cx="5033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Pokok</a:t>
            </a:r>
            <a:r>
              <a:rPr spc="-50" dirty="0"/>
              <a:t> </a:t>
            </a:r>
            <a:r>
              <a:rPr dirty="0"/>
              <a:t>Pembahasan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33395"/>
            <a:ext cx="5669915" cy="24422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Naïve Bayes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Classifier</a:t>
            </a:r>
            <a:endParaRPr sz="2800">
              <a:latin typeface="Arial"/>
              <a:cs typeface="Arial"/>
            </a:endParaRPr>
          </a:p>
          <a:p>
            <a:pPr marL="927100" lvl="1" indent="-514350">
              <a:lnSpc>
                <a:spcPct val="100000"/>
              </a:lnSpc>
              <a:spcBef>
                <a:spcPts val="595"/>
              </a:spcBef>
              <a:buFont typeface="Wingdings"/>
              <a:buChar char=""/>
              <a:tabLst>
                <a:tab pos="927100" algn="l"/>
                <a:tab pos="927735" algn="l"/>
              </a:tabLst>
            </a:pPr>
            <a:r>
              <a:rPr sz="2400" spc="-5" dirty="0">
                <a:latin typeface="Arial"/>
                <a:cs typeface="Arial"/>
              </a:rPr>
              <a:t>Pengertian Klasifikasi Naïve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Bayes</a:t>
            </a:r>
            <a:endParaRPr sz="2400">
              <a:latin typeface="Arial"/>
              <a:cs typeface="Arial"/>
            </a:endParaRPr>
          </a:p>
          <a:p>
            <a:pPr marL="927100" lvl="1" indent="-514350">
              <a:lnSpc>
                <a:spcPct val="100000"/>
              </a:lnSpc>
              <a:spcBef>
                <a:spcPts val="575"/>
              </a:spcBef>
              <a:buFont typeface="Wingdings"/>
              <a:buChar char=""/>
              <a:tabLst>
                <a:tab pos="927100" algn="l"/>
                <a:tab pos="927735" algn="l"/>
              </a:tabLst>
            </a:pPr>
            <a:r>
              <a:rPr sz="2400" spc="-5" dirty="0">
                <a:latin typeface="Arial"/>
                <a:cs typeface="Arial"/>
              </a:rPr>
              <a:t>Rumus Umum Naïve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Bayes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Case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Study</a:t>
            </a:r>
            <a:endParaRPr sz="28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Latihan &amp;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Tugas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Klasifikasi Naïve</a:t>
            </a:r>
            <a:r>
              <a:rPr spc="-90" dirty="0"/>
              <a:t> </a:t>
            </a:r>
            <a:r>
              <a:rPr spc="5" dirty="0"/>
              <a:t>Bayes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1105"/>
            <a:ext cx="807275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675"/>
              </a:spcBef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Munculnya ide metode klasifikasi Naïve Bayes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56285" marR="6350" indent="-287020" algn="just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Metode klasifikasi ini </a:t>
            </a:r>
            <a:r>
              <a:rPr sz="2400" dirty="0">
                <a:latin typeface="Arial"/>
                <a:cs typeface="Arial"/>
              </a:rPr>
              <a:t>diturunkan dari </a:t>
            </a:r>
            <a:r>
              <a:rPr sz="2400" spc="-5" dirty="0">
                <a:latin typeface="Arial"/>
                <a:cs typeface="Arial"/>
              </a:rPr>
              <a:t>penerapan  teorema Bayes dengan </a:t>
            </a:r>
            <a:r>
              <a:rPr sz="2400" dirty="0">
                <a:latin typeface="Arial"/>
                <a:cs typeface="Arial"/>
              </a:rPr>
              <a:t>asumsi </a:t>
            </a:r>
            <a:r>
              <a:rPr sz="2400" i="1" dirty="0">
                <a:latin typeface="Arial"/>
                <a:cs typeface="Arial"/>
              </a:rPr>
              <a:t>independence (saling  </a:t>
            </a:r>
            <a:r>
              <a:rPr sz="2400" i="1" spc="-5" dirty="0">
                <a:latin typeface="Arial"/>
                <a:cs typeface="Arial"/>
              </a:rPr>
              <a:t>bebas).</a:t>
            </a:r>
            <a:endParaRPr sz="2400">
              <a:latin typeface="Arial"/>
              <a:cs typeface="Arial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Naïve Bayes Classifier adalah metode pengklasifikasian  paling </a:t>
            </a:r>
            <a:r>
              <a:rPr sz="2400" dirty="0">
                <a:latin typeface="Arial"/>
                <a:cs typeface="Arial"/>
              </a:rPr>
              <a:t>sederhana dari model </a:t>
            </a:r>
            <a:r>
              <a:rPr sz="2400" spc="-5" dirty="0">
                <a:latin typeface="Arial"/>
                <a:cs typeface="Arial"/>
              </a:rPr>
              <a:t>pengklasifikasian yang ada  dengan </a:t>
            </a:r>
            <a:r>
              <a:rPr sz="2400" dirty="0">
                <a:latin typeface="Arial"/>
                <a:cs typeface="Arial"/>
              </a:rPr>
              <a:t>menggunakan konsep peluang, </a:t>
            </a:r>
            <a:r>
              <a:rPr sz="2400" spc="-5" dirty="0">
                <a:latin typeface="Arial"/>
                <a:cs typeface="Arial"/>
              </a:rPr>
              <a:t>dimana  </a:t>
            </a:r>
            <a:r>
              <a:rPr sz="2400" dirty="0">
                <a:latin typeface="Arial"/>
                <a:cs typeface="Arial"/>
              </a:rPr>
              <a:t>diasumsikan bahwa </a:t>
            </a:r>
            <a:r>
              <a:rPr sz="2400" spc="-5" dirty="0">
                <a:latin typeface="Arial"/>
                <a:cs typeface="Arial"/>
              </a:rPr>
              <a:t>setiap </a:t>
            </a:r>
            <a:r>
              <a:rPr sz="2400" dirty="0">
                <a:latin typeface="Arial"/>
                <a:cs typeface="Arial"/>
              </a:rPr>
              <a:t>atribut </a:t>
            </a:r>
            <a:r>
              <a:rPr sz="2400" spc="-5" dirty="0">
                <a:latin typeface="Arial"/>
                <a:cs typeface="Arial"/>
              </a:rPr>
              <a:t>contoh (data </a:t>
            </a:r>
            <a:r>
              <a:rPr sz="2400" dirty="0">
                <a:latin typeface="Arial"/>
                <a:cs typeface="Arial"/>
              </a:rPr>
              <a:t>sampel)  bersifat </a:t>
            </a:r>
            <a:r>
              <a:rPr sz="2400" spc="-5" dirty="0">
                <a:latin typeface="Arial"/>
                <a:cs typeface="Arial"/>
              </a:rPr>
              <a:t>saling lepas </a:t>
            </a:r>
            <a:r>
              <a:rPr sz="2400" dirty="0">
                <a:latin typeface="Arial"/>
                <a:cs typeface="Arial"/>
              </a:rPr>
              <a:t>satu </a:t>
            </a:r>
            <a:r>
              <a:rPr sz="2400" spc="-5" dirty="0">
                <a:latin typeface="Arial"/>
                <a:cs typeface="Arial"/>
              </a:rPr>
              <a:t>sama lain berdasarkan atribut  kelas.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Klasifikasi Naïve</a:t>
            </a:r>
            <a:r>
              <a:rPr spc="-90" dirty="0"/>
              <a:t> </a:t>
            </a:r>
            <a:r>
              <a:rPr spc="5" dirty="0"/>
              <a:t>Bayes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1104"/>
            <a:ext cx="8070850" cy="14706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5080" indent="-343535">
              <a:lnSpc>
                <a:spcPts val="2300"/>
              </a:lnSpc>
              <a:spcBef>
                <a:spcPts val="66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Apa </a:t>
            </a:r>
            <a:r>
              <a:rPr sz="2400" dirty="0">
                <a:latin typeface="Arial"/>
                <a:cs typeface="Arial"/>
              </a:rPr>
              <a:t>yang </a:t>
            </a:r>
            <a:r>
              <a:rPr sz="2400" spc="-5" dirty="0">
                <a:latin typeface="Arial"/>
                <a:cs typeface="Arial"/>
              </a:rPr>
              <a:t>dapat </a:t>
            </a:r>
            <a:r>
              <a:rPr sz="2400" dirty="0">
                <a:latin typeface="Arial"/>
                <a:cs typeface="Arial"/>
              </a:rPr>
              <a:t>kita </a:t>
            </a:r>
            <a:r>
              <a:rPr sz="2400" spc="-5" dirty="0">
                <a:latin typeface="Arial"/>
                <a:cs typeface="Arial"/>
              </a:rPr>
              <a:t>lakukan apabila </a:t>
            </a:r>
            <a:r>
              <a:rPr sz="2400" dirty="0">
                <a:latin typeface="Arial"/>
                <a:cs typeface="Arial"/>
              </a:rPr>
              <a:t>data(d) </a:t>
            </a:r>
            <a:r>
              <a:rPr sz="2400" spc="-5" dirty="0">
                <a:latin typeface="Arial"/>
                <a:cs typeface="Arial"/>
              </a:rPr>
              <a:t>mempunyai  beberapa atribut atau </a:t>
            </a:r>
            <a:r>
              <a:rPr sz="2400" dirty="0">
                <a:latin typeface="Arial"/>
                <a:cs typeface="Arial"/>
              </a:rPr>
              <a:t>fitur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  <a:p>
            <a:pPr marL="355600" marR="5080" indent="-343535">
              <a:lnSpc>
                <a:spcPts val="2310"/>
              </a:lnSpc>
              <a:spcBef>
                <a:spcPts val="1585"/>
              </a:spcBef>
              <a:buChar char="•"/>
              <a:tabLst>
                <a:tab pos="355600" algn="l"/>
                <a:tab pos="356235" algn="l"/>
                <a:tab pos="1437640" algn="l"/>
                <a:tab pos="1518285" algn="l"/>
                <a:tab pos="2198370" algn="l"/>
                <a:tab pos="2480310" algn="l"/>
                <a:tab pos="3280410" algn="l"/>
                <a:tab pos="3489325" algn="l"/>
                <a:tab pos="3900804" algn="l"/>
                <a:tab pos="4245610" algn="l"/>
                <a:tab pos="4944745" algn="l"/>
                <a:tab pos="5769610" algn="l"/>
                <a:tab pos="6009005" algn="l"/>
                <a:tab pos="6853555" algn="l"/>
              </a:tabLst>
            </a:pPr>
            <a:r>
              <a:rPr sz="2400" dirty="0">
                <a:latin typeface="Arial"/>
                <a:cs typeface="Arial"/>
              </a:rPr>
              <a:t>As</a:t>
            </a:r>
            <a:r>
              <a:rPr sz="2400" spc="-10" dirty="0">
                <a:latin typeface="Arial"/>
                <a:cs typeface="Arial"/>
              </a:rPr>
              <a:t>u</a:t>
            </a:r>
            <a:r>
              <a:rPr sz="2400" spc="-5" dirty="0">
                <a:latin typeface="Arial"/>
                <a:cs typeface="Arial"/>
              </a:rPr>
              <a:t>msi</a:t>
            </a:r>
            <a:r>
              <a:rPr sz="2400" dirty="0">
                <a:latin typeface="Arial"/>
                <a:cs typeface="Arial"/>
              </a:rPr>
              <a:t>		Na</a:t>
            </a:r>
            <a:r>
              <a:rPr sz="2400" spc="5" dirty="0">
                <a:latin typeface="Arial"/>
                <a:cs typeface="Arial"/>
              </a:rPr>
              <a:t>ï</a:t>
            </a:r>
            <a:r>
              <a:rPr sz="2400" spc="-5" dirty="0">
                <a:latin typeface="Arial"/>
                <a:cs typeface="Arial"/>
              </a:rPr>
              <a:t>ve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B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yes</a:t>
            </a:r>
            <a:r>
              <a:rPr sz="2400" dirty="0">
                <a:latin typeface="Arial"/>
                <a:cs typeface="Arial"/>
              </a:rPr>
              <a:t>	:	</a:t>
            </a:r>
            <a:r>
              <a:rPr sz="2400" spc="-2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15" dirty="0">
                <a:latin typeface="Arial"/>
                <a:cs typeface="Arial"/>
              </a:rPr>
              <a:t>b</a:t>
            </a:r>
            <a:r>
              <a:rPr sz="2400" dirty="0">
                <a:latin typeface="Arial"/>
                <a:cs typeface="Arial"/>
              </a:rPr>
              <a:t>ut	</a:t>
            </a:r>
            <a:r>
              <a:rPr sz="2400" spc="-5" dirty="0">
                <a:latin typeface="Arial"/>
                <a:cs typeface="Arial"/>
              </a:rPr>
              <a:t>yang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m</a:t>
            </a:r>
            <a:r>
              <a:rPr sz="2400" spc="-15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nd</a:t>
            </a:r>
            <a:r>
              <a:rPr sz="2400" spc="-1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sk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15" dirty="0">
                <a:latin typeface="Arial"/>
                <a:cs typeface="Arial"/>
              </a:rPr>
              <a:t>p</a:t>
            </a:r>
            <a:r>
              <a:rPr sz="2400" spc="5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ikan  </a:t>
            </a:r>
            <a:r>
              <a:rPr sz="2400" dirty="0">
                <a:latin typeface="Arial"/>
                <a:cs typeface="Arial"/>
              </a:rPr>
              <a:t>co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toh	d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ta	a</a:t>
            </a:r>
            <a:r>
              <a:rPr sz="2400" spc="-10" dirty="0">
                <a:latin typeface="Arial"/>
                <a:cs typeface="Arial"/>
              </a:rPr>
              <a:t>d</a:t>
            </a:r>
            <a:r>
              <a:rPr sz="2400" dirty="0">
                <a:latin typeface="Arial"/>
                <a:cs typeface="Arial"/>
              </a:rPr>
              <a:t>alah	saling	i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dep</a:t>
            </a:r>
            <a:r>
              <a:rPr sz="2400" spc="-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nden	</a:t>
            </a:r>
            <a:r>
              <a:rPr sz="2400" spc="-5" dirty="0">
                <a:latin typeface="Arial"/>
                <a:cs typeface="Arial"/>
              </a:rPr>
              <a:t>pad</a:t>
            </a:r>
            <a:r>
              <a:rPr sz="2400" dirty="0">
                <a:latin typeface="Arial"/>
                <a:cs typeface="Arial"/>
              </a:rPr>
              <a:t>a	h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potesis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2593085"/>
            <a:ext cx="1411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klasifikasi.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614164"/>
            <a:ext cx="807085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  <a:tab pos="1885314" algn="l"/>
                <a:tab pos="3111500" algn="l"/>
                <a:tab pos="3978910" algn="l"/>
                <a:tab pos="4847590" algn="l"/>
                <a:tab pos="7038975" algn="l"/>
              </a:tabLst>
            </a:pPr>
            <a:r>
              <a:rPr sz="2400" spc="-5" dirty="0">
                <a:latin typeface="Arial"/>
                <a:cs typeface="Arial"/>
              </a:rPr>
              <a:t>B</a:t>
            </a:r>
            <a:r>
              <a:rPr sz="2400" spc="-1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b</a:t>
            </a:r>
            <a:r>
              <a:rPr sz="2400" spc="-5" dirty="0">
                <a:latin typeface="Arial"/>
                <a:cs typeface="Arial"/>
              </a:rPr>
              <a:t>era</a:t>
            </a:r>
            <a:r>
              <a:rPr sz="2400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apl</a:t>
            </a:r>
            <a:r>
              <a:rPr sz="2400" spc="-15" dirty="0">
                <a:latin typeface="Arial"/>
                <a:cs typeface="Arial"/>
              </a:rPr>
              <a:t>i</a:t>
            </a:r>
            <a:r>
              <a:rPr sz="2400" spc="5" dirty="0">
                <a:latin typeface="Arial"/>
                <a:cs typeface="Arial"/>
              </a:rPr>
              <a:t>k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yang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telah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dikembangkan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deng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n  metode klasifikasi Naïve Bayes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Diagnosa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Medis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Klasifikasi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Teks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0744" y="2717943"/>
            <a:ext cx="7041515" cy="174243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636270" algn="ctr">
              <a:lnSpc>
                <a:spcPct val="100000"/>
              </a:lnSpc>
              <a:spcBef>
                <a:spcPts val="800"/>
              </a:spcBef>
            </a:pPr>
            <a:r>
              <a:rPr sz="2350" i="1" spc="50" dirty="0">
                <a:latin typeface="Times New Roman"/>
                <a:cs typeface="Times New Roman"/>
              </a:rPr>
              <a:t>P</a:t>
            </a:r>
            <a:r>
              <a:rPr sz="2350" spc="-35" dirty="0">
                <a:latin typeface="Times New Roman"/>
                <a:cs typeface="Times New Roman"/>
              </a:rPr>
              <a:t>(</a:t>
            </a:r>
            <a:r>
              <a:rPr sz="2350" b="1" spc="25" dirty="0">
                <a:latin typeface="Times New Roman"/>
                <a:cs typeface="Times New Roman"/>
              </a:rPr>
              <a:t>d</a:t>
            </a:r>
            <a:r>
              <a:rPr sz="2350" b="1" spc="-22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Times New Roman"/>
                <a:cs typeface="Times New Roman"/>
              </a:rPr>
              <a:t>|</a:t>
            </a:r>
            <a:r>
              <a:rPr sz="2350" spc="-220" dirty="0">
                <a:latin typeface="Times New Roman"/>
                <a:cs typeface="Times New Roman"/>
              </a:rPr>
              <a:t> </a:t>
            </a:r>
            <a:r>
              <a:rPr sz="2350" i="1" spc="25" dirty="0">
                <a:latin typeface="Times New Roman"/>
                <a:cs typeface="Times New Roman"/>
              </a:rPr>
              <a:t>h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r>
              <a:rPr sz="2350" spc="-65" dirty="0">
                <a:latin typeface="Times New Roman"/>
                <a:cs typeface="Times New Roman"/>
              </a:rPr>
              <a:t> </a:t>
            </a:r>
            <a:r>
              <a:rPr sz="2350" spc="25" dirty="0">
                <a:latin typeface="Symbol"/>
                <a:cs typeface="Symbol"/>
              </a:rPr>
              <a:t></a:t>
            </a:r>
            <a:r>
              <a:rPr sz="2350" spc="-114" dirty="0">
                <a:latin typeface="Times New Roman"/>
                <a:cs typeface="Times New Roman"/>
              </a:rPr>
              <a:t> </a:t>
            </a:r>
            <a:r>
              <a:rPr sz="2350" i="1" spc="70" dirty="0">
                <a:latin typeface="Times New Roman"/>
                <a:cs typeface="Times New Roman"/>
              </a:rPr>
              <a:t>P</a:t>
            </a:r>
            <a:r>
              <a:rPr sz="2350" spc="40" dirty="0">
                <a:latin typeface="Times New Roman"/>
                <a:cs typeface="Times New Roman"/>
              </a:rPr>
              <a:t>(</a:t>
            </a:r>
            <a:r>
              <a:rPr sz="2350" i="1" spc="-229" dirty="0">
                <a:latin typeface="Times New Roman"/>
                <a:cs typeface="Times New Roman"/>
              </a:rPr>
              <a:t>a</a:t>
            </a:r>
            <a:r>
              <a:rPr sz="2025" spc="-30" baseline="-22633" dirty="0">
                <a:latin typeface="Times New Roman"/>
                <a:cs typeface="Times New Roman"/>
              </a:rPr>
              <a:t>1</a:t>
            </a:r>
            <a:r>
              <a:rPr sz="2350" spc="70" dirty="0">
                <a:latin typeface="Times New Roman"/>
                <a:cs typeface="Times New Roman"/>
              </a:rPr>
              <a:t>,</a:t>
            </a:r>
            <a:r>
              <a:rPr sz="2350" spc="15" dirty="0">
                <a:latin typeface="Times New Roman"/>
                <a:cs typeface="Times New Roman"/>
              </a:rPr>
              <a:t>.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15" dirty="0">
                <a:latin typeface="Times New Roman"/>
                <a:cs typeface="Times New Roman"/>
              </a:rPr>
              <a:t>.</a:t>
            </a:r>
            <a:r>
              <a:rPr sz="2350" spc="50" dirty="0">
                <a:latin typeface="Times New Roman"/>
                <a:cs typeface="Times New Roman"/>
              </a:rPr>
              <a:t>,</a:t>
            </a:r>
            <a:r>
              <a:rPr sz="2350" i="1" spc="-140" dirty="0">
                <a:latin typeface="Times New Roman"/>
                <a:cs typeface="Times New Roman"/>
              </a:rPr>
              <a:t>a</a:t>
            </a:r>
            <a:r>
              <a:rPr sz="2025" i="1" spc="37" baseline="-22633" dirty="0">
                <a:latin typeface="Times New Roman"/>
                <a:cs typeface="Times New Roman"/>
              </a:rPr>
              <a:t>T</a:t>
            </a:r>
            <a:r>
              <a:rPr sz="2025" i="1" baseline="-22633" dirty="0">
                <a:latin typeface="Times New Roman"/>
                <a:cs typeface="Times New Roman"/>
              </a:rPr>
              <a:t> </a:t>
            </a:r>
            <a:r>
              <a:rPr sz="2025" i="1" spc="225" baseline="-22633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Times New Roman"/>
                <a:cs typeface="Times New Roman"/>
              </a:rPr>
              <a:t>|</a:t>
            </a:r>
            <a:r>
              <a:rPr sz="2350" spc="-220" dirty="0">
                <a:latin typeface="Times New Roman"/>
                <a:cs typeface="Times New Roman"/>
              </a:rPr>
              <a:t> </a:t>
            </a:r>
            <a:r>
              <a:rPr sz="2350" i="1" spc="25" dirty="0">
                <a:latin typeface="Times New Roman"/>
                <a:cs typeface="Times New Roman"/>
              </a:rPr>
              <a:t>h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r>
              <a:rPr sz="2350" spc="-65" dirty="0">
                <a:latin typeface="Times New Roman"/>
                <a:cs typeface="Times New Roman"/>
              </a:rPr>
              <a:t> </a:t>
            </a:r>
            <a:r>
              <a:rPr sz="2350" spc="25" dirty="0">
                <a:latin typeface="Symbol"/>
                <a:cs typeface="Symbol"/>
              </a:rPr>
              <a:t></a:t>
            </a:r>
            <a:r>
              <a:rPr sz="2350" spc="-204" dirty="0">
                <a:latin typeface="Times New Roman"/>
                <a:cs typeface="Times New Roman"/>
              </a:rPr>
              <a:t> </a:t>
            </a:r>
            <a:r>
              <a:rPr sz="5250" spc="209" baseline="-3968" dirty="0">
                <a:latin typeface="Symbol"/>
                <a:cs typeface="Symbol"/>
              </a:rPr>
              <a:t></a:t>
            </a:r>
            <a:r>
              <a:rPr sz="2350" i="1" spc="70" dirty="0">
                <a:latin typeface="Times New Roman"/>
                <a:cs typeface="Times New Roman"/>
              </a:rPr>
              <a:t>P</a:t>
            </a:r>
            <a:r>
              <a:rPr sz="2350" spc="40" dirty="0">
                <a:latin typeface="Times New Roman"/>
                <a:cs typeface="Times New Roman"/>
              </a:rPr>
              <a:t>(</a:t>
            </a:r>
            <a:r>
              <a:rPr sz="2350" i="1" spc="-45" dirty="0">
                <a:latin typeface="Times New Roman"/>
                <a:cs typeface="Times New Roman"/>
              </a:rPr>
              <a:t>a</a:t>
            </a:r>
            <a:r>
              <a:rPr sz="2025" i="1" spc="15" baseline="-22633" dirty="0">
                <a:latin typeface="Times New Roman"/>
                <a:cs typeface="Times New Roman"/>
              </a:rPr>
              <a:t>t</a:t>
            </a:r>
            <a:r>
              <a:rPr sz="2025" i="1" baseline="-22633" dirty="0">
                <a:latin typeface="Times New Roman"/>
                <a:cs typeface="Times New Roman"/>
              </a:rPr>
              <a:t> </a:t>
            </a:r>
            <a:r>
              <a:rPr sz="2025" i="1" spc="97" baseline="-22633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Times New Roman"/>
                <a:cs typeface="Times New Roman"/>
              </a:rPr>
              <a:t>|</a:t>
            </a:r>
            <a:r>
              <a:rPr sz="2350" spc="-220" dirty="0">
                <a:latin typeface="Times New Roman"/>
                <a:cs typeface="Times New Roman"/>
              </a:rPr>
              <a:t> </a:t>
            </a:r>
            <a:r>
              <a:rPr sz="2350" i="1" spc="55" dirty="0">
                <a:latin typeface="Times New Roman"/>
                <a:cs typeface="Times New Roman"/>
              </a:rPr>
              <a:t>h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R="2143760" algn="r">
              <a:lnSpc>
                <a:spcPts val="1614"/>
              </a:lnSpc>
              <a:spcBef>
                <a:spcPts val="290"/>
              </a:spcBef>
            </a:pPr>
            <a:r>
              <a:rPr sz="1350" i="1" spc="10" dirty="0">
                <a:latin typeface="Times New Roman"/>
                <a:cs typeface="Times New Roman"/>
              </a:rPr>
              <a:t>t</a:t>
            </a:r>
            <a:endParaRPr sz="1350">
              <a:latin typeface="Times New Roman"/>
              <a:cs typeface="Times New Roman"/>
            </a:endParaRPr>
          </a:p>
          <a:p>
            <a:pPr marL="286385" marR="85090" indent="-286385" algn="r">
              <a:lnSpc>
                <a:spcPts val="2155"/>
              </a:lnSpc>
              <a:buChar char="–"/>
              <a:tabLst>
                <a:tab pos="286385" algn="l"/>
                <a:tab pos="287020" algn="l"/>
              </a:tabLst>
            </a:pPr>
            <a:r>
              <a:rPr sz="2000" dirty="0">
                <a:latin typeface="Arial"/>
                <a:cs typeface="Arial"/>
              </a:rPr>
              <a:t>Naïve </a:t>
            </a:r>
            <a:r>
              <a:rPr sz="2000" spc="-5" dirty="0">
                <a:latin typeface="Arial"/>
                <a:cs typeface="Arial"/>
              </a:rPr>
              <a:t>Bayes </a:t>
            </a:r>
            <a:r>
              <a:rPr sz="2000" dirty="0">
                <a:latin typeface="Arial"/>
                <a:cs typeface="Arial"/>
              </a:rPr>
              <a:t>mengedepankan penyerderhanaan,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sehingga</a:t>
            </a:r>
            <a:endParaRPr sz="2000">
              <a:latin typeface="Arial"/>
              <a:cs typeface="Arial"/>
            </a:endParaRPr>
          </a:p>
          <a:p>
            <a:pPr marR="17780" algn="r">
              <a:lnSpc>
                <a:spcPts val="2160"/>
              </a:lnSpc>
            </a:pPr>
            <a:r>
              <a:rPr sz="2000" dirty="0">
                <a:latin typeface="Arial"/>
                <a:cs typeface="Arial"/>
              </a:rPr>
              <a:t>kemungkinan hasil keputusan tidak sesuai realita yang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ada.</a:t>
            </a:r>
            <a:endParaRPr sz="2000">
              <a:latin typeface="Arial"/>
              <a:cs typeface="Arial"/>
            </a:endParaRPr>
          </a:p>
          <a:p>
            <a:pPr marL="311785" indent="-287020">
              <a:lnSpc>
                <a:spcPct val="100000"/>
              </a:lnSpc>
              <a:buChar char="–"/>
              <a:tabLst>
                <a:tab pos="311785" algn="l"/>
                <a:tab pos="312420" algn="l"/>
              </a:tabLst>
            </a:pPr>
            <a:r>
              <a:rPr sz="2000" dirty="0">
                <a:latin typeface="Arial"/>
                <a:cs typeface="Arial"/>
              </a:rPr>
              <a:t>Namun metode ini bekerja dengan baik secara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praktis.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Klasifikasi Naïve</a:t>
            </a:r>
            <a:r>
              <a:rPr spc="-90" dirty="0"/>
              <a:t> </a:t>
            </a:r>
            <a:r>
              <a:rPr spc="5" dirty="0"/>
              <a:t>Bayes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3672" y="1221104"/>
            <a:ext cx="36023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0140" algn="l"/>
                <a:tab pos="2909570" algn="l"/>
              </a:tabLst>
            </a:pPr>
            <a:r>
              <a:rPr sz="2400" spc="-5" dirty="0">
                <a:latin typeface="Arial"/>
                <a:cs typeface="Arial"/>
              </a:rPr>
              <a:t>ad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lah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independen</a:t>
            </a:r>
            <a:r>
              <a:rPr sz="2400" dirty="0">
                <a:latin typeface="Arial"/>
                <a:cs typeface="Arial"/>
              </a:rPr>
              <a:t>	p</a:t>
            </a:r>
            <a:r>
              <a:rPr sz="2400" spc="-5" dirty="0">
                <a:latin typeface="Arial"/>
                <a:cs typeface="Arial"/>
              </a:rPr>
              <a:t>ada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840" y="1221104"/>
            <a:ext cx="4387850" cy="16719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93700" marR="55880" indent="-343535">
              <a:lnSpc>
                <a:spcPts val="2300"/>
              </a:lnSpc>
              <a:spcBef>
                <a:spcPts val="660"/>
              </a:spcBef>
              <a:buChar char="•"/>
              <a:tabLst>
                <a:tab pos="393700" algn="l"/>
                <a:tab pos="394335" algn="l"/>
                <a:tab pos="2078989" algn="l"/>
                <a:tab pos="3375025" algn="l"/>
                <a:tab pos="4077970" algn="l"/>
              </a:tabLst>
            </a:pPr>
            <a:r>
              <a:rPr sz="2400" dirty="0">
                <a:latin typeface="Arial"/>
                <a:cs typeface="Arial"/>
              </a:rPr>
              <a:t>As</a:t>
            </a:r>
            <a:r>
              <a:rPr sz="2400" spc="-10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msi</a:t>
            </a:r>
            <a:r>
              <a:rPr sz="2400" spc="5" dirty="0">
                <a:latin typeface="Arial"/>
                <a:cs typeface="Arial"/>
              </a:rPr>
              <a:t>k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diantara</a:t>
            </a:r>
            <a:r>
              <a:rPr sz="2400" dirty="0">
                <a:latin typeface="Arial"/>
                <a:cs typeface="Arial"/>
              </a:rPr>
              <a:t>	fitur	</a:t>
            </a:r>
            <a:r>
              <a:rPr sz="2400" spc="-20" dirty="0">
                <a:latin typeface="Arial"/>
                <a:cs typeface="Arial"/>
              </a:rPr>
              <a:t>A</a:t>
            </a:r>
            <a:r>
              <a:rPr sz="2400" spc="-7" baseline="-20833" dirty="0">
                <a:latin typeface="Arial"/>
                <a:cs typeface="Arial"/>
              </a:rPr>
              <a:t>i  </a:t>
            </a:r>
            <a:r>
              <a:rPr sz="2400" spc="-5" dirty="0">
                <a:latin typeface="Arial"/>
                <a:cs typeface="Arial"/>
              </a:rPr>
              <a:t>suatu kelas.</a:t>
            </a:r>
            <a:endParaRPr sz="2400">
              <a:latin typeface="Arial"/>
              <a:cs typeface="Arial"/>
            </a:endParaRPr>
          </a:p>
          <a:p>
            <a:pPr marL="388620" marR="104139" indent="-338455">
              <a:lnSpc>
                <a:spcPct val="135100"/>
              </a:lnSpc>
              <a:spcBef>
                <a:spcPts val="20"/>
              </a:spcBef>
              <a:buChar char="•"/>
              <a:tabLst>
                <a:tab pos="393700" algn="l"/>
                <a:tab pos="394335" algn="l"/>
              </a:tabLst>
            </a:pPr>
            <a:r>
              <a:rPr sz="2400" spc="-5" dirty="0">
                <a:latin typeface="Arial"/>
                <a:cs typeface="Arial"/>
              </a:rPr>
              <a:t>Rumus umum Naïve Bayes </a:t>
            </a:r>
            <a:r>
              <a:rPr sz="2400" dirty="0">
                <a:latin typeface="Arial"/>
                <a:cs typeface="Arial"/>
              </a:rPr>
              <a:t>:  </a:t>
            </a:r>
            <a:r>
              <a:rPr sz="2400" spc="-5" dirty="0">
                <a:latin typeface="Arial"/>
                <a:cs typeface="Arial"/>
              </a:rPr>
              <a:t>Probabilitas Likelihood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8044" y="5464861"/>
            <a:ext cx="62858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  <a:tabLst>
                <a:tab pos="2239645" algn="l"/>
              </a:tabLst>
            </a:pPr>
            <a:r>
              <a:rPr sz="2000" dirty="0">
                <a:latin typeface="Arial"/>
                <a:cs typeface="Arial"/>
              </a:rPr>
              <a:t>d = {A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5" dirty="0">
                <a:latin typeface="Arial"/>
                <a:cs typeface="Arial"/>
              </a:rPr>
              <a:t>A</a:t>
            </a:r>
            <a:r>
              <a:rPr sz="1950" spc="7" baseline="-21367" dirty="0">
                <a:latin typeface="Arial"/>
                <a:cs typeface="Arial"/>
              </a:rPr>
              <a:t>2</a:t>
            </a:r>
            <a:r>
              <a:rPr sz="2000" spc="5" dirty="0">
                <a:latin typeface="Arial"/>
                <a:cs typeface="Arial"/>
              </a:rPr>
              <a:t>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A</a:t>
            </a:r>
            <a:r>
              <a:rPr sz="1950" spc="7" baseline="-21367" dirty="0">
                <a:latin typeface="Arial"/>
                <a:cs typeface="Arial"/>
              </a:rPr>
              <a:t>n</a:t>
            </a:r>
            <a:r>
              <a:rPr sz="2000" spc="5" dirty="0">
                <a:latin typeface="Arial"/>
                <a:cs typeface="Arial"/>
              </a:rPr>
              <a:t>}	</a:t>
            </a:r>
            <a:r>
              <a:rPr sz="2000" spc="-5" dirty="0">
                <a:latin typeface="Arial"/>
                <a:cs typeface="Arial"/>
              </a:rPr>
              <a:t>data </a:t>
            </a:r>
            <a:r>
              <a:rPr sz="2000" dirty="0">
                <a:latin typeface="Arial"/>
                <a:cs typeface="Arial"/>
              </a:rPr>
              <a:t>(d) dengan </a:t>
            </a:r>
            <a:r>
              <a:rPr sz="2000" spc="-5" dirty="0">
                <a:latin typeface="Arial"/>
                <a:cs typeface="Arial"/>
              </a:rPr>
              <a:t>fitur </a:t>
            </a:r>
            <a:r>
              <a:rPr sz="2000" spc="5" dirty="0">
                <a:latin typeface="Arial"/>
                <a:cs typeface="Arial"/>
              </a:rPr>
              <a:t>(A</a:t>
            </a:r>
            <a:r>
              <a:rPr sz="1950" spc="7" baseline="-21367" dirty="0">
                <a:latin typeface="Arial"/>
                <a:cs typeface="Arial"/>
              </a:rPr>
              <a:t>1 </a:t>
            </a:r>
            <a:r>
              <a:rPr sz="2000" dirty="0">
                <a:latin typeface="Arial"/>
                <a:cs typeface="Arial"/>
              </a:rPr>
              <a:t>sampai </a:t>
            </a:r>
            <a:r>
              <a:rPr sz="2000" spc="5" dirty="0">
                <a:latin typeface="Arial"/>
                <a:cs typeface="Arial"/>
              </a:rPr>
              <a:t>A</a:t>
            </a:r>
            <a:r>
              <a:rPr sz="1950" spc="7" baseline="-21367" dirty="0">
                <a:latin typeface="Arial"/>
                <a:cs typeface="Arial"/>
              </a:rPr>
              <a:t>n</a:t>
            </a:r>
            <a:r>
              <a:rPr sz="2000" spc="5" dirty="0">
                <a:latin typeface="Arial"/>
                <a:cs typeface="Arial"/>
              </a:rPr>
              <a:t>)  </a:t>
            </a:r>
            <a:r>
              <a:rPr sz="2000" dirty="0">
                <a:latin typeface="Arial"/>
                <a:cs typeface="Arial"/>
              </a:rPr>
              <a:t>C merupakan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kelas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867" y="2776528"/>
            <a:ext cx="7614920" cy="110426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495"/>
              </a:spcBef>
            </a:pPr>
            <a:r>
              <a:rPr sz="2300" i="1" spc="15" dirty="0">
                <a:latin typeface="Times New Roman"/>
                <a:cs typeface="Times New Roman"/>
              </a:rPr>
              <a:t>P</a:t>
            </a:r>
            <a:r>
              <a:rPr sz="2300" spc="15" dirty="0">
                <a:latin typeface="Times New Roman"/>
                <a:cs typeface="Times New Roman"/>
              </a:rPr>
              <a:t>(</a:t>
            </a:r>
            <a:r>
              <a:rPr sz="2300" b="1" spc="15" dirty="0">
                <a:latin typeface="Times New Roman"/>
                <a:cs typeface="Times New Roman"/>
              </a:rPr>
              <a:t>d</a:t>
            </a:r>
            <a:r>
              <a:rPr sz="2300" b="1" spc="-225" dirty="0">
                <a:latin typeface="Times New Roman"/>
                <a:cs typeface="Times New Roman"/>
              </a:rPr>
              <a:t> </a:t>
            </a:r>
            <a:r>
              <a:rPr sz="2300" spc="10" dirty="0">
                <a:latin typeface="Times New Roman"/>
                <a:cs typeface="Times New Roman"/>
              </a:rPr>
              <a:t>|</a:t>
            </a:r>
            <a:r>
              <a:rPr sz="2300" spc="-229" dirty="0">
                <a:latin typeface="Times New Roman"/>
                <a:cs typeface="Times New Roman"/>
              </a:rPr>
              <a:t> </a:t>
            </a:r>
            <a:r>
              <a:rPr sz="2300" i="1" spc="130" dirty="0">
                <a:latin typeface="Times New Roman"/>
                <a:cs typeface="Times New Roman"/>
              </a:rPr>
              <a:t>C</a:t>
            </a:r>
            <a:r>
              <a:rPr sz="2025" i="1" spc="195" baseline="-22633" dirty="0">
                <a:latin typeface="Times New Roman"/>
                <a:cs typeface="Times New Roman"/>
              </a:rPr>
              <a:t>j</a:t>
            </a:r>
            <a:r>
              <a:rPr sz="2025" i="1" spc="-44" baseline="-22633" dirty="0">
                <a:latin typeface="Times New Roman"/>
                <a:cs typeface="Times New Roman"/>
              </a:rPr>
              <a:t> </a:t>
            </a:r>
            <a:r>
              <a:rPr sz="2300" spc="15" dirty="0">
                <a:latin typeface="Times New Roman"/>
                <a:cs typeface="Times New Roman"/>
              </a:rPr>
              <a:t>)</a:t>
            </a:r>
            <a:r>
              <a:rPr sz="2300" spc="-90" dirty="0">
                <a:latin typeface="Times New Roman"/>
                <a:cs typeface="Times New Roman"/>
              </a:rPr>
              <a:t> </a:t>
            </a:r>
            <a:r>
              <a:rPr sz="2300" spc="25" dirty="0">
                <a:latin typeface="Symbol"/>
                <a:cs typeface="Symbol"/>
              </a:rPr>
              <a:t>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i="1" spc="30" dirty="0">
                <a:latin typeface="Times New Roman"/>
                <a:cs typeface="Times New Roman"/>
              </a:rPr>
              <a:t>P</a:t>
            </a:r>
            <a:r>
              <a:rPr sz="2300" spc="30" dirty="0">
                <a:latin typeface="Times New Roman"/>
                <a:cs typeface="Times New Roman"/>
              </a:rPr>
              <a:t>(</a:t>
            </a:r>
            <a:r>
              <a:rPr sz="2300" spc="-370" dirty="0">
                <a:latin typeface="Times New Roman"/>
                <a:cs typeface="Times New Roman"/>
              </a:rPr>
              <a:t> </a:t>
            </a:r>
            <a:r>
              <a:rPr sz="2300" i="1" spc="-70" dirty="0">
                <a:latin typeface="Times New Roman"/>
                <a:cs typeface="Times New Roman"/>
              </a:rPr>
              <a:t>A</a:t>
            </a:r>
            <a:r>
              <a:rPr sz="2025" spc="-104" baseline="-22633" dirty="0">
                <a:latin typeface="Times New Roman"/>
                <a:cs typeface="Times New Roman"/>
              </a:rPr>
              <a:t>1</a:t>
            </a:r>
            <a:r>
              <a:rPr sz="2300" spc="-70" dirty="0">
                <a:latin typeface="Times New Roman"/>
                <a:cs typeface="Times New Roman"/>
              </a:rPr>
              <a:t>,</a:t>
            </a:r>
            <a:r>
              <a:rPr sz="2300" spc="-140" dirty="0">
                <a:latin typeface="Times New Roman"/>
                <a:cs typeface="Times New Roman"/>
              </a:rPr>
              <a:t> </a:t>
            </a:r>
            <a:r>
              <a:rPr sz="2300" i="1" spc="-80" dirty="0">
                <a:latin typeface="Times New Roman"/>
                <a:cs typeface="Times New Roman"/>
              </a:rPr>
              <a:t>A</a:t>
            </a:r>
            <a:r>
              <a:rPr sz="2025" spc="-120" baseline="-22633" dirty="0">
                <a:latin typeface="Times New Roman"/>
                <a:cs typeface="Times New Roman"/>
              </a:rPr>
              <a:t>2</a:t>
            </a:r>
            <a:r>
              <a:rPr sz="2025" spc="-225" baseline="-22633" dirty="0">
                <a:latin typeface="Times New Roman"/>
                <a:cs typeface="Times New Roman"/>
              </a:rPr>
              <a:t> </a:t>
            </a:r>
            <a:r>
              <a:rPr sz="2300" spc="25" dirty="0">
                <a:latin typeface="Times New Roman"/>
                <a:cs typeface="Times New Roman"/>
              </a:rPr>
              <a:t>,...,</a:t>
            </a:r>
            <a:r>
              <a:rPr sz="2300" spc="-305" dirty="0">
                <a:latin typeface="Times New Roman"/>
                <a:cs typeface="Times New Roman"/>
              </a:rPr>
              <a:t> </a:t>
            </a:r>
            <a:r>
              <a:rPr sz="2300" i="1" spc="-80" dirty="0">
                <a:latin typeface="Times New Roman"/>
                <a:cs typeface="Times New Roman"/>
              </a:rPr>
              <a:t>A</a:t>
            </a:r>
            <a:r>
              <a:rPr sz="2025" i="1" spc="-120" baseline="-22633" dirty="0">
                <a:latin typeface="Times New Roman"/>
                <a:cs typeface="Times New Roman"/>
              </a:rPr>
              <a:t>n</a:t>
            </a:r>
            <a:r>
              <a:rPr sz="2025" i="1" spc="15" baseline="-22633" dirty="0">
                <a:latin typeface="Times New Roman"/>
                <a:cs typeface="Times New Roman"/>
              </a:rPr>
              <a:t> </a:t>
            </a:r>
            <a:r>
              <a:rPr sz="2300" spc="10" dirty="0">
                <a:latin typeface="Times New Roman"/>
                <a:cs typeface="Times New Roman"/>
              </a:rPr>
              <a:t>|</a:t>
            </a:r>
            <a:r>
              <a:rPr sz="2300" spc="-229" dirty="0">
                <a:latin typeface="Times New Roman"/>
                <a:cs typeface="Times New Roman"/>
              </a:rPr>
              <a:t> </a:t>
            </a:r>
            <a:r>
              <a:rPr sz="2300" i="1" spc="130" dirty="0">
                <a:latin typeface="Times New Roman"/>
                <a:cs typeface="Times New Roman"/>
              </a:rPr>
              <a:t>C</a:t>
            </a:r>
            <a:r>
              <a:rPr sz="2025" i="1" spc="195" baseline="-22633" dirty="0">
                <a:latin typeface="Times New Roman"/>
                <a:cs typeface="Times New Roman"/>
              </a:rPr>
              <a:t>j</a:t>
            </a:r>
            <a:r>
              <a:rPr sz="2025" i="1" spc="-44" baseline="-22633" dirty="0">
                <a:latin typeface="Times New Roman"/>
                <a:cs typeface="Times New Roman"/>
              </a:rPr>
              <a:t> </a:t>
            </a:r>
            <a:r>
              <a:rPr sz="2300" spc="15" dirty="0">
                <a:latin typeface="Times New Roman"/>
                <a:cs typeface="Times New Roman"/>
              </a:rPr>
              <a:t>)</a:t>
            </a:r>
            <a:r>
              <a:rPr sz="2300" spc="-90" dirty="0">
                <a:latin typeface="Times New Roman"/>
                <a:cs typeface="Times New Roman"/>
              </a:rPr>
              <a:t> </a:t>
            </a:r>
            <a:r>
              <a:rPr sz="2300" spc="25" dirty="0">
                <a:latin typeface="Symbol"/>
                <a:cs typeface="Symbol"/>
              </a:rPr>
              <a:t>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i="1" spc="25" dirty="0">
                <a:latin typeface="Times New Roman"/>
                <a:cs typeface="Times New Roman"/>
              </a:rPr>
              <a:t>P</a:t>
            </a:r>
            <a:r>
              <a:rPr sz="2300" spc="25" dirty="0">
                <a:latin typeface="Times New Roman"/>
                <a:cs typeface="Times New Roman"/>
              </a:rPr>
              <a:t>(</a:t>
            </a:r>
            <a:r>
              <a:rPr sz="2300" spc="-370" dirty="0">
                <a:latin typeface="Times New Roman"/>
                <a:cs typeface="Times New Roman"/>
              </a:rPr>
              <a:t> </a:t>
            </a:r>
            <a:r>
              <a:rPr sz="2300" i="1" spc="-155" dirty="0">
                <a:latin typeface="Times New Roman"/>
                <a:cs typeface="Times New Roman"/>
              </a:rPr>
              <a:t>A</a:t>
            </a:r>
            <a:r>
              <a:rPr sz="2025" spc="-232" baseline="-22633" dirty="0">
                <a:latin typeface="Times New Roman"/>
                <a:cs typeface="Times New Roman"/>
              </a:rPr>
              <a:t>1</a:t>
            </a:r>
            <a:r>
              <a:rPr sz="2025" spc="-60" baseline="-22633" dirty="0">
                <a:latin typeface="Times New Roman"/>
                <a:cs typeface="Times New Roman"/>
              </a:rPr>
              <a:t> </a:t>
            </a:r>
            <a:r>
              <a:rPr sz="2300" spc="10" dirty="0">
                <a:latin typeface="Times New Roman"/>
                <a:cs typeface="Times New Roman"/>
              </a:rPr>
              <a:t>|</a:t>
            </a:r>
            <a:r>
              <a:rPr sz="2300" spc="-235" dirty="0">
                <a:latin typeface="Times New Roman"/>
                <a:cs typeface="Times New Roman"/>
              </a:rPr>
              <a:t> </a:t>
            </a:r>
            <a:r>
              <a:rPr sz="2300" i="1" spc="130" dirty="0">
                <a:latin typeface="Times New Roman"/>
                <a:cs typeface="Times New Roman"/>
              </a:rPr>
              <a:t>C</a:t>
            </a:r>
            <a:r>
              <a:rPr sz="2025" i="1" spc="195" baseline="-22633" dirty="0">
                <a:latin typeface="Times New Roman"/>
                <a:cs typeface="Times New Roman"/>
              </a:rPr>
              <a:t>j</a:t>
            </a:r>
            <a:r>
              <a:rPr sz="2025" i="1" spc="-44" baseline="-22633" dirty="0">
                <a:latin typeface="Times New Roman"/>
                <a:cs typeface="Times New Roman"/>
              </a:rPr>
              <a:t> </a:t>
            </a:r>
            <a:r>
              <a:rPr sz="2300" spc="55" dirty="0">
                <a:latin typeface="Times New Roman"/>
                <a:cs typeface="Times New Roman"/>
              </a:rPr>
              <a:t>)</a:t>
            </a:r>
            <a:r>
              <a:rPr sz="2300" i="1" spc="55" dirty="0">
                <a:latin typeface="Times New Roman"/>
                <a:cs typeface="Times New Roman"/>
              </a:rPr>
              <a:t>P</a:t>
            </a:r>
            <a:r>
              <a:rPr sz="2300" spc="55" dirty="0">
                <a:latin typeface="Times New Roman"/>
                <a:cs typeface="Times New Roman"/>
              </a:rPr>
              <a:t>(</a:t>
            </a:r>
            <a:r>
              <a:rPr sz="2300" spc="-370" dirty="0">
                <a:latin typeface="Times New Roman"/>
                <a:cs typeface="Times New Roman"/>
              </a:rPr>
              <a:t> </a:t>
            </a:r>
            <a:r>
              <a:rPr sz="2300" i="1" spc="-85" dirty="0">
                <a:latin typeface="Times New Roman"/>
                <a:cs typeface="Times New Roman"/>
              </a:rPr>
              <a:t>A</a:t>
            </a:r>
            <a:r>
              <a:rPr sz="2025" spc="-127" baseline="-22633" dirty="0">
                <a:latin typeface="Times New Roman"/>
                <a:cs typeface="Times New Roman"/>
              </a:rPr>
              <a:t>2</a:t>
            </a:r>
            <a:r>
              <a:rPr sz="2025" spc="-15" baseline="-22633" dirty="0">
                <a:latin typeface="Times New Roman"/>
                <a:cs typeface="Times New Roman"/>
              </a:rPr>
              <a:t> </a:t>
            </a:r>
            <a:r>
              <a:rPr sz="2300" spc="10" dirty="0">
                <a:latin typeface="Times New Roman"/>
                <a:cs typeface="Times New Roman"/>
              </a:rPr>
              <a:t>|</a:t>
            </a:r>
            <a:r>
              <a:rPr sz="2300" spc="-240" dirty="0">
                <a:latin typeface="Times New Roman"/>
                <a:cs typeface="Times New Roman"/>
              </a:rPr>
              <a:t> </a:t>
            </a:r>
            <a:r>
              <a:rPr sz="2300" i="1" spc="130" dirty="0">
                <a:latin typeface="Times New Roman"/>
                <a:cs typeface="Times New Roman"/>
              </a:rPr>
              <a:t>C</a:t>
            </a:r>
            <a:r>
              <a:rPr sz="2025" i="1" spc="195" baseline="-22633" dirty="0">
                <a:latin typeface="Times New Roman"/>
                <a:cs typeface="Times New Roman"/>
              </a:rPr>
              <a:t>j</a:t>
            </a:r>
            <a:r>
              <a:rPr sz="2025" i="1" spc="-37" baseline="-22633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)....</a:t>
            </a:r>
            <a:r>
              <a:rPr sz="2300" i="1" spc="-5" dirty="0">
                <a:latin typeface="Times New Roman"/>
                <a:cs typeface="Times New Roman"/>
              </a:rPr>
              <a:t>P</a:t>
            </a:r>
            <a:r>
              <a:rPr sz="2300" spc="-5" dirty="0">
                <a:latin typeface="Times New Roman"/>
                <a:cs typeface="Times New Roman"/>
              </a:rPr>
              <a:t>(</a:t>
            </a:r>
            <a:r>
              <a:rPr sz="2300" spc="-370" dirty="0">
                <a:latin typeface="Times New Roman"/>
                <a:cs typeface="Times New Roman"/>
              </a:rPr>
              <a:t> </a:t>
            </a:r>
            <a:r>
              <a:rPr sz="2300" i="1" spc="-80" dirty="0">
                <a:latin typeface="Times New Roman"/>
                <a:cs typeface="Times New Roman"/>
              </a:rPr>
              <a:t>A</a:t>
            </a:r>
            <a:r>
              <a:rPr sz="2025" i="1" spc="-120" baseline="-22633" dirty="0">
                <a:latin typeface="Times New Roman"/>
                <a:cs typeface="Times New Roman"/>
              </a:rPr>
              <a:t>n</a:t>
            </a:r>
            <a:r>
              <a:rPr sz="2025" i="1" spc="15" baseline="-22633" dirty="0">
                <a:latin typeface="Times New Roman"/>
                <a:cs typeface="Times New Roman"/>
              </a:rPr>
              <a:t> </a:t>
            </a:r>
            <a:r>
              <a:rPr sz="2300" spc="10" dirty="0">
                <a:latin typeface="Times New Roman"/>
                <a:cs typeface="Times New Roman"/>
              </a:rPr>
              <a:t>|</a:t>
            </a:r>
            <a:r>
              <a:rPr sz="2300" spc="-235" dirty="0">
                <a:latin typeface="Times New Roman"/>
                <a:cs typeface="Times New Roman"/>
              </a:rPr>
              <a:t> </a:t>
            </a:r>
            <a:r>
              <a:rPr sz="2300" i="1" spc="130" dirty="0">
                <a:latin typeface="Times New Roman"/>
                <a:cs typeface="Times New Roman"/>
              </a:rPr>
              <a:t>C</a:t>
            </a:r>
            <a:r>
              <a:rPr sz="2025" i="1" spc="195" baseline="-22633" dirty="0">
                <a:latin typeface="Times New Roman"/>
                <a:cs typeface="Times New Roman"/>
              </a:rPr>
              <a:t>j</a:t>
            </a:r>
            <a:r>
              <a:rPr sz="2025" i="1" spc="-52" baseline="-22633" dirty="0">
                <a:latin typeface="Times New Roman"/>
                <a:cs typeface="Times New Roman"/>
              </a:rPr>
              <a:t> </a:t>
            </a:r>
            <a:r>
              <a:rPr sz="2300" spc="1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455"/>
              </a:spcBef>
            </a:pPr>
            <a:r>
              <a:rPr sz="2400" spc="-5" dirty="0">
                <a:latin typeface="Arial"/>
                <a:cs typeface="Arial"/>
              </a:rPr>
              <a:t>Probabilitas Posterior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2428" y="4832010"/>
            <a:ext cx="473709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8460" algn="l"/>
              </a:tabLst>
            </a:pPr>
            <a:r>
              <a:rPr sz="1350" spc="-35" dirty="0">
                <a:latin typeface="Times New Roman"/>
                <a:cs typeface="Times New Roman"/>
              </a:rPr>
              <a:t>1	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8317" y="3831439"/>
            <a:ext cx="107314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i="1" spc="-35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9161" y="4832010"/>
            <a:ext cx="107314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i="1" spc="-35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5684" y="4392414"/>
            <a:ext cx="282067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4820" algn="l"/>
                <a:tab pos="830580" algn="l"/>
                <a:tab pos="1481455" algn="l"/>
                <a:tab pos="1951355" algn="l"/>
                <a:tab pos="2620645" algn="l"/>
                <a:tab pos="2807335" algn="l"/>
              </a:tabLst>
            </a:pPr>
            <a:r>
              <a:rPr sz="135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35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	2	</a:t>
            </a:r>
            <a:r>
              <a:rPr sz="135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	</a:t>
            </a:r>
            <a:r>
              <a:rPr sz="1350" i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	j	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58042" y="4637379"/>
            <a:ext cx="172402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00" i="1" spc="-35" dirty="0">
                <a:latin typeface="Times New Roman"/>
                <a:cs typeface="Times New Roman"/>
              </a:rPr>
              <a:t>P</a:t>
            </a:r>
            <a:r>
              <a:rPr sz="2300" spc="-35" dirty="0">
                <a:latin typeface="Times New Roman"/>
                <a:cs typeface="Times New Roman"/>
              </a:rPr>
              <a:t>(</a:t>
            </a:r>
            <a:r>
              <a:rPr sz="2300" spc="-380" dirty="0">
                <a:latin typeface="Times New Roman"/>
                <a:cs typeface="Times New Roman"/>
              </a:rPr>
              <a:t> </a:t>
            </a:r>
            <a:r>
              <a:rPr sz="2300" i="1" spc="-114" dirty="0">
                <a:latin typeface="Times New Roman"/>
                <a:cs typeface="Times New Roman"/>
              </a:rPr>
              <a:t>A</a:t>
            </a:r>
            <a:r>
              <a:rPr sz="2025" spc="-172" baseline="-22633" dirty="0">
                <a:latin typeface="Times New Roman"/>
                <a:cs typeface="Times New Roman"/>
              </a:rPr>
              <a:t>1</a:t>
            </a:r>
            <a:r>
              <a:rPr sz="2300" spc="-114" dirty="0">
                <a:latin typeface="Times New Roman"/>
                <a:cs typeface="Times New Roman"/>
              </a:rPr>
              <a:t>,</a:t>
            </a:r>
            <a:r>
              <a:rPr sz="2300" spc="-175" dirty="0">
                <a:latin typeface="Times New Roman"/>
                <a:cs typeface="Times New Roman"/>
              </a:rPr>
              <a:t> </a:t>
            </a:r>
            <a:r>
              <a:rPr sz="2300" i="1" spc="-135" dirty="0">
                <a:latin typeface="Times New Roman"/>
                <a:cs typeface="Times New Roman"/>
              </a:rPr>
              <a:t>A</a:t>
            </a:r>
            <a:r>
              <a:rPr sz="2025" spc="-202" baseline="-22633" dirty="0">
                <a:latin typeface="Times New Roman"/>
                <a:cs typeface="Times New Roman"/>
              </a:rPr>
              <a:t>2</a:t>
            </a:r>
            <a:r>
              <a:rPr sz="2025" spc="-240" baseline="-22633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,...,</a:t>
            </a:r>
            <a:r>
              <a:rPr sz="2300" spc="-325" dirty="0">
                <a:latin typeface="Times New Roman"/>
                <a:cs typeface="Times New Roman"/>
              </a:rPr>
              <a:t> </a:t>
            </a:r>
            <a:r>
              <a:rPr sz="2300" i="1" spc="-135" dirty="0">
                <a:latin typeface="Times New Roman"/>
                <a:cs typeface="Times New Roman"/>
              </a:rPr>
              <a:t>A</a:t>
            </a:r>
            <a:r>
              <a:rPr sz="2025" i="1" spc="-202" baseline="-22633" dirty="0">
                <a:latin typeface="Times New Roman"/>
                <a:cs typeface="Times New Roman"/>
              </a:rPr>
              <a:t>n</a:t>
            </a:r>
            <a:r>
              <a:rPr sz="2025" i="1" spc="-157" baseline="-22633" dirty="0"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7615" y="4637379"/>
            <a:ext cx="167322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i="1" spc="-35" dirty="0">
                <a:latin typeface="Times New Roman"/>
                <a:cs typeface="Times New Roman"/>
              </a:rPr>
              <a:t>P</a:t>
            </a:r>
            <a:r>
              <a:rPr sz="2300" spc="-35" dirty="0">
                <a:latin typeface="Times New Roman"/>
                <a:cs typeface="Times New Roman"/>
              </a:rPr>
              <a:t>(</a:t>
            </a:r>
            <a:r>
              <a:rPr sz="2300" spc="-380" dirty="0">
                <a:latin typeface="Times New Roman"/>
                <a:cs typeface="Times New Roman"/>
              </a:rPr>
              <a:t> </a:t>
            </a:r>
            <a:r>
              <a:rPr sz="2300" i="1" spc="-60" dirty="0">
                <a:latin typeface="Times New Roman"/>
                <a:cs typeface="Times New Roman"/>
              </a:rPr>
              <a:t>A</a:t>
            </a:r>
            <a:r>
              <a:rPr sz="2300" i="1" spc="-165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,</a:t>
            </a:r>
            <a:r>
              <a:rPr sz="2300" spc="-170" dirty="0">
                <a:latin typeface="Times New Roman"/>
                <a:cs typeface="Times New Roman"/>
              </a:rPr>
              <a:t> </a:t>
            </a:r>
            <a:r>
              <a:rPr sz="2300" i="1" spc="-60" dirty="0">
                <a:latin typeface="Times New Roman"/>
                <a:cs typeface="Times New Roman"/>
              </a:rPr>
              <a:t>A</a:t>
            </a:r>
            <a:r>
              <a:rPr sz="2300" i="1" spc="6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,...,</a:t>
            </a:r>
            <a:r>
              <a:rPr sz="2300" spc="-320" dirty="0">
                <a:latin typeface="Times New Roman"/>
                <a:cs typeface="Times New Roman"/>
              </a:rPr>
              <a:t> </a:t>
            </a:r>
            <a:r>
              <a:rPr sz="2300" i="1" spc="-60" dirty="0">
                <a:latin typeface="Times New Roman"/>
                <a:cs typeface="Times New Roman"/>
              </a:rPr>
              <a:t>A</a:t>
            </a:r>
            <a:r>
              <a:rPr sz="2300" i="1" spc="120" dirty="0"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2703" y="4198370"/>
            <a:ext cx="278320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9090" algn="l"/>
              </a:tabLst>
            </a:pPr>
            <a:r>
              <a:rPr sz="2300" i="1" spc="-35" dirty="0">
                <a:latin typeface="Times New Roman"/>
                <a:cs typeface="Times New Roman"/>
              </a:rPr>
              <a:t>P</a:t>
            </a:r>
            <a:r>
              <a:rPr sz="2300" spc="-35" dirty="0">
                <a:latin typeface="Times New Roman"/>
                <a:cs typeface="Times New Roman"/>
              </a:rPr>
              <a:t>( </a:t>
            </a:r>
            <a:r>
              <a:rPr sz="2300" i="1" spc="-60" dirty="0">
                <a:latin typeface="Times New Roman"/>
                <a:cs typeface="Times New Roman"/>
              </a:rPr>
              <a:t>A </a:t>
            </a:r>
            <a:r>
              <a:rPr sz="2300" spc="-25" dirty="0">
                <a:latin typeface="Times New Roman"/>
                <a:cs typeface="Times New Roman"/>
              </a:rPr>
              <a:t>,</a:t>
            </a:r>
            <a:r>
              <a:rPr sz="2300" spc="-434" dirty="0">
                <a:latin typeface="Times New Roman"/>
                <a:cs typeface="Times New Roman"/>
              </a:rPr>
              <a:t> </a:t>
            </a:r>
            <a:r>
              <a:rPr sz="2300" i="1" spc="-60" dirty="0">
                <a:latin typeface="Times New Roman"/>
                <a:cs typeface="Times New Roman"/>
              </a:rPr>
              <a:t>A </a:t>
            </a:r>
            <a:r>
              <a:rPr sz="2300" spc="-10" dirty="0">
                <a:latin typeface="Times New Roman"/>
                <a:cs typeface="Times New Roman"/>
              </a:rPr>
              <a:t>,...,</a:t>
            </a:r>
            <a:r>
              <a:rPr sz="2300" spc="-315" dirty="0">
                <a:latin typeface="Times New Roman"/>
                <a:cs typeface="Times New Roman"/>
              </a:rPr>
              <a:t> </a:t>
            </a:r>
            <a:r>
              <a:rPr sz="2300" i="1" spc="-60" dirty="0">
                <a:latin typeface="Times New Roman"/>
                <a:cs typeface="Times New Roman"/>
              </a:rPr>
              <a:t>A	</a:t>
            </a:r>
            <a:r>
              <a:rPr sz="2300" spc="-20" dirty="0">
                <a:latin typeface="Times New Roman"/>
                <a:cs typeface="Times New Roman"/>
              </a:rPr>
              <a:t>| </a:t>
            </a:r>
            <a:r>
              <a:rPr sz="2300" i="1" spc="-65" dirty="0">
                <a:latin typeface="Times New Roman"/>
                <a:cs typeface="Times New Roman"/>
              </a:rPr>
              <a:t>C </a:t>
            </a:r>
            <a:r>
              <a:rPr sz="2300" spc="-25" dirty="0">
                <a:latin typeface="Times New Roman"/>
                <a:cs typeface="Times New Roman"/>
              </a:rPr>
              <a:t>)</a:t>
            </a:r>
            <a:r>
              <a:rPr sz="2300" i="1" spc="-25" dirty="0">
                <a:latin typeface="Times New Roman"/>
                <a:cs typeface="Times New Roman"/>
              </a:rPr>
              <a:t>P</a:t>
            </a:r>
            <a:r>
              <a:rPr sz="2300" spc="-25" dirty="0">
                <a:latin typeface="Times New Roman"/>
                <a:cs typeface="Times New Roman"/>
              </a:rPr>
              <a:t>(</a:t>
            </a:r>
            <a:r>
              <a:rPr sz="2300" i="1" spc="-25" dirty="0">
                <a:latin typeface="Times New Roman"/>
                <a:cs typeface="Times New Roman"/>
              </a:rPr>
              <a:t>C</a:t>
            </a:r>
            <a:r>
              <a:rPr sz="2300" i="1" spc="-130" dirty="0"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9934" y="3821502"/>
            <a:ext cx="1714500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593850" algn="l"/>
              </a:tabLst>
            </a:pPr>
            <a:r>
              <a:rPr sz="2300" spc="-40" dirty="0">
                <a:latin typeface="Symbol"/>
                <a:cs typeface="Symbol"/>
              </a:rPr>
              <a:t></a:t>
            </a:r>
            <a:r>
              <a:rPr sz="2300" spc="-40" dirty="0">
                <a:latin typeface="Times New Roman"/>
                <a:cs typeface="Times New Roman"/>
              </a:rPr>
              <a:t>	</a:t>
            </a:r>
            <a:r>
              <a:rPr sz="2300" spc="-40" dirty="0">
                <a:latin typeface="Symbol"/>
                <a:cs typeface="Symbol"/>
              </a:rPr>
              <a:t>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93110" y="4413566"/>
            <a:ext cx="179070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55" dirty="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5260" y="4413566"/>
            <a:ext cx="237807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00" i="1" spc="10" dirty="0">
                <a:latin typeface="Times New Roman"/>
                <a:cs typeface="Times New Roman"/>
              </a:rPr>
              <a:t>P</a:t>
            </a:r>
            <a:r>
              <a:rPr sz="2300" spc="10" dirty="0">
                <a:latin typeface="Times New Roman"/>
                <a:cs typeface="Times New Roman"/>
              </a:rPr>
              <a:t>(</a:t>
            </a:r>
            <a:r>
              <a:rPr sz="2300" i="1" spc="10" dirty="0">
                <a:latin typeface="Times New Roman"/>
                <a:cs typeface="Times New Roman"/>
              </a:rPr>
              <a:t>C</a:t>
            </a:r>
            <a:r>
              <a:rPr sz="2025" i="1" spc="15" baseline="-22633" dirty="0">
                <a:latin typeface="Times New Roman"/>
                <a:cs typeface="Times New Roman"/>
              </a:rPr>
              <a:t>j </a:t>
            </a:r>
            <a:r>
              <a:rPr sz="2300" spc="-20" dirty="0">
                <a:latin typeface="Times New Roman"/>
                <a:cs typeface="Times New Roman"/>
              </a:rPr>
              <a:t>| </a:t>
            </a:r>
            <a:r>
              <a:rPr sz="2300" i="1" spc="-114" dirty="0">
                <a:latin typeface="Times New Roman"/>
                <a:cs typeface="Times New Roman"/>
              </a:rPr>
              <a:t>A</a:t>
            </a:r>
            <a:r>
              <a:rPr sz="2025" spc="-172" baseline="-22633" dirty="0">
                <a:latin typeface="Times New Roman"/>
                <a:cs typeface="Times New Roman"/>
              </a:rPr>
              <a:t>1</a:t>
            </a:r>
            <a:r>
              <a:rPr sz="2300" spc="-114" dirty="0">
                <a:latin typeface="Times New Roman"/>
                <a:cs typeface="Times New Roman"/>
              </a:rPr>
              <a:t>, </a:t>
            </a:r>
            <a:r>
              <a:rPr sz="2300" i="1" spc="-135" dirty="0">
                <a:latin typeface="Times New Roman"/>
                <a:cs typeface="Times New Roman"/>
              </a:rPr>
              <a:t>A</a:t>
            </a:r>
            <a:r>
              <a:rPr sz="2025" spc="-202" baseline="-22633" dirty="0">
                <a:latin typeface="Times New Roman"/>
                <a:cs typeface="Times New Roman"/>
              </a:rPr>
              <a:t>2 </a:t>
            </a:r>
            <a:r>
              <a:rPr sz="2300" spc="-10" dirty="0">
                <a:latin typeface="Times New Roman"/>
                <a:cs typeface="Times New Roman"/>
              </a:rPr>
              <a:t>,..., </a:t>
            </a:r>
            <a:r>
              <a:rPr sz="2300" i="1" spc="-135" dirty="0">
                <a:latin typeface="Times New Roman"/>
                <a:cs typeface="Times New Roman"/>
              </a:rPr>
              <a:t>A</a:t>
            </a:r>
            <a:r>
              <a:rPr sz="2025" i="1" spc="-202" baseline="-22633" dirty="0">
                <a:latin typeface="Times New Roman"/>
                <a:cs typeface="Times New Roman"/>
              </a:rPr>
              <a:t>n </a:t>
            </a:r>
            <a:r>
              <a:rPr sz="2300" spc="-35" dirty="0">
                <a:latin typeface="Times New Roman"/>
                <a:cs typeface="Times New Roman"/>
              </a:rPr>
              <a:t>)</a:t>
            </a:r>
            <a:r>
              <a:rPr sz="2300" spc="-185" dirty="0">
                <a:latin typeface="Times New Roman"/>
                <a:cs typeface="Times New Roman"/>
              </a:rPr>
              <a:t> </a:t>
            </a:r>
            <a:r>
              <a:rPr sz="2300" spc="-55" dirty="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94534" y="3858171"/>
            <a:ext cx="2434590" cy="554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00" b="1" spc="50" dirty="0">
                <a:latin typeface="Symbol"/>
                <a:cs typeface="Symbol"/>
              </a:rPr>
              <a:t></a:t>
            </a:r>
            <a:r>
              <a:rPr sz="5175" spc="75" baseline="-8856" dirty="0">
                <a:latin typeface="Symbol"/>
                <a:cs typeface="Symbol"/>
              </a:rPr>
              <a:t></a:t>
            </a:r>
            <a:r>
              <a:rPr sz="2300" i="1" spc="50" dirty="0">
                <a:latin typeface="Times New Roman"/>
                <a:cs typeface="Times New Roman"/>
              </a:rPr>
              <a:t>P</a:t>
            </a:r>
            <a:r>
              <a:rPr sz="2300" spc="50" dirty="0">
                <a:latin typeface="Times New Roman"/>
                <a:cs typeface="Times New Roman"/>
              </a:rPr>
              <a:t>(</a:t>
            </a:r>
            <a:r>
              <a:rPr sz="2300" spc="-375" dirty="0">
                <a:latin typeface="Times New Roman"/>
                <a:cs typeface="Times New Roman"/>
              </a:rPr>
              <a:t> </a:t>
            </a:r>
            <a:r>
              <a:rPr sz="2300" i="1" spc="-150" dirty="0">
                <a:latin typeface="Times New Roman"/>
                <a:cs typeface="Times New Roman"/>
              </a:rPr>
              <a:t>A</a:t>
            </a:r>
            <a:r>
              <a:rPr sz="2025" i="1" spc="-225" baseline="-22633" dirty="0">
                <a:latin typeface="Times New Roman"/>
                <a:cs typeface="Times New Roman"/>
              </a:rPr>
              <a:t>i</a:t>
            </a:r>
            <a:r>
              <a:rPr sz="2025" i="1" spc="-172" baseline="-22633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|</a:t>
            </a:r>
            <a:r>
              <a:rPr sz="2300" spc="-254" dirty="0">
                <a:latin typeface="Times New Roman"/>
                <a:cs typeface="Times New Roman"/>
              </a:rPr>
              <a:t> </a:t>
            </a:r>
            <a:r>
              <a:rPr sz="2300" i="1" spc="70" dirty="0">
                <a:latin typeface="Times New Roman"/>
                <a:cs typeface="Times New Roman"/>
              </a:rPr>
              <a:t>C</a:t>
            </a:r>
            <a:r>
              <a:rPr sz="2025" i="1" spc="104" baseline="-22633" dirty="0">
                <a:latin typeface="Times New Roman"/>
                <a:cs typeface="Times New Roman"/>
              </a:rPr>
              <a:t>j</a:t>
            </a:r>
            <a:r>
              <a:rPr sz="2025" i="1" spc="-67" baseline="-22633" dirty="0">
                <a:latin typeface="Times New Roman"/>
                <a:cs typeface="Times New Roman"/>
              </a:rPr>
              <a:t> </a:t>
            </a:r>
            <a:r>
              <a:rPr sz="2300" spc="35" dirty="0">
                <a:latin typeface="Times New Roman"/>
                <a:cs typeface="Times New Roman"/>
              </a:rPr>
              <a:t>)</a:t>
            </a:r>
            <a:r>
              <a:rPr sz="2300" b="1" spc="35" dirty="0">
                <a:latin typeface="Symbol"/>
                <a:cs typeface="Symbol"/>
              </a:rPr>
              <a:t></a:t>
            </a:r>
            <a:r>
              <a:rPr sz="2300" i="1" spc="35" dirty="0">
                <a:latin typeface="Times New Roman"/>
                <a:cs typeface="Times New Roman"/>
              </a:rPr>
              <a:t>P</a:t>
            </a:r>
            <a:r>
              <a:rPr sz="2300" spc="35" dirty="0">
                <a:latin typeface="Times New Roman"/>
                <a:cs typeface="Times New Roman"/>
              </a:rPr>
              <a:t>(</a:t>
            </a:r>
            <a:r>
              <a:rPr sz="2300" i="1" spc="35" dirty="0">
                <a:latin typeface="Times New Roman"/>
                <a:cs typeface="Times New Roman"/>
              </a:rPr>
              <a:t>C</a:t>
            </a:r>
            <a:r>
              <a:rPr sz="2025" i="1" spc="52" baseline="-22633" dirty="0">
                <a:latin typeface="Times New Roman"/>
                <a:cs typeface="Times New Roman"/>
              </a:rPr>
              <a:t>j</a:t>
            </a:r>
            <a:r>
              <a:rPr sz="2025" i="1" spc="-67" baseline="-22633" dirty="0"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19934" y="4284105"/>
            <a:ext cx="239331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593850" algn="l"/>
                <a:tab pos="2379980" algn="l"/>
              </a:tabLst>
            </a:pPr>
            <a:r>
              <a:rPr sz="2300" u="sng" spc="-4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</a:t>
            </a:r>
            <a:r>
              <a:rPr sz="2300" u="sng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25" i="1" u="sng" spc="-44" baseline="205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025" u="sng" spc="-44" baseline="2057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sz="2025" u="sng" spc="-44" baseline="205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	</a:t>
            </a:r>
            <a:r>
              <a:rPr sz="2300" u="sng" spc="-4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</a:t>
            </a:r>
            <a:r>
              <a:rPr sz="23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9913" y="264617"/>
            <a:ext cx="59626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Fase Training &amp;</a:t>
            </a:r>
            <a:r>
              <a:rPr spc="-75" dirty="0"/>
              <a:t> </a:t>
            </a:r>
            <a:r>
              <a:rPr dirty="0"/>
              <a:t>Testing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093088"/>
            <a:ext cx="8161655" cy="308038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93700" indent="-343535">
              <a:lnSpc>
                <a:spcPct val="100000"/>
              </a:lnSpc>
              <a:spcBef>
                <a:spcPts val="1105"/>
              </a:spcBef>
              <a:buChar char="•"/>
              <a:tabLst>
                <a:tab pos="393700" algn="l"/>
                <a:tab pos="394335" algn="l"/>
              </a:tabLst>
            </a:pPr>
            <a:r>
              <a:rPr sz="2400" spc="-5" dirty="0">
                <a:latin typeface="Arial"/>
                <a:cs typeface="Arial"/>
              </a:rPr>
              <a:t>Tahap Pembelajaran (Training)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1010"/>
              </a:spcBef>
              <a:buChar char="–"/>
              <a:tabLst>
                <a:tab pos="795020" algn="l"/>
              </a:tabLst>
            </a:pPr>
            <a:r>
              <a:rPr sz="2400" spc="-5" dirty="0">
                <a:latin typeface="Arial"/>
                <a:cs typeface="Arial"/>
              </a:rPr>
              <a:t>Pada setiap kelas C, estimasikan Prior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P(C).</a:t>
            </a:r>
            <a:endParaRPr sz="2400">
              <a:latin typeface="Arial"/>
              <a:cs typeface="Arial"/>
            </a:endParaRPr>
          </a:p>
          <a:p>
            <a:pPr marL="794385" marR="55244" lvl="1" indent="-287020">
              <a:lnSpc>
                <a:spcPts val="2310"/>
              </a:lnSpc>
              <a:spcBef>
                <a:spcPts val="1560"/>
              </a:spcBef>
              <a:buChar char="–"/>
              <a:tabLst>
                <a:tab pos="795020" algn="l"/>
              </a:tabLst>
            </a:pPr>
            <a:r>
              <a:rPr sz="2400" spc="-5" dirty="0">
                <a:latin typeface="Arial"/>
                <a:cs typeface="Arial"/>
              </a:rPr>
              <a:t>Pada setiap </a:t>
            </a:r>
            <a:r>
              <a:rPr sz="2400" dirty="0">
                <a:latin typeface="Arial"/>
                <a:cs typeface="Arial"/>
              </a:rPr>
              <a:t>fitur </a:t>
            </a:r>
            <a:r>
              <a:rPr sz="2400" spc="-10" dirty="0">
                <a:latin typeface="Arial"/>
                <a:cs typeface="Arial"/>
              </a:rPr>
              <a:t>A, </a:t>
            </a:r>
            <a:r>
              <a:rPr sz="2400" spc="-5" dirty="0">
                <a:latin typeface="Arial"/>
                <a:cs typeface="Arial"/>
              </a:rPr>
              <a:t>estimasikan </a:t>
            </a:r>
            <a:r>
              <a:rPr sz="2400" dirty="0">
                <a:latin typeface="Arial"/>
                <a:cs typeface="Arial"/>
              </a:rPr>
              <a:t>Likelihood </a:t>
            </a:r>
            <a:r>
              <a:rPr sz="2400" spc="-5" dirty="0">
                <a:latin typeface="Arial"/>
                <a:cs typeface="Arial"/>
              </a:rPr>
              <a:t>P(A=v</a:t>
            </a:r>
            <a:r>
              <a:rPr sz="2400" spc="-7" baseline="-20833" dirty="0">
                <a:latin typeface="Arial"/>
                <a:cs typeface="Arial"/>
              </a:rPr>
              <a:t>i </a:t>
            </a:r>
            <a:r>
              <a:rPr sz="2400" dirty="0">
                <a:latin typeface="Arial"/>
                <a:cs typeface="Arial"/>
              </a:rPr>
              <a:t>| </a:t>
            </a:r>
            <a:r>
              <a:rPr sz="2400" spc="-10" dirty="0">
                <a:latin typeface="Arial"/>
                <a:cs typeface="Arial"/>
              </a:rPr>
              <a:t>C)  </a:t>
            </a:r>
            <a:r>
              <a:rPr sz="2400" spc="-5" dirty="0">
                <a:latin typeface="Arial"/>
                <a:cs typeface="Arial"/>
              </a:rPr>
              <a:t>untuk setiap nilai </a:t>
            </a:r>
            <a:r>
              <a:rPr sz="2400" dirty="0">
                <a:latin typeface="Arial"/>
                <a:cs typeface="Arial"/>
              </a:rPr>
              <a:t>fitur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baseline="-20833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93700" indent="-343535">
              <a:lnSpc>
                <a:spcPct val="100000"/>
              </a:lnSpc>
              <a:spcBef>
                <a:spcPts val="1019"/>
              </a:spcBef>
              <a:buChar char="•"/>
              <a:tabLst>
                <a:tab pos="393700" algn="l"/>
                <a:tab pos="394335" algn="l"/>
              </a:tabLst>
            </a:pPr>
            <a:r>
              <a:rPr sz="2400" spc="-5" dirty="0">
                <a:latin typeface="Arial"/>
                <a:cs typeface="Arial"/>
              </a:rPr>
              <a:t>Tahap Pengujian </a:t>
            </a:r>
            <a:r>
              <a:rPr sz="2400" dirty="0">
                <a:latin typeface="Arial"/>
                <a:cs typeface="Arial"/>
              </a:rPr>
              <a:t>(Testing)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94385" lvl="1" indent="-287020">
              <a:lnSpc>
                <a:spcPts val="2590"/>
              </a:lnSpc>
              <a:spcBef>
                <a:spcPts val="1015"/>
              </a:spcBef>
              <a:buChar char="–"/>
              <a:tabLst>
                <a:tab pos="795020" algn="l"/>
                <a:tab pos="2298700" algn="l"/>
                <a:tab pos="3021330" algn="l"/>
                <a:tab pos="3687445" algn="l"/>
                <a:tab pos="4250055" algn="l"/>
                <a:tab pos="4799965" algn="l"/>
                <a:tab pos="5099050" algn="l"/>
                <a:tab pos="5752465" algn="l"/>
                <a:tab pos="6508750" algn="l"/>
                <a:tab pos="7437120" algn="l"/>
              </a:tabLst>
            </a:pPr>
            <a:r>
              <a:rPr sz="2400" spc="-5" dirty="0">
                <a:latin typeface="Arial"/>
                <a:cs typeface="Arial"/>
              </a:rPr>
              <a:t>beberapa	</a:t>
            </a:r>
            <a:r>
              <a:rPr sz="2400" dirty="0">
                <a:latin typeface="Arial"/>
                <a:cs typeface="Arial"/>
              </a:rPr>
              <a:t>fitur	</a:t>
            </a:r>
            <a:r>
              <a:rPr sz="2400" spc="-5" dirty="0">
                <a:latin typeface="Arial"/>
                <a:cs typeface="Arial"/>
              </a:rPr>
              <a:t>(v</a:t>
            </a:r>
            <a:r>
              <a:rPr sz="2400" spc="-7" baseline="-20833" dirty="0"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,	</a:t>
            </a:r>
            <a:r>
              <a:rPr sz="2400" spc="-10" dirty="0">
                <a:latin typeface="Arial"/>
                <a:cs typeface="Arial"/>
              </a:rPr>
              <a:t>v</a:t>
            </a:r>
            <a:r>
              <a:rPr sz="2400" spc="-15" baseline="-20833" dirty="0">
                <a:latin typeface="Arial"/>
                <a:cs typeface="Arial"/>
              </a:rPr>
              <a:t>2</a:t>
            </a:r>
            <a:r>
              <a:rPr sz="2400" spc="-10" dirty="0">
                <a:latin typeface="Arial"/>
                <a:cs typeface="Arial"/>
              </a:rPr>
              <a:t>,	...,	</a:t>
            </a:r>
            <a:r>
              <a:rPr sz="2400" dirty="0">
                <a:latin typeface="Arial"/>
                <a:cs typeface="Arial"/>
              </a:rPr>
              <a:t>,	</a:t>
            </a:r>
            <a:r>
              <a:rPr sz="2400" spc="-5" dirty="0">
                <a:latin typeface="Arial"/>
                <a:cs typeface="Arial"/>
              </a:rPr>
              <a:t>v</a:t>
            </a:r>
            <a:r>
              <a:rPr sz="2400" spc="-7" baseline="-20833" dirty="0">
                <a:latin typeface="Arial"/>
                <a:cs typeface="Arial"/>
              </a:rPr>
              <a:t>k</a:t>
            </a:r>
            <a:r>
              <a:rPr sz="2400" spc="-5" dirty="0">
                <a:latin typeface="Arial"/>
                <a:cs typeface="Arial"/>
              </a:rPr>
              <a:t>),	pilih	</a:t>
            </a:r>
            <a:r>
              <a:rPr sz="2400" dirty="0">
                <a:latin typeface="Arial"/>
                <a:cs typeface="Arial"/>
              </a:rPr>
              <a:t>kelas	</a:t>
            </a:r>
            <a:r>
              <a:rPr sz="2400" spc="-5" dirty="0">
                <a:latin typeface="Arial"/>
                <a:cs typeface="Arial"/>
              </a:rPr>
              <a:t>yang</a:t>
            </a:r>
            <a:endParaRPr sz="2400">
              <a:latin typeface="Arial"/>
              <a:cs typeface="Arial"/>
            </a:endParaRPr>
          </a:p>
          <a:p>
            <a:pPr marL="794385">
              <a:lnSpc>
                <a:spcPts val="2590"/>
              </a:lnSpc>
            </a:pPr>
            <a:r>
              <a:rPr sz="2400" spc="-5" dirty="0">
                <a:latin typeface="Arial"/>
                <a:cs typeface="Arial"/>
              </a:rPr>
              <a:t>memaksimalkan Posterior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4693" y="4310864"/>
            <a:ext cx="10668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i="1" spc="-40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4560" y="5116804"/>
            <a:ext cx="1727200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00" i="1" spc="-35" dirty="0">
                <a:latin typeface="Times New Roman"/>
                <a:cs typeface="Times New Roman"/>
              </a:rPr>
              <a:t>P</a:t>
            </a:r>
            <a:r>
              <a:rPr sz="2300" spc="-35" dirty="0">
                <a:latin typeface="Times New Roman"/>
                <a:cs typeface="Times New Roman"/>
              </a:rPr>
              <a:t>(</a:t>
            </a:r>
            <a:r>
              <a:rPr sz="2300" spc="-385" dirty="0">
                <a:latin typeface="Times New Roman"/>
                <a:cs typeface="Times New Roman"/>
              </a:rPr>
              <a:t> </a:t>
            </a:r>
            <a:r>
              <a:rPr sz="2300" i="1" spc="-110" dirty="0">
                <a:latin typeface="Times New Roman"/>
                <a:cs typeface="Times New Roman"/>
              </a:rPr>
              <a:t>A</a:t>
            </a:r>
            <a:r>
              <a:rPr sz="2025" spc="-165" baseline="-22633" dirty="0">
                <a:latin typeface="Times New Roman"/>
                <a:cs typeface="Times New Roman"/>
              </a:rPr>
              <a:t>1</a:t>
            </a:r>
            <a:r>
              <a:rPr sz="2300" spc="-110" dirty="0">
                <a:latin typeface="Times New Roman"/>
                <a:cs typeface="Times New Roman"/>
              </a:rPr>
              <a:t>,</a:t>
            </a:r>
            <a:r>
              <a:rPr sz="2300" spc="-170" dirty="0">
                <a:latin typeface="Times New Roman"/>
                <a:cs typeface="Times New Roman"/>
              </a:rPr>
              <a:t> </a:t>
            </a:r>
            <a:r>
              <a:rPr sz="2300" i="1" spc="-135" dirty="0">
                <a:latin typeface="Times New Roman"/>
                <a:cs typeface="Times New Roman"/>
              </a:rPr>
              <a:t>A</a:t>
            </a:r>
            <a:r>
              <a:rPr sz="2025" spc="-202" baseline="-22633" dirty="0">
                <a:latin typeface="Times New Roman"/>
                <a:cs typeface="Times New Roman"/>
              </a:rPr>
              <a:t>2</a:t>
            </a:r>
            <a:r>
              <a:rPr sz="2025" spc="-232" baseline="-22633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,...,</a:t>
            </a:r>
            <a:r>
              <a:rPr sz="2300" spc="-305" dirty="0">
                <a:latin typeface="Times New Roman"/>
                <a:cs typeface="Times New Roman"/>
              </a:rPr>
              <a:t> </a:t>
            </a:r>
            <a:r>
              <a:rPr sz="2300" i="1" spc="-135" dirty="0">
                <a:latin typeface="Times New Roman"/>
                <a:cs typeface="Times New Roman"/>
              </a:rPr>
              <a:t>A</a:t>
            </a:r>
            <a:r>
              <a:rPr sz="2025" i="1" spc="-202" baseline="-22633" dirty="0">
                <a:latin typeface="Times New Roman"/>
                <a:cs typeface="Times New Roman"/>
              </a:rPr>
              <a:t>n</a:t>
            </a:r>
            <a:r>
              <a:rPr sz="2025" i="1" spc="-157" baseline="-22633" dirty="0"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60609" y="4763530"/>
            <a:ext cx="81343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00100" algn="l"/>
              </a:tabLst>
            </a:pPr>
            <a:r>
              <a:rPr sz="2300" u="sng" spc="-4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</a:t>
            </a:r>
            <a:r>
              <a:rPr sz="23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0609" y="4300927"/>
            <a:ext cx="13271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0" dirty="0">
                <a:latin typeface="Symbol"/>
                <a:cs typeface="Symbol"/>
              </a:rPr>
              <a:t>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5939" y="4763530"/>
            <a:ext cx="22161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u="sng" spc="-4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</a:t>
            </a:r>
            <a:r>
              <a:rPr sz="2300" u="sng" spc="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5939" y="4300927"/>
            <a:ext cx="13271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0" dirty="0">
                <a:latin typeface="Symbol"/>
                <a:cs typeface="Symbol"/>
              </a:rPr>
              <a:t>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0636" y="4892991"/>
            <a:ext cx="238188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00" i="1" spc="10" dirty="0">
                <a:latin typeface="Times New Roman"/>
                <a:cs typeface="Times New Roman"/>
              </a:rPr>
              <a:t>P</a:t>
            </a:r>
            <a:r>
              <a:rPr sz="2300" spc="10" dirty="0">
                <a:latin typeface="Times New Roman"/>
                <a:cs typeface="Times New Roman"/>
              </a:rPr>
              <a:t>(</a:t>
            </a:r>
            <a:r>
              <a:rPr sz="2300" i="1" spc="10" dirty="0">
                <a:latin typeface="Times New Roman"/>
                <a:cs typeface="Times New Roman"/>
              </a:rPr>
              <a:t>C</a:t>
            </a:r>
            <a:r>
              <a:rPr sz="2025" i="1" spc="15" baseline="-22633" dirty="0">
                <a:latin typeface="Times New Roman"/>
                <a:cs typeface="Times New Roman"/>
              </a:rPr>
              <a:t>j </a:t>
            </a:r>
            <a:r>
              <a:rPr sz="2300" spc="-25" dirty="0">
                <a:latin typeface="Times New Roman"/>
                <a:cs typeface="Times New Roman"/>
              </a:rPr>
              <a:t>| </a:t>
            </a:r>
            <a:r>
              <a:rPr sz="2300" i="1" spc="-114" dirty="0">
                <a:latin typeface="Times New Roman"/>
                <a:cs typeface="Times New Roman"/>
              </a:rPr>
              <a:t>A</a:t>
            </a:r>
            <a:r>
              <a:rPr sz="2025" spc="-172" baseline="-22633" dirty="0">
                <a:latin typeface="Times New Roman"/>
                <a:cs typeface="Times New Roman"/>
              </a:rPr>
              <a:t>1</a:t>
            </a:r>
            <a:r>
              <a:rPr sz="2300" spc="-114" dirty="0">
                <a:latin typeface="Times New Roman"/>
                <a:cs typeface="Times New Roman"/>
              </a:rPr>
              <a:t>, </a:t>
            </a:r>
            <a:r>
              <a:rPr sz="2300" i="1" spc="-135" dirty="0">
                <a:latin typeface="Times New Roman"/>
                <a:cs typeface="Times New Roman"/>
              </a:rPr>
              <a:t>A</a:t>
            </a:r>
            <a:r>
              <a:rPr sz="2025" spc="-202" baseline="-22633" dirty="0">
                <a:latin typeface="Times New Roman"/>
                <a:cs typeface="Times New Roman"/>
              </a:rPr>
              <a:t>2 </a:t>
            </a:r>
            <a:r>
              <a:rPr sz="2300" spc="-10" dirty="0">
                <a:latin typeface="Times New Roman"/>
                <a:cs typeface="Times New Roman"/>
              </a:rPr>
              <a:t>,..., </a:t>
            </a:r>
            <a:r>
              <a:rPr sz="2300" i="1" spc="-135" dirty="0">
                <a:latin typeface="Times New Roman"/>
                <a:cs typeface="Times New Roman"/>
              </a:rPr>
              <a:t>A</a:t>
            </a:r>
            <a:r>
              <a:rPr sz="2025" i="1" spc="-202" baseline="-22633" dirty="0">
                <a:latin typeface="Times New Roman"/>
                <a:cs typeface="Times New Roman"/>
              </a:rPr>
              <a:t>n </a:t>
            </a:r>
            <a:r>
              <a:rPr sz="2300" spc="-35" dirty="0">
                <a:latin typeface="Times New Roman"/>
                <a:cs typeface="Times New Roman"/>
              </a:rPr>
              <a:t>)</a:t>
            </a:r>
            <a:r>
              <a:rPr sz="2300" spc="-125" dirty="0">
                <a:latin typeface="Times New Roman"/>
                <a:cs typeface="Times New Roman"/>
              </a:rPr>
              <a:t> </a:t>
            </a:r>
            <a:r>
              <a:rPr sz="2300" spc="-60" dirty="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50539" y="4337596"/>
            <a:ext cx="2438400" cy="554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00" b="1" spc="-5" dirty="0">
                <a:latin typeface="Symbol"/>
                <a:cs typeface="Symbol"/>
              </a:rPr>
              <a:t></a:t>
            </a:r>
            <a:r>
              <a:rPr sz="5175" spc="-7" baseline="-8856" dirty="0">
                <a:latin typeface="Symbol"/>
                <a:cs typeface="Symbol"/>
              </a:rPr>
              <a:t></a:t>
            </a:r>
            <a:r>
              <a:rPr sz="5175" spc="-869" baseline="-8856" dirty="0">
                <a:latin typeface="Times New Roman"/>
                <a:cs typeface="Times New Roman"/>
              </a:rPr>
              <a:t> </a:t>
            </a:r>
            <a:r>
              <a:rPr sz="2300" i="1" spc="-35" dirty="0">
                <a:latin typeface="Times New Roman"/>
                <a:cs typeface="Times New Roman"/>
              </a:rPr>
              <a:t>P</a:t>
            </a:r>
            <a:r>
              <a:rPr sz="2300" spc="-35" dirty="0">
                <a:latin typeface="Times New Roman"/>
                <a:cs typeface="Times New Roman"/>
              </a:rPr>
              <a:t>(</a:t>
            </a:r>
            <a:r>
              <a:rPr sz="2300" spc="-375" dirty="0">
                <a:latin typeface="Times New Roman"/>
                <a:cs typeface="Times New Roman"/>
              </a:rPr>
              <a:t> </a:t>
            </a:r>
            <a:r>
              <a:rPr sz="2300" i="1" spc="-150" dirty="0">
                <a:latin typeface="Times New Roman"/>
                <a:cs typeface="Times New Roman"/>
              </a:rPr>
              <a:t>A</a:t>
            </a:r>
            <a:r>
              <a:rPr sz="2025" i="1" spc="-225" baseline="-22633" dirty="0">
                <a:latin typeface="Times New Roman"/>
                <a:cs typeface="Times New Roman"/>
              </a:rPr>
              <a:t>i</a:t>
            </a:r>
            <a:r>
              <a:rPr sz="2025" i="1" spc="-179" baseline="-22633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|</a:t>
            </a:r>
            <a:r>
              <a:rPr sz="2300" spc="-254" dirty="0">
                <a:latin typeface="Times New Roman"/>
                <a:cs typeface="Times New Roman"/>
              </a:rPr>
              <a:t> </a:t>
            </a:r>
            <a:r>
              <a:rPr sz="2300" i="1" spc="75" dirty="0">
                <a:latin typeface="Times New Roman"/>
                <a:cs typeface="Times New Roman"/>
              </a:rPr>
              <a:t>C</a:t>
            </a:r>
            <a:r>
              <a:rPr sz="2025" i="1" spc="112" baseline="-22633" dirty="0">
                <a:latin typeface="Times New Roman"/>
                <a:cs typeface="Times New Roman"/>
              </a:rPr>
              <a:t>j</a:t>
            </a:r>
            <a:r>
              <a:rPr sz="2025" i="1" spc="-75" baseline="-22633" dirty="0">
                <a:latin typeface="Times New Roman"/>
                <a:cs typeface="Times New Roman"/>
              </a:rPr>
              <a:t> </a:t>
            </a:r>
            <a:r>
              <a:rPr sz="2300" spc="40" dirty="0">
                <a:latin typeface="Times New Roman"/>
                <a:cs typeface="Times New Roman"/>
              </a:rPr>
              <a:t>)</a:t>
            </a:r>
            <a:r>
              <a:rPr sz="2300" b="1" spc="40" dirty="0">
                <a:latin typeface="Symbol"/>
                <a:cs typeface="Symbol"/>
              </a:rPr>
              <a:t></a:t>
            </a:r>
            <a:r>
              <a:rPr sz="2300" i="1" spc="40" dirty="0">
                <a:latin typeface="Times New Roman"/>
                <a:cs typeface="Times New Roman"/>
              </a:rPr>
              <a:t>P</a:t>
            </a:r>
            <a:r>
              <a:rPr sz="2300" spc="40" dirty="0">
                <a:latin typeface="Times New Roman"/>
                <a:cs typeface="Times New Roman"/>
              </a:rPr>
              <a:t>(</a:t>
            </a:r>
            <a:r>
              <a:rPr sz="2300" i="1" spc="40" dirty="0">
                <a:latin typeface="Times New Roman"/>
                <a:cs typeface="Times New Roman"/>
              </a:rPr>
              <a:t>C</a:t>
            </a:r>
            <a:r>
              <a:rPr sz="2025" i="1" spc="60" baseline="-22633" dirty="0">
                <a:latin typeface="Times New Roman"/>
                <a:cs typeface="Times New Roman"/>
              </a:rPr>
              <a:t>j</a:t>
            </a:r>
            <a:r>
              <a:rPr sz="2025" i="1" spc="-75" baseline="-22633" dirty="0"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71985" y="4882210"/>
            <a:ext cx="141414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0810" algn="l"/>
              </a:tabLst>
            </a:pPr>
            <a:r>
              <a:rPr sz="135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350" u="sng" spc="-3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sz="135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	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002" y="296621"/>
            <a:ext cx="7987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Naïve Bayes Data Kontinyu (1 of</a:t>
            </a:r>
            <a:r>
              <a:rPr sz="4000" spc="40" dirty="0"/>
              <a:t> </a:t>
            </a:r>
            <a:r>
              <a:rPr sz="4000" spc="-5" dirty="0"/>
              <a:t>2)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85140" y="1292733"/>
            <a:ext cx="8174355" cy="412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0" marR="58419" indent="-343535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407034" algn="l"/>
              </a:tabLst>
            </a:pPr>
            <a:r>
              <a:rPr sz="2800" spc="-5" dirty="0">
                <a:latin typeface="Arial"/>
                <a:cs typeface="Arial"/>
              </a:rPr>
              <a:t>Naive </a:t>
            </a:r>
            <a:r>
              <a:rPr sz="2800" dirty="0">
                <a:latin typeface="Arial"/>
                <a:cs typeface="Arial"/>
              </a:rPr>
              <a:t>bayes </a:t>
            </a:r>
            <a:r>
              <a:rPr sz="2800" spc="-5" dirty="0">
                <a:latin typeface="Arial"/>
                <a:cs typeface="Arial"/>
              </a:rPr>
              <a:t>classifier juga </a:t>
            </a:r>
            <a:r>
              <a:rPr sz="2800" dirty="0">
                <a:latin typeface="Arial"/>
                <a:cs typeface="Arial"/>
              </a:rPr>
              <a:t>dapat menangani  atribut </a:t>
            </a:r>
            <a:r>
              <a:rPr sz="2800" spc="-5" dirty="0">
                <a:latin typeface="Arial"/>
                <a:cs typeface="Arial"/>
              </a:rPr>
              <a:t>bertipe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kontinyu.</a:t>
            </a:r>
            <a:endParaRPr sz="2800">
              <a:latin typeface="Arial"/>
              <a:cs typeface="Arial"/>
            </a:endParaRPr>
          </a:p>
          <a:p>
            <a:pPr marL="406400" marR="57785" indent="-343535" algn="just">
              <a:lnSpc>
                <a:spcPct val="100000"/>
              </a:lnSpc>
              <a:spcBef>
                <a:spcPts val="675"/>
              </a:spcBef>
              <a:buChar char="•"/>
              <a:tabLst>
                <a:tab pos="407034" algn="l"/>
              </a:tabLst>
            </a:pPr>
            <a:r>
              <a:rPr sz="2800" spc="-5" dirty="0">
                <a:latin typeface="Arial"/>
                <a:cs typeface="Arial"/>
              </a:rPr>
              <a:t>Salah </a:t>
            </a:r>
            <a:r>
              <a:rPr sz="2800" dirty="0">
                <a:latin typeface="Arial"/>
                <a:cs typeface="Arial"/>
              </a:rPr>
              <a:t>satu </a:t>
            </a:r>
            <a:r>
              <a:rPr sz="2800" spc="-5" dirty="0">
                <a:latin typeface="Arial"/>
                <a:cs typeface="Arial"/>
              </a:rPr>
              <a:t>caranya </a:t>
            </a:r>
            <a:r>
              <a:rPr sz="2800" dirty="0">
                <a:latin typeface="Arial"/>
                <a:cs typeface="Arial"/>
              </a:rPr>
              <a:t>adalah menggunakan  distribusi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Gaussian.</a:t>
            </a:r>
            <a:endParaRPr sz="2800">
              <a:latin typeface="Arial"/>
              <a:cs typeface="Arial"/>
            </a:endParaRPr>
          </a:p>
          <a:p>
            <a:pPr marL="406400" marR="58419" indent="-343535" algn="just">
              <a:lnSpc>
                <a:spcPct val="100000"/>
              </a:lnSpc>
              <a:spcBef>
                <a:spcPts val="670"/>
              </a:spcBef>
              <a:buChar char="•"/>
              <a:tabLst>
                <a:tab pos="407034" algn="l"/>
              </a:tabLst>
            </a:pPr>
            <a:r>
              <a:rPr sz="2800" dirty="0">
                <a:latin typeface="Arial"/>
                <a:cs typeface="Arial"/>
              </a:rPr>
              <a:t>Distribusi </a:t>
            </a:r>
            <a:r>
              <a:rPr sz="2800" spc="-5" dirty="0">
                <a:latin typeface="Arial"/>
                <a:cs typeface="Arial"/>
              </a:rPr>
              <a:t>ini </a:t>
            </a:r>
            <a:r>
              <a:rPr sz="2800" dirty="0">
                <a:latin typeface="Arial"/>
                <a:cs typeface="Arial"/>
              </a:rPr>
              <a:t>dikarakterisasi dengan dua  parameter yaitu </a:t>
            </a:r>
            <a:r>
              <a:rPr sz="2800" spc="-5" dirty="0">
                <a:latin typeface="Arial"/>
                <a:cs typeface="Arial"/>
              </a:rPr>
              <a:t>mean (μ), dan</a:t>
            </a:r>
            <a:r>
              <a:rPr sz="2800" spc="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variansi(σ</a:t>
            </a:r>
            <a:r>
              <a:rPr sz="2775" baseline="25525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).</a:t>
            </a:r>
            <a:endParaRPr sz="2800">
              <a:latin typeface="Arial"/>
              <a:cs typeface="Arial"/>
            </a:endParaRPr>
          </a:p>
          <a:p>
            <a:pPr marL="406400" marR="55880" indent="-343535" algn="just">
              <a:lnSpc>
                <a:spcPct val="100000"/>
              </a:lnSpc>
              <a:spcBef>
                <a:spcPts val="675"/>
              </a:spcBef>
              <a:buChar char="•"/>
              <a:tabLst>
                <a:tab pos="407034" algn="l"/>
              </a:tabLst>
            </a:pPr>
            <a:r>
              <a:rPr sz="2800" spc="-5" dirty="0">
                <a:latin typeface="Arial"/>
                <a:cs typeface="Arial"/>
              </a:rPr>
              <a:t>Untuk setiap kelas Y</a:t>
            </a:r>
            <a:r>
              <a:rPr sz="2775" spc="-7" baseline="-21021" dirty="0">
                <a:latin typeface="Arial"/>
                <a:cs typeface="Arial"/>
              </a:rPr>
              <a:t>j</a:t>
            </a:r>
            <a:r>
              <a:rPr sz="2800" spc="-5" dirty="0">
                <a:latin typeface="Arial"/>
                <a:cs typeface="Arial"/>
              </a:rPr>
              <a:t>, peluang </a:t>
            </a:r>
            <a:r>
              <a:rPr sz="2800" dirty="0">
                <a:latin typeface="Arial"/>
                <a:cs typeface="Arial"/>
              </a:rPr>
              <a:t>kelas bersyarat  </a:t>
            </a:r>
            <a:r>
              <a:rPr sz="2800" spc="-5" dirty="0">
                <a:latin typeface="Arial"/>
                <a:cs typeface="Arial"/>
              </a:rPr>
              <a:t>untuk </a:t>
            </a:r>
            <a:r>
              <a:rPr sz="2800" dirty="0">
                <a:latin typeface="Arial"/>
                <a:cs typeface="Arial"/>
              </a:rPr>
              <a:t>atribut </a:t>
            </a:r>
            <a:r>
              <a:rPr sz="2800" spc="-5" dirty="0">
                <a:latin typeface="Arial"/>
                <a:cs typeface="Arial"/>
              </a:rPr>
              <a:t>X</a:t>
            </a:r>
            <a:r>
              <a:rPr sz="2775" spc="-7" baseline="-21021" dirty="0">
                <a:latin typeface="Arial"/>
                <a:cs typeface="Arial"/>
              </a:rPr>
              <a:t>i </a:t>
            </a:r>
            <a:r>
              <a:rPr sz="2800" dirty="0">
                <a:latin typeface="Arial"/>
                <a:cs typeface="Arial"/>
              </a:rPr>
              <a:t>dinyatakan dengan persamaan  distribusi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Gaussian.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96621"/>
            <a:ext cx="8028940" cy="281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FFFF"/>
                </a:solidFill>
                <a:latin typeface="Arial"/>
                <a:cs typeface="Arial"/>
              </a:rPr>
              <a:t>Naïve Bayes Data Kontinyu (2 of</a:t>
            </a:r>
            <a:r>
              <a:rPr sz="40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"/>
                <a:cs typeface="Arial"/>
              </a:rPr>
              <a:t>2)</a:t>
            </a:r>
            <a:endParaRPr sz="4000">
              <a:latin typeface="Arial"/>
              <a:cs typeface="Arial"/>
            </a:endParaRPr>
          </a:p>
          <a:p>
            <a:pPr marL="355600" marR="363855" indent="-343535">
              <a:lnSpc>
                <a:spcPct val="100000"/>
              </a:lnSpc>
              <a:spcBef>
                <a:spcPts val="304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Fungsi densitas mengekspresikan probabilitas  </a:t>
            </a:r>
            <a:r>
              <a:rPr sz="2800" dirty="0">
                <a:latin typeface="Arial"/>
                <a:cs typeface="Arial"/>
              </a:rPr>
              <a:t>relatif.</a:t>
            </a:r>
            <a:endParaRPr sz="2800">
              <a:latin typeface="Arial"/>
              <a:cs typeface="Arial"/>
            </a:endParaRPr>
          </a:p>
          <a:p>
            <a:pPr marL="355600" marR="729615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Arial"/>
                <a:cs typeface="Arial"/>
              </a:rPr>
              <a:t>Data </a:t>
            </a:r>
            <a:r>
              <a:rPr sz="2800" spc="-5" dirty="0">
                <a:latin typeface="Arial"/>
                <a:cs typeface="Arial"/>
              </a:rPr>
              <a:t>dengan mean μ dan </a:t>
            </a:r>
            <a:r>
              <a:rPr sz="2800" dirty="0">
                <a:latin typeface="Arial"/>
                <a:cs typeface="Arial"/>
              </a:rPr>
              <a:t>standar </a:t>
            </a:r>
            <a:r>
              <a:rPr sz="2800" spc="-5" dirty="0">
                <a:latin typeface="Arial"/>
                <a:cs typeface="Arial"/>
              </a:rPr>
              <a:t>deviasi </a:t>
            </a:r>
            <a:r>
              <a:rPr sz="2800" spc="-10" dirty="0">
                <a:latin typeface="Arial"/>
                <a:cs typeface="Arial"/>
              </a:rPr>
              <a:t>σ,  </a:t>
            </a:r>
            <a:r>
              <a:rPr sz="2800" dirty="0">
                <a:latin typeface="Arial"/>
                <a:cs typeface="Arial"/>
              </a:rPr>
              <a:t>fungsi </a:t>
            </a:r>
            <a:r>
              <a:rPr sz="2800" spc="-5" dirty="0">
                <a:latin typeface="Arial"/>
                <a:cs typeface="Arial"/>
              </a:rPr>
              <a:t>densitas </a:t>
            </a:r>
            <a:r>
              <a:rPr sz="2800" dirty="0">
                <a:latin typeface="Arial"/>
                <a:cs typeface="Arial"/>
              </a:rPr>
              <a:t>probabilitasnya </a:t>
            </a:r>
            <a:r>
              <a:rPr sz="2800" spc="-5" dirty="0">
                <a:latin typeface="Arial"/>
                <a:cs typeface="Arial"/>
              </a:rPr>
              <a:t>adalah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9144" y="5134102"/>
            <a:ext cx="955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k</a:t>
            </a:r>
            <a:r>
              <a:rPr sz="2800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l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" dirty="0">
                <a:latin typeface="Arial"/>
                <a:cs typeface="Arial"/>
              </a:rPr>
              <a:t>s.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62910" y="3672975"/>
            <a:ext cx="2269490" cy="835025"/>
            <a:chOff x="2362910" y="3672975"/>
            <a:chExt cx="2269490" cy="835025"/>
          </a:xfrm>
        </p:grpSpPr>
        <p:sp>
          <p:nvSpPr>
            <p:cNvPr id="5" name="object 5"/>
            <p:cNvSpPr/>
            <p:nvPr/>
          </p:nvSpPr>
          <p:spPr>
            <a:xfrm>
              <a:off x="2402303" y="4324608"/>
              <a:ext cx="50165" cy="29845"/>
            </a:xfrm>
            <a:custGeom>
              <a:avLst/>
              <a:gdLst/>
              <a:ahLst/>
              <a:cxnLst/>
              <a:rect l="l" t="t" r="r" b="b"/>
              <a:pathLst>
                <a:path w="50164" h="29845">
                  <a:moveTo>
                    <a:pt x="0" y="29801"/>
                  </a:moveTo>
                  <a:lnTo>
                    <a:pt x="49648" y="0"/>
                  </a:lnTo>
                </a:path>
              </a:pathLst>
            </a:custGeom>
            <a:ln w="163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51951" y="4333469"/>
              <a:ext cx="71120" cy="158115"/>
            </a:xfrm>
            <a:custGeom>
              <a:avLst/>
              <a:gdLst/>
              <a:ahLst/>
              <a:cxnLst/>
              <a:rect l="l" t="t" r="r" b="b"/>
              <a:pathLst>
                <a:path w="71119" h="158114">
                  <a:moveTo>
                    <a:pt x="0" y="0"/>
                  </a:moveTo>
                  <a:lnTo>
                    <a:pt x="70921" y="157853"/>
                  </a:lnTo>
                </a:path>
              </a:pathLst>
            </a:custGeom>
            <a:ln w="325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62910" y="3971046"/>
              <a:ext cx="1174115" cy="520700"/>
            </a:xfrm>
            <a:custGeom>
              <a:avLst/>
              <a:gdLst/>
              <a:ahLst/>
              <a:cxnLst/>
              <a:rect l="l" t="t" r="r" b="b"/>
              <a:pathLst>
                <a:path w="1174114" h="520700">
                  <a:moveTo>
                    <a:pt x="167829" y="520276"/>
                  </a:moveTo>
                  <a:lnTo>
                    <a:pt x="261584" y="59602"/>
                  </a:lnTo>
                </a:path>
                <a:path w="1174114" h="520700">
                  <a:moveTo>
                    <a:pt x="261584" y="59602"/>
                  </a:moveTo>
                  <a:lnTo>
                    <a:pt x="1141715" y="59602"/>
                  </a:lnTo>
                </a:path>
                <a:path w="1174114" h="520700">
                  <a:moveTo>
                    <a:pt x="0" y="0"/>
                  </a:moveTo>
                  <a:lnTo>
                    <a:pt x="1174039" y="0"/>
                  </a:lnTo>
                </a:path>
              </a:pathLst>
            </a:custGeom>
            <a:ln w="161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4612" y="3677104"/>
              <a:ext cx="708025" cy="0"/>
            </a:xfrm>
            <a:custGeom>
              <a:avLst/>
              <a:gdLst/>
              <a:ahLst/>
              <a:cxnLst/>
              <a:rect l="l" t="t" r="r" b="b"/>
              <a:pathLst>
                <a:path w="708025">
                  <a:moveTo>
                    <a:pt x="0" y="0"/>
                  </a:moveTo>
                  <a:lnTo>
                    <a:pt x="707716" y="0"/>
                  </a:lnTo>
                </a:path>
              </a:pathLst>
            </a:custGeom>
            <a:ln w="82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41086" y="3389217"/>
            <a:ext cx="224154" cy="523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50" spc="-65" dirty="0">
                <a:latin typeface="Times New Roman"/>
                <a:cs typeface="Times New Roman"/>
              </a:rPr>
              <a:t>1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4246" y="3676276"/>
            <a:ext cx="45148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spc="-105" dirty="0">
                <a:latin typeface="Times New Roman"/>
                <a:cs typeface="Times New Roman"/>
              </a:rPr>
              <a:t>2</a:t>
            </a:r>
            <a:r>
              <a:rPr sz="2000" i="1" spc="-105" dirty="0">
                <a:latin typeface="Symbol"/>
                <a:cs typeface="Symbol"/>
              </a:rPr>
              <a:t></a:t>
            </a:r>
            <a:r>
              <a:rPr sz="2000" i="1" spc="-210" dirty="0">
                <a:latin typeface="Times New Roman"/>
                <a:cs typeface="Times New Roman"/>
              </a:rPr>
              <a:t> </a:t>
            </a:r>
            <a:r>
              <a:rPr sz="2025" spc="-37" baseline="34979" dirty="0">
                <a:latin typeface="Times New Roman"/>
                <a:cs typeface="Times New Roman"/>
              </a:rPr>
              <a:t>2</a:t>
            </a:r>
            <a:endParaRPr sz="2025" baseline="3497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1567" y="3907445"/>
            <a:ext cx="3689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105" dirty="0">
                <a:latin typeface="Symbol"/>
                <a:cs typeface="Symbol"/>
              </a:rPr>
              <a:t></a:t>
            </a:r>
            <a:r>
              <a:rPr sz="2000" i="1" spc="-380" dirty="0">
                <a:latin typeface="Times New Roman"/>
                <a:cs typeface="Times New Roman"/>
              </a:rPr>
              <a:t> </a:t>
            </a:r>
            <a:r>
              <a:rPr sz="1900" spc="-110" dirty="0">
                <a:latin typeface="Times New Roman"/>
                <a:cs typeface="Times New Roman"/>
              </a:rPr>
              <a:t>,</a:t>
            </a:r>
            <a:r>
              <a:rPr sz="2000" i="1" spc="-110" dirty="0">
                <a:latin typeface="Symbol"/>
                <a:cs typeface="Symbol"/>
              </a:rPr>
              <a:t>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10819" y="4019447"/>
            <a:ext cx="878840" cy="548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50" spc="-225" dirty="0">
                <a:latin typeface="Times New Roman"/>
                <a:cs typeface="Times New Roman"/>
              </a:rPr>
              <a:t>2</a:t>
            </a:r>
            <a:r>
              <a:rPr sz="3400" i="1" spc="-225" dirty="0">
                <a:latin typeface="Symbol"/>
                <a:cs typeface="Symbol"/>
              </a:rPr>
              <a:t></a:t>
            </a:r>
            <a:r>
              <a:rPr sz="3400" i="1" spc="-375" dirty="0">
                <a:latin typeface="Times New Roman"/>
                <a:cs typeface="Times New Roman"/>
              </a:rPr>
              <a:t> </a:t>
            </a:r>
            <a:r>
              <a:rPr sz="2850" spc="-67" baseline="42397" dirty="0">
                <a:latin typeface="Times New Roman"/>
                <a:cs typeface="Times New Roman"/>
              </a:rPr>
              <a:t>2</a:t>
            </a:r>
            <a:endParaRPr sz="2850" baseline="42397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7822" y="3258731"/>
            <a:ext cx="8915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50" spc="7" baseline="-33625" dirty="0">
                <a:latin typeface="Symbol"/>
                <a:cs typeface="Symbol"/>
              </a:rPr>
              <a:t></a:t>
            </a:r>
            <a:r>
              <a:rPr sz="2500" spc="5" dirty="0">
                <a:latin typeface="Symbol"/>
                <a:cs typeface="Symbol"/>
              </a:rPr>
              <a:t></a:t>
            </a:r>
            <a:r>
              <a:rPr sz="1900" i="1" spc="5" dirty="0">
                <a:latin typeface="Times New Roman"/>
                <a:cs typeface="Times New Roman"/>
              </a:rPr>
              <a:t>x</a:t>
            </a:r>
            <a:r>
              <a:rPr sz="1900" spc="5" dirty="0">
                <a:latin typeface="Symbol"/>
                <a:cs typeface="Symbol"/>
              </a:rPr>
              <a:t></a:t>
            </a:r>
            <a:r>
              <a:rPr sz="2000" i="1" spc="5" dirty="0">
                <a:latin typeface="Symbol"/>
                <a:cs typeface="Symbol"/>
              </a:rPr>
              <a:t></a:t>
            </a:r>
            <a:r>
              <a:rPr sz="2000" i="1" spc="-285" dirty="0">
                <a:latin typeface="Times New Roman"/>
                <a:cs typeface="Times New Roman"/>
              </a:rPr>
              <a:t> </a:t>
            </a:r>
            <a:r>
              <a:rPr sz="2500" spc="-155" dirty="0">
                <a:latin typeface="Symbol"/>
                <a:cs typeface="Symbol"/>
              </a:rPr>
              <a:t></a:t>
            </a:r>
            <a:r>
              <a:rPr sz="2025" spc="-232" baseline="37037" dirty="0">
                <a:latin typeface="Times New Roman"/>
                <a:cs typeface="Times New Roman"/>
              </a:rPr>
              <a:t>2</a:t>
            </a:r>
            <a:endParaRPr sz="2025" baseline="3703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4119" y="3644514"/>
            <a:ext cx="201930" cy="523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50" i="1" spc="-60" dirty="0">
                <a:latin typeface="Times New Roman"/>
                <a:cs typeface="Times New Roman"/>
              </a:rPr>
              <a:t>e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0216" y="3511559"/>
            <a:ext cx="1426845" cy="6838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81990" algn="l"/>
              </a:tabLst>
            </a:pPr>
            <a:r>
              <a:rPr sz="3400" i="1" spc="-170" dirty="0">
                <a:latin typeface="Symbol"/>
                <a:cs typeface="Symbol"/>
              </a:rPr>
              <a:t></a:t>
            </a:r>
            <a:r>
              <a:rPr sz="3400" spc="-170" dirty="0">
                <a:latin typeface="Times New Roman"/>
                <a:cs typeface="Times New Roman"/>
              </a:rPr>
              <a:t>	</a:t>
            </a:r>
            <a:r>
              <a:rPr sz="4300" spc="-229" dirty="0">
                <a:latin typeface="Symbol"/>
                <a:cs typeface="Symbol"/>
              </a:rPr>
              <a:t></a:t>
            </a:r>
            <a:r>
              <a:rPr sz="3250" i="1" spc="-229" dirty="0">
                <a:latin typeface="Times New Roman"/>
                <a:cs typeface="Times New Roman"/>
              </a:rPr>
              <a:t>x</a:t>
            </a:r>
            <a:r>
              <a:rPr sz="4300" spc="-229" dirty="0">
                <a:latin typeface="Symbol"/>
                <a:cs typeface="Symbol"/>
              </a:rPr>
              <a:t></a:t>
            </a:r>
            <a:r>
              <a:rPr sz="4300" spc="-730" dirty="0">
                <a:latin typeface="Times New Roman"/>
                <a:cs typeface="Times New Roman"/>
              </a:rPr>
              <a:t> </a:t>
            </a:r>
            <a:r>
              <a:rPr sz="3250" spc="-75" dirty="0">
                <a:latin typeface="Symbol"/>
                <a:cs typeface="Symbol"/>
              </a:rPr>
              <a:t></a:t>
            </a:r>
            <a:endParaRPr sz="3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0540" y="4497566"/>
            <a:ext cx="8103870" cy="1638300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1745"/>
              </a:spcBef>
              <a:buChar char="•"/>
              <a:tabLst>
                <a:tab pos="381000" algn="l"/>
                <a:tab pos="381635" algn="l"/>
                <a:tab pos="782955" algn="l"/>
                <a:tab pos="7115175" algn="l"/>
              </a:tabLst>
            </a:pPr>
            <a:r>
              <a:rPr sz="2800" spc="-5" dirty="0">
                <a:latin typeface="Arial"/>
                <a:cs typeface="Arial"/>
              </a:rPr>
              <a:t>μ	dan σ dapat diestimasi dari</a:t>
            </a:r>
            <a:r>
              <a:rPr sz="2800" spc="7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data,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untuk	setiap</a:t>
            </a:r>
            <a:endParaRPr sz="2800">
              <a:latin typeface="Arial"/>
              <a:cs typeface="Arial"/>
            </a:endParaRPr>
          </a:p>
          <a:p>
            <a:pPr marL="416559" indent="-379095">
              <a:lnSpc>
                <a:spcPct val="100000"/>
              </a:lnSpc>
              <a:spcBef>
                <a:spcPts val="2535"/>
              </a:spcBef>
              <a:buSzPct val="82352"/>
              <a:buFont typeface="Arial"/>
              <a:buChar char="•"/>
              <a:tabLst>
                <a:tab pos="416559" algn="l"/>
                <a:tab pos="417195" algn="l"/>
              </a:tabLst>
            </a:pPr>
            <a:r>
              <a:rPr sz="5100" i="1" spc="-89" baseline="2450" dirty="0">
                <a:latin typeface="Symbol"/>
                <a:cs typeface="Symbol"/>
              </a:rPr>
              <a:t></a:t>
            </a:r>
            <a:r>
              <a:rPr sz="3000" i="1" spc="-89" baseline="-18055" dirty="0">
                <a:latin typeface="Symbol"/>
                <a:cs typeface="Symbol"/>
              </a:rPr>
              <a:t></a:t>
            </a:r>
            <a:r>
              <a:rPr sz="2850" spc="-89" baseline="-19005" dirty="0">
                <a:latin typeface="Times New Roman"/>
                <a:cs typeface="Times New Roman"/>
              </a:rPr>
              <a:t>,</a:t>
            </a:r>
            <a:r>
              <a:rPr sz="3000" i="1" spc="-89" baseline="-18055" dirty="0">
                <a:latin typeface="Symbol"/>
                <a:cs typeface="Symbol"/>
              </a:rPr>
              <a:t></a:t>
            </a:r>
            <a:r>
              <a:rPr sz="3000" i="1" spc="-89" baseline="-18055" dirty="0">
                <a:latin typeface="Times New Roman"/>
                <a:cs typeface="Times New Roman"/>
              </a:rPr>
              <a:t> </a:t>
            </a:r>
            <a:r>
              <a:rPr sz="6450" spc="-359" baseline="1937" dirty="0">
                <a:latin typeface="Symbol"/>
                <a:cs typeface="Symbol"/>
              </a:rPr>
              <a:t></a:t>
            </a:r>
            <a:r>
              <a:rPr sz="4875" i="1" spc="-359" baseline="2564" dirty="0">
                <a:latin typeface="Times New Roman"/>
                <a:cs typeface="Times New Roman"/>
              </a:rPr>
              <a:t>x</a:t>
            </a:r>
            <a:r>
              <a:rPr sz="6450" spc="-359" baseline="1937" dirty="0">
                <a:latin typeface="Symbol"/>
                <a:cs typeface="Symbol"/>
              </a:rPr>
              <a:t></a:t>
            </a:r>
            <a:r>
              <a:rPr sz="6450" spc="-359" baseline="1937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"/>
                <a:cs typeface="Arial"/>
              </a:rPr>
              <a:t>untuk menghitung Likelihood </a:t>
            </a:r>
            <a:r>
              <a:rPr sz="2800" i="1" spc="-5" dirty="0">
                <a:latin typeface="Arial"/>
                <a:cs typeface="Arial"/>
              </a:rPr>
              <a:t>P(X |</a:t>
            </a:r>
            <a:r>
              <a:rPr sz="2800" i="1" spc="37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C)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750" y="1341437"/>
            <a:ext cx="8209026" cy="5006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93545" y="296621"/>
            <a:ext cx="5758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Visualisasi Data</a:t>
            </a:r>
            <a:r>
              <a:rPr sz="4000" spc="20" dirty="0"/>
              <a:t> </a:t>
            </a:r>
            <a:r>
              <a:rPr sz="4000" spc="-5" dirty="0"/>
              <a:t>Kontinyu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6694547" y="2813179"/>
            <a:ext cx="1772920" cy="652145"/>
            <a:chOff x="6694547" y="2813179"/>
            <a:chExt cx="1772920" cy="652145"/>
          </a:xfrm>
        </p:grpSpPr>
        <p:sp>
          <p:nvSpPr>
            <p:cNvPr id="5" name="object 5"/>
            <p:cNvSpPr/>
            <p:nvPr/>
          </p:nvSpPr>
          <p:spPr>
            <a:xfrm>
              <a:off x="6725316" y="3322083"/>
              <a:ext cx="39370" cy="23495"/>
            </a:xfrm>
            <a:custGeom>
              <a:avLst/>
              <a:gdLst/>
              <a:ahLst/>
              <a:cxnLst/>
              <a:rect l="l" t="t" r="r" b="b"/>
              <a:pathLst>
                <a:path w="39370" h="23495">
                  <a:moveTo>
                    <a:pt x="0" y="23273"/>
                  </a:moveTo>
                  <a:lnTo>
                    <a:pt x="38777" y="0"/>
                  </a:lnTo>
                </a:path>
              </a:pathLst>
            </a:custGeom>
            <a:ln w="12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64094" y="3329002"/>
              <a:ext cx="55880" cy="123825"/>
            </a:xfrm>
            <a:custGeom>
              <a:avLst/>
              <a:gdLst/>
              <a:ahLst/>
              <a:cxnLst/>
              <a:rect l="l" t="t" r="r" b="b"/>
              <a:pathLst>
                <a:path w="55879" h="123825">
                  <a:moveTo>
                    <a:pt x="0" y="0"/>
                  </a:moveTo>
                  <a:lnTo>
                    <a:pt x="55393" y="123278"/>
                  </a:lnTo>
                </a:path>
              </a:pathLst>
            </a:custGeom>
            <a:ln w="2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94547" y="3045963"/>
              <a:ext cx="917575" cy="406400"/>
            </a:xfrm>
            <a:custGeom>
              <a:avLst/>
              <a:gdLst/>
              <a:ahLst/>
              <a:cxnLst/>
              <a:rect l="l" t="t" r="r" b="b"/>
              <a:pathLst>
                <a:path w="917575" h="406400">
                  <a:moveTo>
                    <a:pt x="131083" y="406318"/>
                  </a:moveTo>
                  <a:lnTo>
                    <a:pt x="204311" y="46547"/>
                  </a:lnTo>
                </a:path>
                <a:path w="917575" h="406400">
                  <a:moveTo>
                    <a:pt x="204311" y="46547"/>
                  </a:moveTo>
                  <a:lnTo>
                    <a:pt x="891742" y="46547"/>
                  </a:lnTo>
                </a:path>
                <a:path w="917575" h="406400">
                  <a:moveTo>
                    <a:pt x="0" y="0"/>
                  </a:moveTo>
                  <a:lnTo>
                    <a:pt x="916989" y="0"/>
                  </a:lnTo>
                </a:path>
              </a:pathLst>
            </a:custGeom>
            <a:ln w="126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14323" y="2816404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4">
                  <a:moveTo>
                    <a:pt x="0" y="0"/>
                  </a:moveTo>
                  <a:lnTo>
                    <a:pt x="552765" y="0"/>
                  </a:lnTo>
                </a:path>
              </a:pathLst>
            </a:custGeom>
            <a:ln w="64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065249" y="2588791"/>
            <a:ext cx="18034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60" dirty="0">
                <a:latin typeface="Times New Roman"/>
                <a:cs typeface="Times New Roman"/>
              </a:rPr>
              <a:t>1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99422" y="2812973"/>
            <a:ext cx="36893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50" spc="-70" dirty="0">
                <a:latin typeface="Times New Roman"/>
                <a:cs typeface="Times New Roman"/>
              </a:rPr>
              <a:t>2</a:t>
            </a:r>
            <a:r>
              <a:rPr sz="1550" i="1" spc="-70" dirty="0">
                <a:latin typeface="Symbol"/>
                <a:cs typeface="Symbol"/>
              </a:rPr>
              <a:t></a:t>
            </a:r>
            <a:r>
              <a:rPr sz="1550" i="1" spc="-165" dirty="0">
                <a:latin typeface="Times New Roman"/>
                <a:cs typeface="Times New Roman"/>
              </a:rPr>
              <a:t> </a:t>
            </a:r>
            <a:r>
              <a:rPr sz="1575" spc="-30" baseline="34391" dirty="0">
                <a:latin typeface="Times New Roman"/>
                <a:cs typeface="Times New Roman"/>
              </a:rPr>
              <a:t>2</a:t>
            </a:r>
            <a:endParaRPr sz="1575" baseline="3439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14399" y="2993509"/>
            <a:ext cx="29400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-75" dirty="0">
                <a:latin typeface="Symbol"/>
                <a:cs typeface="Symbol"/>
              </a:rPr>
              <a:t></a:t>
            </a:r>
            <a:r>
              <a:rPr sz="1550" i="1" spc="-305" dirty="0">
                <a:latin typeface="Times New Roman"/>
                <a:cs typeface="Times New Roman"/>
              </a:rPr>
              <a:t> </a:t>
            </a:r>
            <a:r>
              <a:rPr sz="1450" spc="-75" dirty="0">
                <a:latin typeface="Times New Roman"/>
                <a:cs typeface="Times New Roman"/>
              </a:rPr>
              <a:t>,</a:t>
            </a:r>
            <a:r>
              <a:rPr sz="1550" i="1" spc="-75" dirty="0">
                <a:latin typeface="Symbol"/>
                <a:cs typeface="Symbol"/>
              </a:rPr>
              <a:t>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79837" y="3080977"/>
            <a:ext cx="70358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550" spc="-180" dirty="0">
                <a:latin typeface="Times New Roman"/>
                <a:cs typeface="Times New Roman"/>
              </a:rPr>
              <a:t>2</a:t>
            </a:r>
            <a:r>
              <a:rPr sz="2650" i="1" spc="-180" dirty="0">
                <a:latin typeface="Symbol"/>
                <a:cs typeface="Symbol"/>
              </a:rPr>
              <a:t></a:t>
            </a:r>
            <a:r>
              <a:rPr sz="2650" i="1" spc="-295" dirty="0">
                <a:latin typeface="Times New Roman"/>
                <a:cs typeface="Times New Roman"/>
              </a:rPr>
              <a:t> </a:t>
            </a:r>
            <a:r>
              <a:rPr sz="2175" spc="-30" baseline="42145" dirty="0">
                <a:latin typeface="Times New Roman"/>
                <a:cs typeface="Times New Roman"/>
              </a:rPr>
              <a:t>2</a:t>
            </a:r>
            <a:endParaRPr sz="2175" baseline="4214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67899" y="2486887"/>
            <a:ext cx="7131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75" spc="22" baseline="-34482" dirty="0">
                <a:latin typeface="Symbol"/>
                <a:cs typeface="Symbol"/>
              </a:rPr>
              <a:t></a:t>
            </a:r>
            <a:r>
              <a:rPr sz="1950" spc="15" dirty="0">
                <a:latin typeface="Symbol"/>
                <a:cs typeface="Symbol"/>
              </a:rPr>
              <a:t></a:t>
            </a:r>
            <a:r>
              <a:rPr sz="1450" i="1" spc="15" dirty="0">
                <a:latin typeface="Times New Roman"/>
                <a:cs typeface="Times New Roman"/>
              </a:rPr>
              <a:t>x</a:t>
            </a:r>
            <a:r>
              <a:rPr sz="1450" spc="15" dirty="0">
                <a:latin typeface="Symbol"/>
                <a:cs typeface="Symbol"/>
              </a:rPr>
              <a:t></a:t>
            </a:r>
            <a:r>
              <a:rPr sz="1550" i="1" spc="15" dirty="0">
                <a:latin typeface="Symbol"/>
                <a:cs typeface="Symbol"/>
              </a:rPr>
              <a:t></a:t>
            </a:r>
            <a:r>
              <a:rPr sz="1550" i="1" spc="-225" dirty="0">
                <a:latin typeface="Times New Roman"/>
                <a:cs typeface="Times New Roman"/>
              </a:rPr>
              <a:t> </a:t>
            </a:r>
            <a:r>
              <a:rPr sz="1950" spc="-120" dirty="0">
                <a:latin typeface="Symbol"/>
                <a:cs typeface="Symbol"/>
              </a:rPr>
              <a:t></a:t>
            </a:r>
            <a:r>
              <a:rPr sz="1575" spc="-179" baseline="37037" dirty="0">
                <a:latin typeface="Times New Roman"/>
                <a:cs typeface="Times New Roman"/>
              </a:rPr>
              <a:t>2</a:t>
            </a:r>
            <a:endParaRPr sz="1575" baseline="3703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5599" y="2788170"/>
            <a:ext cx="16319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i="1" spc="-50" dirty="0">
                <a:latin typeface="Times New Roman"/>
                <a:cs typeface="Times New Roman"/>
              </a:rPr>
              <a:t>e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18080" y="2684337"/>
            <a:ext cx="1120140" cy="539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5305" algn="l"/>
              </a:tabLst>
            </a:pPr>
            <a:r>
              <a:rPr sz="2650" i="1" spc="-130" dirty="0">
                <a:latin typeface="Symbol"/>
                <a:cs typeface="Symbol"/>
              </a:rPr>
              <a:t></a:t>
            </a:r>
            <a:r>
              <a:rPr sz="2650" spc="-130" dirty="0">
                <a:latin typeface="Times New Roman"/>
                <a:cs typeface="Times New Roman"/>
              </a:rPr>
              <a:t>	</a:t>
            </a:r>
            <a:r>
              <a:rPr sz="3350" spc="-180" dirty="0">
                <a:latin typeface="Symbol"/>
                <a:cs typeface="Symbol"/>
              </a:rPr>
              <a:t></a:t>
            </a:r>
            <a:r>
              <a:rPr sz="2550" i="1" spc="-180" dirty="0">
                <a:latin typeface="Times New Roman"/>
                <a:cs typeface="Times New Roman"/>
              </a:rPr>
              <a:t>x</a:t>
            </a:r>
            <a:r>
              <a:rPr sz="3350" spc="-180" dirty="0">
                <a:latin typeface="Symbol"/>
                <a:cs typeface="Symbol"/>
              </a:rPr>
              <a:t></a:t>
            </a:r>
            <a:r>
              <a:rPr sz="3350" spc="-580" dirty="0">
                <a:latin typeface="Times New Roman"/>
                <a:cs typeface="Times New Roman"/>
              </a:rPr>
              <a:t> </a:t>
            </a:r>
            <a:r>
              <a:rPr sz="2550" spc="-65" dirty="0">
                <a:latin typeface="Symbol"/>
                <a:cs typeface="Symbol"/>
              </a:rPr>
              <a:t>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40841" y="5996047"/>
            <a:ext cx="15875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50" i="1" spc="-135" dirty="0">
                <a:latin typeface="Times New Roman"/>
                <a:cs typeface="Times New Roman"/>
              </a:rPr>
              <a:t>x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130" y="1090489"/>
            <a:ext cx="952500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50" i="1" spc="-40" dirty="0">
                <a:latin typeface="Symbol"/>
                <a:cs typeface="Symbol"/>
              </a:rPr>
              <a:t></a:t>
            </a:r>
            <a:r>
              <a:rPr sz="2325" i="1" spc="-60" baseline="-21505" dirty="0">
                <a:latin typeface="Symbol"/>
                <a:cs typeface="Symbol"/>
              </a:rPr>
              <a:t></a:t>
            </a:r>
            <a:r>
              <a:rPr sz="2175" spc="-60" baseline="-22988" dirty="0">
                <a:latin typeface="Times New Roman"/>
                <a:cs typeface="Times New Roman"/>
              </a:rPr>
              <a:t>,</a:t>
            </a:r>
            <a:r>
              <a:rPr sz="2325" i="1" spc="-60" baseline="-21505" dirty="0">
                <a:latin typeface="Symbol"/>
                <a:cs typeface="Symbol"/>
              </a:rPr>
              <a:t></a:t>
            </a:r>
            <a:r>
              <a:rPr sz="2325" i="1" baseline="-21505" dirty="0">
                <a:latin typeface="Times New Roman"/>
                <a:cs typeface="Times New Roman"/>
              </a:rPr>
              <a:t> </a:t>
            </a:r>
            <a:r>
              <a:rPr sz="3350" spc="-180" dirty="0">
                <a:latin typeface="Symbol"/>
                <a:cs typeface="Symbol"/>
              </a:rPr>
              <a:t></a:t>
            </a:r>
            <a:r>
              <a:rPr sz="2500" i="1" spc="-180" dirty="0">
                <a:latin typeface="Times New Roman"/>
                <a:cs typeface="Times New Roman"/>
              </a:rPr>
              <a:t>x</a:t>
            </a:r>
            <a:r>
              <a:rPr sz="3350" spc="-180" dirty="0">
                <a:latin typeface="Symbol"/>
                <a:cs typeface="Symbol"/>
              </a:rPr>
              <a:t></a:t>
            </a:r>
            <a:endParaRPr sz="33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697" y="296621"/>
            <a:ext cx="7991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Trik Review Paper (Tugas Paper</a:t>
            </a:r>
            <a:r>
              <a:rPr sz="4000" spc="80" dirty="0"/>
              <a:t> </a:t>
            </a:r>
            <a:r>
              <a:rPr sz="4000" spc="-5" dirty="0"/>
              <a:t>1)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067792"/>
            <a:ext cx="7799705" cy="493776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42900" marR="1235710" indent="-342900" algn="r">
              <a:lnSpc>
                <a:spcPct val="100000"/>
              </a:lnSpc>
              <a:spcBef>
                <a:spcPts val="1305"/>
              </a:spcBef>
              <a:buChar char="•"/>
              <a:tabLst>
                <a:tab pos="342900" algn="l"/>
                <a:tab pos="343535" algn="l"/>
              </a:tabLst>
            </a:pPr>
            <a:r>
              <a:rPr sz="2400" spc="-5" dirty="0">
                <a:latin typeface="Arial"/>
                <a:cs typeface="Arial"/>
              </a:rPr>
              <a:t>Ditulis </a:t>
            </a:r>
            <a:r>
              <a:rPr sz="2400" dirty="0">
                <a:latin typeface="Arial"/>
                <a:cs typeface="Arial"/>
              </a:rPr>
              <a:t>Maks. </a:t>
            </a:r>
            <a:r>
              <a:rPr sz="2400" spc="-5" dirty="0">
                <a:latin typeface="Arial"/>
                <a:cs typeface="Arial"/>
              </a:rPr>
              <a:t>1 Hal. A5 </a:t>
            </a:r>
            <a:r>
              <a:rPr sz="2400" dirty="0">
                <a:latin typeface="Arial"/>
                <a:cs typeface="Arial"/>
              </a:rPr>
              <a:t>(Tema : </a:t>
            </a:r>
            <a:r>
              <a:rPr sz="2400" spc="-5" dirty="0">
                <a:latin typeface="Arial"/>
                <a:cs typeface="Arial"/>
              </a:rPr>
              <a:t>Naïve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Bayes).</a:t>
            </a:r>
            <a:endParaRPr sz="2400">
              <a:latin typeface="Arial"/>
              <a:cs typeface="Arial"/>
            </a:endParaRPr>
          </a:p>
          <a:p>
            <a:pPr marL="286385" marR="1285240" lvl="1" indent="-286385" algn="r">
              <a:lnSpc>
                <a:spcPct val="100000"/>
              </a:lnSpc>
              <a:spcBef>
                <a:spcPts val="1015"/>
              </a:spcBef>
              <a:buChar char="–"/>
              <a:tabLst>
                <a:tab pos="286385" algn="l"/>
                <a:tab pos="287020" algn="l"/>
              </a:tabLst>
            </a:pPr>
            <a:r>
              <a:rPr sz="2000" dirty="0">
                <a:latin typeface="Arial"/>
                <a:cs typeface="Arial"/>
              </a:rPr>
              <a:t>Judul (Tahun Paper 2009-2014,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English/Indonesia)</a:t>
            </a:r>
            <a:endParaRPr sz="2000">
              <a:latin typeface="Arial"/>
              <a:cs typeface="Arial"/>
            </a:endParaRPr>
          </a:p>
          <a:p>
            <a:pPr marL="756285" marR="227329" lvl="1" indent="-287020">
              <a:lnSpc>
                <a:spcPct val="100000"/>
              </a:lnSpc>
              <a:spcBef>
                <a:spcPts val="132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Problem Base (Identifikasi permasalahan yang diselesaikan  dalam Paper, Alasan kuat peneliti mengangat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permasalahan  tersebut).</a:t>
            </a:r>
            <a:endParaRPr sz="2000">
              <a:latin typeface="Arial"/>
              <a:cs typeface="Arial"/>
            </a:endParaRPr>
          </a:p>
          <a:p>
            <a:pPr marL="756285" marR="37020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Metode (Uraian singkat metode, kelebihan dan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kekurangan  metode).</a:t>
            </a:r>
            <a:endParaRPr sz="200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Hasil (Hasil numerik : akurasi, precision &amp; recall, etc (jika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ada),  atau hasil kesimpulan berupa statement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singkat).</a:t>
            </a:r>
            <a:endParaRPr sz="2000">
              <a:latin typeface="Arial"/>
              <a:cs typeface="Arial"/>
            </a:endParaRPr>
          </a:p>
          <a:p>
            <a:pPr marL="355600" marR="779780" indent="-343535">
              <a:lnSpc>
                <a:spcPct val="100000"/>
              </a:lnSpc>
              <a:spcBef>
                <a:spcPts val="570"/>
              </a:spcBef>
              <a:buChar char="•"/>
              <a:tabLst>
                <a:tab pos="355600" algn="l"/>
                <a:tab pos="356235" algn="l"/>
                <a:tab pos="6459855" algn="l"/>
              </a:tabLst>
            </a:pPr>
            <a:r>
              <a:rPr sz="2400" spc="-5" dirty="0">
                <a:latin typeface="Arial"/>
                <a:cs typeface="Arial"/>
              </a:rPr>
              <a:t>Portal Jurnal </a:t>
            </a:r>
            <a:r>
              <a:rPr sz="2400" dirty="0">
                <a:latin typeface="Arial"/>
                <a:cs typeface="Arial"/>
              </a:rPr>
              <a:t>: computer.org, </a:t>
            </a:r>
            <a:r>
              <a:rPr sz="2400" spc="-5" dirty="0">
                <a:latin typeface="Arial"/>
                <a:cs typeface="Arial"/>
              </a:rPr>
              <a:t>scholar.google.com,  sciencedirect.com, acm.org/publications/journals,  springer.com, ieee.org,  </a:t>
            </a:r>
            <a:r>
              <a:rPr sz="2400" spc="-5" dirty="0">
                <a:latin typeface="Arial"/>
                <a:cs typeface="Arial"/>
                <a:hlinkClick r:id="rId2"/>
              </a:rPr>
              <a:t>http://ieeexplore.ieee.org/xpl/periodicals.jsp,</a:t>
            </a:r>
            <a:r>
              <a:rPr sz="2400" spc="-5" dirty="0">
                <a:latin typeface="Arial"/>
                <a:cs typeface="Arial"/>
              </a:rPr>
              <a:t>	</a:t>
            </a:r>
            <a:r>
              <a:rPr sz="2400" dirty="0">
                <a:latin typeface="Arial"/>
                <a:cs typeface="Arial"/>
              </a:rPr>
              <a:t>etc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2080" y="296621"/>
            <a:ext cx="47993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Contoh Studi Kasus </a:t>
            </a:r>
            <a:r>
              <a:rPr sz="4000" dirty="0"/>
              <a:t>I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292733"/>
            <a:ext cx="7713345" cy="3609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Implementasi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(Menganalisa mutu buah</a:t>
            </a:r>
            <a:r>
              <a:rPr sz="2800" spc="5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jeruk)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Mengumpulkan </a:t>
            </a:r>
            <a:r>
              <a:rPr sz="2800" dirty="0">
                <a:latin typeface="Arial"/>
                <a:cs typeface="Arial"/>
              </a:rPr>
              <a:t>informasi tentang jeruk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manis.</a:t>
            </a:r>
            <a:endParaRPr sz="28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Menganalisa dan merancang </a:t>
            </a:r>
            <a:r>
              <a:rPr sz="2800" dirty="0">
                <a:latin typeface="Arial"/>
                <a:cs typeface="Arial"/>
              </a:rPr>
              <a:t>perangkat </a:t>
            </a:r>
            <a:r>
              <a:rPr sz="2800" spc="-5" dirty="0">
                <a:latin typeface="Arial"/>
                <a:cs typeface="Arial"/>
              </a:rPr>
              <a:t>lunak  yang digunakan untuk menentukan mutu buah  </a:t>
            </a:r>
            <a:r>
              <a:rPr sz="2800" dirty="0">
                <a:latin typeface="Arial"/>
                <a:cs typeface="Arial"/>
              </a:rPr>
              <a:t>jeruk </a:t>
            </a:r>
            <a:r>
              <a:rPr sz="2800" spc="-5" dirty="0">
                <a:latin typeface="Arial"/>
                <a:cs typeface="Arial"/>
              </a:rPr>
              <a:t>manis </a:t>
            </a:r>
            <a:r>
              <a:rPr sz="2800" dirty="0">
                <a:latin typeface="Arial"/>
                <a:cs typeface="Arial"/>
              </a:rPr>
              <a:t>berdasarkan </a:t>
            </a:r>
            <a:r>
              <a:rPr sz="2800" spc="-5" dirty="0">
                <a:latin typeface="Arial"/>
                <a:cs typeface="Arial"/>
              </a:rPr>
              <a:t>warna </a:t>
            </a:r>
            <a:r>
              <a:rPr sz="2800" b="1" spc="-5" dirty="0">
                <a:latin typeface="Arial"/>
                <a:cs typeface="Arial"/>
              </a:rPr>
              <a:t>RGB </a:t>
            </a:r>
            <a:r>
              <a:rPr sz="2800" spc="-5" dirty="0">
                <a:latin typeface="Arial"/>
                <a:cs typeface="Arial"/>
              </a:rPr>
              <a:t>dan  diameter dengan menggunakan metode Naïve  Bayes.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2080" y="296621"/>
            <a:ext cx="47993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Contoh Studi Kasus </a:t>
            </a:r>
            <a:r>
              <a:rPr sz="4000" dirty="0"/>
              <a:t>I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7993380" cy="456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26769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Untuk menghitung peluang, langkah-langkah yang  dilakukan sebagai berikut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Char char="–"/>
              <a:tabLst>
                <a:tab pos="756920" algn="l"/>
              </a:tabLst>
            </a:pPr>
            <a:r>
              <a:rPr sz="2400" spc="-5" dirty="0">
                <a:latin typeface="Arial"/>
                <a:cs typeface="Arial"/>
              </a:rPr>
              <a:t>Membuat image menjadi skala keabuan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(grey-scale).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590"/>
              </a:lnSpc>
              <a:buChar char="–"/>
              <a:tabLst>
                <a:tab pos="756920" algn="l"/>
              </a:tabLst>
            </a:pPr>
            <a:r>
              <a:rPr sz="2400" spc="-5" dirty="0">
                <a:latin typeface="Arial"/>
                <a:cs typeface="Arial"/>
              </a:rPr>
              <a:t>Binarisasi.</a:t>
            </a:r>
            <a:endParaRPr sz="2400">
              <a:latin typeface="Arial"/>
              <a:cs typeface="Arial"/>
            </a:endParaRPr>
          </a:p>
          <a:p>
            <a:pPr marL="756285" marR="327660">
              <a:lnSpc>
                <a:spcPct val="80000"/>
              </a:lnSpc>
              <a:spcBef>
                <a:spcPts val="290"/>
              </a:spcBef>
            </a:pPr>
            <a:r>
              <a:rPr sz="2400" spc="-5" dirty="0">
                <a:latin typeface="Arial"/>
                <a:cs typeface="Arial"/>
              </a:rPr>
              <a:t>Pada tahap ini berguna untuk merubah nilai piksel  image menjadi 0 dan </a:t>
            </a:r>
            <a:r>
              <a:rPr sz="2400" dirty="0">
                <a:latin typeface="Arial"/>
                <a:cs typeface="Arial"/>
              </a:rPr>
              <a:t>1. </a:t>
            </a:r>
            <a:r>
              <a:rPr sz="2400" spc="-5" dirty="0">
                <a:latin typeface="Arial"/>
                <a:cs typeface="Arial"/>
              </a:rPr>
              <a:t>Nilai 0 untuk  menggambarkan latar belakang, nilai 1 untuk objek  buah</a:t>
            </a:r>
            <a:r>
              <a:rPr sz="2400" dirty="0">
                <a:latin typeface="Arial"/>
                <a:cs typeface="Arial"/>
              </a:rPr>
              <a:t> jeruk.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590"/>
              </a:lnSpc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Max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Filter.</a:t>
            </a:r>
            <a:endParaRPr sz="2400">
              <a:latin typeface="Arial"/>
              <a:cs typeface="Arial"/>
            </a:endParaRPr>
          </a:p>
          <a:p>
            <a:pPr marL="756285" marR="5080">
              <a:lnSpc>
                <a:spcPct val="80000"/>
              </a:lnSpc>
              <a:spcBef>
                <a:spcPts val="285"/>
              </a:spcBef>
            </a:pPr>
            <a:r>
              <a:rPr sz="2400" spc="-5" dirty="0">
                <a:latin typeface="Arial"/>
                <a:cs typeface="Arial"/>
              </a:rPr>
              <a:t>Tahap ini diperlukan untuk menghilangkan nilai piksel  1 tetapi bukan bagian dari buah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jeruk.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590"/>
              </a:lnSpc>
              <a:spcBef>
                <a:spcPts val="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"/>
                <a:cs typeface="Arial"/>
              </a:rPr>
              <a:t>Temukan</a:t>
            </a:r>
            <a:r>
              <a:rPr sz="2400" dirty="0">
                <a:latin typeface="Arial"/>
                <a:cs typeface="Arial"/>
              </a:rPr>
              <a:t> Parameter.</a:t>
            </a:r>
            <a:endParaRPr sz="2400">
              <a:latin typeface="Arial"/>
              <a:cs typeface="Arial"/>
            </a:endParaRPr>
          </a:p>
          <a:p>
            <a:pPr marL="756285" marR="207010">
              <a:lnSpc>
                <a:spcPts val="2300"/>
              </a:lnSpc>
              <a:spcBef>
                <a:spcPts val="270"/>
              </a:spcBef>
            </a:pPr>
            <a:r>
              <a:rPr sz="2400" spc="-5" dirty="0">
                <a:latin typeface="Arial"/>
                <a:cs typeface="Arial"/>
              </a:rPr>
              <a:t>Tahap ini digunakan menghitung nilai </a:t>
            </a:r>
            <a:r>
              <a:rPr sz="2400" dirty="0">
                <a:latin typeface="Arial"/>
                <a:cs typeface="Arial"/>
              </a:rPr>
              <a:t>rata-rata </a:t>
            </a:r>
            <a:r>
              <a:rPr sz="2400" spc="-5" dirty="0">
                <a:latin typeface="Arial"/>
                <a:cs typeface="Arial"/>
              </a:rPr>
              <a:t>Red,  Green, Blue, dan menghitung diameter buah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jeruk.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2080" y="296621"/>
            <a:ext cx="47993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Contoh Studi Kasus </a:t>
            </a:r>
            <a:r>
              <a:rPr sz="4000" dirty="0"/>
              <a:t>I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7533005" cy="5039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Arial"/>
                <a:cs typeface="Arial"/>
              </a:rPr>
              <a:t>Bila </a:t>
            </a:r>
            <a:r>
              <a:rPr sz="2000" dirty="0">
                <a:latin typeface="Arial"/>
                <a:cs typeface="Arial"/>
              </a:rPr>
              <a:t>parameter rata-rata R,G,B dan diameter D sudah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diketahui,  maka untuk </a:t>
            </a:r>
            <a:r>
              <a:rPr sz="2000" b="1" dirty="0">
                <a:latin typeface="Arial"/>
                <a:cs typeface="Arial"/>
              </a:rPr>
              <a:t>Menentukan Mutu Buah Jeruk </a:t>
            </a:r>
            <a:r>
              <a:rPr sz="2000" dirty="0">
                <a:latin typeface="Arial"/>
                <a:cs typeface="Arial"/>
              </a:rPr>
              <a:t>memiliki langkah-  langkah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sbb: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p1:Hitung Peluang </a:t>
            </a:r>
            <a:r>
              <a:rPr sz="1800" dirty="0">
                <a:latin typeface="Arial"/>
                <a:cs typeface="Arial"/>
              </a:rPr>
              <a:t>(R,G,B,D) </a:t>
            </a:r>
            <a:r>
              <a:rPr sz="1800" spc="-5" dirty="0">
                <a:latin typeface="Arial"/>
                <a:cs typeface="Arial"/>
              </a:rPr>
              <a:t>pada kelas </a:t>
            </a:r>
            <a:r>
              <a:rPr sz="180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p2:Hitung Peluang </a:t>
            </a:r>
            <a:r>
              <a:rPr sz="1800" dirty="0">
                <a:latin typeface="Arial"/>
                <a:cs typeface="Arial"/>
              </a:rPr>
              <a:t>(R,G,B,D) </a:t>
            </a:r>
            <a:r>
              <a:rPr sz="1800" spc="-5" dirty="0">
                <a:latin typeface="Arial"/>
                <a:cs typeface="Arial"/>
              </a:rPr>
              <a:t>pada kelas </a:t>
            </a:r>
            <a:r>
              <a:rPr sz="180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p3:Hitung Peluang </a:t>
            </a:r>
            <a:r>
              <a:rPr sz="1800" dirty="0">
                <a:latin typeface="Arial"/>
                <a:cs typeface="Arial"/>
              </a:rPr>
              <a:t>(R,G,B,D) </a:t>
            </a:r>
            <a:r>
              <a:rPr sz="1800" spc="-5" dirty="0">
                <a:latin typeface="Arial"/>
                <a:cs typeface="Arial"/>
              </a:rPr>
              <a:t>pada kelas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p4:Hitung Peluang </a:t>
            </a:r>
            <a:r>
              <a:rPr sz="1800" dirty="0">
                <a:latin typeface="Arial"/>
                <a:cs typeface="Arial"/>
              </a:rPr>
              <a:t>(R,G,B,D) </a:t>
            </a:r>
            <a:r>
              <a:rPr sz="1800" spc="-5" dirty="0">
                <a:latin typeface="Arial"/>
                <a:cs typeface="Arial"/>
              </a:rPr>
              <a:t>pada kelas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BS</a:t>
            </a:r>
            <a:endParaRPr sz="1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4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Rules Base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756285" marR="2133600" indent="-287020">
              <a:lnSpc>
                <a:spcPct val="100600"/>
              </a:lnSpc>
              <a:spcBef>
                <a:spcPts val="430"/>
              </a:spcBef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–	if </a:t>
            </a:r>
            <a:r>
              <a:rPr sz="1800" spc="-5" dirty="0">
                <a:latin typeface="Arial"/>
                <a:cs typeface="Arial"/>
              </a:rPr>
              <a:t>((p1&gt;=p2)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(p1&gt;=p3) and (p1&gt;=p4)) then  Output 'Quality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probability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310" dirty="0">
                <a:latin typeface="Arial"/>
                <a:cs typeface="Arial"/>
              </a:rPr>
              <a:t>p1</a:t>
            </a:r>
            <a:r>
              <a:rPr sz="1800" spc="-310" dirty="0">
                <a:latin typeface="AoyagiKouzanFontT"/>
                <a:cs typeface="AoyagiKouzanFontT"/>
              </a:rPr>
              <a:t>’</a:t>
            </a:r>
            <a:endParaRPr sz="1800">
              <a:latin typeface="AoyagiKouzanFontT"/>
              <a:cs typeface="AoyagiKouzanFontT"/>
            </a:endParaRPr>
          </a:p>
          <a:p>
            <a:pPr marL="469900">
              <a:lnSpc>
                <a:spcPct val="100000"/>
              </a:lnSpc>
              <a:spcBef>
                <a:spcPts val="420"/>
              </a:spcBef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–	if </a:t>
            </a:r>
            <a:r>
              <a:rPr sz="1800" spc="-5" dirty="0">
                <a:latin typeface="Arial"/>
                <a:cs typeface="Arial"/>
              </a:rPr>
              <a:t>((p2&gt;=p1)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(p2&gt;=p3) and (p2&gt;=p4))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then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10"/>
              </a:spcBef>
            </a:pPr>
            <a:r>
              <a:rPr sz="1800" spc="-5" dirty="0">
                <a:latin typeface="Arial"/>
                <a:cs typeface="Arial"/>
              </a:rPr>
              <a:t>Output 'Quality </a:t>
            </a:r>
            <a:r>
              <a:rPr sz="1800" dirty="0">
                <a:latin typeface="Arial"/>
                <a:cs typeface="Arial"/>
              </a:rPr>
              <a:t>B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probability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310" dirty="0">
                <a:latin typeface="Arial"/>
                <a:cs typeface="Arial"/>
              </a:rPr>
              <a:t>p2</a:t>
            </a:r>
            <a:r>
              <a:rPr sz="1800" spc="-310" dirty="0">
                <a:latin typeface="AoyagiKouzanFontT"/>
                <a:cs typeface="AoyagiKouzanFontT"/>
              </a:rPr>
              <a:t>’</a:t>
            </a:r>
            <a:endParaRPr sz="1800">
              <a:latin typeface="AoyagiKouzanFontT"/>
              <a:cs typeface="AoyagiKouzanFontT"/>
            </a:endParaRPr>
          </a:p>
          <a:p>
            <a:pPr marL="756285" marR="2133600" indent="-287020">
              <a:lnSpc>
                <a:spcPct val="100000"/>
              </a:lnSpc>
              <a:spcBef>
                <a:spcPts val="420"/>
              </a:spcBef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–	if </a:t>
            </a:r>
            <a:r>
              <a:rPr sz="1800" spc="-5" dirty="0">
                <a:latin typeface="Arial"/>
                <a:cs typeface="Arial"/>
              </a:rPr>
              <a:t>((p3&gt;=p1)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(p3&gt;=p2) and (p3&gt;=p4)) then  Output 'Quality C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probability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p3'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–	if </a:t>
            </a:r>
            <a:r>
              <a:rPr sz="1800" spc="-5" dirty="0">
                <a:latin typeface="Arial"/>
                <a:cs typeface="Arial"/>
              </a:rPr>
              <a:t>((p4&gt;=p1)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(p4&gt;=p2) and (p4&gt;=p3))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then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Output 'Quality </a:t>
            </a:r>
            <a:r>
              <a:rPr sz="1800" dirty="0">
                <a:latin typeface="Arial"/>
                <a:cs typeface="Arial"/>
              </a:rPr>
              <a:t>BS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probability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p4'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2080" y="296621"/>
            <a:ext cx="47993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Contoh Studi Kasus </a:t>
            </a:r>
            <a:r>
              <a:rPr sz="4000" dirty="0"/>
              <a:t>I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295780"/>
            <a:ext cx="2325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1800" dirty="0">
                <a:latin typeface="Arial"/>
                <a:cs typeface="Arial"/>
              </a:rPr>
              <a:t>Interface </a:t>
            </a:r>
            <a:r>
              <a:rPr sz="1800" spc="-5" dirty="0">
                <a:latin typeface="Arial"/>
                <a:cs typeface="Arial"/>
              </a:rPr>
              <a:t>Program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31678"/>
            <a:ext cx="8010525" cy="1723389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45"/>
              </a:spcBef>
              <a:buChar char="•"/>
              <a:tabLst>
                <a:tab pos="355600" algn="l"/>
                <a:tab pos="356235" algn="l"/>
              </a:tabLst>
            </a:pPr>
            <a:r>
              <a:rPr sz="1800" spc="-5" dirty="0">
                <a:latin typeface="Arial"/>
                <a:cs typeface="Arial"/>
              </a:rPr>
              <a:t>Keterangan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/>
                <a:cs typeface="Arial"/>
              </a:rPr>
              <a:t>Display gambar jeruk </a:t>
            </a:r>
            <a:r>
              <a:rPr sz="1600" spc="-10" dirty="0">
                <a:latin typeface="Arial"/>
                <a:cs typeface="Arial"/>
              </a:rPr>
              <a:t>yang </a:t>
            </a:r>
            <a:r>
              <a:rPr sz="1600" spc="-5" dirty="0">
                <a:latin typeface="Arial"/>
                <a:cs typeface="Arial"/>
              </a:rPr>
              <a:t>akan diuji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mutunya.</a:t>
            </a:r>
            <a:endParaRPr sz="160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380"/>
              </a:spcBef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/>
                <a:cs typeface="Arial"/>
              </a:rPr>
              <a:t>Pada gambar tersebut terdapat dua garis vertikal. Jarak antara dua garis vertikal  tersebut digunakan untuk menghitung diameter buah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jeruk.</a:t>
            </a:r>
            <a:endParaRPr sz="1600">
              <a:latin typeface="Arial"/>
              <a:cs typeface="Arial"/>
            </a:endParaRPr>
          </a:p>
          <a:p>
            <a:pPr marL="756285" marR="441325" lvl="1" indent="-287020">
              <a:lnSpc>
                <a:spcPct val="100000"/>
              </a:lnSpc>
              <a:spcBef>
                <a:spcPts val="385"/>
              </a:spcBef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/>
                <a:cs typeface="Arial"/>
              </a:rPr>
              <a:t>display untuk mengetahui mutu jeruk </a:t>
            </a:r>
            <a:r>
              <a:rPr sz="1600" spc="-10" dirty="0">
                <a:latin typeface="Arial"/>
                <a:cs typeface="Arial"/>
              </a:rPr>
              <a:t>yang </a:t>
            </a:r>
            <a:r>
              <a:rPr sz="1600" spc="-5" dirty="0">
                <a:latin typeface="Arial"/>
                <a:cs typeface="Arial"/>
              </a:rPr>
              <a:t>sedang ditampilkan. Pada image  </a:t>
            </a:r>
            <a:r>
              <a:rPr sz="1600" spc="-10" dirty="0">
                <a:latin typeface="Arial"/>
                <a:cs typeface="Arial"/>
              </a:rPr>
              <a:t>yang </a:t>
            </a:r>
            <a:r>
              <a:rPr sz="1600" spc="-5" dirty="0">
                <a:latin typeface="Arial"/>
                <a:cs typeface="Arial"/>
              </a:rPr>
              <a:t>ditampilkan, mutu </a:t>
            </a:r>
            <a:r>
              <a:rPr sz="1600" spc="-10" dirty="0">
                <a:latin typeface="Arial"/>
                <a:cs typeface="Arial"/>
              </a:rPr>
              <a:t>yang </a:t>
            </a:r>
            <a:r>
              <a:rPr sz="1600" spc="-5" dirty="0">
                <a:latin typeface="Arial"/>
                <a:cs typeface="Arial"/>
              </a:rPr>
              <a:t>dihasilkan adalah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BS.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0112" y="1700276"/>
            <a:ext cx="7920355" cy="2881630"/>
            <a:chOff x="900112" y="1700276"/>
            <a:chExt cx="7920355" cy="2881630"/>
          </a:xfrm>
        </p:grpSpPr>
        <p:sp>
          <p:nvSpPr>
            <p:cNvPr id="6" name="object 6"/>
            <p:cNvSpPr/>
            <p:nvPr/>
          </p:nvSpPr>
          <p:spPr>
            <a:xfrm>
              <a:off x="900112" y="1700276"/>
              <a:ext cx="4824349" cy="2808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400" y="1700276"/>
              <a:ext cx="2952750" cy="28812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1976" y="296621"/>
            <a:ext cx="4938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Contoh Studi Kasus</a:t>
            </a:r>
            <a:r>
              <a:rPr sz="4000" spc="-25" dirty="0"/>
              <a:t> </a:t>
            </a:r>
            <a:r>
              <a:rPr sz="4000" dirty="0"/>
              <a:t>II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295780"/>
            <a:ext cx="2299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1800" spc="-5" dirty="0">
                <a:latin typeface="Arial"/>
                <a:cs typeface="Arial"/>
              </a:rPr>
              <a:t>‘Play Tennis’ data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576112"/>
            <a:ext cx="7468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Tentukan Keputusan Bermain Tennis (Ya atau Tidak) dengan kondisi </a:t>
            </a:r>
            <a:r>
              <a:rPr sz="1800" dirty="0">
                <a:latin typeface="Arial"/>
                <a:cs typeface="Arial"/>
              </a:rPr>
              <a:t>fitur  </a:t>
            </a:r>
            <a:r>
              <a:rPr sz="1800" spc="-5" dirty="0">
                <a:latin typeface="Arial"/>
                <a:cs typeface="Arial"/>
              </a:rPr>
              <a:t>x=(Cuaca=Cerah, Suhu=Dingin, Kelembaban=Tinggi, Angin=Labil)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25298" y="1707225"/>
          <a:ext cx="5199380" cy="372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0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5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5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0663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050" spc="110" dirty="0">
                          <a:latin typeface="Arial"/>
                          <a:cs typeface="Arial"/>
                        </a:rPr>
                        <a:t>Hari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050" spc="140" dirty="0">
                          <a:latin typeface="Arial"/>
                          <a:cs typeface="Arial"/>
                        </a:rPr>
                        <a:t>Cuaca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050" spc="140" dirty="0">
                          <a:latin typeface="Arial"/>
                          <a:cs typeface="Arial"/>
                        </a:rPr>
                        <a:t>Suhu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Kelembaban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 marL="176530" marR="171450" indent="35560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sz="1050" spc="125" dirty="0">
                          <a:latin typeface="Arial"/>
                          <a:cs typeface="Arial"/>
                        </a:rPr>
                        <a:t>Arah 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 marL="189865" marR="164465" indent="86360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sz="1050" spc="114" dirty="0">
                          <a:latin typeface="Arial"/>
                          <a:cs typeface="Arial"/>
                        </a:rPr>
                        <a:t>Play  </a:t>
                      </a:r>
                      <a:r>
                        <a:rPr sz="1050" spc="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nnis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731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050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Cerah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15"/>
                        </a:lnSpc>
                      </a:pPr>
                      <a:r>
                        <a:rPr sz="1050" spc="135" dirty="0">
                          <a:latin typeface="Arial"/>
                          <a:cs typeface="Arial"/>
                        </a:rPr>
                        <a:t>Panas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050" spc="105" dirty="0">
                          <a:latin typeface="Arial"/>
                          <a:cs typeface="Arial"/>
                        </a:rPr>
                        <a:t>Tinggi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Stabil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205"/>
                        </a:lnSpc>
                      </a:pPr>
                      <a:r>
                        <a:rPr sz="1050" i="1" spc="114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Tidak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50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Cerah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135" dirty="0">
                          <a:latin typeface="Arial"/>
                          <a:cs typeface="Arial"/>
                        </a:rPr>
                        <a:t>Panas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105" dirty="0">
                          <a:latin typeface="Arial"/>
                          <a:cs typeface="Arial"/>
                        </a:rPr>
                        <a:t>Tinggi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Labil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50" i="1" spc="114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Tidak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4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30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50" spc="140" dirty="0">
                          <a:latin typeface="Arial"/>
                          <a:cs typeface="Arial"/>
                        </a:rPr>
                        <a:t>Mendung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50" spc="135" dirty="0">
                          <a:latin typeface="Arial"/>
                          <a:cs typeface="Arial"/>
                        </a:rPr>
                        <a:t>Panas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50" spc="105" dirty="0">
                          <a:latin typeface="Arial"/>
                          <a:cs typeface="Arial"/>
                        </a:rPr>
                        <a:t>Tinggi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Stabil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2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25" dirty="0">
                          <a:latin typeface="Arial"/>
                          <a:cs typeface="Arial"/>
                        </a:rPr>
                        <a:t>Hujan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latin typeface="Arial"/>
                          <a:cs typeface="Arial"/>
                        </a:rPr>
                        <a:t>Sedang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05" dirty="0">
                          <a:latin typeface="Arial"/>
                          <a:cs typeface="Arial"/>
                        </a:rPr>
                        <a:t>Tinggi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Stabil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9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50" spc="125" dirty="0">
                          <a:latin typeface="Arial"/>
                          <a:cs typeface="Arial"/>
                        </a:rPr>
                        <a:t>Hujan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50" spc="110" dirty="0">
                          <a:latin typeface="Arial"/>
                          <a:cs typeface="Arial"/>
                        </a:rPr>
                        <a:t>Dingin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Normal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Stabil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0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50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50" spc="125" dirty="0">
                          <a:latin typeface="Arial"/>
                          <a:cs typeface="Arial"/>
                        </a:rPr>
                        <a:t>Hujan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50" spc="110" dirty="0">
                          <a:latin typeface="Arial"/>
                          <a:cs typeface="Arial"/>
                        </a:rPr>
                        <a:t>Dingin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Normal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Labil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50" i="1" spc="114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Tidak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140" dirty="0">
                          <a:latin typeface="Arial"/>
                          <a:cs typeface="Arial"/>
                        </a:rPr>
                        <a:t>Mendung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110" dirty="0">
                          <a:latin typeface="Arial"/>
                          <a:cs typeface="Arial"/>
                        </a:rPr>
                        <a:t>Dingin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Normal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Labil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9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50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Cerah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spc="110" dirty="0">
                          <a:latin typeface="Arial"/>
                          <a:cs typeface="Arial"/>
                        </a:rPr>
                        <a:t>Dingin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spc="105" dirty="0">
                          <a:latin typeface="Arial"/>
                          <a:cs typeface="Arial"/>
                        </a:rPr>
                        <a:t>Tinggi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Stabil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50" i="1" spc="114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Tidak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5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0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Cerah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050" spc="110" dirty="0">
                          <a:latin typeface="Arial"/>
                          <a:cs typeface="Arial"/>
                        </a:rPr>
                        <a:t>Dingin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Normal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Stabil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40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25" dirty="0">
                          <a:latin typeface="Arial"/>
                          <a:cs typeface="Arial"/>
                        </a:rPr>
                        <a:t>Hujan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latin typeface="Arial"/>
                          <a:cs typeface="Arial"/>
                        </a:rPr>
                        <a:t>Sedang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Normal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Stabil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40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Cerah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latin typeface="Arial"/>
                          <a:cs typeface="Arial"/>
                        </a:rPr>
                        <a:t>Sedang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Normal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Labil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40" dirty="0">
                          <a:latin typeface="Arial"/>
                          <a:cs typeface="Arial"/>
                        </a:rPr>
                        <a:t>Mendung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latin typeface="Arial"/>
                          <a:cs typeface="Arial"/>
                        </a:rPr>
                        <a:t>Sedang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05" dirty="0">
                          <a:latin typeface="Arial"/>
                          <a:cs typeface="Arial"/>
                        </a:rPr>
                        <a:t>Tinggi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Labil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858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spc="140" dirty="0">
                          <a:latin typeface="Arial"/>
                          <a:cs typeface="Arial"/>
                        </a:rPr>
                        <a:t>Mendung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spc="135" dirty="0">
                          <a:latin typeface="Arial"/>
                          <a:cs typeface="Arial"/>
                        </a:rPr>
                        <a:t>Panas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spc="130" dirty="0">
                          <a:latin typeface="Arial"/>
                          <a:cs typeface="Arial"/>
                        </a:rPr>
                        <a:t>Normal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Stabil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spc="1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628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050" i="1" spc="1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50" spc="125" dirty="0">
                          <a:latin typeface="Arial"/>
                          <a:cs typeface="Arial"/>
                        </a:rPr>
                        <a:t>Hujan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50" spc="135" dirty="0">
                          <a:latin typeface="Arial"/>
                          <a:cs typeface="Arial"/>
                        </a:rPr>
                        <a:t>Sedang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50" spc="105" dirty="0">
                          <a:latin typeface="Arial"/>
                          <a:cs typeface="Arial"/>
                        </a:rPr>
                        <a:t>Tinggi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50" spc="100" dirty="0">
                          <a:latin typeface="Arial"/>
                          <a:cs typeface="Arial"/>
                        </a:rPr>
                        <a:t>Labil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050" i="1" spc="114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Tidak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1976" y="296621"/>
            <a:ext cx="4938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Contoh Studi Kasus</a:t>
            </a:r>
            <a:r>
              <a:rPr sz="4000" spc="-25" dirty="0"/>
              <a:t> </a:t>
            </a:r>
            <a:r>
              <a:rPr sz="4000" dirty="0"/>
              <a:t>II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idx="1"/>
          </p:nvPr>
        </p:nvSpPr>
        <p:spPr>
          <a:xfrm>
            <a:off x="152400" y="614121"/>
            <a:ext cx="7886700" cy="4351338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42900" marR="5313045" indent="-342900" algn="r">
              <a:lnSpc>
                <a:spcPct val="100000"/>
              </a:lnSpc>
              <a:spcBef>
                <a:spcPts val="484"/>
              </a:spcBef>
              <a:buChar char="•"/>
              <a:tabLst>
                <a:tab pos="342900" algn="l"/>
                <a:tab pos="343535" algn="l"/>
              </a:tabLst>
            </a:pPr>
            <a:r>
              <a:rPr spc="-5" dirty="0"/>
              <a:t>Penyelesaian</a:t>
            </a:r>
            <a:r>
              <a:rPr spc="-90" dirty="0"/>
              <a:t> </a:t>
            </a:r>
            <a:r>
              <a:rPr spc="-5" dirty="0"/>
              <a:t>:</a:t>
            </a:r>
          </a:p>
          <a:p>
            <a:pPr marL="286385" marR="5282565" lvl="1" indent="-286385" algn="r">
              <a:lnSpc>
                <a:spcPct val="100000"/>
              </a:lnSpc>
              <a:spcBef>
                <a:spcPts val="380"/>
              </a:spcBef>
              <a:buChar char="–"/>
              <a:tabLst>
                <a:tab pos="286385" algn="l"/>
                <a:tab pos="287020" algn="l"/>
              </a:tabLst>
            </a:pPr>
            <a:r>
              <a:rPr sz="1600" spc="-5" dirty="0">
                <a:latin typeface="Arial"/>
                <a:cs typeface="Arial"/>
              </a:rPr>
              <a:t>Diketahui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  <a:p>
            <a:pPr marL="768985">
              <a:lnSpc>
                <a:spcPct val="100000"/>
              </a:lnSpc>
            </a:pPr>
            <a:r>
              <a:rPr spc="-5" dirty="0"/>
              <a:t>x = (Cuaca=Cerah, Suhu=Dingin, Kelembaban=Tinggi, Angin=Labil)</a:t>
            </a:r>
            <a:r>
              <a:rPr spc="80" dirty="0"/>
              <a:t> </a:t>
            </a:r>
            <a:r>
              <a:rPr spc="-5" dirty="0"/>
              <a:t>!</a:t>
            </a:r>
          </a:p>
          <a:p>
            <a:pPr marL="768985" lvl="1" indent="-287020">
              <a:lnSpc>
                <a:spcPct val="100000"/>
              </a:lnSpc>
              <a:spcBef>
                <a:spcPts val="385"/>
              </a:spcBef>
              <a:buChar char="–"/>
              <a:tabLst>
                <a:tab pos="768985" algn="l"/>
                <a:tab pos="769620" algn="l"/>
              </a:tabLst>
            </a:pPr>
            <a:r>
              <a:rPr sz="1600" spc="-5" dirty="0">
                <a:latin typeface="Arial"/>
                <a:cs typeface="Arial"/>
              </a:rPr>
              <a:t>Menggunakan Konsep Naïve </a:t>
            </a:r>
            <a:r>
              <a:rPr sz="1600" spc="-10" dirty="0">
                <a:latin typeface="Arial"/>
                <a:cs typeface="Arial"/>
              </a:rPr>
              <a:t>Bayes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  <a:p>
            <a:pPr marL="782320">
              <a:lnSpc>
                <a:spcPct val="100000"/>
              </a:lnSpc>
              <a:spcBef>
                <a:spcPts val="305"/>
              </a:spcBef>
              <a:tabLst>
                <a:tab pos="1485265" algn="l"/>
                <a:tab pos="2307590" algn="l"/>
              </a:tabLst>
            </a:pPr>
            <a:r>
              <a:rPr sz="1400" i="1" spc="105" dirty="0">
                <a:latin typeface="Times New Roman"/>
                <a:cs typeface="Times New Roman"/>
              </a:rPr>
              <a:t>h</a:t>
            </a:r>
            <a:r>
              <a:rPr sz="1800" i="1" spc="157" baseline="-16203" dirty="0">
                <a:latin typeface="Times New Roman"/>
                <a:cs typeface="Times New Roman"/>
              </a:rPr>
              <a:t>NB</a:t>
            </a:r>
            <a:r>
              <a:rPr sz="1800" i="1" spc="390" baseline="-16203" dirty="0">
                <a:latin typeface="Times New Roman"/>
                <a:cs typeface="Times New Roman"/>
              </a:rPr>
              <a:t> </a:t>
            </a:r>
            <a:r>
              <a:rPr sz="1400" spc="130" dirty="0">
                <a:latin typeface="Symbol"/>
                <a:cs typeface="Symbol"/>
              </a:rPr>
              <a:t></a:t>
            </a:r>
            <a:r>
              <a:rPr sz="1400" spc="130" dirty="0">
                <a:latin typeface="Times New Roman"/>
                <a:cs typeface="Times New Roman"/>
              </a:rPr>
              <a:t>	</a:t>
            </a:r>
            <a:r>
              <a:rPr sz="1400" spc="100" dirty="0">
                <a:latin typeface="Times New Roman"/>
                <a:cs typeface="Times New Roman"/>
              </a:rPr>
              <a:t>arg</a:t>
            </a:r>
            <a:r>
              <a:rPr sz="1400" spc="-195" dirty="0">
                <a:latin typeface="Times New Roman"/>
                <a:cs typeface="Times New Roman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max	</a:t>
            </a:r>
            <a:r>
              <a:rPr sz="1400" i="1" spc="130" dirty="0">
                <a:latin typeface="Times New Roman"/>
                <a:cs typeface="Times New Roman"/>
              </a:rPr>
              <a:t>P</a:t>
            </a:r>
            <a:r>
              <a:rPr sz="1400" spc="130" dirty="0">
                <a:latin typeface="Times New Roman"/>
                <a:cs typeface="Times New Roman"/>
              </a:rPr>
              <a:t>(</a:t>
            </a:r>
            <a:r>
              <a:rPr sz="1400" i="1" spc="130" dirty="0">
                <a:latin typeface="Times New Roman"/>
                <a:cs typeface="Times New Roman"/>
              </a:rPr>
              <a:t>h</a:t>
            </a:r>
            <a:r>
              <a:rPr sz="1400" spc="130" dirty="0">
                <a:latin typeface="Times New Roman"/>
                <a:cs typeface="Times New Roman"/>
              </a:rPr>
              <a:t>)</a:t>
            </a:r>
            <a:r>
              <a:rPr sz="1400" i="1" spc="130" dirty="0">
                <a:latin typeface="Times New Roman"/>
                <a:cs typeface="Times New Roman"/>
              </a:rPr>
              <a:t>P</a:t>
            </a:r>
            <a:r>
              <a:rPr sz="1400" spc="130" dirty="0">
                <a:latin typeface="Times New Roman"/>
                <a:cs typeface="Times New Roman"/>
              </a:rPr>
              <a:t>(</a:t>
            </a:r>
            <a:r>
              <a:rPr sz="1400" b="1" spc="130" dirty="0">
                <a:latin typeface="Times New Roman"/>
                <a:cs typeface="Times New Roman"/>
              </a:rPr>
              <a:t>x</a:t>
            </a:r>
            <a:r>
              <a:rPr sz="1400" b="1" spc="-215" dirty="0">
                <a:latin typeface="Times New Roman"/>
                <a:cs typeface="Times New Roman"/>
              </a:rPr>
              <a:t> </a:t>
            </a:r>
            <a:r>
              <a:rPr sz="1400" spc="45" dirty="0">
                <a:latin typeface="Times New Roman"/>
                <a:cs typeface="Times New Roman"/>
              </a:rPr>
              <a:t>| </a:t>
            </a:r>
            <a:r>
              <a:rPr sz="1400" i="1" spc="95" dirty="0">
                <a:latin typeface="Times New Roman"/>
                <a:cs typeface="Times New Roman"/>
              </a:rPr>
              <a:t>h</a:t>
            </a:r>
            <a:r>
              <a:rPr sz="1400" spc="95" dirty="0">
                <a:latin typeface="Times New Roman"/>
                <a:cs typeface="Times New Roman"/>
              </a:rPr>
              <a:t>)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6831" y="3214079"/>
            <a:ext cx="76200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i="1" spc="65" dirty="0"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2003" y="3131507"/>
            <a:ext cx="972185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i="1" spc="70" dirty="0">
                <a:latin typeface="Times New Roman"/>
                <a:cs typeface="Times New Roman"/>
              </a:rPr>
              <a:t>h</a:t>
            </a:r>
            <a:r>
              <a:rPr sz="1200" spc="70" dirty="0">
                <a:latin typeface="Symbol"/>
                <a:cs typeface="Symbol"/>
              </a:rPr>
              <a:t></a:t>
            </a:r>
            <a:r>
              <a:rPr sz="1200" spc="70" dirty="0">
                <a:latin typeface="Times New Roman"/>
                <a:cs typeface="Times New Roman"/>
              </a:rPr>
              <a:t>[</a:t>
            </a:r>
            <a:r>
              <a:rPr sz="1200" i="1" spc="70" dirty="0">
                <a:latin typeface="Times New Roman"/>
                <a:cs typeface="Times New Roman"/>
              </a:rPr>
              <a:t>Ya</a:t>
            </a:r>
            <a:r>
              <a:rPr sz="1200" spc="70" dirty="0">
                <a:latin typeface="Times New Roman"/>
                <a:cs typeface="Times New Roman"/>
              </a:rPr>
              <a:t>,</a:t>
            </a:r>
            <a:r>
              <a:rPr sz="1200" i="1" spc="70" dirty="0">
                <a:latin typeface="Times New Roman"/>
                <a:cs typeface="Times New Roman"/>
              </a:rPr>
              <a:t>Tidak</a:t>
            </a:r>
            <a:r>
              <a:rPr sz="1200" spc="7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8085" y="2619735"/>
            <a:ext cx="972185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i="1" spc="70" dirty="0">
                <a:latin typeface="Times New Roman"/>
                <a:cs typeface="Times New Roman"/>
              </a:rPr>
              <a:t>h</a:t>
            </a:r>
            <a:r>
              <a:rPr sz="1200" spc="70" dirty="0">
                <a:latin typeface="Symbol"/>
                <a:cs typeface="Symbol"/>
              </a:rPr>
              <a:t></a:t>
            </a:r>
            <a:r>
              <a:rPr sz="1200" spc="70" dirty="0">
                <a:latin typeface="Times New Roman"/>
                <a:cs typeface="Times New Roman"/>
              </a:rPr>
              <a:t>[</a:t>
            </a:r>
            <a:r>
              <a:rPr sz="1200" i="1" spc="70" dirty="0">
                <a:latin typeface="Times New Roman"/>
                <a:cs typeface="Times New Roman"/>
              </a:rPr>
              <a:t>Ya</a:t>
            </a:r>
            <a:r>
              <a:rPr sz="1200" spc="70" dirty="0">
                <a:latin typeface="Times New Roman"/>
                <a:cs typeface="Times New Roman"/>
              </a:rPr>
              <a:t>,</a:t>
            </a:r>
            <a:r>
              <a:rPr sz="1200" i="1" spc="70" dirty="0">
                <a:latin typeface="Times New Roman"/>
                <a:cs typeface="Times New Roman"/>
              </a:rPr>
              <a:t>Tidak</a:t>
            </a:r>
            <a:r>
              <a:rPr sz="1200" spc="7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8044" y="2699910"/>
            <a:ext cx="265112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44170" algn="l"/>
                <a:tab pos="1167130" algn="l"/>
              </a:tabLst>
            </a:pPr>
            <a:r>
              <a:rPr sz="1400" spc="130" dirty="0">
                <a:latin typeface="Symbol"/>
                <a:cs typeface="Symbol"/>
              </a:rPr>
              <a:t></a:t>
            </a:r>
            <a:r>
              <a:rPr sz="1400" spc="130" dirty="0">
                <a:latin typeface="Times New Roman"/>
                <a:cs typeface="Times New Roman"/>
              </a:rPr>
              <a:t>	</a:t>
            </a:r>
            <a:r>
              <a:rPr sz="1400" spc="135" dirty="0">
                <a:latin typeface="Times New Roman"/>
                <a:cs typeface="Times New Roman"/>
              </a:rPr>
              <a:t>a</a:t>
            </a:r>
            <a:r>
              <a:rPr sz="1400" spc="45" dirty="0">
                <a:latin typeface="Times New Roman"/>
                <a:cs typeface="Times New Roman"/>
              </a:rPr>
              <a:t>r</a:t>
            </a:r>
            <a:r>
              <a:rPr sz="1400" spc="120" dirty="0">
                <a:latin typeface="Times New Roman"/>
                <a:cs typeface="Times New Roman"/>
              </a:rPr>
              <a:t>g</a:t>
            </a:r>
            <a:r>
              <a:rPr sz="1400" spc="-195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m</a:t>
            </a:r>
            <a:r>
              <a:rPr sz="1400" spc="140" dirty="0">
                <a:latin typeface="Times New Roman"/>
                <a:cs typeface="Times New Roman"/>
              </a:rPr>
              <a:t>a</a:t>
            </a:r>
            <a:r>
              <a:rPr sz="1400" spc="120" dirty="0">
                <a:latin typeface="Times New Roman"/>
                <a:cs typeface="Times New Roman"/>
              </a:rPr>
              <a:t>x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i="1" spc="155" dirty="0">
                <a:latin typeface="Times New Roman"/>
                <a:cs typeface="Times New Roman"/>
              </a:rPr>
              <a:t>P</a:t>
            </a:r>
            <a:r>
              <a:rPr sz="1400" spc="100" dirty="0">
                <a:latin typeface="Times New Roman"/>
                <a:cs typeface="Times New Roman"/>
              </a:rPr>
              <a:t>(</a:t>
            </a:r>
            <a:r>
              <a:rPr sz="1400" i="1" spc="114" dirty="0">
                <a:latin typeface="Times New Roman"/>
                <a:cs typeface="Times New Roman"/>
              </a:rPr>
              <a:t>h</a:t>
            </a:r>
            <a:r>
              <a:rPr sz="1400" spc="15" dirty="0">
                <a:latin typeface="Times New Roman"/>
                <a:cs typeface="Times New Roman"/>
              </a:rPr>
              <a:t>)</a:t>
            </a:r>
            <a:r>
              <a:rPr sz="4650" spc="922" baseline="-11648" dirty="0">
                <a:latin typeface="Symbol"/>
                <a:cs typeface="Symbol"/>
              </a:rPr>
              <a:t></a:t>
            </a:r>
            <a:r>
              <a:rPr sz="1400" i="1" spc="155" dirty="0">
                <a:latin typeface="Times New Roman"/>
                <a:cs typeface="Times New Roman"/>
              </a:rPr>
              <a:t>P</a:t>
            </a:r>
            <a:r>
              <a:rPr sz="1400" spc="105" dirty="0">
                <a:latin typeface="Times New Roman"/>
                <a:cs typeface="Times New Roman"/>
              </a:rPr>
              <a:t>(</a:t>
            </a:r>
            <a:r>
              <a:rPr sz="1400" i="1" spc="65" dirty="0">
                <a:latin typeface="Times New Roman"/>
                <a:cs typeface="Times New Roman"/>
              </a:rPr>
              <a:t>a</a:t>
            </a:r>
            <a:r>
              <a:rPr sz="1800" i="1" spc="97" baseline="-16203" dirty="0">
                <a:latin typeface="Times New Roman"/>
                <a:cs typeface="Times New Roman"/>
              </a:rPr>
              <a:t>t</a:t>
            </a:r>
            <a:r>
              <a:rPr sz="1800" i="1" baseline="-16203" dirty="0">
                <a:latin typeface="Times New Roman"/>
                <a:cs typeface="Times New Roman"/>
              </a:rPr>
              <a:t> </a:t>
            </a:r>
            <a:r>
              <a:rPr sz="1800" i="1" spc="-187" baseline="-16203" dirty="0">
                <a:latin typeface="Times New Roman"/>
                <a:cs typeface="Times New Roman"/>
              </a:rPr>
              <a:t> </a:t>
            </a:r>
            <a:r>
              <a:rPr sz="1400" spc="45" dirty="0">
                <a:latin typeface="Times New Roman"/>
                <a:cs typeface="Times New Roman"/>
              </a:rPr>
              <a:t>|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i="1" spc="114" dirty="0">
                <a:latin typeface="Times New Roman"/>
                <a:cs typeface="Times New Roman"/>
              </a:rPr>
              <a:t>h</a:t>
            </a:r>
            <a:r>
              <a:rPr sz="1400" spc="80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198" y="3412497"/>
            <a:ext cx="8528050" cy="2900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90"/>
              </a:spcBef>
              <a:tabLst>
                <a:tab pos="979169" algn="l"/>
                <a:tab pos="1801495" algn="l"/>
              </a:tabLst>
            </a:pPr>
            <a:r>
              <a:rPr sz="1400" spc="130" dirty="0">
                <a:latin typeface="Symbol"/>
                <a:cs typeface="Symbol"/>
              </a:rPr>
              <a:t></a:t>
            </a:r>
            <a:r>
              <a:rPr sz="1400" spc="130" dirty="0">
                <a:latin typeface="Times New Roman"/>
                <a:cs typeface="Times New Roman"/>
              </a:rPr>
              <a:t>	</a:t>
            </a:r>
            <a:r>
              <a:rPr sz="1400" spc="100" dirty="0">
                <a:latin typeface="Times New Roman"/>
                <a:cs typeface="Times New Roman"/>
              </a:rPr>
              <a:t>arg</a:t>
            </a:r>
            <a:r>
              <a:rPr sz="1400" spc="-195" dirty="0">
                <a:latin typeface="Times New Roman"/>
                <a:cs typeface="Times New Roman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max	</a:t>
            </a:r>
            <a:r>
              <a:rPr sz="1400" i="1" spc="140" dirty="0">
                <a:latin typeface="Times New Roman"/>
                <a:cs typeface="Times New Roman"/>
              </a:rPr>
              <a:t>P</a:t>
            </a:r>
            <a:r>
              <a:rPr sz="1400" spc="140" dirty="0">
                <a:latin typeface="Times New Roman"/>
                <a:cs typeface="Times New Roman"/>
              </a:rPr>
              <a:t>(</a:t>
            </a:r>
            <a:r>
              <a:rPr sz="1400" i="1" spc="140" dirty="0">
                <a:latin typeface="Times New Roman"/>
                <a:cs typeface="Times New Roman"/>
              </a:rPr>
              <a:t>h</a:t>
            </a:r>
            <a:r>
              <a:rPr sz="1400" spc="140" dirty="0">
                <a:latin typeface="Times New Roman"/>
                <a:cs typeface="Times New Roman"/>
              </a:rPr>
              <a:t>)</a:t>
            </a:r>
            <a:r>
              <a:rPr sz="1400" i="1" spc="140" dirty="0">
                <a:latin typeface="Times New Roman"/>
                <a:cs typeface="Times New Roman"/>
              </a:rPr>
              <a:t>P</a:t>
            </a:r>
            <a:r>
              <a:rPr sz="1400" spc="140" dirty="0">
                <a:latin typeface="Times New Roman"/>
                <a:cs typeface="Times New Roman"/>
              </a:rPr>
              <a:t>(</a:t>
            </a:r>
            <a:r>
              <a:rPr sz="1400" i="1" spc="140" dirty="0">
                <a:latin typeface="Times New Roman"/>
                <a:cs typeface="Times New Roman"/>
              </a:rPr>
              <a:t>Cua</a:t>
            </a:r>
            <a:r>
              <a:rPr sz="1400" i="1" spc="-160" dirty="0">
                <a:latin typeface="Times New Roman"/>
                <a:cs typeface="Times New Roman"/>
              </a:rPr>
              <a:t> </a:t>
            </a:r>
            <a:r>
              <a:rPr sz="1400" spc="130" dirty="0">
                <a:latin typeface="Symbol"/>
                <a:cs typeface="Symbol"/>
              </a:rPr>
              <a:t>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i="1" spc="145" dirty="0">
                <a:latin typeface="Times New Roman"/>
                <a:cs typeface="Times New Roman"/>
              </a:rPr>
              <a:t>Cer</a:t>
            </a:r>
            <a:r>
              <a:rPr sz="1400" i="1" spc="-170" dirty="0">
                <a:latin typeface="Times New Roman"/>
                <a:cs typeface="Times New Roman"/>
              </a:rPr>
              <a:t> </a:t>
            </a:r>
            <a:r>
              <a:rPr sz="1400" spc="45" dirty="0">
                <a:latin typeface="Times New Roman"/>
                <a:cs typeface="Times New Roman"/>
              </a:rPr>
              <a:t>|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i="1" spc="150" dirty="0">
                <a:latin typeface="Times New Roman"/>
                <a:cs typeface="Times New Roman"/>
              </a:rPr>
              <a:t>h</a:t>
            </a:r>
            <a:r>
              <a:rPr sz="1400" spc="150" dirty="0">
                <a:latin typeface="Times New Roman"/>
                <a:cs typeface="Times New Roman"/>
              </a:rPr>
              <a:t>)</a:t>
            </a:r>
            <a:r>
              <a:rPr sz="1400" i="1" spc="150" dirty="0">
                <a:latin typeface="Times New Roman"/>
                <a:cs typeface="Times New Roman"/>
              </a:rPr>
              <a:t>P</a:t>
            </a:r>
            <a:r>
              <a:rPr sz="1400" spc="150" dirty="0">
                <a:latin typeface="Times New Roman"/>
                <a:cs typeface="Times New Roman"/>
              </a:rPr>
              <a:t>(</a:t>
            </a:r>
            <a:r>
              <a:rPr sz="1400" i="1" spc="150" dirty="0">
                <a:latin typeface="Times New Roman"/>
                <a:cs typeface="Times New Roman"/>
              </a:rPr>
              <a:t>Suh</a:t>
            </a:r>
            <a:r>
              <a:rPr sz="1400" i="1" spc="-200" dirty="0">
                <a:latin typeface="Times New Roman"/>
                <a:cs typeface="Times New Roman"/>
              </a:rPr>
              <a:t> </a:t>
            </a:r>
            <a:r>
              <a:rPr sz="1400" spc="130" dirty="0">
                <a:latin typeface="Symbol"/>
                <a:cs typeface="Symbol"/>
              </a:rPr>
              <a:t>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i="1" spc="140" dirty="0">
                <a:latin typeface="Times New Roman"/>
                <a:cs typeface="Times New Roman"/>
              </a:rPr>
              <a:t>Ding</a:t>
            </a:r>
            <a:r>
              <a:rPr sz="1400" i="1" spc="-175" dirty="0">
                <a:latin typeface="Times New Roman"/>
                <a:cs typeface="Times New Roman"/>
              </a:rPr>
              <a:t> </a:t>
            </a:r>
            <a:r>
              <a:rPr sz="1400" spc="45" dirty="0">
                <a:latin typeface="Times New Roman"/>
                <a:cs typeface="Times New Roman"/>
              </a:rPr>
              <a:t>|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i="1" spc="140" dirty="0">
                <a:latin typeface="Times New Roman"/>
                <a:cs typeface="Times New Roman"/>
              </a:rPr>
              <a:t>h</a:t>
            </a:r>
            <a:r>
              <a:rPr sz="1400" spc="140" dirty="0">
                <a:latin typeface="Times New Roman"/>
                <a:cs typeface="Times New Roman"/>
              </a:rPr>
              <a:t>)</a:t>
            </a:r>
            <a:r>
              <a:rPr sz="1400" i="1" spc="140" dirty="0">
                <a:latin typeface="Times New Roman"/>
                <a:cs typeface="Times New Roman"/>
              </a:rPr>
              <a:t>P</a:t>
            </a:r>
            <a:r>
              <a:rPr sz="1400" spc="140" dirty="0">
                <a:latin typeface="Times New Roman"/>
                <a:cs typeface="Times New Roman"/>
              </a:rPr>
              <a:t>(</a:t>
            </a:r>
            <a:r>
              <a:rPr sz="1400" i="1" spc="140" dirty="0">
                <a:latin typeface="Times New Roman"/>
                <a:cs typeface="Times New Roman"/>
              </a:rPr>
              <a:t>Kel</a:t>
            </a:r>
            <a:r>
              <a:rPr sz="1400" i="1" spc="-65" dirty="0">
                <a:latin typeface="Times New Roman"/>
                <a:cs typeface="Times New Roman"/>
              </a:rPr>
              <a:t> </a:t>
            </a:r>
            <a:r>
              <a:rPr sz="1400" spc="130" dirty="0">
                <a:latin typeface="Symbol"/>
                <a:cs typeface="Symbol"/>
              </a:rPr>
              <a:t></a:t>
            </a:r>
            <a:r>
              <a:rPr sz="1400" spc="-114" dirty="0">
                <a:latin typeface="Times New Roman"/>
                <a:cs typeface="Times New Roman"/>
              </a:rPr>
              <a:t> </a:t>
            </a:r>
            <a:r>
              <a:rPr sz="1400" i="1" spc="130" dirty="0">
                <a:latin typeface="Times New Roman"/>
                <a:cs typeface="Times New Roman"/>
              </a:rPr>
              <a:t>Ting</a:t>
            </a:r>
            <a:r>
              <a:rPr sz="1400" i="1" spc="-165" dirty="0">
                <a:latin typeface="Times New Roman"/>
                <a:cs typeface="Times New Roman"/>
              </a:rPr>
              <a:t> </a:t>
            </a:r>
            <a:r>
              <a:rPr sz="1400" spc="45" dirty="0">
                <a:latin typeface="Times New Roman"/>
                <a:cs typeface="Times New Roman"/>
              </a:rPr>
              <a:t>|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i="1" spc="125" dirty="0">
                <a:latin typeface="Times New Roman"/>
                <a:cs typeface="Times New Roman"/>
              </a:rPr>
              <a:t>h</a:t>
            </a:r>
            <a:r>
              <a:rPr sz="1400" spc="125" dirty="0">
                <a:latin typeface="Times New Roman"/>
                <a:cs typeface="Times New Roman"/>
              </a:rPr>
              <a:t>)</a:t>
            </a:r>
            <a:r>
              <a:rPr sz="1400" i="1" spc="125" dirty="0">
                <a:latin typeface="Times New Roman"/>
                <a:cs typeface="Times New Roman"/>
              </a:rPr>
              <a:t>P</a:t>
            </a:r>
            <a:r>
              <a:rPr sz="1400" spc="125" dirty="0">
                <a:latin typeface="Times New Roman"/>
                <a:cs typeface="Times New Roman"/>
              </a:rPr>
              <a:t>(</a:t>
            </a:r>
            <a:r>
              <a:rPr sz="1400" spc="-204" dirty="0">
                <a:latin typeface="Times New Roman"/>
                <a:cs typeface="Times New Roman"/>
              </a:rPr>
              <a:t> </a:t>
            </a:r>
            <a:r>
              <a:rPr sz="1400" i="1" spc="155" dirty="0">
                <a:latin typeface="Times New Roman"/>
                <a:cs typeface="Times New Roman"/>
              </a:rPr>
              <a:t>Ang</a:t>
            </a:r>
            <a:r>
              <a:rPr sz="1400" i="1" spc="-60" dirty="0">
                <a:latin typeface="Times New Roman"/>
                <a:cs typeface="Times New Roman"/>
              </a:rPr>
              <a:t> </a:t>
            </a:r>
            <a:r>
              <a:rPr sz="1400" spc="130" dirty="0">
                <a:latin typeface="Symbol"/>
                <a:cs typeface="Symbol"/>
              </a:rPr>
              <a:t>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i="1" spc="140" dirty="0">
                <a:latin typeface="Times New Roman"/>
                <a:cs typeface="Times New Roman"/>
              </a:rPr>
              <a:t>Lab</a:t>
            </a:r>
            <a:r>
              <a:rPr sz="1400" i="1" spc="-200" dirty="0">
                <a:latin typeface="Times New Roman"/>
                <a:cs typeface="Times New Roman"/>
              </a:rPr>
              <a:t> </a:t>
            </a:r>
            <a:r>
              <a:rPr sz="1400" spc="45" dirty="0">
                <a:latin typeface="Times New Roman"/>
                <a:cs typeface="Times New Roman"/>
              </a:rPr>
              <a:t>|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i="1" spc="95" dirty="0">
                <a:latin typeface="Times New Roman"/>
                <a:cs typeface="Times New Roman"/>
              </a:rPr>
              <a:t>h</a:t>
            </a:r>
            <a:r>
              <a:rPr sz="1400" spc="95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831215">
              <a:lnSpc>
                <a:spcPct val="100000"/>
              </a:lnSpc>
            </a:pPr>
            <a:r>
              <a:rPr sz="1200" i="1" spc="70" dirty="0">
                <a:latin typeface="Times New Roman"/>
                <a:cs typeface="Times New Roman"/>
              </a:rPr>
              <a:t>h</a:t>
            </a:r>
            <a:r>
              <a:rPr sz="1200" spc="70" dirty="0">
                <a:latin typeface="Symbol"/>
                <a:cs typeface="Symbol"/>
              </a:rPr>
              <a:t></a:t>
            </a:r>
            <a:r>
              <a:rPr sz="1200" spc="70" dirty="0">
                <a:latin typeface="Times New Roman"/>
                <a:cs typeface="Times New Roman"/>
              </a:rPr>
              <a:t>[</a:t>
            </a:r>
            <a:r>
              <a:rPr sz="1200" i="1" spc="70" dirty="0">
                <a:latin typeface="Times New Roman"/>
                <a:cs typeface="Times New Roman"/>
              </a:rPr>
              <a:t>Ya</a:t>
            </a:r>
            <a:r>
              <a:rPr sz="1200" spc="70" dirty="0">
                <a:latin typeface="Times New Roman"/>
                <a:cs typeface="Times New Roman"/>
              </a:rPr>
              <a:t>,</a:t>
            </a:r>
            <a:r>
              <a:rPr sz="1200" i="1" spc="70" dirty="0">
                <a:latin typeface="Times New Roman"/>
                <a:cs typeface="Times New Roman"/>
              </a:rPr>
              <a:t>Tidak</a:t>
            </a:r>
            <a:r>
              <a:rPr sz="1200" spc="7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372745">
              <a:lnSpc>
                <a:spcPct val="100000"/>
              </a:lnSpc>
              <a:spcBef>
                <a:spcPts val="585"/>
              </a:spcBef>
              <a:tabLst>
                <a:tab pos="659130" algn="l"/>
              </a:tabLst>
            </a:pPr>
            <a:r>
              <a:rPr sz="1600" spc="-5" dirty="0">
                <a:latin typeface="Arial"/>
                <a:cs typeface="Arial"/>
              </a:rPr>
              <a:t>–	Menghitung Probabilitas untuk PlayTennis </a:t>
            </a:r>
            <a:r>
              <a:rPr sz="1600" spc="-15" dirty="0">
                <a:latin typeface="Arial"/>
                <a:cs typeface="Arial"/>
              </a:rPr>
              <a:t>(Ya </a:t>
            </a:r>
            <a:r>
              <a:rPr sz="1600" spc="-5" dirty="0">
                <a:latin typeface="Arial"/>
                <a:cs typeface="Arial"/>
              </a:rPr>
              <a:t>atau Tidak)</a:t>
            </a:r>
            <a:r>
              <a:rPr sz="1600" spc="1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  <a:spcBef>
                <a:spcPts val="1195"/>
              </a:spcBef>
            </a:pPr>
            <a:r>
              <a:rPr sz="1350" i="1" spc="325" dirty="0">
                <a:latin typeface="Times New Roman"/>
                <a:cs typeface="Times New Roman"/>
              </a:rPr>
              <a:t>P</a:t>
            </a:r>
            <a:r>
              <a:rPr sz="1350" spc="325" dirty="0">
                <a:latin typeface="Times New Roman"/>
                <a:cs typeface="Times New Roman"/>
              </a:rPr>
              <a:t>(</a:t>
            </a:r>
            <a:r>
              <a:rPr sz="1350" i="1" spc="325" dirty="0">
                <a:latin typeface="Times New Roman"/>
                <a:cs typeface="Times New Roman"/>
              </a:rPr>
              <a:t>PlayTennis</a:t>
            </a:r>
            <a:r>
              <a:rPr sz="1350" spc="325" dirty="0">
                <a:latin typeface="Symbol"/>
                <a:cs typeface="Symbol"/>
              </a:rPr>
              <a:t>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i="1" spc="285" dirty="0">
                <a:latin typeface="Times New Roman"/>
                <a:cs typeface="Times New Roman"/>
              </a:rPr>
              <a:t>Ya</a:t>
            </a:r>
            <a:r>
              <a:rPr sz="1350" spc="285" dirty="0">
                <a:latin typeface="Times New Roman"/>
                <a:cs typeface="Times New Roman"/>
              </a:rPr>
              <a:t>)</a:t>
            </a:r>
            <a:r>
              <a:rPr sz="1350" spc="85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spc="330" dirty="0">
                <a:latin typeface="Times New Roman"/>
                <a:cs typeface="Times New Roman"/>
              </a:rPr>
              <a:t>9</a:t>
            </a:r>
            <a:r>
              <a:rPr sz="1350" spc="-100" dirty="0">
                <a:latin typeface="Times New Roman"/>
                <a:cs typeface="Times New Roman"/>
              </a:rPr>
              <a:t> </a:t>
            </a:r>
            <a:r>
              <a:rPr sz="1350" spc="300" dirty="0">
                <a:latin typeface="Times New Roman"/>
                <a:cs typeface="Times New Roman"/>
              </a:rPr>
              <a:t>/14</a:t>
            </a:r>
            <a:r>
              <a:rPr sz="1350" spc="80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245" dirty="0">
                <a:latin typeface="Times New Roman"/>
                <a:cs typeface="Times New Roman"/>
              </a:rPr>
              <a:t>0.64</a:t>
            </a:r>
            <a:endParaRPr sz="135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405"/>
              </a:spcBef>
            </a:pPr>
            <a:r>
              <a:rPr sz="1350" i="1" spc="325" dirty="0">
                <a:latin typeface="Times New Roman"/>
                <a:cs typeface="Times New Roman"/>
              </a:rPr>
              <a:t>P</a:t>
            </a:r>
            <a:r>
              <a:rPr sz="1350" spc="325" dirty="0">
                <a:latin typeface="Times New Roman"/>
                <a:cs typeface="Times New Roman"/>
              </a:rPr>
              <a:t>(</a:t>
            </a:r>
            <a:r>
              <a:rPr sz="1350" i="1" spc="325" dirty="0">
                <a:latin typeface="Times New Roman"/>
                <a:cs typeface="Times New Roman"/>
              </a:rPr>
              <a:t>PlayTennis</a:t>
            </a:r>
            <a:r>
              <a:rPr sz="1350" spc="325" dirty="0">
                <a:latin typeface="Symbol"/>
                <a:cs typeface="Symbol"/>
              </a:rPr>
              <a:t>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i="1" spc="295" dirty="0">
                <a:latin typeface="Times New Roman"/>
                <a:cs typeface="Times New Roman"/>
              </a:rPr>
              <a:t>Tidak</a:t>
            </a:r>
            <a:r>
              <a:rPr sz="1350" spc="295" dirty="0">
                <a:latin typeface="Times New Roman"/>
                <a:cs typeface="Times New Roman"/>
              </a:rPr>
              <a:t>)</a:t>
            </a:r>
            <a:r>
              <a:rPr sz="1350" spc="85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spc="330" dirty="0">
                <a:latin typeface="Times New Roman"/>
                <a:cs typeface="Times New Roman"/>
              </a:rPr>
              <a:t>5</a:t>
            </a:r>
            <a:r>
              <a:rPr sz="1350" spc="-130" dirty="0">
                <a:latin typeface="Times New Roman"/>
                <a:cs typeface="Times New Roman"/>
              </a:rPr>
              <a:t> </a:t>
            </a:r>
            <a:r>
              <a:rPr sz="1350" spc="295" dirty="0">
                <a:latin typeface="Times New Roman"/>
                <a:cs typeface="Times New Roman"/>
              </a:rPr>
              <a:t>/14</a:t>
            </a:r>
            <a:r>
              <a:rPr sz="1350" spc="85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245" dirty="0">
                <a:latin typeface="Times New Roman"/>
                <a:cs typeface="Times New Roman"/>
              </a:rPr>
              <a:t>0.36</a:t>
            </a:r>
            <a:endParaRPr sz="135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414"/>
              </a:spcBef>
            </a:pPr>
            <a:r>
              <a:rPr sz="1350" i="1" spc="320" dirty="0">
                <a:latin typeface="Times New Roman"/>
                <a:cs typeface="Times New Roman"/>
              </a:rPr>
              <a:t>P</a:t>
            </a:r>
            <a:r>
              <a:rPr sz="1350" spc="320" dirty="0">
                <a:latin typeface="Times New Roman"/>
                <a:cs typeface="Times New Roman"/>
              </a:rPr>
              <a:t>(</a:t>
            </a:r>
            <a:r>
              <a:rPr sz="1350" spc="-160" dirty="0">
                <a:latin typeface="Times New Roman"/>
                <a:cs typeface="Times New Roman"/>
              </a:rPr>
              <a:t> </a:t>
            </a:r>
            <a:r>
              <a:rPr sz="1350" i="1" spc="375" dirty="0">
                <a:latin typeface="Times New Roman"/>
                <a:cs typeface="Times New Roman"/>
              </a:rPr>
              <a:t>Angin</a:t>
            </a:r>
            <a:r>
              <a:rPr sz="1350" spc="375" dirty="0">
                <a:latin typeface="Symbol"/>
                <a:cs typeface="Symbol"/>
              </a:rPr>
              <a:t></a:t>
            </a:r>
            <a:r>
              <a:rPr sz="1350" spc="140" dirty="0">
                <a:latin typeface="Times New Roman"/>
                <a:cs typeface="Times New Roman"/>
              </a:rPr>
              <a:t> </a:t>
            </a:r>
            <a:r>
              <a:rPr sz="1350" i="1" spc="305" dirty="0">
                <a:latin typeface="Times New Roman"/>
                <a:cs typeface="Times New Roman"/>
              </a:rPr>
              <a:t>Labil</a:t>
            </a:r>
            <a:r>
              <a:rPr sz="1350" spc="305" dirty="0">
                <a:latin typeface="Times New Roman"/>
                <a:cs typeface="Times New Roman"/>
              </a:rPr>
              <a:t>|</a:t>
            </a:r>
            <a:r>
              <a:rPr sz="1350" spc="85" dirty="0">
                <a:latin typeface="Times New Roman"/>
                <a:cs typeface="Times New Roman"/>
              </a:rPr>
              <a:t> </a:t>
            </a:r>
            <a:r>
              <a:rPr sz="1350" i="1" spc="320" dirty="0">
                <a:latin typeface="Times New Roman"/>
                <a:cs typeface="Times New Roman"/>
              </a:rPr>
              <a:t>PlayTennis</a:t>
            </a:r>
            <a:r>
              <a:rPr sz="1350" spc="320" dirty="0">
                <a:latin typeface="Symbol"/>
                <a:cs typeface="Symbol"/>
              </a:rPr>
              <a:t>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i="1" spc="285" dirty="0">
                <a:latin typeface="Times New Roman"/>
                <a:cs typeface="Times New Roman"/>
              </a:rPr>
              <a:t>Ya</a:t>
            </a:r>
            <a:r>
              <a:rPr sz="1350" spc="285" dirty="0">
                <a:latin typeface="Times New Roman"/>
                <a:cs typeface="Times New Roman"/>
              </a:rPr>
              <a:t>)</a:t>
            </a:r>
            <a:r>
              <a:rPr sz="1350" spc="85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spc="330" dirty="0">
                <a:latin typeface="Times New Roman"/>
                <a:cs typeface="Times New Roman"/>
              </a:rPr>
              <a:t>3</a:t>
            </a:r>
            <a:r>
              <a:rPr sz="1350" spc="-160" dirty="0">
                <a:latin typeface="Times New Roman"/>
                <a:cs typeface="Times New Roman"/>
              </a:rPr>
              <a:t> </a:t>
            </a:r>
            <a:r>
              <a:rPr sz="1350" spc="185" dirty="0">
                <a:latin typeface="Times New Roman"/>
                <a:cs typeface="Times New Roman"/>
              </a:rPr>
              <a:t>/</a:t>
            </a:r>
            <a:r>
              <a:rPr sz="1350" spc="-75" dirty="0">
                <a:latin typeface="Times New Roman"/>
                <a:cs typeface="Times New Roman"/>
              </a:rPr>
              <a:t> </a:t>
            </a:r>
            <a:r>
              <a:rPr sz="1350" spc="330" dirty="0">
                <a:latin typeface="Times New Roman"/>
                <a:cs typeface="Times New Roman"/>
              </a:rPr>
              <a:t>9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245" dirty="0">
                <a:latin typeface="Times New Roman"/>
                <a:cs typeface="Times New Roman"/>
              </a:rPr>
              <a:t>0.33</a:t>
            </a:r>
            <a:endParaRPr sz="135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405"/>
              </a:spcBef>
            </a:pPr>
            <a:r>
              <a:rPr sz="1350" i="1" spc="320" dirty="0">
                <a:latin typeface="Times New Roman"/>
                <a:cs typeface="Times New Roman"/>
              </a:rPr>
              <a:t>P</a:t>
            </a:r>
            <a:r>
              <a:rPr sz="1350" spc="320" dirty="0">
                <a:latin typeface="Times New Roman"/>
                <a:cs typeface="Times New Roman"/>
              </a:rPr>
              <a:t>(</a:t>
            </a:r>
            <a:r>
              <a:rPr sz="1350" spc="-160" dirty="0">
                <a:latin typeface="Times New Roman"/>
                <a:cs typeface="Times New Roman"/>
              </a:rPr>
              <a:t> </a:t>
            </a:r>
            <a:r>
              <a:rPr sz="1350" i="1" spc="375" dirty="0">
                <a:latin typeface="Times New Roman"/>
                <a:cs typeface="Times New Roman"/>
              </a:rPr>
              <a:t>Angin</a:t>
            </a:r>
            <a:r>
              <a:rPr sz="1350" spc="375" dirty="0">
                <a:latin typeface="Symbol"/>
                <a:cs typeface="Symbol"/>
              </a:rPr>
              <a:t></a:t>
            </a:r>
            <a:r>
              <a:rPr sz="1350" spc="140" dirty="0">
                <a:latin typeface="Times New Roman"/>
                <a:cs typeface="Times New Roman"/>
              </a:rPr>
              <a:t> </a:t>
            </a:r>
            <a:r>
              <a:rPr sz="1350" i="1" spc="305" dirty="0">
                <a:latin typeface="Times New Roman"/>
                <a:cs typeface="Times New Roman"/>
              </a:rPr>
              <a:t>Labil</a:t>
            </a:r>
            <a:r>
              <a:rPr sz="1350" spc="305" dirty="0">
                <a:latin typeface="Times New Roman"/>
                <a:cs typeface="Times New Roman"/>
              </a:rPr>
              <a:t>|</a:t>
            </a:r>
            <a:r>
              <a:rPr sz="1350" spc="85" dirty="0">
                <a:latin typeface="Times New Roman"/>
                <a:cs typeface="Times New Roman"/>
              </a:rPr>
              <a:t> </a:t>
            </a:r>
            <a:r>
              <a:rPr sz="1350" i="1" spc="320" dirty="0">
                <a:latin typeface="Times New Roman"/>
                <a:cs typeface="Times New Roman"/>
              </a:rPr>
              <a:t>PlayTennis</a:t>
            </a:r>
            <a:r>
              <a:rPr sz="1350" spc="320" dirty="0">
                <a:latin typeface="Symbol"/>
                <a:cs typeface="Symbol"/>
              </a:rPr>
              <a:t>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i="1" spc="295" dirty="0">
                <a:latin typeface="Times New Roman"/>
                <a:cs typeface="Times New Roman"/>
              </a:rPr>
              <a:t>Tidak</a:t>
            </a:r>
            <a:r>
              <a:rPr sz="1350" spc="295" dirty="0">
                <a:latin typeface="Times New Roman"/>
                <a:cs typeface="Times New Roman"/>
              </a:rPr>
              <a:t>)</a:t>
            </a:r>
            <a:r>
              <a:rPr sz="1350" spc="85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spc="330" dirty="0">
                <a:latin typeface="Times New Roman"/>
                <a:cs typeface="Times New Roman"/>
              </a:rPr>
              <a:t>3</a:t>
            </a:r>
            <a:r>
              <a:rPr sz="1350" spc="-160" dirty="0">
                <a:latin typeface="Times New Roman"/>
                <a:cs typeface="Times New Roman"/>
              </a:rPr>
              <a:t> </a:t>
            </a:r>
            <a:r>
              <a:rPr sz="1350" spc="185" dirty="0">
                <a:latin typeface="Times New Roman"/>
                <a:cs typeface="Times New Roman"/>
              </a:rPr>
              <a:t>/</a:t>
            </a:r>
            <a:r>
              <a:rPr sz="1350" spc="-75" dirty="0">
                <a:latin typeface="Times New Roman"/>
                <a:cs typeface="Times New Roman"/>
              </a:rPr>
              <a:t> </a:t>
            </a:r>
            <a:r>
              <a:rPr sz="1350" spc="330" dirty="0">
                <a:latin typeface="Times New Roman"/>
                <a:cs typeface="Times New Roman"/>
              </a:rPr>
              <a:t>5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45" dirty="0">
                <a:latin typeface="Times New Roman"/>
                <a:cs typeface="Times New Roman"/>
              </a:rPr>
              <a:t> </a:t>
            </a:r>
            <a:r>
              <a:rPr sz="1350" spc="245" dirty="0">
                <a:latin typeface="Times New Roman"/>
                <a:cs typeface="Times New Roman"/>
              </a:rPr>
              <a:t>0.60</a:t>
            </a:r>
            <a:endParaRPr sz="13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409"/>
              </a:spcBef>
            </a:pPr>
            <a:r>
              <a:rPr sz="1350" i="1" spc="200" dirty="0">
                <a:latin typeface="Times New Roman"/>
                <a:cs typeface="Times New Roman"/>
              </a:rPr>
              <a:t>etc</a:t>
            </a:r>
            <a:r>
              <a:rPr sz="1350" spc="200" dirty="0">
                <a:latin typeface="Times New Roman"/>
                <a:cs typeface="Times New Roman"/>
              </a:rPr>
              <a:t>.</a:t>
            </a:r>
            <a:endParaRPr sz="135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409"/>
              </a:spcBef>
            </a:pPr>
            <a:r>
              <a:rPr sz="1350" i="1" spc="320" dirty="0">
                <a:latin typeface="Times New Roman"/>
                <a:cs typeface="Times New Roman"/>
              </a:rPr>
              <a:t>P</a:t>
            </a:r>
            <a:r>
              <a:rPr sz="1350" spc="320" dirty="0">
                <a:latin typeface="Times New Roman"/>
                <a:cs typeface="Times New Roman"/>
              </a:rPr>
              <a:t>(</a:t>
            </a:r>
            <a:r>
              <a:rPr sz="1350" i="1" spc="320" dirty="0">
                <a:latin typeface="Times New Roman"/>
                <a:cs typeface="Times New Roman"/>
              </a:rPr>
              <a:t>Cerah</a:t>
            </a:r>
            <a:r>
              <a:rPr sz="1350" spc="320" dirty="0">
                <a:latin typeface="Times New Roman"/>
                <a:cs typeface="Times New Roman"/>
              </a:rPr>
              <a:t>|</a:t>
            </a:r>
            <a:r>
              <a:rPr sz="1350" spc="-105" dirty="0">
                <a:latin typeface="Times New Roman"/>
                <a:cs typeface="Times New Roman"/>
              </a:rPr>
              <a:t> </a:t>
            </a:r>
            <a:r>
              <a:rPr sz="1350" i="1" spc="315" dirty="0">
                <a:latin typeface="Times New Roman"/>
                <a:cs typeface="Times New Roman"/>
              </a:rPr>
              <a:t>Ya</a:t>
            </a:r>
            <a:r>
              <a:rPr sz="1350" spc="315" dirty="0">
                <a:latin typeface="Times New Roman"/>
                <a:cs typeface="Times New Roman"/>
              </a:rPr>
              <a:t>)</a:t>
            </a:r>
            <a:r>
              <a:rPr sz="1350" i="1" spc="315" dirty="0">
                <a:latin typeface="Times New Roman"/>
                <a:cs typeface="Times New Roman"/>
              </a:rPr>
              <a:t>P</a:t>
            </a:r>
            <a:r>
              <a:rPr sz="1350" spc="315" dirty="0">
                <a:latin typeface="Times New Roman"/>
                <a:cs typeface="Times New Roman"/>
              </a:rPr>
              <a:t>(</a:t>
            </a:r>
            <a:r>
              <a:rPr sz="1350" i="1" spc="315" dirty="0">
                <a:latin typeface="Times New Roman"/>
                <a:cs typeface="Times New Roman"/>
              </a:rPr>
              <a:t>Dingin</a:t>
            </a:r>
            <a:r>
              <a:rPr sz="1350" spc="315" dirty="0">
                <a:latin typeface="Times New Roman"/>
                <a:cs typeface="Times New Roman"/>
              </a:rPr>
              <a:t>|</a:t>
            </a:r>
            <a:r>
              <a:rPr sz="1350" spc="-105" dirty="0">
                <a:latin typeface="Times New Roman"/>
                <a:cs typeface="Times New Roman"/>
              </a:rPr>
              <a:t> </a:t>
            </a:r>
            <a:r>
              <a:rPr sz="1350" i="1" spc="295" dirty="0">
                <a:latin typeface="Times New Roman"/>
                <a:cs typeface="Times New Roman"/>
              </a:rPr>
              <a:t>Ya</a:t>
            </a:r>
            <a:r>
              <a:rPr sz="1350" spc="295" dirty="0">
                <a:latin typeface="Times New Roman"/>
                <a:cs typeface="Times New Roman"/>
              </a:rPr>
              <a:t>)</a:t>
            </a:r>
            <a:r>
              <a:rPr sz="1350" i="1" spc="295" dirty="0">
                <a:latin typeface="Times New Roman"/>
                <a:cs typeface="Times New Roman"/>
              </a:rPr>
              <a:t>P</a:t>
            </a:r>
            <a:r>
              <a:rPr sz="1350" spc="295" dirty="0">
                <a:latin typeface="Times New Roman"/>
                <a:cs typeface="Times New Roman"/>
              </a:rPr>
              <a:t>(</a:t>
            </a:r>
            <a:r>
              <a:rPr sz="1350" i="1" spc="295" dirty="0">
                <a:latin typeface="Times New Roman"/>
                <a:cs typeface="Times New Roman"/>
              </a:rPr>
              <a:t>Tinggi</a:t>
            </a:r>
            <a:r>
              <a:rPr sz="1350" spc="295" dirty="0">
                <a:latin typeface="Times New Roman"/>
                <a:cs typeface="Times New Roman"/>
              </a:rPr>
              <a:t>|</a:t>
            </a:r>
            <a:r>
              <a:rPr sz="1350" spc="-105" dirty="0">
                <a:latin typeface="Times New Roman"/>
                <a:cs typeface="Times New Roman"/>
              </a:rPr>
              <a:t> </a:t>
            </a:r>
            <a:r>
              <a:rPr sz="1350" i="1" spc="320" dirty="0">
                <a:latin typeface="Times New Roman"/>
                <a:cs typeface="Times New Roman"/>
              </a:rPr>
              <a:t>Ya</a:t>
            </a:r>
            <a:r>
              <a:rPr sz="1350" spc="320" dirty="0">
                <a:latin typeface="Times New Roman"/>
                <a:cs typeface="Times New Roman"/>
              </a:rPr>
              <a:t>)</a:t>
            </a:r>
            <a:r>
              <a:rPr sz="1350" i="1" spc="320" dirty="0">
                <a:latin typeface="Times New Roman"/>
                <a:cs typeface="Times New Roman"/>
              </a:rPr>
              <a:t>P</a:t>
            </a:r>
            <a:r>
              <a:rPr sz="1350" spc="320" dirty="0">
                <a:latin typeface="Times New Roman"/>
                <a:cs typeface="Times New Roman"/>
              </a:rPr>
              <a:t>(</a:t>
            </a:r>
            <a:r>
              <a:rPr sz="1350" i="1" spc="320" dirty="0">
                <a:latin typeface="Times New Roman"/>
                <a:cs typeface="Times New Roman"/>
              </a:rPr>
              <a:t>Labil</a:t>
            </a:r>
            <a:r>
              <a:rPr sz="1350" spc="320" dirty="0">
                <a:latin typeface="Times New Roman"/>
                <a:cs typeface="Times New Roman"/>
              </a:rPr>
              <a:t>|</a:t>
            </a:r>
            <a:r>
              <a:rPr sz="1350" spc="-105" dirty="0">
                <a:latin typeface="Times New Roman"/>
                <a:cs typeface="Times New Roman"/>
              </a:rPr>
              <a:t> </a:t>
            </a:r>
            <a:r>
              <a:rPr sz="1350" i="1" spc="295" dirty="0">
                <a:latin typeface="Times New Roman"/>
                <a:cs typeface="Times New Roman"/>
              </a:rPr>
              <a:t>Ya</a:t>
            </a:r>
            <a:r>
              <a:rPr sz="1350" spc="295" dirty="0">
                <a:latin typeface="Times New Roman"/>
                <a:cs typeface="Times New Roman"/>
              </a:rPr>
              <a:t>)</a:t>
            </a:r>
            <a:r>
              <a:rPr sz="1350" i="1" spc="295" dirty="0">
                <a:latin typeface="Times New Roman"/>
                <a:cs typeface="Times New Roman"/>
              </a:rPr>
              <a:t>P</a:t>
            </a:r>
            <a:r>
              <a:rPr sz="1350" spc="295" dirty="0">
                <a:latin typeface="Times New Roman"/>
                <a:cs typeface="Times New Roman"/>
              </a:rPr>
              <a:t>(</a:t>
            </a:r>
            <a:r>
              <a:rPr sz="1350" i="1" spc="295" dirty="0">
                <a:latin typeface="Times New Roman"/>
                <a:cs typeface="Times New Roman"/>
              </a:rPr>
              <a:t>Ya</a:t>
            </a:r>
            <a:r>
              <a:rPr sz="1350" spc="295" dirty="0">
                <a:latin typeface="Times New Roman"/>
                <a:cs typeface="Times New Roman"/>
              </a:rPr>
              <a:t>)</a:t>
            </a:r>
            <a:r>
              <a:rPr sz="1350" spc="90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260" dirty="0">
                <a:latin typeface="Times New Roman"/>
                <a:cs typeface="Times New Roman"/>
              </a:rPr>
              <a:t>0.0053</a:t>
            </a:r>
            <a:endParaRPr sz="135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405"/>
              </a:spcBef>
            </a:pPr>
            <a:r>
              <a:rPr sz="1350" i="1" spc="320" dirty="0">
                <a:latin typeface="Times New Roman"/>
                <a:cs typeface="Times New Roman"/>
              </a:rPr>
              <a:t>P</a:t>
            </a:r>
            <a:r>
              <a:rPr sz="1350" spc="320" dirty="0">
                <a:latin typeface="Times New Roman"/>
                <a:cs typeface="Times New Roman"/>
              </a:rPr>
              <a:t>(</a:t>
            </a:r>
            <a:r>
              <a:rPr sz="1350" i="1" spc="320" dirty="0">
                <a:latin typeface="Times New Roman"/>
                <a:cs typeface="Times New Roman"/>
              </a:rPr>
              <a:t>Cerah</a:t>
            </a:r>
            <a:r>
              <a:rPr sz="1350" spc="320" dirty="0">
                <a:latin typeface="Times New Roman"/>
                <a:cs typeface="Times New Roman"/>
              </a:rPr>
              <a:t>|</a:t>
            </a:r>
            <a:r>
              <a:rPr sz="1350" spc="-100" dirty="0">
                <a:latin typeface="Times New Roman"/>
                <a:cs typeface="Times New Roman"/>
              </a:rPr>
              <a:t> </a:t>
            </a:r>
            <a:r>
              <a:rPr sz="1350" i="1" spc="315" dirty="0">
                <a:latin typeface="Times New Roman"/>
                <a:cs typeface="Times New Roman"/>
              </a:rPr>
              <a:t>Tidak</a:t>
            </a:r>
            <a:r>
              <a:rPr sz="1350" spc="315" dirty="0">
                <a:latin typeface="Times New Roman"/>
                <a:cs typeface="Times New Roman"/>
              </a:rPr>
              <a:t>)</a:t>
            </a:r>
            <a:r>
              <a:rPr sz="1350" i="1" spc="315" dirty="0">
                <a:latin typeface="Times New Roman"/>
                <a:cs typeface="Times New Roman"/>
              </a:rPr>
              <a:t>P</a:t>
            </a:r>
            <a:r>
              <a:rPr sz="1350" spc="315" dirty="0">
                <a:latin typeface="Times New Roman"/>
                <a:cs typeface="Times New Roman"/>
              </a:rPr>
              <a:t>(</a:t>
            </a:r>
            <a:r>
              <a:rPr sz="1350" i="1" spc="315" dirty="0">
                <a:latin typeface="Times New Roman"/>
                <a:cs typeface="Times New Roman"/>
              </a:rPr>
              <a:t>Dingin</a:t>
            </a:r>
            <a:r>
              <a:rPr sz="1350" spc="315" dirty="0">
                <a:latin typeface="Times New Roman"/>
                <a:cs typeface="Times New Roman"/>
              </a:rPr>
              <a:t>|</a:t>
            </a:r>
            <a:r>
              <a:rPr sz="1350" spc="-95" dirty="0">
                <a:latin typeface="Times New Roman"/>
                <a:cs typeface="Times New Roman"/>
              </a:rPr>
              <a:t> </a:t>
            </a:r>
            <a:r>
              <a:rPr sz="1350" i="1" spc="295" dirty="0">
                <a:latin typeface="Times New Roman"/>
                <a:cs typeface="Times New Roman"/>
              </a:rPr>
              <a:t>Tidak</a:t>
            </a:r>
            <a:r>
              <a:rPr sz="1350" spc="295" dirty="0">
                <a:latin typeface="Times New Roman"/>
                <a:cs typeface="Times New Roman"/>
              </a:rPr>
              <a:t>)</a:t>
            </a:r>
            <a:r>
              <a:rPr sz="1350" i="1" spc="295" dirty="0">
                <a:latin typeface="Times New Roman"/>
                <a:cs typeface="Times New Roman"/>
              </a:rPr>
              <a:t>P</a:t>
            </a:r>
            <a:r>
              <a:rPr sz="1350" spc="295" dirty="0">
                <a:latin typeface="Times New Roman"/>
                <a:cs typeface="Times New Roman"/>
              </a:rPr>
              <a:t>(</a:t>
            </a:r>
            <a:r>
              <a:rPr sz="1350" i="1" spc="295" dirty="0">
                <a:latin typeface="Times New Roman"/>
                <a:cs typeface="Times New Roman"/>
              </a:rPr>
              <a:t>Tinggi</a:t>
            </a:r>
            <a:r>
              <a:rPr sz="1350" spc="295" dirty="0">
                <a:latin typeface="Times New Roman"/>
                <a:cs typeface="Times New Roman"/>
              </a:rPr>
              <a:t>|</a:t>
            </a:r>
            <a:r>
              <a:rPr sz="1350" spc="-90" dirty="0">
                <a:latin typeface="Times New Roman"/>
                <a:cs typeface="Times New Roman"/>
              </a:rPr>
              <a:t> </a:t>
            </a:r>
            <a:r>
              <a:rPr sz="1350" i="1" spc="315" dirty="0">
                <a:latin typeface="Times New Roman"/>
                <a:cs typeface="Times New Roman"/>
              </a:rPr>
              <a:t>Tidak</a:t>
            </a:r>
            <a:r>
              <a:rPr sz="1350" spc="315" dirty="0">
                <a:latin typeface="Times New Roman"/>
                <a:cs typeface="Times New Roman"/>
              </a:rPr>
              <a:t>)</a:t>
            </a:r>
            <a:r>
              <a:rPr sz="1350" i="1" spc="315" dirty="0">
                <a:latin typeface="Times New Roman"/>
                <a:cs typeface="Times New Roman"/>
              </a:rPr>
              <a:t>P</a:t>
            </a:r>
            <a:r>
              <a:rPr sz="1350" spc="315" dirty="0">
                <a:latin typeface="Times New Roman"/>
                <a:cs typeface="Times New Roman"/>
              </a:rPr>
              <a:t>(</a:t>
            </a:r>
            <a:r>
              <a:rPr sz="1350" i="1" spc="315" dirty="0">
                <a:latin typeface="Times New Roman"/>
                <a:cs typeface="Times New Roman"/>
              </a:rPr>
              <a:t>Labil</a:t>
            </a:r>
            <a:r>
              <a:rPr sz="1350" spc="315" dirty="0">
                <a:latin typeface="Times New Roman"/>
                <a:cs typeface="Times New Roman"/>
              </a:rPr>
              <a:t>|</a:t>
            </a:r>
            <a:r>
              <a:rPr sz="1350" spc="-90" dirty="0">
                <a:latin typeface="Times New Roman"/>
                <a:cs typeface="Times New Roman"/>
              </a:rPr>
              <a:t> </a:t>
            </a:r>
            <a:r>
              <a:rPr sz="1350" i="1" spc="295" dirty="0">
                <a:latin typeface="Times New Roman"/>
                <a:cs typeface="Times New Roman"/>
              </a:rPr>
              <a:t>Tidak</a:t>
            </a:r>
            <a:r>
              <a:rPr sz="1350" spc="295" dirty="0">
                <a:latin typeface="Times New Roman"/>
                <a:cs typeface="Times New Roman"/>
              </a:rPr>
              <a:t>)</a:t>
            </a:r>
            <a:r>
              <a:rPr sz="1350" i="1" spc="295" dirty="0">
                <a:latin typeface="Times New Roman"/>
                <a:cs typeface="Times New Roman"/>
              </a:rPr>
              <a:t>P</a:t>
            </a:r>
            <a:r>
              <a:rPr sz="1350" spc="295" dirty="0">
                <a:latin typeface="Times New Roman"/>
                <a:cs typeface="Times New Roman"/>
              </a:rPr>
              <a:t>(</a:t>
            </a:r>
            <a:r>
              <a:rPr sz="1350" i="1" spc="295" dirty="0">
                <a:latin typeface="Times New Roman"/>
                <a:cs typeface="Times New Roman"/>
              </a:rPr>
              <a:t>Tidak</a:t>
            </a:r>
            <a:r>
              <a:rPr sz="1350" spc="295" dirty="0">
                <a:latin typeface="Times New Roman"/>
                <a:cs typeface="Times New Roman"/>
              </a:rPr>
              <a:t>)</a:t>
            </a:r>
            <a:r>
              <a:rPr sz="1350" spc="105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65" dirty="0">
                <a:latin typeface="Times New Roman"/>
                <a:cs typeface="Times New Roman"/>
              </a:rPr>
              <a:t> </a:t>
            </a:r>
            <a:r>
              <a:rPr sz="1350" b="1" spc="340" dirty="0">
                <a:latin typeface="Times New Roman"/>
                <a:cs typeface="Times New Roman"/>
              </a:rPr>
              <a:t>0.020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50" spc="655" dirty="0">
                <a:latin typeface="Symbol"/>
                <a:cs typeface="Symbol"/>
              </a:rPr>
              <a:t></a:t>
            </a:r>
            <a:r>
              <a:rPr sz="1350" spc="110" dirty="0">
                <a:latin typeface="Times New Roman"/>
                <a:cs typeface="Times New Roman"/>
              </a:rPr>
              <a:t> </a:t>
            </a:r>
            <a:r>
              <a:rPr sz="1350" i="1" spc="335" dirty="0">
                <a:latin typeface="Times New Roman"/>
                <a:cs typeface="Times New Roman"/>
              </a:rPr>
              <a:t>KarenaP</a:t>
            </a:r>
            <a:r>
              <a:rPr sz="1350" spc="335" dirty="0">
                <a:latin typeface="Times New Roman"/>
                <a:cs typeface="Times New Roman"/>
              </a:rPr>
              <a:t>(</a:t>
            </a:r>
            <a:r>
              <a:rPr sz="1350" i="1" spc="335" dirty="0">
                <a:latin typeface="Times New Roman"/>
                <a:cs typeface="Times New Roman"/>
              </a:rPr>
              <a:t>Tidak</a:t>
            </a:r>
            <a:r>
              <a:rPr sz="1350" spc="335" dirty="0">
                <a:latin typeface="Times New Roman"/>
                <a:cs typeface="Times New Roman"/>
              </a:rPr>
              <a:t>|</a:t>
            </a:r>
            <a:r>
              <a:rPr sz="1350" spc="114" dirty="0">
                <a:latin typeface="Times New Roman"/>
                <a:cs typeface="Times New Roman"/>
              </a:rPr>
              <a:t> </a:t>
            </a:r>
            <a:r>
              <a:rPr sz="1350" i="1" spc="265" dirty="0">
                <a:latin typeface="Times New Roman"/>
                <a:cs typeface="Times New Roman"/>
              </a:rPr>
              <a:t>x</a:t>
            </a:r>
            <a:r>
              <a:rPr sz="1350" spc="265" dirty="0">
                <a:latin typeface="Times New Roman"/>
                <a:cs typeface="Times New Roman"/>
              </a:rPr>
              <a:t>) </a:t>
            </a:r>
            <a:r>
              <a:rPr sz="1350" spc="365" dirty="0">
                <a:latin typeface="Symbol"/>
                <a:cs typeface="Symbol"/>
              </a:rPr>
              <a:t></a:t>
            </a:r>
            <a:r>
              <a:rPr sz="1350" spc="325" dirty="0">
                <a:latin typeface="Times New Roman"/>
                <a:cs typeface="Times New Roman"/>
              </a:rPr>
              <a:t> </a:t>
            </a:r>
            <a:r>
              <a:rPr sz="1350" i="1" spc="305" dirty="0">
                <a:latin typeface="Times New Roman"/>
                <a:cs typeface="Times New Roman"/>
              </a:rPr>
              <a:t>P</a:t>
            </a:r>
            <a:r>
              <a:rPr sz="1350" spc="305" dirty="0">
                <a:latin typeface="Times New Roman"/>
                <a:cs typeface="Times New Roman"/>
              </a:rPr>
              <a:t>(</a:t>
            </a:r>
            <a:r>
              <a:rPr sz="1350" i="1" spc="305" dirty="0">
                <a:latin typeface="Times New Roman"/>
                <a:cs typeface="Times New Roman"/>
              </a:rPr>
              <a:t>Ya</a:t>
            </a:r>
            <a:r>
              <a:rPr sz="1350" i="1" spc="-70" dirty="0">
                <a:latin typeface="Times New Roman"/>
                <a:cs typeface="Times New Roman"/>
              </a:rPr>
              <a:t> </a:t>
            </a:r>
            <a:r>
              <a:rPr sz="1350" spc="130" dirty="0">
                <a:latin typeface="Times New Roman"/>
                <a:cs typeface="Times New Roman"/>
              </a:rPr>
              <a:t>|</a:t>
            </a:r>
            <a:r>
              <a:rPr sz="1350" spc="114" dirty="0">
                <a:latin typeface="Times New Roman"/>
                <a:cs typeface="Times New Roman"/>
              </a:rPr>
              <a:t> </a:t>
            </a:r>
            <a:r>
              <a:rPr sz="1350" i="1" spc="265" dirty="0">
                <a:latin typeface="Times New Roman"/>
                <a:cs typeface="Times New Roman"/>
              </a:rPr>
              <a:t>x</a:t>
            </a:r>
            <a:r>
              <a:rPr sz="1350" spc="265" dirty="0">
                <a:latin typeface="Times New Roman"/>
                <a:cs typeface="Times New Roman"/>
              </a:rPr>
              <a:t>) </a:t>
            </a:r>
            <a:r>
              <a:rPr sz="1350" i="1" spc="420" dirty="0">
                <a:latin typeface="Times New Roman"/>
                <a:cs typeface="Times New Roman"/>
              </a:rPr>
              <a:t>maka</a:t>
            </a:r>
            <a:r>
              <a:rPr sz="1350" i="1" spc="-15" dirty="0">
                <a:latin typeface="Times New Roman"/>
                <a:cs typeface="Times New Roman"/>
              </a:rPr>
              <a:t> </a:t>
            </a:r>
            <a:r>
              <a:rPr sz="1350" i="1" spc="275" dirty="0">
                <a:latin typeface="Times New Roman"/>
                <a:cs typeface="Times New Roman"/>
              </a:rPr>
              <a:t>PlayTennis</a:t>
            </a:r>
            <a:r>
              <a:rPr sz="1350" spc="275" dirty="0">
                <a:latin typeface="Times New Roman"/>
                <a:cs typeface="Times New Roman"/>
              </a:rPr>
              <a:t>(</a:t>
            </a:r>
            <a:r>
              <a:rPr sz="1350" i="1" spc="275" dirty="0">
                <a:latin typeface="Times New Roman"/>
                <a:cs typeface="Times New Roman"/>
              </a:rPr>
              <a:t>x</a:t>
            </a:r>
            <a:r>
              <a:rPr sz="1350" spc="275" dirty="0">
                <a:latin typeface="Times New Roman"/>
                <a:cs typeface="Times New Roman"/>
              </a:rPr>
              <a:t>)</a:t>
            </a:r>
            <a:r>
              <a:rPr sz="1350" spc="90" dirty="0">
                <a:latin typeface="Times New Roman"/>
                <a:cs typeface="Times New Roman"/>
              </a:rPr>
              <a:t> </a:t>
            </a:r>
            <a:r>
              <a:rPr sz="1350" spc="365" dirty="0">
                <a:latin typeface="Symbol"/>
                <a:cs typeface="Symbol"/>
              </a:rPr>
              <a:t>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i="1" spc="345" dirty="0">
                <a:latin typeface="Times New Roman"/>
                <a:cs typeface="Times New Roman"/>
              </a:rPr>
              <a:t>Tidak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699509"/>
            <a:ext cx="19532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1C1C1C"/>
                </a:solidFill>
                <a:latin typeface="Arial"/>
                <a:cs typeface="Arial"/>
              </a:rPr>
              <a:t>Selesai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1605</Words>
  <Application>Microsoft Office PowerPoint</Application>
  <PresentationFormat>On-screen Show (4:3)</PresentationFormat>
  <Paragraphs>241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AoyagiKouzanFontT</vt:lpstr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Pengenalan Pola/  Pattern Recognition</vt:lpstr>
      <vt:lpstr>Pokok Pembahasan</vt:lpstr>
      <vt:lpstr>Klasifikasi Naïve Bayes</vt:lpstr>
      <vt:lpstr>Klasifikasi Naïve Bayes</vt:lpstr>
      <vt:lpstr>Klasifikasi Naïve Bayes</vt:lpstr>
      <vt:lpstr>Fase Training &amp; Testing</vt:lpstr>
      <vt:lpstr>Naïve Bayes Data Kontinyu (1 of 2)</vt:lpstr>
      <vt:lpstr>PowerPoint Presentation</vt:lpstr>
      <vt:lpstr>Visualisasi Data Kontinyu</vt:lpstr>
      <vt:lpstr>Trik Review Paper (Tugas Paper 1)</vt:lpstr>
      <vt:lpstr>Contoh Studi Kasus I</vt:lpstr>
      <vt:lpstr>Contoh Studi Kasus I</vt:lpstr>
      <vt:lpstr>Contoh Studi Kasus I</vt:lpstr>
      <vt:lpstr>Contoh Studi Kasus I</vt:lpstr>
      <vt:lpstr>Contoh Studi Kasus II</vt:lpstr>
      <vt:lpstr>Contoh Studi Kasus II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Klassifikasi II</dc:title>
  <dc:creator>Imam Cholissodin</dc:creator>
  <cp:keywords>Pengenalan Pola</cp:keywords>
  <cp:lastModifiedBy>arief kelik nugroho</cp:lastModifiedBy>
  <cp:revision>2</cp:revision>
  <dcterms:created xsi:type="dcterms:W3CDTF">2021-09-02T00:57:58Z</dcterms:created>
  <dcterms:modified xsi:type="dcterms:W3CDTF">2021-09-02T01:00:10Z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2014-07-07T00:00:00Z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2021-09-02T00:00:00Z</vt:filetime>
  </property>
</Properties>
</file>