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768820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5114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27843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259632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018073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787405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9521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569010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0684832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54606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58234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967112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889464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8593589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841725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35000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7559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5.jp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jpg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jpg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47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59714" y="3577844"/>
            <a:ext cx="4858385" cy="50590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Dasar</a:t>
            </a:r>
            <a:r>
              <a:rPr sz="3200" b="1" spc="-2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Pengenalan</a:t>
            </a:r>
            <a:r>
              <a:rPr sz="3200" b="1" spc="-65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Pola</a:t>
            </a:r>
            <a:r>
              <a:rPr sz="3200" b="1" spc="-2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rgbClr val="1C1C1C"/>
                </a:solidFill>
                <a:latin typeface="Arial"/>
                <a:cs typeface="Arial"/>
              </a:rPr>
              <a:t>1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90168" y="98298"/>
            <a:ext cx="4848225" cy="12446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Arial"/>
                <a:cs typeface="Arial"/>
              </a:rPr>
              <a:t>Pengenalan Pola/ </a:t>
            </a:r>
            <a:r>
              <a:rPr sz="4000" b="1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Pattern</a:t>
            </a:r>
            <a:r>
              <a:rPr sz="4000" b="1" spc="-55" dirty="0">
                <a:latin typeface="Arial"/>
                <a:cs typeface="Arial"/>
              </a:rPr>
              <a:t> </a:t>
            </a:r>
            <a:r>
              <a:rPr sz="4000" b="1" spc="-5" dirty="0">
                <a:latin typeface="Arial"/>
                <a:cs typeface="Arial"/>
              </a:rPr>
              <a:t>Recognition</a:t>
            </a:r>
            <a:endParaRPr sz="4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310132" y="149428"/>
            <a:ext cx="64008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Dasar</a:t>
            </a:r>
            <a:r>
              <a:rPr spc="15" dirty="0"/>
              <a:t> </a:t>
            </a:r>
            <a:r>
              <a:rPr dirty="0"/>
              <a:t>Pengenalan</a:t>
            </a:r>
            <a:r>
              <a:rPr spc="30" dirty="0"/>
              <a:t> </a:t>
            </a:r>
            <a:r>
              <a:rPr spc="-5" dirty="0"/>
              <a:t>Pola</a:t>
            </a:r>
            <a:r>
              <a:rPr spc="30" dirty="0"/>
              <a:t> </a:t>
            </a:r>
            <a:r>
              <a:rPr dirty="0"/>
              <a:t>1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135148"/>
            <a:ext cx="5109845" cy="4123054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527685" indent="-515620">
              <a:lnSpc>
                <a:spcPct val="100000"/>
              </a:lnSpc>
              <a:spcBef>
                <a:spcPts val="7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Apa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itu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pola?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Apa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itu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kelas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pola?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Apa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itu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pengenalan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pola?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Contoh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penerapan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Perhitungan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secara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statistik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Persepsi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manusia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dan</a:t>
            </a:r>
            <a:r>
              <a:rPr sz="2800" spc="1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mesin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5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Proses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pengenalan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pola</a:t>
            </a:r>
            <a:endParaRPr sz="2800">
              <a:latin typeface="Microsoft Sans Serif"/>
              <a:cs typeface="Microsoft Sans Serif"/>
            </a:endParaRPr>
          </a:p>
          <a:p>
            <a:pPr marL="527685" indent="-515620">
              <a:lnSpc>
                <a:spcPct val="100000"/>
              </a:lnSpc>
              <a:spcBef>
                <a:spcPts val="670"/>
              </a:spcBef>
              <a:buAutoNum type="arabicPeriod"/>
              <a:tabLst>
                <a:tab pos="527685" algn="l"/>
                <a:tab pos="5283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Studi kasus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652397" y="264617"/>
            <a:ext cx="584009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Apa</a:t>
            </a:r>
            <a:r>
              <a:rPr spc="45" dirty="0"/>
              <a:t> </a:t>
            </a:r>
            <a:r>
              <a:rPr spc="-10" dirty="0"/>
              <a:t>itu</a:t>
            </a:r>
            <a:r>
              <a:rPr spc="50" dirty="0"/>
              <a:t> </a:t>
            </a:r>
            <a:r>
              <a:rPr spc="-5" dirty="0"/>
              <a:t>Pola</a:t>
            </a:r>
            <a:r>
              <a:rPr spc="45" dirty="0"/>
              <a:t> </a:t>
            </a:r>
            <a:r>
              <a:rPr spc="-5" dirty="0"/>
              <a:t>(</a:t>
            </a:r>
            <a:r>
              <a:rPr i="1" spc="-5" dirty="0">
                <a:latin typeface="Arial"/>
                <a:cs typeface="Arial"/>
              </a:rPr>
              <a:t>Pattern</a:t>
            </a:r>
            <a:r>
              <a:rPr spc="-5" dirty="0"/>
              <a:t>)</a:t>
            </a:r>
            <a:r>
              <a:rPr spc="50" dirty="0"/>
              <a:t> </a:t>
            </a:r>
            <a:r>
              <a:rPr dirty="0"/>
              <a:t>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89684"/>
            <a:ext cx="7882890" cy="20751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Pola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adalah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Objek,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Proses,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atau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Kejadian </a:t>
            </a:r>
            <a:r>
              <a:rPr sz="3200" spc="-83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yang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dapat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diberi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nama</a:t>
            </a:r>
            <a:endParaRPr sz="3200">
              <a:latin typeface="Microsoft Sans Serif"/>
              <a:cs typeface="Microsoft Sans Serif"/>
            </a:endParaRPr>
          </a:p>
          <a:p>
            <a:pPr marL="355600" marR="23114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Pola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adalah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himpunan</a:t>
            </a:r>
            <a:r>
              <a:rPr sz="3200" spc="3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pengukuran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yang </a:t>
            </a:r>
            <a:r>
              <a:rPr sz="3200" spc="-8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menggambarkan</a:t>
            </a:r>
            <a:r>
              <a:rPr sz="320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sebuah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objek</a:t>
            </a:r>
            <a:endParaRPr sz="32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00250" y="3548126"/>
            <a:ext cx="5391150" cy="27383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41017" y="264617"/>
            <a:ext cx="506285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Apa</a:t>
            </a:r>
            <a:r>
              <a:rPr spc="40" dirty="0"/>
              <a:t> </a:t>
            </a:r>
            <a:r>
              <a:rPr spc="-10" dirty="0"/>
              <a:t>itu</a:t>
            </a:r>
            <a:r>
              <a:rPr spc="40" dirty="0"/>
              <a:t> </a:t>
            </a:r>
            <a:r>
              <a:rPr spc="-5" dirty="0"/>
              <a:t>Kelas</a:t>
            </a:r>
            <a:r>
              <a:rPr spc="40" dirty="0"/>
              <a:t> </a:t>
            </a:r>
            <a:r>
              <a:rPr spc="-5" dirty="0"/>
              <a:t>Pola</a:t>
            </a:r>
            <a:r>
              <a:rPr spc="20" dirty="0"/>
              <a:t> </a:t>
            </a:r>
            <a:r>
              <a:rPr dirty="0"/>
              <a:t>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2733"/>
            <a:ext cx="8006080" cy="1818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Kelas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Pola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/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Kategori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merupakan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himpunan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pola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yang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memiliki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atribut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tertentu</a:t>
            </a:r>
            <a:endParaRPr sz="2800">
              <a:latin typeface="Microsoft Sans Serif"/>
              <a:cs typeface="Microsoft Sans Serif"/>
            </a:endParaRPr>
          </a:p>
          <a:p>
            <a:pPr marL="355600" marR="79248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Kumpulan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beberapa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objek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yang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identik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(kemiripan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data)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4707382"/>
            <a:ext cx="76511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Selama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proses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pengenalan</a:t>
            </a:r>
            <a:r>
              <a:rPr sz="2800" spc="6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objek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dimasukkan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dalam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kelas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yang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ditentukan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43125" y="3614737"/>
            <a:ext cx="3810000" cy="67151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235760" y="259207"/>
            <a:ext cx="66503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Apa</a:t>
            </a:r>
            <a:r>
              <a:rPr spc="45" dirty="0"/>
              <a:t> </a:t>
            </a:r>
            <a:r>
              <a:rPr spc="-10" dirty="0"/>
              <a:t>itu</a:t>
            </a:r>
            <a:r>
              <a:rPr spc="45" dirty="0"/>
              <a:t> </a:t>
            </a:r>
            <a:r>
              <a:rPr spc="-5" dirty="0"/>
              <a:t>Pengenalan</a:t>
            </a:r>
            <a:r>
              <a:rPr spc="45" dirty="0"/>
              <a:t> </a:t>
            </a:r>
            <a:r>
              <a:rPr spc="-5" dirty="0"/>
              <a:t>Pola</a:t>
            </a:r>
            <a:r>
              <a:rPr spc="50" dirty="0"/>
              <a:t> </a:t>
            </a:r>
            <a:r>
              <a:rPr dirty="0"/>
              <a:t>?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29309"/>
            <a:ext cx="63004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  <a:tab pos="2178685" algn="l"/>
                <a:tab pos="4890135" algn="l"/>
              </a:tabLst>
            </a:pPr>
            <a:r>
              <a:rPr sz="3600" spc="-5" dirty="0">
                <a:latin typeface="Microsoft Sans Serif"/>
                <a:cs typeface="Microsoft Sans Serif"/>
              </a:rPr>
              <a:t>Teori,	Algoritma,	Sistem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337297" y="1329309"/>
            <a:ext cx="127127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635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Microsoft Sans Serif"/>
                <a:cs typeface="Microsoft Sans Serif"/>
              </a:rPr>
              <a:t>un</a:t>
            </a:r>
            <a:r>
              <a:rPr sz="3600" spc="-20" dirty="0">
                <a:latin typeface="Microsoft Sans Serif"/>
                <a:cs typeface="Microsoft Sans Serif"/>
              </a:rPr>
              <a:t>t</a:t>
            </a:r>
            <a:r>
              <a:rPr sz="3600" spc="-5" dirty="0">
                <a:latin typeface="Microsoft Sans Serif"/>
                <a:cs typeface="Microsoft Sans Serif"/>
              </a:rPr>
              <a:t>uk  dalam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35940" y="1878025"/>
            <a:ext cx="2885440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82245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Microsoft Sans Serif"/>
                <a:cs typeface="Microsoft Sans Serif"/>
              </a:rPr>
              <a:t>meletakkan  kategori</a:t>
            </a:r>
            <a:endParaRPr sz="36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865"/>
              </a:spcBef>
              <a:buChar char="•"/>
              <a:tabLst>
                <a:tab pos="355600" algn="l"/>
                <a:tab pos="356235" algn="l"/>
              </a:tabLst>
            </a:pPr>
            <a:r>
              <a:rPr sz="3600" spc="-5" dirty="0">
                <a:latin typeface="Microsoft Sans Serif"/>
                <a:cs typeface="Microsoft Sans Serif"/>
              </a:rPr>
              <a:t>Men</a:t>
            </a:r>
            <a:r>
              <a:rPr sz="3600" dirty="0">
                <a:latin typeface="Microsoft Sans Serif"/>
                <a:cs typeface="Microsoft Sans Serif"/>
              </a:rPr>
              <a:t>e</a:t>
            </a:r>
            <a:r>
              <a:rPr sz="3600" spc="-5" dirty="0">
                <a:latin typeface="Microsoft Sans Serif"/>
                <a:cs typeface="Microsoft Sans Serif"/>
              </a:rPr>
              <a:t>mukan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85742" y="1878025"/>
            <a:ext cx="3567429" cy="1781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  <a:tabLst>
                <a:tab pos="2494915" algn="l"/>
              </a:tabLst>
            </a:pPr>
            <a:r>
              <a:rPr sz="3600" spc="-10" dirty="0">
                <a:latin typeface="Microsoft Sans Serif"/>
                <a:cs typeface="Microsoft Sans Serif"/>
              </a:rPr>
              <a:t>pola-pola	</a:t>
            </a:r>
            <a:r>
              <a:rPr sz="3600" spc="-5" dirty="0">
                <a:latin typeface="Microsoft Sans Serif"/>
                <a:cs typeface="Microsoft Sans Serif"/>
              </a:rPr>
              <a:t>ke</a:t>
            </a:r>
            <a:endParaRPr sz="36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455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2437130" algn="l"/>
              </a:tabLst>
            </a:pPr>
            <a:r>
              <a:rPr sz="3600" spc="-5" dirty="0">
                <a:latin typeface="Microsoft Sans Serif"/>
                <a:cs typeface="Microsoft Sans Serif"/>
              </a:rPr>
              <a:t>hubungan	sua</a:t>
            </a:r>
            <a:r>
              <a:rPr sz="3600" spc="-15" dirty="0">
                <a:latin typeface="Microsoft Sans Serif"/>
                <a:cs typeface="Microsoft Sans Serif"/>
              </a:rPr>
              <a:t>t</a:t>
            </a:r>
            <a:r>
              <a:rPr sz="3600" spc="-5" dirty="0">
                <a:latin typeface="Microsoft Sans Serif"/>
                <a:cs typeface="Microsoft Sans Serif"/>
              </a:rPr>
              <a:t>u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719821" y="3085591"/>
            <a:ext cx="88963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10" dirty="0">
                <a:latin typeface="Microsoft Sans Serif"/>
                <a:cs typeface="Microsoft Sans Serif"/>
              </a:rPr>
              <a:t>pola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79144" y="3634232"/>
            <a:ext cx="6428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Microsoft Sans Serif"/>
                <a:cs typeface="Microsoft Sans Serif"/>
              </a:rPr>
              <a:t>terhadap</a:t>
            </a:r>
            <a:r>
              <a:rPr sz="3600" spc="25" dirty="0">
                <a:latin typeface="Microsoft Sans Serif"/>
                <a:cs typeface="Microsoft Sans Serif"/>
              </a:rPr>
              <a:t> </a:t>
            </a:r>
            <a:r>
              <a:rPr sz="3600" spc="-5" dirty="0">
                <a:latin typeface="Microsoft Sans Serif"/>
                <a:cs typeface="Microsoft Sans Serif"/>
              </a:rPr>
              <a:t>pola-pola</a:t>
            </a:r>
            <a:r>
              <a:rPr sz="3600" spc="5" dirty="0">
                <a:latin typeface="Microsoft Sans Serif"/>
                <a:cs typeface="Microsoft Sans Serif"/>
              </a:rPr>
              <a:t> </a:t>
            </a:r>
            <a:r>
              <a:rPr sz="3600" spc="-5" dirty="0">
                <a:latin typeface="Microsoft Sans Serif"/>
                <a:cs typeface="Microsoft Sans Serif"/>
              </a:rPr>
              <a:t>sebelumnya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35940" y="4292854"/>
            <a:ext cx="22498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3600" spc="-10" dirty="0">
                <a:latin typeface="Microsoft Sans Serif"/>
                <a:cs typeface="Microsoft Sans Serif"/>
              </a:rPr>
              <a:t>Belajar </a:t>
            </a:r>
            <a:r>
              <a:rPr sz="3600" spc="-5" dirty="0">
                <a:latin typeface="Microsoft Sans Serif"/>
                <a:cs typeface="Microsoft Sans Serif"/>
              </a:rPr>
              <a:t> dianggap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53054" y="4292854"/>
            <a:ext cx="432371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3550" marR="5080" indent="-451484">
              <a:lnSpc>
                <a:spcPct val="100000"/>
              </a:lnSpc>
              <a:spcBef>
                <a:spcPts val="100"/>
              </a:spcBef>
              <a:tabLst>
                <a:tab pos="2505710" algn="l"/>
                <a:tab pos="3335020" algn="l"/>
              </a:tabLst>
            </a:pPr>
            <a:r>
              <a:rPr sz="3600" dirty="0">
                <a:latin typeface="Microsoft Sans Serif"/>
                <a:cs typeface="Microsoft Sans Serif"/>
              </a:rPr>
              <a:t>membedakan	</a:t>
            </a:r>
            <a:r>
              <a:rPr sz="3600" spc="-10" dirty="0">
                <a:latin typeface="Microsoft Sans Serif"/>
                <a:cs typeface="Microsoft Sans Serif"/>
              </a:rPr>
              <a:t>pola </a:t>
            </a:r>
            <a:r>
              <a:rPr sz="3600" spc="-944" dirty="0">
                <a:latin typeface="Microsoft Sans Serif"/>
                <a:cs typeface="Microsoft Sans Serif"/>
              </a:rPr>
              <a:t> </a:t>
            </a:r>
            <a:r>
              <a:rPr sz="3600" spc="-5" dirty="0">
                <a:latin typeface="Microsoft Sans Serif"/>
                <a:cs typeface="Microsoft Sans Serif"/>
              </a:rPr>
              <a:t>penting</a:t>
            </a:r>
            <a:r>
              <a:rPr sz="3600" dirty="0">
                <a:latin typeface="Microsoft Sans Serif"/>
                <a:cs typeface="Microsoft Sans Serif"/>
              </a:rPr>
              <a:t>	</a:t>
            </a:r>
            <a:r>
              <a:rPr sz="3600" spc="-5" dirty="0">
                <a:latin typeface="Microsoft Sans Serif"/>
                <a:cs typeface="Microsoft Sans Serif"/>
              </a:rPr>
              <a:t>terhadap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591806" y="4292854"/>
            <a:ext cx="10185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6205" marR="5080" indent="-104139">
              <a:lnSpc>
                <a:spcPct val="100000"/>
              </a:lnSpc>
              <a:spcBef>
                <a:spcPts val="100"/>
              </a:spcBef>
            </a:pPr>
            <a:r>
              <a:rPr sz="3600" spc="-15" dirty="0">
                <a:latin typeface="Microsoft Sans Serif"/>
                <a:cs typeface="Microsoft Sans Serif"/>
              </a:rPr>
              <a:t>y</a:t>
            </a:r>
            <a:r>
              <a:rPr sz="3600" spc="-5" dirty="0">
                <a:latin typeface="Microsoft Sans Serif"/>
                <a:cs typeface="Microsoft Sans Serif"/>
              </a:rPr>
              <a:t>ang  latar</a:t>
            </a:r>
            <a:endParaRPr sz="36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79144" y="5390184"/>
            <a:ext cx="261874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5" dirty="0">
                <a:latin typeface="Microsoft Sans Serif"/>
                <a:cs typeface="Microsoft Sans Serif"/>
              </a:rPr>
              <a:t>belakangnya</a:t>
            </a:r>
            <a:endParaRPr sz="3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25751" y="259207"/>
            <a:ext cx="44697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Persepsi Manusia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2356"/>
            <a:ext cx="7774305" cy="4660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Manusia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telah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dianugerahi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kemampuan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untuk 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menerima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rangsangan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(indera)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lingkungan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dan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memberikan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aksi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terhadap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apa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yang 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diamati,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4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Mengenali wajah</a:t>
            </a:r>
            <a:endParaRPr sz="2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2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10" dirty="0">
                <a:latin typeface="Microsoft Sans Serif"/>
                <a:cs typeface="Microsoft Sans Serif"/>
              </a:rPr>
              <a:t>Memahami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kata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yang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diucapkan</a:t>
            </a:r>
            <a:endParaRPr sz="2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Membaca</a:t>
            </a:r>
            <a:r>
              <a:rPr sz="2200" spc="2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tulisan</a:t>
            </a:r>
            <a:r>
              <a:rPr sz="2200" spc="1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tangan</a:t>
            </a:r>
            <a:endParaRPr sz="2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30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Membedakan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makanan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segar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dari</a:t>
            </a:r>
            <a:r>
              <a:rPr sz="2200" spc="4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baunya</a:t>
            </a:r>
            <a:endParaRPr sz="22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660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Tugas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kita:</a:t>
            </a:r>
            <a:endParaRPr sz="2800">
              <a:latin typeface="Microsoft Sans Serif"/>
              <a:cs typeface="Microsoft Sans Serif"/>
            </a:endParaRPr>
          </a:p>
          <a:p>
            <a:pPr marL="756285" marR="43180" lvl="1" indent="-287020">
              <a:lnSpc>
                <a:spcPct val="100000"/>
              </a:lnSpc>
              <a:spcBef>
                <a:spcPts val="59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Menjadikan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mesin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(komputer)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memiliki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kemampuan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mirip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dengan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masnusia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00875" y="2857500"/>
            <a:ext cx="1428750" cy="16192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614422" y="264617"/>
            <a:ext cx="39116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Contoh</a:t>
            </a:r>
            <a:r>
              <a:rPr spc="5" dirty="0"/>
              <a:t> </a:t>
            </a:r>
            <a:r>
              <a:rPr spc="-15" dirty="0"/>
              <a:t>Aplikasi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132835" y="1377061"/>
            <a:ext cx="4805045" cy="963930"/>
            <a:chOff x="3132835" y="1377061"/>
            <a:chExt cx="4805045" cy="963930"/>
          </a:xfrm>
        </p:grpSpPr>
        <p:sp>
          <p:nvSpPr>
            <p:cNvPr id="8" name="object 8"/>
            <p:cNvSpPr/>
            <p:nvPr/>
          </p:nvSpPr>
          <p:spPr>
            <a:xfrm>
              <a:off x="3145535" y="1389761"/>
              <a:ext cx="4779645" cy="938530"/>
            </a:xfrm>
            <a:custGeom>
              <a:avLst/>
              <a:gdLst/>
              <a:ahLst/>
              <a:cxnLst/>
              <a:rect l="l" t="t" r="r" b="b"/>
              <a:pathLst>
                <a:path w="4779645" h="938530">
                  <a:moveTo>
                    <a:pt x="4622799" y="0"/>
                  </a:moveTo>
                  <a:lnTo>
                    <a:pt x="0" y="0"/>
                  </a:lnTo>
                  <a:lnTo>
                    <a:pt x="0" y="938529"/>
                  </a:lnTo>
                  <a:lnTo>
                    <a:pt x="4622799" y="938529"/>
                  </a:lnTo>
                  <a:lnTo>
                    <a:pt x="4672283" y="930561"/>
                  </a:lnTo>
                  <a:lnTo>
                    <a:pt x="4715237" y="908371"/>
                  </a:lnTo>
                  <a:lnTo>
                    <a:pt x="4749096" y="874531"/>
                  </a:lnTo>
                  <a:lnTo>
                    <a:pt x="4771294" y="831614"/>
                  </a:lnTo>
                  <a:lnTo>
                    <a:pt x="4779264" y="782192"/>
                  </a:lnTo>
                  <a:lnTo>
                    <a:pt x="4779264" y="156463"/>
                  </a:lnTo>
                  <a:lnTo>
                    <a:pt x="4771294" y="107029"/>
                  </a:lnTo>
                  <a:lnTo>
                    <a:pt x="4749096" y="64081"/>
                  </a:lnTo>
                  <a:lnTo>
                    <a:pt x="4715237" y="30203"/>
                  </a:lnTo>
                  <a:lnTo>
                    <a:pt x="4672283" y="7981"/>
                  </a:lnTo>
                  <a:lnTo>
                    <a:pt x="4622799" y="0"/>
                  </a:lnTo>
                  <a:close/>
                </a:path>
              </a:pathLst>
            </a:custGeom>
            <a:solidFill>
              <a:srgbClr val="A2A2D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45535" y="1389761"/>
              <a:ext cx="4779645" cy="938530"/>
            </a:xfrm>
            <a:custGeom>
              <a:avLst/>
              <a:gdLst/>
              <a:ahLst/>
              <a:cxnLst/>
              <a:rect l="l" t="t" r="r" b="b"/>
              <a:pathLst>
                <a:path w="4779645" h="938530">
                  <a:moveTo>
                    <a:pt x="4779264" y="156463"/>
                  </a:moveTo>
                  <a:lnTo>
                    <a:pt x="4779264" y="782192"/>
                  </a:lnTo>
                  <a:lnTo>
                    <a:pt x="4771294" y="831614"/>
                  </a:lnTo>
                  <a:lnTo>
                    <a:pt x="4749096" y="874531"/>
                  </a:lnTo>
                  <a:lnTo>
                    <a:pt x="4715237" y="908371"/>
                  </a:lnTo>
                  <a:lnTo>
                    <a:pt x="4672283" y="930561"/>
                  </a:lnTo>
                  <a:lnTo>
                    <a:pt x="4622799" y="938529"/>
                  </a:lnTo>
                  <a:lnTo>
                    <a:pt x="0" y="938529"/>
                  </a:lnTo>
                  <a:lnTo>
                    <a:pt x="0" y="0"/>
                  </a:lnTo>
                  <a:lnTo>
                    <a:pt x="4622799" y="0"/>
                  </a:lnTo>
                  <a:lnTo>
                    <a:pt x="4672283" y="7981"/>
                  </a:lnTo>
                  <a:lnTo>
                    <a:pt x="4715237" y="30203"/>
                  </a:lnTo>
                  <a:lnTo>
                    <a:pt x="4749096" y="64081"/>
                  </a:lnTo>
                  <a:lnTo>
                    <a:pt x="4771294" y="107029"/>
                  </a:lnTo>
                  <a:lnTo>
                    <a:pt x="4779264" y="156463"/>
                  </a:lnTo>
                  <a:close/>
                </a:path>
              </a:pathLst>
            </a:custGeom>
            <a:ln w="25400">
              <a:solidFill>
                <a:srgbClr val="CDCDD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0494" y="1494535"/>
            <a:ext cx="424561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Handwritten</a:t>
            </a:r>
            <a:r>
              <a:rPr sz="1500" spc="80" dirty="0">
                <a:latin typeface="Cambria"/>
                <a:cs typeface="Cambria"/>
              </a:rPr>
              <a:t>:</a:t>
            </a:r>
            <a:r>
              <a:rPr sz="1500" spc="15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sorting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spc="55" dirty="0">
                <a:latin typeface="Cambria"/>
                <a:cs typeface="Cambria"/>
              </a:rPr>
              <a:t>letters</a:t>
            </a:r>
            <a:r>
              <a:rPr sz="1500" spc="15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by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postal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spc="95" dirty="0">
                <a:latin typeface="Cambria"/>
                <a:cs typeface="Cambria"/>
              </a:rPr>
              <a:t>code.</a:t>
            </a:r>
            <a:endParaRPr sz="1500">
              <a:latin typeface="Cambria"/>
              <a:cs typeface="Cambria"/>
            </a:endParaRPr>
          </a:p>
          <a:p>
            <a:pPr marL="127000" marR="191135" indent="-114300">
              <a:lnSpc>
                <a:spcPts val="1580"/>
              </a:lnSpc>
              <a:spcBef>
                <a:spcPts val="284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Printed </a:t>
            </a:r>
            <a:r>
              <a:rPr sz="1500" b="1" u="sng" spc="10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texts</a:t>
            </a:r>
            <a:r>
              <a:rPr sz="1500" spc="105" dirty="0">
                <a:latin typeface="Cambria"/>
                <a:cs typeface="Cambria"/>
              </a:rPr>
              <a:t>: </a:t>
            </a:r>
            <a:r>
              <a:rPr sz="1500" spc="80" dirty="0">
                <a:latin typeface="Cambria"/>
                <a:cs typeface="Cambria"/>
              </a:rPr>
              <a:t>reading </a:t>
            </a:r>
            <a:r>
              <a:rPr sz="1500" spc="114" dirty="0">
                <a:latin typeface="Cambria"/>
                <a:cs typeface="Cambria"/>
              </a:rPr>
              <a:t>machines </a:t>
            </a:r>
            <a:r>
              <a:rPr sz="1500" spc="35" dirty="0">
                <a:latin typeface="Cambria"/>
                <a:cs typeface="Cambria"/>
              </a:rPr>
              <a:t>for</a:t>
            </a:r>
            <a:r>
              <a:rPr sz="1500" spc="40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blind </a:t>
            </a:r>
            <a:r>
              <a:rPr sz="1500" spc="-320" dirty="0">
                <a:latin typeface="Cambria"/>
                <a:cs typeface="Cambria"/>
              </a:rPr>
              <a:t> </a:t>
            </a:r>
            <a:r>
              <a:rPr sz="1500" spc="75" dirty="0">
                <a:latin typeface="Cambria"/>
                <a:cs typeface="Cambria"/>
              </a:rPr>
              <a:t>people,</a:t>
            </a:r>
            <a:r>
              <a:rPr sz="1500" spc="130" dirty="0">
                <a:latin typeface="Cambria"/>
                <a:cs typeface="Cambria"/>
              </a:rPr>
              <a:t> </a:t>
            </a:r>
            <a:r>
              <a:rPr sz="1500" spc="60" dirty="0">
                <a:latin typeface="Cambria"/>
                <a:cs typeface="Cambria"/>
              </a:rPr>
              <a:t>digitalization</a:t>
            </a:r>
            <a:r>
              <a:rPr sz="1500" spc="160" dirty="0">
                <a:latin typeface="Cambria"/>
                <a:cs typeface="Cambria"/>
              </a:rPr>
              <a:t> </a:t>
            </a:r>
            <a:r>
              <a:rPr sz="1500" spc="30" dirty="0">
                <a:latin typeface="Cambria"/>
                <a:cs typeface="Cambria"/>
              </a:rPr>
              <a:t>of</a:t>
            </a:r>
            <a:r>
              <a:rPr sz="1500" spc="270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text</a:t>
            </a:r>
            <a:r>
              <a:rPr sz="1500" spc="150" dirty="0">
                <a:latin typeface="Cambria"/>
                <a:cs typeface="Cambria"/>
              </a:rPr>
              <a:t> </a:t>
            </a:r>
            <a:r>
              <a:rPr sz="1500" spc="114" dirty="0">
                <a:latin typeface="Cambria"/>
                <a:cs typeface="Cambria"/>
              </a:rPr>
              <a:t>documents.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44500" y="1270000"/>
            <a:ext cx="2713990" cy="1198880"/>
            <a:chOff x="444500" y="1270000"/>
            <a:chExt cx="2713990" cy="1198880"/>
          </a:xfrm>
        </p:grpSpPr>
        <p:sp>
          <p:nvSpPr>
            <p:cNvPr id="12" name="object 12"/>
            <p:cNvSpPr/>
            <p:nvPr/>
          </p:nvSpPr>
          <p:spPr>
            <a:xfrm>
              <a:off x="457200" y="1282700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80">
                  <a:moveTo>
                    <a:pt x="2492756" y="0"/>
                  </a:moveTo>
                  <a:lnTo>
                    <a:pt x="195541" y="0"/>
                  </a:lnTo>
                  <a:lnTo>
                    <a:pt x="150704" y="5162"/>
                  </a:lnTo>
                  <a:lnTo>
                    <a:pt x="109544" y="19868"/>
                  </a:lnTo>
                  <a:lnTo>
                    <a:pt x="73237" y="42947"/>
                  </a:lnTo>
                  <a:lnTo>
                    <a:pt x="42956" y="73229"/>
                  </a:lnTo>
                  <a:lnTo>
                    <a:pt x="19874" y="109542"/>
                  </a:lnTo>
                  <a:lnTo>
                    <a:pt x="5164" y="150716"/>
                  </a:lnTo>
                  <a:lnTo>
                    <a:pt x="0" y="195579"/>
                  </a:lnTo>
                  <a:lnTo>
                    <a:pt x="0" y="977646"/>
                  </a:lnTo>
                  <a:lnTo>
                    <a:pt x="5164" y="1022469"/>
                  </a:lnTo>
                  <a:lnTo>
                    <a:pt x="19874" y="1063628"/>
                  </a:lnTo>
                  <a:lnTo>
                    <a:pt x="42956" y="1099943"/>
                  </a:lnTo>
                  <a:lnTo>
                    <a:pt x="73237" y="1130238"/>
                  </a:lnTo>
                  <a:lnTo>
                    <a:pt x="109544" y="1153335"/>
                  </a:lnTo>
                  <a:lnTo>
                    <a:pt x="150704" y="1168057"/>
                  </a:lnTo>
                  <a:lnTo>
                    <a:pt x="195541" y="1173226"/>
                  </a:lnTo>
                  <a:lnTo>
                    <a:pt x="2492756" y="1173226"/>
                  </a:lnTo>
                  <a:lnTo>
                    <a:pt x="2537619" y="1168057"/>
                  </a:lnTo>
                  <a:lnTo>
                    <a:pt x="2578793" y="1153335"/>
                  </a:lnTo>
                  <a:lnTo>
                    <a:pt x="2615106" y="1130238"/>
                  </a:lnTo>
                  <a:lnTo>
                    <a:pt x="2645388" y="1099943"/>
                  </a:lnTo>
                  <a:lnTo>
                    <a:pt x="2668467" y="1063628"/>
                  </a:lnTo>
                  <a:lnTo>
                    <a:pt x="2683173" y="1022469"/>
                  </a:lnTo>
                  <a:lnTo>
                    <a:pt x="2688336" y="977646"/>
                  </a:lnTo>
                  <a:lnTo>
                    <a:pt x="2688336" y="195579"/>
                  </a:lnTo>
                  <a:lnTo>
                    <a:pt x="2683173" y="150716"/>
                  </a:lnTo>
                  <a:lnTo>
                    <a:pt x="2668467" y="109542"/>
                  </a:lnTo>
                  <a:lnTo>
                    <a:pt x="2645388" y="73229"/>
                  </a:lnTo>
                  <a:lnTo>
                    <a:pt x="2615106" y="42947"/>
                  </a:lnTo>
                  <a:lnTo>
                    <a:pt x="2578793" y="19868"/>
                  </a:lnTo>
                  <a:lnTo>
                    <a:pt x="2537619" y="5162"/>
                  </a:lnTo>
                  <a:lnTo>
                    <a:pt x="2492756" y="0"/>
                  </a:lnTo>
                  <a:close/>
                </a:path>
              </a:pathLst>
            </a:custGeom>
            <a:solidFill>
              <a:srgbClr val="3333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57200" y="1282700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80">
                  <a:moveTo>
                    <a:pt x="0" y="195579"/>
                  </a:moveTo>
                  <a:lnTo>
                    <a:pt x="5164" y="150716"/>
                  </a:lnTo>
                  <a:lnTo>
                    <a:pt x="19874" y="109542"/>
                  </a:lnTo>
                  <a:lnTo>
                    <a:pt x="42956" y="73229"/>
                  </a:lnTo>
                  <a:lnTo>
                    <a:pt x="73237" y="42947"/>
                  </a:lnTo>
                  <a:lnTo>
                    <a:pt x="109544" y="19868"/>
                  </a:lnTo>
                  <a:lnTo>
                    <a:pt x="150704" y="5162"/>
                  </a:lnTo>
                  <a:lnTo>
                    <a:pt x="195541" y="0"/>
                  </a:lnTo>
                  <a:lnTo>
                    <a:pt x="2492756" y="0"/>
                  </a:lnTo>
                  <a:lnTo>
                    <a:pt x="2537619" y="5162"/>
                  </a:lnTo>
                  <a:lnTo>
                    <a:pt x="2578793" y="19868"/>
                  </a:lnTo>
                  <a:lnTo>
                    <a:pt x="2615106" y="42947"/>
                  </a:lnTo>
                  <a:lnTo>
                    <a:pt x="2645388" y="73229"/>
                  </a:lnTo>
                  <a:lnTo>
                    <a:pt x="2668467" y="109542"/>
                  </a:lnTo>
                  <a:lnTo>
                    <a:pt x="2683173" y="150716"/>
                  </a:lnTo>
                  <a:lnTo>
                    <a:pt x="2688336" y="195579"/>
                  </a:lnTo>
                  <a:lnTo>
                    <a:pt x="2688336" y="977646"/>
                  </a:lnTo>
                  <a:lnTo>
                    <a:pt x="2683173" y="1022469"/>
                  </a:lnTo>
                  <a:lnTo>
                    <a:pt x="2668467" y="1063628"/>
                  </a:lnTo>
                  <a:lnTo>
                    <a:pt x="2645388" y="1099943"/>
                  </a:lnTo>
                  <a:lnTo>
                    <a:pt x="2615106" y="1130238"/>
                  </a:lnTo>
                  <a:lnTo>
                    <a:pt x="2578793" y="1153335"/>
                  </a:lnTo>
                  <a:lnTo>
                    <a:pt x="2537619" y="1168057"/>
                  </a:lnTo>
                  <a:lnTo>
                    <a:pt x="2492756" y="1173226"/>
                  </a:lnTo>
                  <a:lnTo>
                    <a:pt x="195541" y="1173226"/>
                  </a:lnTo>
                  <a:lnTo>
                    <a:pt x="150704" y="1168057"/>
                  </a:lnTo>
                  <a:lnTo>
                    <a:pt x="109544" y="1153335"/>
                  </a:lnTo>
                  <a:lnTo>
                    <a:pt x="73237" y="1130238"/>
                  </a:lnTo>
                  <a:lnTo>
                    <a:pt x="42956" y="1099943"/>
                  </a:lnTo>
                  <a:lnTo>
                    <a:pt x="19874" y="1063628"/>
                  </a:lnTo>
                  <a:lnTo>
                    <a:pt x="5164" y="1022469"/>
                  </a:lnTo>
                  <a:lnTo>
                    <a:pt x="0" y="977646"/>
                  </a:lnTo>
                  <a:lnTo>
                    <a:pt x="0" y="1955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14883" y="1410157"/>
            <a:ext cx="2372360" cy="86804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algn="ctr">
              <a:lnSpc>
                <a:spcPts val="2110"/>
              </a:lnSpc>
              <a:spcBef>
                <a:spcPts val="415"/>
              </a:spcBef>
            </a:pPr>
            <a:r>
              <a:rPr sz="2000" b="1" spc="135" dirty="0">
                <a:solidFill>
                  <a:srgbClr val="FFFFFF"/>
                </a:solidFill>
                <a:latin typeface="Cambria"/>
                <a:cs typeface="Cambria"/>
              </a:rPr>
              <a:t>Optical</a:t>
            </a:r>
            <a:r>
              <a:rPr sz="2000" b="1" spc="15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130" dirty="0">
                <a:solidFill>
                  <a:srgbClr val="FFFFFF"/>
                </a:solidFill>
                <a:latin typeface="Cambria"/>
                <a:cs typeface="Cambria"/>
              </a:rPr>
              <a:t>Character </a:t>
            </a:r>
            <a:r>
              <a:rPr sz="2000" b="1" spc="-42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140" dirty="0">
                <a:solidFill>
                  <a:srgbClr val="FFFFFF"/>
                </a:solidFill>
                <a:latin typeface="Cambria"/>
                <a:cs typeface="Cambria"/>
              </a:rPr>
              <a:t>Recognition </a:t>
            </a:r>
            <a:r>
              <a:rPr sz="2000" b="1" spc="145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85" dirty="0">
                <a:solidFill>
                  <a:srgbClr val="FFFFFF"/>
                </a:solidFill>
                <a:latin typeface="Cambria"/>
                <a:cs typeface="Cambria"/>
              </a:rPr>
              <a:t>(OCR)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132835" y="2608960"/>
            <a:ext cx="4805045" cy="963930"/>
            <a:chOff x="3132835" y="2608960"/>
            <a:chExt cx="4805045" cy="963930"/>
          </a:xfrm>
        </p:grpSpPr>
        <p:sp>
          <p:nvSpPr>
            <p:cNvPr id="16" name="object 16"/>
            <p:cNvSpPr/>
            <p:nvPr/>
          </p:nvSpPr>
          <p:spPr>
            <a:xfrm>
              <a:off x="3145535" y="2621660"/>
              <a:ext cx="4779645" cy="938530"/>
            </a:xfrm>
            <a:custGeom>
              <a:avLst/>
              <a:gdLst/>
              <a:ahLst/>
              <a:cxnLst/>
              <a:rect l="l" t="t" r="r" b="b"/>
              <a:pathLst>
                <a:path w="4779645" h="938529">
                  <a:moveTo>
                    <a:pt x="4622799" y="0"/>
                  </a:moveTo>
                  <a:lnTo>
                    <a:pt x="0" y="0"/>
                  </a:lnTo>
                  <a:lnTo>
                    <a:pt x="0" y="938529"/>
                  </a:lnTo>
                  <a:lnTo>
                    <a:pt x="4622799" y="938529"/>
                  </a:lnTo>
                  <a:lnTo>
                    <a:pt x="4672283" y="930548"/>
                  </a:lnTo>
                  <a:lnTo>
                    <a:pt x="4715237" y="908326"/>
                  </a:lnTo>
                  <a:lnTo>
                    <a:pt x="4749096" y="874448"/>
                  </a:lnTo>
                  <a:lnTo>
                    <a:pt x="4771294" y="831500"/>
                  </a:lnTo>
                  <a:lnTo>
                    <a:pt x="4779264" y="782065"/>
                  </a:lnTo>
                  <a:lnTo>
                    <a:pt x="4779264" y="156337"/>
                  </a:lnTo>
                  <a:lnTo>
                    <a:pt x="4771294" y="106915"/>
                  </a:lnTo>
                  <a:lnTo>
                    <a:pt x="4749096" y="63998"/>
                  </a:lnTo>
                  <a:lnTo>
                    <a:pt x="4715237" y="30158"/>
                  </a:lnTo>
                  <a:lnTo>
                    <a:pt x="4672283" y="7968"/>
                  </a:lnTo>
                  <a:lnTo>
                    <a:pt x="4622799" y="0"/>
                  </a:lnTo>
                  <a:close/>
                </a:path>
              </a:pathLst>
            </a:custGeom>
            <a:solidFill>
              <a:srgbClr val="66FFFF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145535" y="2621660"/>
              <a:ext cx="4779645" cy="938530"/>
            </a:xfrm>
            <a:custGeom>
              <a:avLst/>
              <a:gdLst/>
              <a:ahLst/>
              <a:cxnLst/>
              <a:rect l="l" t="t" r="r" b="b"/>
              <a:pathLst>
                <a:path w="4779645" h="938529">
                  <a:moveTo>
                    <a:pt x="4779264" y="156337"/>
                  </a:moveTo>
                  <a:lnTo>
                    <a:pt x="4779264" y="782065"/>
                  </a:lnTo>
                  <a:lnTo>
                    <a:pt x="4771294" y="831500"/>
                  </a:lnTo>
                  <a:lnTo>
                    <a:pt x="4749096" y="874448"/>
                  </a:lnTo>
                  <a:lnTo>
                    <a:pt x="4715237" y="908326"/>
                  </a:lnTo>
                  <a:lnTo>
                    <a:pt x="4672283" y="930548"/>
                  </a:lnTo>
                  <a:lnTo>
                    <a:pt x="4622799" y="938529"/>
                  </a:lnTo>
                  <a:lnTo>
                    <a:pt x="0" y="938529"/>
                  </a:lnTo>
                  <a:lnTo>
                    <a:pt x="0" y="0"/>
                  </a:lnTo>
                  <a:lnTo>
                    <a:pt x="4622799" y="0"/>
                  </a:lnTo>
                  <a:lnTo>
                    <a:pt x="4672283" y="7968"/>
                  </a:lnTo>
                  <a:lnTo>
                    <a:pt x="4715237" y="30158"/>
                  </a:lnTo>
                  <a:lnTo>
                    <a:pt x="4749096" y="63998"/>
                  </a:lnTo>
                  <a:lnTo>
                    <a:pt x="4771294" y="106915"/>
                  </a:lnTo>
                  <a:lnTo>
                    <a:pt x="4779264" y="156337"/>
                  </a:lnTo>
                  <a:close/>
                </a:path>
              </a:pathLst>
            </a:custGeom>
            <a:ln w="25400">
              <a:solidFill>
                <a:srgbClr val="DFE7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190494" y="2709748"/>
            <a:ext cx="4114800" cy="723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Face</a:t>
            </a:r>
            <a:r>
              <a:rPr sz="1500" b="1" u="sng" spc="1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recognition,</a:t>
            </a:r>
            <a:r>
              <a:rPr sz="1500" b="1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verification,</a:t>
            </a:r>
            <a:r>
              <a:rPr sz="1500" b="1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retrieval.</a:t>
            </a:r>
            <a:endParaRPr sz="1500">
              <a:latin typeface="Cambria"/>
              <a:cs typeface="Cambria"/>
            </a:endParaRPr>
          </a:p>
          <a:p>
            <a:pPr marL="127000" indent="-114300">
              <a:lnSpc>
                <a:spcPct val="100000"/>
              </a:lnSpc>
              <a:spcBef>
                <a:spcPts val="5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Finger</a:t>
            </a:r>
            <a:r>
              <a:rPr sz="1500" b="1" u="sng" spc="1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prints</a:t>
            </a:r>
            <a:r>
              <a:rPr sz="1500" b="1" u="sng" spc="1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recognition.</a:t>
            </a:r>
            <a:endParaRPr sz="1500">
              <a:latin typeface="Cambria"/>
              <a:cs typeface="Cambria"/>
            </a:endParaRPr>
          </a:p>
          <a:p>
            <a:pPr marL="127000" indent="-114300">
              <a:lnSpc>
                <a:spcPct val="100000"/>
              </a:lnSpc>
              <a:spcBef>
                <a:spcPts val="45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12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Speech</a:t>
            </a:r>
            <a:r>
              <a:rPr sz="1500" b="1" u="sng" spc="12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recognition.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44500" y="2491613"/>
            <a:ext cx="2713990" cy="1198880"/>
            <a:chOff x="444500" y="2491613"/>
            <a:chExt cx="2713990" cy="1198880"/>
          </a:xfrm>
        </p:grpSpPr>
        <p:sp>
          <p:nvSpPr>
            <p:cNvPr id="20" name="object 20"/>
            <p:cNvSpPr/>
            <p:nvPr/>
          </p:nvSpPr>
          <p:spPr>
            <a:xfrm>
              <a:off x="457200" y="2504313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2492756" y="0"/>
                  </a:moveTo>
                  <a:lnTo>
                    <a:pt x="195541" y="0"/>
                  </a:lnTo>
                  <a:lnTo>
                    <a:pt x="150704" y="5162"/>
                  </a:lnTo>
                  <a:lnTo>
                    <a:pt x="109544" y="19868"/>
                  </a:lnTo>
                  <a:lnTo>
                    <a:pt x="73237" y="42947"/>
                  </a:lnTo>
                  <a:lnTo>
                    <a:pt x="42956" y="73229"/>
                  </a:lnTo>
                  <a:lnTo>
                    <a:pt x="19874" y="109542"/>
                  </a:lnTo>
                  <a:lnTo>
                    <a:pt x="5164" y="150716"/>
                  </a:lnTo>
                  <a:lnTo>
                    <a:pt x="0" y="195579"/>
                  </a:lnTo>
                  <a:lnTo>
                    <a:pt x="0" y="977646"/>
                  </a:lnTo>
                  <a:lnTo>
                    <a:pt x="5164" y="1022469"/>
                  </a:lnTo>
                  <a:lnTo>
                    <a:pt x="19874" y="1063628"/>
                  </a:lnTo>
                  <a:lnTo>
                    <a:pt x="42956" y="1099943"/>
                  </a:lnTo>
                  <a:lnTo>
                    <a:pt x="73237" y="1130238"/>
                  </a:lnTo>
                  <a:lnTo>
                    <a:pt x="109544" y="1153335"/>
                  </a:lnTo>
                  <a:lnTo>
                    <a:pt x="150704" y="1168057"/>
                  </a:lnTo>
                  <a:lnTo>
                    <a:pt x="195541" y="1173226"/>
                  </a:lnTo>
                  <a:lnTo>
                    <a:pt x="2492756" y="1173226"/>
                  </a:lnTo>
                  <a:lnTo>
                    <a:pt x="2537619" y="1168057"/>
                  </a:lnTo>
                  <a:lnTo>
                    <a:pt x="2578793" y="1153335"/>
                  </a:lnTo>
                  <a:lnTo>
                    <a:pt x="2615106" y="1130238"/>
                  </a:lnTo>
                  <a:lnTo>
                    <a:pt x="2645388" y="1099943"/>
                  </a:lnTo>
                  <a:lnTo>
                    <a:pt x="2668467" y="1063628"/>
                  </a:lnTo>
                  <a:lnTo>
                    <a:pt x="2683173" y="1022469"/>
                  </a:lnTo>
                  <a:lnTo>
                    <a:pt x="2688336" y="977646"/>
                  </a:lnTo>
                  <a:lnTo>
                    <a:pt x="2688336" y="195579"/>
                  </a:lnTo>
                  <a:lnTo>
                    <a:pt x="2683173" y="150716"/>
                  </a:lnTo>
                  <a:lnTo>
                    <a:pt x="2668467" y="109542"/>
                  </a:lnTo>
                  <a:lnTo>
                    <a:pt x="2645388" y="73229"/>
                  </a:lnTo>
                  <a:lnTo>
                    <a:pt x="2615106" y="42947"/>
                  </a:lnTo>
                  <a:lnTo>
                    <a:pt x="2578793" y="19868"/>
                  </a:lnTo>
                  <a:lnTo>
                    <a:pt x="2537619" y="5162"/>
                  </a:lnTo>
                  <a:lnTo>
                    <a:pt x="2492756" y="0"/>
                  </a:lnTo>
                  <a:close/>
                </a:path>
              </a:pathLst>
            </a:custGeom>
            <a:solidFill>
              <a:srgbClr val="00AF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7200" y="2504313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0" y="195579"/>
                  </a:moveTo>
                  <a:lnTo>
                    <a:pt x="5164" y="150716"/>
                  </a:lnTo>
                  <a:lnTo>
                    <a:pt x="19874" y="109542"/>
                  </a:lnTo>
                  <a:lnTo>
                    <a:pt x="42956" y="73229"/>
                  </a:lnTo>
                  <a:lnTo>
                    <a:pt x="73237" y="42947"/>
                  </a:lnTo>
                  <a:lnTo>
                    <a:pt x="109544" y="19868"/>
                  </a:lnTo>
                  <a:lnTo>
                    <a:pt x="150704" y="5162"/>
                  </a:lnTo>
                  <a:lnTo>
                    <a:pt x="195541" y="0"/>
                  </a:lnTo>
                  <a:lnTo>
                    <a:pt x="2492756" y="0"/>
                  </a:lnTo>
                  <a:lnTo>
                    <a:pt x="2537619" y="5162"/>
                  </a:lnTo>
                  <a:lnTo>
                    <a:pt x="2578793" y="19868"/>
                  </a:lnTo>
                  <a:lnTo>
                    <a:pt x="2615106" y="42947"/>
                  </a:lnTo>
                  <a:lnTo>
                    <a:pt x="2645388" y="73229"/>
                  </a:lnTo>
                  <a:lnTo>
                    <a:pt x="2668467" y="109542"/>
                  </a:lnTo>
                  <a:lnTo>
                    <a:pt x="2683173" y="150716"/>
                  </a:lnTo>
                  <a:lnTo>
                    <a:pt x="2688336" y="195579"/>
                  </a:lnTo>
                  <a:lnTo>
                    <a:pt x="2688336" y="977646"/>
                  </a:lnTo>
                  <a:lnTo>
                    <a:pt x="2683173" y="1022469"/>
                  </a:lnTo>
                  <a:lnTo>
                    <a:pt x="2668467" y="1063628"/>
                  </a:lnTo>
                  <a:lnTo>
                    <a:pt x="2645388" y="1099943"/>
                  </a:lnTo>
                  <a:lnTo>
                    <a:pt x="2615106" y="1130238"/>
                  </a:lnTo>
                  <a:lnTo>
                    <a:pt x="2578793" y="1153335"/>
                  </a:lnTo>
                  <a:lnTo>
                    <a:pt x="2537619" y="1168057"/>
                  </a:lnTo>
                  <a:lnTo>
                    <a:pt x="2492756" y="1173226"/>
                  </a:lnTo>
                  <a:lnTo>
                    <a:pt x="195541" y="1173226"/>
                  </a:lnTo>
                  <a:lnTo>
                    <a:pt x="150704" y="1168057"/>
                  </a:lnTo>
                  <a:lnTo>
                    <a:pt x="109544" y="1153335"/>
                  </a:lnTo>
                  <a:lnTo>
                    <a:pt x="73237" y="1130238"/>
                  </a:lnTo>
                  <a:lnTo>
                    <a:pt x="42956" y="1099943"/>
                  </a:lnTo>
                  <a:lnTo>
                    <a:pt x="19874" y="1063628"/>
                  </a:lnTo>
                  <a:lnTo>
                    <a:pt x="5164" y="1022469"/>
                  </a:lnTo>
                  <a:lnTo>
                    <a:pt x="0" y="977646"/>
                  </a:lnTo>
                  <a:lnTo>
                    <a:pt x="0" y="195579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067511" y="2900552"/>
            <a:ext cx="146685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b="1" spc="125" dirty="0">
                <a:solidFill>
                  <a:srgbClr val="FFFFFF"/>
                </a:solidFill>
                <a:latin typeface="Cambria"/>
                <a:cs typeface="Cambria"/>
              </a:rPr>
              <a:t>Biometrics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132835" y="3840734"/>
            <a:ext cx="4805045" cy="964565"/>
            <a:chOff x="3132835" y="3840734"/>
            <a:chExt cx="4805045" cy="964565"/>
          </a:xfrm>
        </p:grpSpPr>
        <p:sp>
          <p:nvSpPr>
            <p:cNvPr id="24" name="object 24"/>
            <p:cNvSpPr/>
            <p:nvPr/>
          </p:nvSpPr>
          <p:spPr>
            <a:xfrm>
              <a:off x="3145535" y="3853434"/>
              <a:ext cx="4779645" cy="939165"/>
            </a:xfrm>
            <a:custGeom>
              <a:avLst/>
              <a:gdLst/>
              <a:ahLst/>
              <a:cxnLst/>
              <a:rect l="l" t="t" r="r" b="b"/>
              <a:pathLst>
                <a:path w="4779645" h="939164">
                  <a:moveTo>
                    <a:pt x="4622799" y="0"/>
                  </a:moveTo>
                  <a:lnTo>
                    <a:pt x="0" y="0"/>
                  </a:lnTo>
                  <a:lnTo>
                    <a:pt x="0" y="938657"/>
                  </a:lnTo>
                  <a:lnTo>
                    <a:pt x="4622799" y="938657"/>
                  </a:lnTo>
                  <a:lnTo>
                    <a:pt x="4672283" y="930675"/>
                  </a:lnTo>
                  <a:lnTo>
                    <a:pt x="4715237" y="908453"/>
                  </a:lnTo>
                  <a:lnTo>
                    <a:pt x="4749096" y="874575"/>
                  </a:lnTo>
                  <a:lnTo>
                    <a:pt x="4771294" y="831627"/>
                  </a:lnTo>
                  <a:lnTo>
                    <a:pt x="4779264" y="782193"/>
                  </a:lnTo>
                  <a:lnTo>
                    <a:pt x="4779264" y="156464"/>
                  </a:lnTo>
                  <a:lnTo>
                    <a:pt x="4771294" y="107029"/>
                  </a:lnTo>
                  <a:lnTo>
                    <a:pt x="4749096" y="64081"/>
                  </a:lnTo>
                  <a:lnTo>
                    <a:pt x="4715237" y="30203"/>
                  </a:lnTo>
                  <a:lnTo>
                    <a:pt x="4672283" y="7981"/>
                  </a:lnTo>
                  <a:lnTo>
                    <a:pt x="4622799" y="0"/>
                  </a:lnTo>
                  <a:close/>
                </a:path>
              </a:pathLst>
            </a:custGeom>
            <a:solidFill>
              <a:srgbClr val="99FF99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145535" y="3853434"/>
              <a:ext cx="4779645" cy="939165"/>
            </a:xfrm>
            <a:custGeom>
              <a:avLst/>
              <a:gdLst/>
              <a:ahLst/>
              <a:cxnLst/>
              <a:rect l="l" t="t" r="r" b="b"/>
              <a:pathLst>
                <a:path w="4779645" h="939164">
                  <a:moveTo>
                    <a:pt x="4779264" y="156464"/>
                  </a:moveTo>
                  <a:lnTo>
                    <a:pt x="4779264" y="782193"/>
                  </a:lnTo>
                  <a:lnTo>
                    <a:pt x="4771294" y="831627"/>
                  </a:lnTo>
                  <a:lnTo>
                    <a:pt x="4749096" y="874575"/>
                  </a:lnTo>
                  <a:lnTo>
                    <a:pt x="4715237" y="908453"/>
                  </a:lnTo>
                  <a:lnTo>
                    <a:pt x="4672283" y="930675"/>
                  </a:lnTo>
                  <a:lnTo>
                    <a:pt x="4622799" y="938657"/>
                  </a:lnTo>
                  <a:lnTo>
                    <a:pt x="0" y="938657"/>
                  </a:lnTo>
                  <a:lnTo>
                    <a:pt x="0" y="0"/>
                  </a:lnTo>
                  <a:lnTo>
                    <a:pt x="4622799" y="0"/>
                  </a:lnTo>
                  <a:lnTo>
                    <a:pt x="4672283" y="7981"/>
                  </a:lnTo>
                  <a:lnTo>
                    <a:pt x="4715237" y="30203"/>
                  </a:lnTo>
                  <a:lnTo>
                    <a:pt x="4749096" y="64081"/>
                  </a:lnTo>
                  <a:lnTo>
                    <a:pt x="4771294" y="107029"/>
                  </a:lnTo>
                  <a:lnTo>
                    <a:pt x="4779264" y="156464"/>
                  </a:lnTo>
                  <a:close/>
                </a:path>
              </a:pathLst>
            </a:custGeom>
            <a:ln w="25400">
              <a:solidFill>
                <a:srgbClr val="F0F1E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194430" y="4076192"/>
            <a:ext cx="3133090" cy="455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indent="-114300">
              <a:lnSpc>
                <a:spcPts val="1695"/>
              </a:lnSpc>
              <a:spcBef>
                <a:spcPts val="10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8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Medical</a:t>
            </a:r>
            <a:r>
              <a:rPr sz="1500" b="1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diagnosis</a:t>
            </a:r>
            <a:r>
              <a:rPr sz="1500" spc="80" dirty="0">
                <a:latin typeface="Cambria"/>
                <a:cs typeface="Cambria"/>
              </a:rPr>
              <a:t>:</a:t>
            </a:r>
            <a:r>
              <a:rPr sz="1500" spc="105" dirty="0">
                <a:latin typeface="Cambria"/>
                <a:cs typeface="Cambria"/>
              </a:rPr>
              <a:t> </a:t>
            </a:r>
            <a:r>
              <a:rPr sz="1500" spc="135" dirty="0">
                <a:latin typeface="Cambria"/>
                <a:cs typeface="Cambria"/>
              </a:rPr>
              <a:t>X-Ray,</a:t>
            </a:r>
            <a:r>
              <a:rPr sz="1500" spc="120" dirty="0">
                <a:latin typeface="Cambria"/>
                <a:cs typeface="Cambria"/>
              </a:rPr>
              <a:t> </a:t>
            </a:r>
            <a:r>
              <a:rPr sz="1500" spc="250" dirty="0">
                <a:latin typeface="Cambria"/>
                <a:cs typeface="Cambria"/>
              </a:rPr>
              <a:t>ECG</a:t>
            </a:r>
            <a:endParaRPr sz="1500">
              <a:latin typeface="Cambria"/>
              <a:cs typeface="Cambria"/>
            </a:endParaRPr>
          </a:p>
          <a:p>
            <a:pPr marL="126364">
              <a:lnSpc>
                <a:spcPts val="1695"/>
              </a:lnSpc>
            </a:pPr>
            <a:r>
              <a:rPr sz="1500" spc="-15" dirty="0">
                <a:latin typeface="Cambria"/>
                <a:cs typeface="Cambria"/>
              </a:rPr>
              <a:t>(</a:t>
            </a:r>
            <a:r>
              <a:rPr sz="1200" b="1" spc="-15" dirty="0">
                <a:latin typeface="Arial"/>
                <a:cs typeface="Arial"/>
              </a:rPr>
              <a:t>ElectroCardioGraph</a:t>
            </a:r>
            <a:r>
              <a:rPr sz="1500" spc="-15" dirty="0">
                <a:latin typeface="Cambria"/>
                <a:cs typeface="Cambria"/>
              </a:rPr>
              <a:t>)</a:t>
            </a:r>
            <a:r>
              <a:rPr sz="1500" spc="110" dirty="0">
                <a:latin typeface="Cambria"/>
                <a:cs typeface="Cambria"/>
              </a:rPr>
              <a:t> analysis.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44500" y="3723513"/>
            <a:ext cx="2713990" cy="1198880"/>
            <a:chOff x="444500" y="3723513"/>
            <a:chExt cx="2713990" cy="1198880"/>
          </a:xfrm>
        </p:grpSpPr>
        <p:sp>
          <p:nvSpPr>
            <p:cNvPr id="28" name="object 28"/>
            <p:cNvSpPr/>
            <p:nvPr/>
          </p:nvSpPr>
          <p:spPr>
            <a:xfrm>
              <a:off x="457200" y="3736213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2492756" y="0"/>
                  </a:moveTo>
                  <a:lnTo>
                    <a:pt x="195541" y="0"/>
                  </a:lnTo>
                  <a:lnTo>
                    <a:pt x="150704" y="5161"/>
                  </a:lnTo>
                  <a:lnTo>
                    <a:pt x="109544" y="19865"/>
                  </a:lnTo>
                  <a:lnTo>
                    <a:pt x="73237" y="42937"/>
                  </a:lnTo>
                  <a:lnTo>
                    <a:pt x="42956" y="73205"/>
                  </a:lnTo>
                  <a:lnTo>
                    <a:pt x="19874" y="109495"/>
                  </a:lnTo>
                  <a:lnTo>
                    <a:pt x="5164" y="150636"/>
                  </a:lnTo>
                  <a:lnTo>
                    <a:pt x="0" y="195453"/>
                  </a:lnTo>
                  <a:lnTo>
                    <a:pt x="0" y="977645"/>
                  </a:lnTo>
                  <a:lnTo>
                    <a:pt x="5164" y="1022462"/>
                  </a:lnTo>
                  <a:lnTo>
                    <a:pt x="19874" y="1063603"/>
                  </a:lnTo>
                  <a:lnTo>
                    <a:pt x="42956" y="1099893"/>
                  </a:lnTo>
                  <a:lnTo>
                    <a:pt x="73237" y="1130161"/>
                  </a:lnTo>
                  <a:lnTo>
                    <a:pt x="109544" y="1153233"/>
                  </a:lnTo>
                  <a:lnTo>
                    <a:pt x="150704" y="1167937"/>
                  </a:lnTo>
                  <a:lnTo>
                    <a:pt x="195541" y="1173099"/>
                  </a:lnTo>
                  <a:lnTo>
                    <a:pt x="2492756" y="1173099"/>
                  </a:lnTo>
                  <a:lnTo>
                    <a:pt x="2537619" y="1167937"/>
                  </a:lnTo>
                  <a:lnTo>
                    <a:pt x="2578793" y="1153233"/>
                  </a:lnTo>
                  <a:lnTo>
                    <a:pt x="2615106" y="1130161"/>
                  </a:lnTo>
                  <a:lnTo>
                    <a:pt x="2645388" y="1099893"/>
                  </a:lnTo>
                  <a:lnTo>
                    <a:pt x="2668467" y="1063603"/>
                  </a:lnTo>
                  <a:lnTo>
                    <a:pt x="2683173" y="1022462"/>
                  </a:lnTo>
                  <a:lnTo>
                    <a:pt x="2688336" y="977645"/>
                  </a:lnTo>
                  <a:lnTo>
                    <a:pt x="2688336" y="195453"/>
                  </a:lnTo>
                  <a:lnTo>
                    <a:pt x="2683173" y="150636"/>
                  </a:lnTo>
                  <a:lnTo>
                    <a:pt x="2668467" y="109495"/>
                  </a:lnTo>
                  <a:lnTo>
                    <a:pt x="2645388" y="73205"/>
                  </a:lnTo>
                  <a:lnTo>
                    <a:pt x="2615106" y="42937"/>
                  </a:lnTo>
                  <a:lnTo>
                    <a:pt x="2578793" y="19865"/>
                  </a:lnTo>
                  <a:lnTo>
                    <a:pt x="2537619" y="5161"/>
                  </a:lnTo>
                  <a:lnTo>
                    <a:pt x="2492756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57200" y="3736213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0" y="195453"/>
                  </a:moveTo>
                  <a:lnTo>
                    <a:pt x="5164" y="150636"/>
                  </a:lnTo>
                  <a:lnTo>
                    <a:pt x="19874" y="109495"/>
                  </a:lnTo>
                  <a:lnTo>
                    <a:pt x="42956" y="73205"/>
                  </a:lnTo>
                  <a:lnTo>
                    <a:pt x="73237" y="42937"/>
                  </a:lnTo>
                  <a:lnTo>
                    <a:pt x="109544" y="19865"/>
                  </a:lnTo>
                  <a:lnTo>
                    <a:pt x="150704" y="5161"/>
                  </a:lnTo>
                  <a:lnTo>
                    <a:pt x="195541" y="0"/>
                  </a:lnTo>
                  <a:lnTo>
                    <a:pt x="2492756" y="0"/>
                  </a:lnTo>
                  <a:lnTo>
                    <a:pt x="2537619" y="5161"/>
                  </a:lnTo>
                  <a:lnTo>
                    <a:pt x="2578793" y="19865"/>
                  </a:lnTo>
                  <a:lnTo>
                    <a:pt x="2615106" y="42937"/>
                  </a:lnTo>
                  <a:lnTo>
                    <a:pt x="2645388" y="73205"/>
                  </a:lnTo>
                  <a:lnTo>
                    <a:pt x="2668467" y="109495"/>
                  </a:lnTo>
                  <a:lnTo>
                    <a:pt x="2683173" y="150636"/>
                  </a:lnTo>
                  <a:lnTo>
                    <a:pt x="2688336" y="195453"/>
                  </a:lnTo>
                  <a:lnTo>
                    <a:pt x="2688336" y="977645"/>
                  </a:lnTo>
                  <a:lnTo>
                    <a:pt x="2683173" y="1022462"/>
                  </a:lnTo>
                  <a:lnTo>
                    <a:pt x="2668467" y="1063603"/>
                  </a:lnTo>
                  <a:lnTo>
                    <a:pt x="2645388" y="1099893"/>
                  </a:lnTo>
                  <a:lnTo>
                    <a:pt x="2615106" y="1130161"/>
                  </a:lnTo>
                  <a:lnTo>
                    <a:pt x="2578793" y="1153233"/>
                  </a:lnTo>
                  <a:lnTo>
                    <a:pt x="2537619" y="1167937"/>
                  </a:lnTo>
                  <a:lnTo>
                    <a:pt x="2492756" y="1173099"/>
                  </a:lnTo>
                  <a:lnTo>
                    <a:pt x="195541" y="1173099"/>
                  </a:lnTo>
                  <a:lnTo>
                    <a:pt x="150704" y="1167937"/>
                  </a:lnTo>
                  <a:lnTo>
                    <a:pt x="109544" y="1153233"/>
                  </a:lnTo>
                  <a:lnTo>
                    <a:pt x="73237" y="1130161"/>
                  </a:lnTo>
                  <a:lnTo>
                    <a:pt x="42956" y="1099893"/>
                  </a:lnTo>
                  <a:lnTo>
                    <a:pt x="19874" y="1063603"/>
                  </a:lnTo>
                  <a:lnTo>
                    <a:pt x="5164" y="1022462"/>
                  </a:lnTo>
                  <a:lnTo>
                    <a:pt x="0" y="977645"/>
                  </a:lnTo>
                  <a:lnTo>
                    <a:pt x="0" y="195453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085799" y="3998467"/>
            <a:ext cx="1433830" cy="599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2255"/>
              </a:lnSpc>
              <a:spcBef>
                <a:spcPts val="100"/>
              </a:spcBef>
            </a:pPr>
            <a:r>
              <a:rPr sz="2000" b="1" spc="135" dirty="0">
                <a:solidFill>
                  <a:srgbClr val="FFFFFF"/>
                </a:solidFill>
                <a:latin typeface="Cambria"/>
                <a:cs typeface="Cambria"/>
              </a:rPr>
              <a:t>Diagnostic</a:t>
            </a:r>
            <a:endParaRPr sz="2000">
              <a:latin typeface="Cambria"/>
              <a:cs typeface="Cambria"/>
            </a:endParaRPr>
          </a:p>
          <a:p>
            <a:pPr algn="ctr">
              <a:lnSpc>
                <a:spcPts val="2255"/>
              </a:lnSpc>
            </a:pPr>
            <a:r>
              <a:rPr sz="2000" b="1" spc="150" dirty="0">
                <a:solidFill>
                  <a:srgbClr val="FFFFFF"/>
                </a:solidFill>
                <a:latin typeface="Cambria"/>
                <a:cs typeface="Cambria"/>
              </a:rPr>
              <a:t>systems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3132835" y="5072634"/>
            <a:ext cx="4805045" cy="964565"/>
            <a:chOff x="3132835" y="5072634"/>
            <a:chExt cx="4805045" cy="964565"/>
          </a:xfrm>
        </p:grpSpPr>
        <p:sp>
          <p:nvSpPr>
            <p:cNvPr id="32" name="object 32"/>
            <p:cNvSpPr/>
            <p:nvPr/>
          </p:nvSpPr>
          <p:spPr>
            <a:xfrm>
              <a:off x="3145535" y="5085334"/>
              <a:ext cx="4779645" cy="939165"/>
            </a:xfrm>
            <a:custGeom>
              <a:avLst/>
              <a:gdLst/>
              <a:ahLst/>
              <a:cxnLst/>
              <a:rect l="l" t="t" r="r" b="b"/>
              <a:pathLst>
                <a:path w="4779645" h="939164">
                  <a:moveTo>
                    <a:pt x="4622799" y="0"/>
                  </a:moveTo>
                  <a:lnTo>
                    <a:pt x="0" y="0"/>
                  </a:lnTo>
                  <a:lnTo>
                    <a:pt x="0" y="938555"/>
                  </a:lnTo>
                  <a:lnTo>
                    <a:pt x="4622799" y="938555"/>
                  </a:lnTo>
                  <a:lnTo>
                    <a:pt x="4672283" y="930580"/>
                  </a:lnTo>
                  <a:lnTo>
                    <a:pt x="4715237" y="908371"/>
                  </a:lnTo>
                  <a:lnTo>
                    <a:pt x="4749096" y="874507"/>
                  </a:lnTo>
                  <a:lnTo>
                    <a:pt x="4771294" y="831563"/>
                  </a:lnTo>
                  <a:lnTo>
                    <a:pt x="4779264" y="782116"/>
                  </a:lnTo>
                  <a:lnTo>
                    <a:pt x="4779264" y="156464"/>
                  </a:lnTo>
                  <a:lnTo>
                    <a:pt x="4771294" y="106980"/>
                  </a:lnTo>
                  <a:lnTo>
                    <a:pt x="4749096" y="64026"/>
                  </a:lnTo>
                  <a:lnTo>
                    <a:pt x="4715237" y="30167"/>
                  </a:lnTo>
                  <a:lnTo>
                    <a:pt x="4672283" y="7969"/>
                  </a:lnTo>
                  <a:lnTo>
                    <a:pt x="4622799" y="0"/>
                  </a:lnTo>
                  <a:close/>
                </a:path>
              </a:pathLst>
            </a:custGeom>
            <a:solidFill>
              <a:srgbClr val="FFCC99">
                <a:alpha val="89802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145535" y="5085334"/>
              <a:ext cx="4779645" cy="939165"/>
            </a:xfrm>
            <a:custGeom>
              <a:avLst/>
              <a:gdLst/>
              <a:ahLst/>
              <a:cxnLst/>
              <a:rect l="l" t="t" r="r" b="b"/>
              <a:pathLst>
                <a:path w="4779645" h="939164">
                  <a:moveTo>
                    <a:pt x="4779264" y="156464"/>
                  </a:moveTo>
                  <a:lnTo>
                    <a:pt x="4779264" y="782116"/>
                  </a:lnTo>
                  <a:lnTo>
                    <a:pt x="4771294" y="831563"/>
                  </a:lnTo>
                  <a:lnTo>
                    <a:pt x="4749096" y="874507"/>
                  </a:lnTo>
                  <a:lnTo>
                    <a:pt x="4715237" y="908371"/>
                  </a:lnTo>
                  <a:lnTo>
                    <a:pt x="4672283" y="930580"/>
                  </a:lnTo>
                  <a:lnTo>
                    <a:pt x="4622799" y="938555"/>
                  </a:lnTo>
                  <a:lnTo>
                    <a:pt x="0" y="938555"/>
                  </a:lnTo>
                  <a:lnTo>
                    <a:pt x="0" y="0"/>
                  </a:lnTo>
                  <a:lnTo>
                    <a:pt x="4622799" y="0"/>
                  </a:lnTo>
                  <a:lnTo>
                    <a:pt x="4672283" y="7969"/>
                  </a:lnTo>
                  <a:lnTo>
                    <a:pt x="4715237" y="30167"/>
                  </a:lnTo>
                  <a:lnTo>
                    <a:pt x="4749096" y="64026"/>
                  </a:lnTo>
                  <a:lnTo>
                    <a:pt x="4771294" y="106980"/>
                  </a:lnTo>
                  <a:lnTo>
                    <a:pt x="4779264" y="156464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190494" y="5191125"/>
            <a:ext cx="4605020" cy="6902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 indent="-114300">
              <a:lnSpc>
                <a:spcPct val="100000"/>
              </a:lnSpc>
              <a:spcBef>
                <a:spcPts val="100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Automated</a:t>
            </a:r>
            <a:r>
              <a:rPr sz="1500" b="1" u="sng" spc="15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7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Target</a:t>
            </a:r>
            <a:r>
              <a:rPr sz="1500" b="1" u="sng" spc="14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10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Recognition</a:t>
            </a:r>
            <a:r>
              <a:rPr sz="1500" b="1" u="sng" spc="16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spc="25" dirty="0">
                <a:latin typeface="Cambria"/>
                <a:cs typeface="Cambria"/>
              </a:rPr>
              <a:t>(ATR).</a:t>
            </a:r>
            <a:endParaRPr sz="1500">
              <a:latin typeface="Cambria"/>
              <a:cs typeface="Cambria"/>
            </a:endParaRPr>
          </a:p>
          <a:p>
            <a:pPr marL="127000" marR="5080" indent="-114300">
              <a:lnSpc>
                <a:spcPts val="1580"/>
              </a:lnSpc>
              <a:spcBef>
                <a:spcPts val="284"/>
              </a:spcBef>
              <a:buFont typeface="Trebuchet MS"/>
              <a:buChar char="•"/>
              <a:tabLst>
                <a:tab pos="127000" algn="l"/>
              </a:tabLst>
            </a:pPr>
            <a:r>
              <a:rPr sz="1500" b="1" u="sng" spc="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Image</a:t>
            </a:r>
            <a:r>
              <a:rPr sz="1500" b="1" u="sng" spc="17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95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segmentation</a:t>
            </a:r>
            <a:r>
              <a:rPr sz="1500" b="1" u="sng" spc="16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and</a:t>
            </a:r>
            <a:r>
              <a:rPr sz="1500" b="1" u="sng" spc="1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b="1" u="sng" spc="8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analysis</a:t>
            </a:r>
            <a:r>
              <a:rPr sz="1500" b="1" u="sng" spc="19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1500" spc="50" dirty="0">
                <a:latin typeface="Cambria"/>
                <a:cs typeface="Cambria"/>
              </a:rPr>
              <a:t>(recognition </a:t>
            </a:r>
            <a:r>
              <a:rPr sz="1500" spc="-31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from</a:t>
            </a:r>
            <a:r>
              <a:rPr sz="1500" spc="135" dirty="0">
                <a:latin typeface="Cambria"/>
                <a:cs typeface="Cambria"/>
              </a:rPr>
              <a:t> </a:t>
            </a:r>
            <a:r>
              <a:rPr sz="1500" spc="70" dirty="0">
                <a:latin typeface="Cambria"/>
                <a:cs typeface="Cambria"/>
              </a:rPr>
              <a:t>aerial</a:t>
            </a:r>
            <a:r>
              <a:rPr sz="1500" spc="140" dirty="0">
                <a:latin typeface="Cambria"/>
                <a:cs typeface="Cambria"/>
              </a:rPr>
              <a:t> </a:t>
            </a:r>
            <a:r>
              <a:rPr sz="1500" spc="35" dirty="0">
                <a:latin typeface="Cambria"/>
                <a:cs typeface="Cambria"/>
              </a:rPr>
              <a:t>or</a:t>
            </a:r>
            <a:r>
              <a:rPr sz="1500" spc="145" dirty="0">
                <a:latin typeface="Cambria"/>
                <a:cs typeface="Cambria"/>
              </a:rPr>
              <a:t> </a:t>
            </a:r>
            <a:r>
              <a:rPr sz="1500" spc="65" dirty="0">
                <a:latin typeface="Cambria"/>
                <a:cs typeface="Cambria"/>
              </a:rPr>
              <a:t>satelite</a:t>
            </a:r>
            <a:r>
              <a:rPr sz="1500" spc="165" dirty="0">
                <a:latin typeface="Cambria"/>
                <a:cs typeface="Cambria"/>
              </a:rPr>
              <a:t> </a:t>
            </a:r>
            <a:r>
              <a:rPr sz="1500" spc="80" dirty="0">
                <a:latin typeface="Cambria"/>
                <a:cs typeface="Cambria"/>
              </a:rPr>
              <a:t>photographs).</a:t>
            </a:r>
            <a:endParaRPr sz="1500">
              <a:latin typeface="Cambria"/>
              <a:cs typeface="Cambria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44500" y="4955285"/>
            <a:ext cx="2713990" cy="1198880"/>
            <a:chOff x="444500" y="4955285"/>
            <a:chExt cx="2713990" cy="1198880"/>
          </a:xfrm>
        </p:grpSpPr>
        <p:sp>
          <p:nvSpPr>
            <p:cNvPr id="36" name="object 36"/>
            <p:cNvSpPr/>
            <p:nvPr/>
          </p:nvSpPr>
          <p:spPr>
            <a:xfrm>
              <a:off x="457200" y="4967985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2492756" y="0"/>
                  </a:moveTo>
                  <a:lnTo>
                    <a:pt x="195541" y="0"/>
                  </a:lnTo>
                  <a:lnTo>
                    <a:pt x="150704" y="5168"/>
                  </a:lnTo>
                  <a:lnTo>
                    <a:pt x="109544" y="19890"/>
                  </a:lnTo>
                  <a:lnTo>
                    <a:pt x="73237" y="42987"/>
                  </a:lnTo>
                  <a:lnTo>
                    <a:pt x="42956" y="73282"/>
                  </a:lnTo>
                  <a:lnTo>
                    <a:pt x="19874" y="109597"/>
                  </a:lnTo>
                  <a:lnTo>
                    <a:pt x="5164" y="150756"/>
                  </a:lnTo>
                  <a:lnTo>
                    <a:pt x="0" y="195580"/>
                  </a:lnTo>
                  <a:lnTo>
                    <a:pt x="0" y="977684"/>
                  </a:lnTo>
                  <a:lnTo>
                    <a:pt x="5164" y="1022517"/>
                  </a:lnTo>
                  <a:lnTo>
                    <a:pt x="19874" y="1063673"/>
                  </a:lnTo>
                  <a:lnTo>
                    <a:pt x="42956" y="1099977"/>
                  </a:lnTo>
                  <a:lnTo>
                    <a:pt x="73237" y="1130257"/>
                  </a:lnTo>
                  <a:lnTo>
                    <a:pt x="109544" y="1153339"/>
                  </a:lnTo>
                  <a:lnTo>
                    <a:pt x="150704" y="1168049"/>
                  </a:lnTo>
                  <a:lnTo>
                    <a:pt x="195541" y="1173213"/>
                  </a:lnTo>
                  <a:lnTo>
                    <a:pt x="2492756" y="1173213"/>
                  </a:lnTo>
                  <a:lnTo>
                    <a:pt x="2537619" y="1168049"/>
                  </a:lnTo>
                  <a:lnTo>
                    <a:pt x="2578793" y="1153339"/>
                  </a:lnTo>
                  <a:lnTo>
                    <a:pt x="2615106" y="1130257"/>
                  </a:lnTo>
                  <a:lnTo>
                    <a:pt x="2645388" y="1099977"/>
                  </a:lnTo>
                  <a:lnTo>
                    <a:pt x="2668467" y="1063673"/>
                  </a:lnTo>
                  <a:lnTo>
                    <a:pt x="2683173" y="1022517"/>
                  </a:lnTo>
                  <a:lnTo>
                    <a:pt x="2688336" y="977684"/>
                  </a:lnTo>
                  <a:lnTo>
                    <a:pt x="2688336" y="195580"/>
                  </a:lnTo>
                  <a:lnTo>
                    <a:pt x="2683173" y="150756"/>
                  </a:lnTo>
                  <a:lnTo>
                    <a:pt x="2668467" y="109597"/>
                  </a:lnTo>
                  <a:lnTo>
                    <a:pt x="2645388" y="73282"/>
                  </a:lnTo>
                  <a:lnTo>
                    <a:pt x="2615106" y="42987"/>
                  </a:lnTo>
                  <a:lnTo>
                    <a:pt x="2578793" y="19890"/>
                  </a:lnTo>
                  <a:lnTo>
                    <a:pt x="2537619" y="5168"/>
                  </a:lnTo>
                  <a:lnTo>
                    <a:pt x="2492756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57200" y="4967985"/>
              <a:ext cx="2688590" cy="1173480"/>
            </a:xfrm>
            <a:custGeom>
              <a:avLst/>
              <a:gdLst/>
              <a:ahLst/>
              <a:cxnLst/>
              <a:rect l="l" t="t" r="r" b="b"/>
              <a:pathLst>
                <a:path w="2688590" h="1173479">
                  <a:moveTo>
                    <a:pt x="0" y="195580"/>
                  </a:moveTo>
                  <a:lnTo>
                    <a:pt x="5164" y="150756"/>
                  </a:lnTo>
                  <a:lnTo>
                    <a:pt x="19874" y="109597"/>
                  </a:lnTo>
                  <a:lnTo>
                    <a:pt x="42956" y="73282"/>
                  </a:lnTo>
                  <a:lnTo>
                    <a:pt x="73237" y="42987"/>
                  </a:lnTo>
                  <a:lnTo>
                    <a:pt x="109544" y="19890"/>
                  </a:lnTo>
                  <a:lnTo>
                    <a:pt x="150704" y="5168"/>
                  </a:lnTo>
                  <a:lnTo>
                    <a:pt x="195541" y="0"/>
                  </a:lnTo>
                  <a:lnTo>
                    <a:pt x="2492756" y="0"/>
                  </a:lnTo>
                  <a:lnTo>
                    <a:pt x="2537619" y="5168"/>
                  </a:lnTo>
                  <a:lnTo>
                    <a:pt x="2578793" y="19890"/>
                  </a:lnTo>
                  <a:lnTo>
                    <a:pt x="2615106" y="42987"/>
                  </a:lnTo>
                  <a:lnTo>
                    <a:pt x="2645388" y="73282"/>
                  </a:lnTo>
                  <a:lnTo>
                    <a:pt x="2668467" y="109597"/>
                  </a:lnTo>
                  <a:lnTo>
                    <a:pt x="2683173" y="150756"/>
                  </a:lnTo>
                  <a:lnTo>
                    <a:pt x="2688336" y="195580"/>
                  </a:lnTo>
                  <a:lnTo>
                    <a:pt x="2688336" y="977684"/>
                  </a:lnTo>
                  <a:lnTo>
                    <a:pt x="2683173" y="1022517"/>
                  </a:lnTo>
                  <a:lnTo>
                    <a:pt x="2668467" y="1063673"/>
                  </a:lnTo>
                  <a:lnTo>
                    <a:pt x="2645388" y="1099977"/>
                  </a:lnTo>
                  <a:lnTo>
                    <a:pt x="2615106" y="1130257"/>
                  </a:lnTo>
                  <a:lnTo>
                    <a:pt x="2578793" y="1153339"/>
                  </a:lnTo>
                  <a:lnTo>
                    <a:pt x="2537619" y="1168049"/>
                  </a:lnTo>
                  <a:lnTo>
                    <a:pt x="2492756" y="1173213"/>
                  </a:lnTo>
                  <a:lnTo>
                    <a:pt x="195541" y="1173213"/>
                  </a:lnTo>
                  <a:lnTo>
                    <a:pt x="150704" y="1168049"/>
                  </a:lnTo>
                  <a:lnTo>
                    <a:pt x="109544" y="1153339"/>
                  </a:lnTo>
                  <a:lnTo>
                    <a:pt x="73237" y="1130257"/>
                  </a:lnTo>
                  <a:lnTo>
                    <a:pt x="42956" y="1099977"/>
                  </a:lnTo>
                  <a:lnTo>
                    <a:pt x="19874" y="1063673"/>
                  </a:lnTo>
                  <a:lnTo>
                    <a:pt x="5164" y="1022517"/>
                  </a:lnTo>
                  <a:lnTo>
                    <a:pt x="0" y="977684"/>
                  </a:lnTo>
                  <a:lnTo>
                    <a:pt x="0" y="195580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979119" y="5230748"/>
            <a:ext cx="1647189" cy="5994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12700" marR="5080" indent="284480">
              <a:lnSpc>
                <a:spcPts val="2110"/>
              </a:lnSpc>
              <a:spcBef>
                <a:spcPts val="415"/>
              </a:spcBef>
            </a:pPr>
            <a:r>
              <a:rPr sz="2000" b="1" spc="110" dirty="0">
                <a:solidFill>
                  <a:srgbClr val="FFFFFF"/>
                </a:solidFill>
                <a:latin typeface="Cambria"/>
                <a:cs typeface="Cambria"/>
              </a:rPr>
              <a:t>Military </a:t>
            </a:r>
            <a:r>
              <a:rPr sz="2000" b="1" spc="114" dirty="0">
                <a:solidFill>
                  <a:srgbClr val="FFFFFF"/>
                </a:solidFill>
                <a:latin typeface="Cambria"/>
                <a:cs typeface="Cambria"/>
              </a:rPr>
              <a:t> </a:t>
            </a:r>
            <a:r>
              <a:rPr sz="2000" b="1" spc="80" dirty="0">
                <a:solidFill>
                  <a:srgbClr val="FFFFFF"/>
                </a:solidFill>
                <a:latin typeface="Cambria"/>
                <a:cs typeface="Cambria"/>
              </a:rPr>
              <a:t>a</a:t>
            </a:r>
            <a:r>
              <a:rPr sz="2000" b="1" spc="100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2000" b="1" spc="95" dirty="0">
                <a:solidFill>
                  <a:srgbClr val="FFFFFF"/>
                </a:solidFill>
                <a:latin typeface="Cambria"/>
                <a:cs typeface="Cambria"/>
              </a:rPr>
              <a:t>p</a:t>
            </a:r>
            <a:r>
              <a:rPr sz="2000" b="1" spc="50" dirty="0">
                <a:solidFill>
                  <a:srgbClr val="FFFFFF"/>
                </a:solidFill>
                <a:latin typeface="Cambria"/>
                <a:cs typeface="Cambria"/>
              </a:rPr>
              <a:t>l</a:t>
            </a:r>
            <a:r>
              <a:rPr sz="2000" b="1" spc="135" dirty="0">
                <a:solidFill>
                  <a:srgbClr val="FFFFFF"/>
                </a:solidFill>
                <a:latin typeface="Cambria"/>
                <a:cs typeface="Cambria"/>
              </a:rPr>
              <a:t>ica</a:t>
            </a:r>
            <a:r>
              <a:rPr sz="2000" b="1" spc="105" dirty="0">
                <a:solidFill>
                  <a:srgbClr val="FFFFFF"/>
                </a:solidFill>
                <a:latin typeface="Cambria"/>
                <a:cs typeface="Cambria"/>
              </a:rPr>
              <a:t>ti</a:t>
            </a:r>
            <a:r>
              <a:rPr sz="2000" b="1" spc="185" dirty="0">
                <a:solidFill>
                  <a:srgbClr val="FFFFFF"/>
                </a:solidFill>
                <a:latin typeface="Cambria"/>
                <a:cs typeface="Cambria"/>
              </a:rPr>
              <a:t>o</a:t>
            </a:r>
            <a:r>
              <a:rPr sz="2000" b="1" spc="135" dirty="0">
                <a:solidFill>
                  <a:srgbClr val="FFFFFF"/>
                </a:solidFill>
                <a:latin typeface="Cambria"/>
                <a:cs typeface="Cambria"/>
              </a:rPr>
              <a:t>ns</a:t>
            </a:r>
            <a:endParaRPr sz="2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1778" y="115315"/>
            <a:ext cx="70027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 marR="5080" indent="-14224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Aplikasi</a:t>
            </a:r>
            <a:r>
              <a:rPr sz="3200" spc="35" dirty="0"/>
              <a:t> </a:t>
            </a:r>
            <a:r>
              <a:rPr sz="3200" spc="-5" dirty="0"/>
              <a:t>Pengenalan</a:t>
            </a:r>
            <a:r>
              <a:rPr sz="3200" spc="25" dirty="0"/>
              <a:t> </a:t>
            </a:r>
            <a:r>
              <a:rPr sz="3200" spc="-10" dirty="0"/>
              <a:t>Pola</a:t>
            </a:r>
            <a:r>
              <a:rPr sz="3200" spc="35" dirty="0"/>
              <a:t> </a:t>
            </a:r>
            <a:r>
              <a:rPr sz="3200" spc="-5" dirty="0"/>
              <a:t>berdasarkan </a:t>
            </a:r>
            <a:r>
              <a:rPr sz="3200" spc="-835" dirty="0"/>
              <a:t> </a:t>
            </a:r>
            <a:r>
              <a:rPr sz="3200" spc="-5" dirty="0"/>
              <a:t>Domain</a:t>
            </a:r>
            <a:r>
              <a:rPr sz="3200" spc="25" dirty="0"/>
              <a:t> </a:t>
            </a:r>
            <a:r>
              <a:rPr sz="3200" spc="-5" dirty="0"/>
              <a:t>Permasalahan</a:t>
            </a:r>
            <a:endParaRPr sz="32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0850" y="1262125"/>
          <a:ext cx="8229600" cy="457679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Problem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Domain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Application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Pattern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Pattern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Classes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2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Bioinformatics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Sequence</a:t>
                      </a:r>
                      <a:r>
                        <a:rPr sz="1600" spc="-9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Anaysis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DNA/Protein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sequence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Known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types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of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genes/patterns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992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Data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Mining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58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Seaching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meaningful</a:t>
                      </a:r>
                      <a:r>
                        <a:rPr sz="16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patterns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7749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Points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in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multi-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dimensional</a:t>
                      </a:r>
                      <a:r>
                        <a:rPr sz="1600" spc="-7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space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7495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Compact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and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 well-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seperated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cluster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8058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Document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classificat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Internet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search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0" dirty="0">
                          <a:latin typeface="Microsoft Sans Serif"/>
                          <a:cs typeface="Microsoft Sans Serif"/>
                        </a:rPr>
                        <a:t>Text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Document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174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Semantic</a:t>
                      </a:r>
                      <a:r>
                        <a:rPr sz="1600" spc="-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categories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(e.g.,</a:t>
                      </a:r>
                      <a:r>
                        <a:rPr sz="1600" spc="4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business,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sports,</a:t>
                      </a:r>
                      <a:r>
                        <a:rPr sz="16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etc.)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19">
                <a:tc>
                  <a:txBody>
                    <a:bodyPr/>
                    <a:lstStyle/>
                    <a:p>
                      <a:pPr marL="91440" marR="422909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Document</a:t>
                      </a:r>
                      <a:r>
                        <a:rPr sz="16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image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analysis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636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Reading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machine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the</a:t>
                      </a:r>
                      <a:r>
                        <a:rPr sz="1600" spc="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blind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Document image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549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Alphanumeric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characters,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words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 marR="95440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Industrial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automation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5176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Printed circuit board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inspection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3867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Intensity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or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range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image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8575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Defective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/</a:t>
                      </a:r>
                      <a:r>
                        <a:rPr sz="1600" spc="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non-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defective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nature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of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product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22934">
                <a:tc>
                  <a:txBody>
                    <a:bodyPr/>
                    <a:lstStyle/>
                    <a:p>
                      <a:pPr marL="91440" marR="8572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Multimedia</a:t>
                      </a:r>
                      <a:r>
                        <a:rPr sz="16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database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retrieval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Internet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search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Video</a:t>
                      </a:r>
                      <a:r>
                        <a:rPr sz="16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clip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4701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Video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genres (e.g.,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action,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dialogue,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etc.)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91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071778" y="115315"/>
            <a:ext cx="7002780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34465" marR="5080" indent="-1422400">
              <a:lnSpc>
                <a:spcPct val="100000"/>
              </a:lnSpc>
              <a:spcBef>
                <a:spcPts val="100"/>
              </a:spcBef>
            </a:pPr>
            <a:r>
              <a:rPr sz="3200" spc="-10" dirty="0"/>
              <a:t>Aplikasi</a:t>
            </a:r>
            <a:r>
              <a:rPr sz="3200" spc="35" dirty="0"/>
              <a:t> </a:t>
            </a:r>
            <a:r>
              <a:rPr sz="3200" spc="-5" dirty="0"/>
              <a:t>Pengenalan</a:t>
            </a:r>
            <a:r>
              <a:rPr sz="3200" spc="25" dirty="0"/>
              <a:t> </a:t>
            </a:r>
            <a:r>
              <a:rPr sz="3200" spc="-10" dirty="0"/>
              <a:t>Pola</a:t>
            </a:r>
            <a:r>
              <a:rPr sz="3200" spc="35" dirty="0"/>
              <a:t> </a:t>
            </a:r>
            <a:r>
              <a:rPr sz="3200" spc="-5" dirty="0"/>
              <a:t>berdasarkan </a:t>
            </a:r>
            <a:r>
              <a:rPr sz="3200" spc="-835" dirty="0"/>
              <a:t> </a:t>
            </a:r>
            <a:r>
              <a:rPr sz="3200" spc="-5" dirty="0"/>
              <a:t>Domain</a:t>
            </a:r>
            <a:r>
              <a:rPr sz="3200" spc="25" dirty="0"/>
              <a:t> </a:t>
            </a:r>
            <a:r>
              <a:rPr sz="3200" spc="-5" dirty="0"/>
              <a:t>Permasalahan</a:t>
            </a:r>
            <a:endParaRPr sz="3200"/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0850" y="1262125"/>
          <a:ext cx="8229600" cy="25956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7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Problem</a:t>
                      </a:r>
                      <a:r>
                        <a:rPr sz="1600" b="1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Domain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10" dirty="0">
                          <a:latin typeface="Arial"/>
                          <a:cs typeface="Arial"/>
                        </a:rPr>
                        <a:t>Application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Input</a:t>
                      </a:r>
                      <a:r>
                        <a:rPr sz="1600" b="1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Pattern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b="1" spc="-5" dirty="0">
                          <a:latin typeface="Arial"/>
                          <a:cs typeface="Arial"/>
                        </a:rPr>
                        <a:t>Pattern</a:t>
                      </a:r>
                      <a:r>
                        <a:rPr sz="1600" b="1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1600" b="1" spc="-5" dirty="0">
                          <a:latin typeface="Arial"/>
                          <a:cs typeface="Arial"/>
                        </a:rPr>
                        <a:t>Classes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BADFE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993">
                <a:tc>
                  <a:txBody>
                    <a:bodyPr/>
                    <a:lstStyle/>
                    <a:p>
                      <a:pPr marL="91440" marR="88582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Biometric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Recogn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tion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817244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Personal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Ident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i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fication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Face,</a:t>
                      </a:r>
                      <a:r>
                        <a:rPr sz="16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iris,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fingerprint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40665">
                        <a:lnSpc>
                          <a:spcPct val="100000"/>
                        </a:lnSpc>
                        <a:spcBef>
                          <a:spcPts val="320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Authorized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user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for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access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control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064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5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Remote Sensing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Forcasting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crop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yield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Multispectral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image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29972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Land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use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categories,</a:t>
                      </a:r>
                      <a:r>
                        <a:rPr sz="16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growth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pattern</a:t>
                      </a:r>
                      <a:r>
                        <a:rPr sz="1600" spc="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of</a:t>
                      </a:r>
                      <a:r>
                        <a:rPr sz="1600" spc="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crop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F3F8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Speech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Recognition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8351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Telephone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directory </a:t>
                      </a:r>
                      <a:r>
                        <a:rPr sz="1600" spc="-409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enquiry</a:t>
                      </a:r>
                      <a:r>
                        <a:rPr sz="1600" spc="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without </a:t>
                      </a:r>
                      <a:r>
                        <a:rPr sz="160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operator assistance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Speech</a:t>
                      </a:r>
                      <a:r>
                        <a:rPr sz="16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waveform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25"/>
                        </a:spcBef>
                      </a:pPr>
                      <a:r>
                        <a:rPr sz="1600" spc="-5" dirty="0">
                          <a:latin typeface="Microsoft Sans Serif"/>
                          <a:cs typeface="Microsoft Sans Serif"/>
                        </a:rPr>
                        <a:t>Spoken</a:t>
                      </a:r>
                      <a:r>
                        <a:rPr sz="1600" spc="-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600" spc="-10" dirty="0">
                          <a:latin typeface="Microsoft Sans Serif"/>
                          <a:cs typeface="Microsoft Sans Serif"/>
                        </a:rPr>
                        <a:t>words</a:t>
                      </a:r>
                      <a:endParaRPr sz="16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127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7F3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856894" y="264617"/>
            <a:ext cx="742823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Pendekatan</a:t>
            </a:r>
            <a:r>
              <a:rPr spc="40" dirty="0"/>
              <a:t> </a:t>
            </a:r>
            <a:r>
              <a:rPr spc="-5" dirty="0"/>
              <a:t>Pengenalan</a:t>
            </a:r>
            <a:r>
              <a:rPr spc="40" dirty="0"/>
              <a:t> </a:t>
            </a:r>
            <a:r>
              <a:rPr spc="-5" dirty="0"/>
              <a:t>Pola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06779"/>
            <a:ext cx="7492365" cy="4208145"/>
          </a:xfrm>
          <a:prstGeom prst="rect">
            <a:avLst/>
          </a:prstGeom>
        </p:spPr>
        <p:txBody>
          <a:bodyPr vert="horz" wrap="square" lIns="0" tIns="977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770"/>
              </a:spcBef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latin typeface="Arial"/>
                <a:cs typeface="Arial"/>
              </a:rPr>
              <a:t>Template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Matching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: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berdasarkan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template</a:t>
            </a:r>
            <a:endParaRPr sz="2800">
              <a:latin typeface="Microsoft Sans Serif"/>
              <a:cs typeface="Microsoft Sans Serif"/>
            </a:endParaRPr>
          </a:p>
          <a:p>
            <a:pPr marL="355600" marR="127000" indent="-343535">
              <a:lnSpc>
                <a:spcPct val="100000"/>
              </a:lnSpc>
              <a:spcBef>
                <a:spcPts val="675"/>
              </a:spcBef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800" b="1" dirty="0">
                <a:latin typeface="Arial"/>
                <a:cs typeface="Arial"/>
              </a:rPr>
              <a:t>Statistical </a:t>
            </a:r>
            <a:r>
              <a:rPr sz="2800" spc="-5" dirty="0">
                <a:latin typeface="Microsoft Sans Serif"/>
                <a:cs typeface="Microsoft Sans Serif"/>
              </a:rPr>
              <a:t>: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berdasarkan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model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statistik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dan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kelas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yang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diberikan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675"/>
              </a:spcBef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latin typeface="Arial"/>
                <a:cs typeface="Arial"/>
              </a:rPr>
              <a:t>Structural</a:t>
            </a:r>
            <a:r>
              <a:rPr sz="2800" b="1" spc="10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(or syntactic)</a:t>
            </a:r>
            <a:r>
              <a:rPr sz="2800" b="1" spc="70" dirty="0">
                <a:latin typeface="Arial"/>
                <a:cs typeface="Arial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: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kelas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pola </a:t>
            </a:r>
            <a:r>
              <a:rPr sz="2800" spc="-5" dirty="0">
                <a:latin typeface="Microsoft Sans Serif"/>
                <a:cs typeface="Microsoft Sans Serif"/>
              </a:rPr>
              <a:t> direpresentasikan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oleh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struktur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formal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seperti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grammer,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string,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automata,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dll.</a:t>
            </a:r>
            <a:endParaRPr sz="2800">
              <a:latin typeface="Microsoft Sans Serif"/>
              <a:cs typeface="Microsoft Sans Serif"/>
            </a:endParaRPr>
          </a:p>
          <a:p>
            <a:pPr marL="355600" marR="21590" indent="-343535">
              <a:lnSpc>
                <a:spcPct val="100000"/>
              </a:lnSpc>
              <a:spcBef>
                <a:spcPts val="670"/>
              </a:spcBef>
              <a:buFont typeface="Microsoft Sans Serif"/>
              <a:buChar char="•"/>
              <a:tabLst>
                <a:tab pos="355600" algn="l"/>
                <a:tab pos="356235" algn="l"/>
              </a:tabLst>
            </a:pPr>
            <a:r>
              <a:rPr sz="2800" b="1" spc="-5" dirty="0">
                <a:latin typeface="Arial"/>
                <a:cs typeface="Arial"/>
              </a:rPr>
              <a:t>Neural</a:t>
            </a:r>
            <a:r>
              <a:rPr sz="2800" b="1" spc="1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networks</a:t>
            </a:r>
            <a:r>
              <a:rPr sz="2800" b="1" spc="35" dirty="0">
                <a:latin typeface="Arial"/>
                <a:cs typeface="Arial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: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mesin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klasifikasi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yang 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direpresentasikan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oleh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model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sel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neuron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 </a:t>
            </a:r>
            <a:r>
              <a:rPr sz="2800" spc="-7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otak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manusia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588388" y="264617"/>
            <a:ext cx="59651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Model</a:t>
            </a:r>
            <a:r>
              <a:rPr spc="30" dirty="0"/>
              <a:t> </a:t>
            </a:r>
            <a:r>
              <a:rPr spc="-5" dirty="0"/>
              <a:t>Pengenalan</a:t>
            </a:r>
            <a:r>
              <a:rPr spc="35" dirty="0"/>
              <a:t> </a:t>
            </a:r>
            <a:r>
              <a:rPr spc="-5" dirty="0"/>
              <a:t>Pola</a:t>
            </a: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50850" y="1262125"/>
          <a:ext cx="8229600" cy="380987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0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Approach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28575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Representation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28575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86409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latin typeface="Arial"/>
                          <a:cs typeface="Arial"/>
                        </a:rPr>
                        <a:t>Recognition  Function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28575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89598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25" dirty="0">
                          <a:latin typeface="Arial"/>
                          <a:cs typeface="Arial"/>
                        </a:rPr>
                        <a:t>Typical </a:t>
                      </a:r>
                      <a:r>
                        <a:rPr sz="2000" b="1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dirty="0">
                          <a:latin typeface="Arial"/>
                          <a:cs typeface="Arial"/>
                        </a:rPr>
                        <a:t>Criterion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28575">
                      <a:solidFill>
                        <a:srgbClr val="2C2C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30" dirty="0">
                          <a:latin typeface="Microsoft Sans Serif"/>
                          <a:cs typeface="Microsoft Sans Serif"/>
                        </a:rPr>
                        <a:t>Template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matching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28575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Samples,</a:t>
                      </a:r>
                      <a:r>
                        <a:rPr sz="2000" spc="-2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pixels,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curves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28575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640080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Cor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elation,  distance 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measure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28575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Classification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error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8735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28575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Statistical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Features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5626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Di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c</a:t>
                      </a:r>
                      <a:r>
                        <a:rPr sz="2000" spc="5" dirty="0">
                          <a:latin typeface="Microsoft Sans Serif"/>
                          <a:cs typeface="Microsoft Sans Serif"/>
                        </a:rPr>
                        <a:t>r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iminant  function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5593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Cla</a:t>
                      </a:r>
                      <a:r>
                        <a:rPr sz="2000" spc="10" dirty="0">
                          <a:latin typeface="Microsoft Sans Serif"/>
                          <a:cs typeface="Microsoft Sans Serif"/>
                        </a:rPr>
                        <a:t>s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sification  error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0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Syntactic</a:t>
                      </a:r>
                      <a:r>
                        <a:rPr sz="20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structural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Primitives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Rules,</a:t>
                      </a:r>
                      <a:r>
                        <a:rPr sz="20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grammar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Acceptance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error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  <a:solidFill>
                      <a:srgbClr val="D4D4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0913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Neural</a:t>
                      </a:r>
                      <a:r>
                        <a:rPr sz="2000" spc="-3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networks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104139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Samples,</a:t>
                      </a:r>
                      <a:r>
                        <a:rPr sz="20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spc="-5" dirty="0">
                          <a:latin typeface="Microsoft Sans Serif"/>
                          <a:cs typeface="Microsoft Sans Serif"/>
                        </a:rPr>
                        <a:t>pixels, </a:t>
                      </a:r>
                      <a:r>
                        <a:rPr sz="2000" spc="-5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features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102298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Network  function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473075">
                        <a:lnSpc>
                          <a:spcPct val="100000"/>
                        </a:lnSpc>
                        <a:spcBef>
                          <a:spcPts val="310"/>
                        </a:spcBef>
                      </a:pP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Mean</a:t>
                      </a:r>
                      <a:r>
                        <a:rPr sz="20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square </a:t>
                      </a:r>
                      <a:r>
                        <a:rPr sz="2000" spc="-51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2000" dirty="0">
                          <a:latin typeface="Microsoft Sans Serif"/>
                          <a:cs typeface="Microsoft Sans Serif"/>
                        </a:rPr>
                        <a:t>error</a:t>
                      </a:r>
                      <a:endParaRPr sz="20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2C2C89"/>
                      </a:solidFill>
                      <a:prstDash val="solid"/>
                    </a:lnL>
                    <a:lnR w="12700">
                      <a:solidFill>
                        <a:srgbClr val="2C2C89"/>
                      </a:solidFill>
                      <a:prstDash val="solid"/>
                    </a:lnR>
                    <a:lnT w="12700">
                      <a:solidFill>
                        <a:srgbClr val="2C2C89"/>
                      </a:solidFill>
                      <a:prstDash val="solid"/>
                    </a:lnT>
                    <a:lnB w="12700">
                      <a:solidFill>
                        <a:srgbClr val="2C2C89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Pendekatan</a:t>
            </a:r>
            <a:r>
              <a:rPr spc="15" dirty="0"/>
              <a:t> </a:t>
            </a:r>
            <a:r>
              <a:rPr spc="-5" dirty="0"/>
              <a:t>Statistik</a:t>
            </a:r>
          </a:p>
        </p:txBody>
      </p:sp>
      <p:sp>
        <p:nvSpPr>
          <p:cNvPr id="7" name="object 7"/>
          <p:cNvSpPr/>
          <p:nvPr/>
        </p:nvSpPr>
        <p:spPr>
          <a:xfrm>
            <a:off x="696912" y="2333625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30" h="1903729">
                <a:moveTo>
                  <a:pt x="303212" y="0"/>
                </a:moveTo>
                <a:lnTo>
                  <a:pt x="303212" y="1903476"/>
                </a:lnTo>
              </a:path>
              <a:path w="2132330" h="1903729">
                <a:moveTo>
                  <a:pt x="684212" y="0"/>
                </a:moveTo>
                <a:lnTo>
                  <a:pt x="684212" y="1903476"/>
                </a:lnTo>
              </a:path>
              <a:path w="2132330" h="1903729">
                <a:moveTo>
                  <a:pt x="1065212" y="0"/>
                </a:moveTo>
                <a:lnTo>
                  <a:pt x="1065212" y="1903476"/>
                </a:lnTo>
              </a:path>
              <a:path w="2132330" h="1903729">
                <a:moveTo>
                  <a:pt x="1446212" y="0"/>
                </a:moveTo>
                <a:lnTo>
                  <a:pt x="1446212" y="1903476"/>
                </a:lnTo>
              </a:path>
              <a:path w="2132330" h="1903729">
                <a:moveTo>
                  <a:pt x="1827212" y="0"/>
                </a:moveTo>
                <a:lnTo>
                  <a:pt x="1827212" y="1903476"/>
                </a:lnTo>
              </a:path>
              <a:path w="2132330" h="1903729">
                <a:moveTo>
                  <a:pt x="0" y="303275"/>
                </a:moveTo>
                <a:lnTo>
                  <a:pt x="2132012" y="303275"/>
                </a:lnTo>
              </a:path>
              <a:path w="2132330" h="1903729">
                <a:moveTo>
                  <a:pt x="0" y="608076"/>
                </a:moveTo>
                <a:lnTo>
                  <a:pt x="2132012" y="608076"/>
                </a:lnTo>
              </a:path>
              <a:path w="2132330" h="1903729">
                <a:moveTo>
                  <a:pt x="0" y="912876"/>
                </a:moveTo>
                <a:lnTo>
                  <a:pt x="2132012" y="912876"/>
                </a:lnTo>
              </a:path>
              <a:path w="2132330" h="1903729">
                <a:moveTo>
                  <a:pt x="0" y="1217676"/>
                </a:moveTo>
                <a:lnTo>
                  <a:pt x="2132012" y="1217676"/>
                </a:lnTo>
              </a:path>
              <a:path w="2132330" h="1903729">
                <a:moveTo>
                  <a:pt x="0" y="1522476"/>
                </a:moveTo>
                <a:lnTo>
                  <a:pt x="2132012" y="1522476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87776" y="2363851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3503" y="2014854"/>
            <a:ext cx="645350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3500" algn="l"/>
                <a:tab pos="5042535" algn="l"/>
              </a:tabLst>
            </a:pPr>
            <a:r>
              <a:rPr sz="16500" dirty="0">
                <a:latin typeface="Comic Sans MS"/>
                <a:cs typeface="Comic Sans MS"/>
              </a:rPr>
              <a:t>A	</a:t>
            </a:r>
            <a:r>
              <a:rPr sz="24750" baseline="-1346" dirty="0">
                <a:latin typeface="Microsoft Sans Serif"/>
                <a:cs typeface="Microsoft Sans Serif"/>
              </a:rPr>
              <a:t>A	</a:t>
            </a:r>
            <a:r>
              <a:rPr sz="16500" dirty="0">
                <a:latin typeface="Microsoft Sans Serif"/>
                <a:cs typeface="Microsoft Sans Serif"/>
              </a:rPr>
              <a:t>B</a:t>
            </a:r>
            <a:endParaRPr sz="165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6176" y="2347976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036826" y="4956175"/>
            <a:ext cx="1981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0" marR="5080" indent="-196850">
              <a:lnSpc>
                <a:spcPct val="100000"/>
              </a:lnSpc>
              <a:spcBef>
                <a:spcPts val="100"/>
              </a:spcBef>
            </a:pPr>
            <a:r>
              <a:rPr sz="1800" b="1" spc="100" dirty="0">
                <a:latin typeface="Cambria"/>
                <a:cs typeface="Cambria"/>
              </a:rPr>
              <a:t>Membandingkan </a:t>
            </a:r>
            <a:r>
              <a:rPr sz="1800" b="1" spc="-385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Grid</a:t>
            </a:r>
            <a:r>
              <a:rPr sz="1800" b="1" spc="185" dirty="0">
                <a:latin typeface="Cambria"/>
                <a:cs typeface="Cambria"/>
              </a:rPr>
              <a:t> </a:t>
            </a:r>
            <a:r>
              <a:rPr sz="1800" b="1" spc="50" dirty="0">
                <a:latin typeface="Cambria"/>
                <a:cs typeface="Cambria"/>
              </a:rPr>
              <a:t>per</a:t>
            </a:r>
            <a:r>
              <a:rPr sz="1800" b="1" spc="204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Grid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77923" y="4133088"/>
            <a:ext cx="2644140" cy="757555"/>
            <a:chOff x="1677923" y="4133088"/>
            <a:chExt cx="2644140" cy="75755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7923" y="4133088"/>
              <a:ext cx="358139" cy="7437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8065" y="4286250"/>
              <a:ext cx="118110" cy="500380"/>
            </a:xfrm>
            <a:custGeom>
              <a:avLst/>
              <a:gdLst/>
              <a:ahLst/>
              <a:cxnLst/>
              <a:rect l="l" t="t" r="r" b="b"/>
              <a:pathLst>
                <a:path w="118110" h="500379">
                  <a:moveTo>
                    <a:pt x="59201" y="50392"/>
                  </a:moveTo>
                  <a:lnTo>
                    <a:pt x="46343" y="72272"/>
                  </a:lnTo>
                  <a:lnTo>
                    <a:pt x="45084" y="499999"/>
                  </a:lnTo>
                  <a:lnTo>
                    <a:pt x="70484" y="500125"/>
                  </a:lnTo>
                  <a:lnTo>
                    <a:pt x="71744" y="72053"/>
                  </a:lnTo>
                  <a:lnTo>
                    <a:pt x="59201" y="50392"/>
                  </a:lnTo>
                  <a:close/>
                </a:path>
                <a:path w="118110" h="500379">
                  <a:moveTo>
                    <a:pt x="73879" y="25145"/>
                  </a:moveTo>
                  <a:lnTo>
                    <a:pt x="71881" y="25145"/>
                  </a:lnTo>
                  <a:lnTo>
                    <a:pt x="71744" y="72053"/>
                  </a:lnTo>
                  <a:lnTo>
                    <a:pt x="92456" y="107823"/>
                  </a:lnTo>
                  <a:lnTo>
                    <a:pt x="96011" y="113918"/>
                  </a:lnTo>
                  <a:lnTo>
                    <a:pt x="103758" y="115950"/>
                  </a:lnTo>
                  <a:lnTo>
                    <a:pt x="109854" y="112522"/>
                  </a:lnTo>
                  <a:lnTo>
                    <a:pt x="115823" y="108966"/>
                  </a:lnTo>
                  <a:lnTo>
                    <a:pt x="117982" y="101218"/>
                  </a:lnTo>
                  <a:lnTo>
                    <a:pt x="114426" y="95123"/>
                  </a:lnTo>
                  <a:lnTo>
                    <a:pt x="73879" y="25145"/>
                  </a:lnTo>
                  <a:close/>
                </a:path>
                <a:path w="118110" h="500379">
                  <a:moveTo>
                    <a:pt x="59308" y="0"/>
                  </a:moveTo>
                  <a:lnTo>
                    <a:pt x="3556" y="94742"/>
                  </a:lnTo>
                  <a:lnTo>
                    <a:pt x="0" y="100837"/>
                  </a:lnTo>
                  <a:lnTo>
                    <a:pt x="2031" y="108585"/>
                  </a:lnTo>
                  <a:lnTo>
                    <a:pt x="8127" y="112141"/>
                  </a:lnTo>
                  <a:lnTo>
                    <a:pt x="14096" y="115697"/>
                  </a:lnTo>
                  <a:lnTo>
                    <a:pt x="21970" y="113664"/>
                  </a:lnTo>
                  <a:lnTo>
                    <a:pt x="25526" y="107695"/>
                  </a:lnTo>
                  <a:lnTo>
                    <a:pt x="46343" y="72272"/>
                  </a:lnTo>
                  <a:lnTo>
                    <a:pt x="46481" y="25145"/>
                  </a:lnTo>
                  <a:lnTo>
                    <a:pt x="73879" y="25145"/>
                  </a:lnTo>
                  <a:lnTo>
                    <a:pt x="59308" y="0"/>
                  </a:lnTo>
                  <a:close/>
                </a:path>
                <a:path w="118110" h="500379">
                  <a:moveTo>
                    <a:pt x="71881" y="25145"/>
                  </a:moveTo>
                  <a:lnTo>
                    <a:pt x="46481" y="25145"/>
                  </a:lnTo>
                  <a:lnTo>
                    <a:pt x="46343" y="72272"/>
                  </a:lnTo>
                  <a:lnTo>
                    <a:pt x="59201" y="50392"/>
                  </a:lnTo>
                  <a:lnTo>
                    <a:pt x="48259" y="31495"/>
                  </a:lnTo>
                  <a:lnTo>
                    <a:pt x="71863" y="31495"/>
                  </a:lnTo>
                  <a:lnTo>
                    <a:pt x="71881" y="25145"/>
                  </a:lnTo>
                  <a:close/>
                </a:path>
                <a:path w="118110" h="500379">
                  <a:moveTo>
                    <a:pt x="71863" y="31495"/>
                  </a:moveTo>
                  <a:lnTo>
                    <a:pt x="48259" y="31495"/>
                  </a:lnTo>
                  <a:lnTo>
                    <a:pt x="70231" y="31623"/>
                  </a:lnTo>
                  <a:lnTo>
                    <a:pt x="59201" y="50392"/>
                  </a:lnTo>
                  <a:lnTo>
                    <a:pt x="71744" y="72053"/>
                  </a:lnTo>
                  <a:lnTo>
                    <a:pt x="71863" y="31495"/>
                  </a:lnTo>
                  <a:close/>
                </a:path>
                <a:path w="118110" h="500379">
                  <a:moveTo>
                    <a:pt x="48259" y="31495"/>
                  </a:moveTo>
                  <a:lnTo>
                    <a:pt x="59201" y="50392"/>
                  </a:lnTo>
                  <a:lnTo>
                    <a:pt x="70231" y="31623"/>
                  </a:lnTo>
                  <a:lnTo>
                    <a:pt x="48259" y="3149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63923" y="4133088"/>
              <a:ext cx="358139" cy="7437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4084066" y="4286250"/>
              <a:ext cx="118110" cy="500380"/>
            </a:xfrm>
            <a:custGeom>
              <a:avLst/>
              <a:gdLst/>
              <a:ahLst/>
              <a:cxnLst/>
              <a:rect l="l" t="t" r="r" b="b"/>
              <a:pathLst>
                <a:path w="118110" h="500379">
                  <a:moveTo>
                    <a:pt x="59201" y="50392"/>
                  </a:moveTo>
                  <a:lnTo>
                    <a:pt x="46343" y="72272"/>
                  </a:lnTo>
                  <a:lnTo>
                    <a:pt x="45085" y="499999"/>
                  </a:lnTo>
                  <a:lnTo>
                    <a:pt x="70358" y="500125"/>
                  </a:lnTo>
                  <a:lnTo>
                    <a:pt x="71731" y="72031"/>
                  </a:lnTo>
                  <a:lnTo>
                    <a:pt x="59201" y="50392"/>
                  </a:lnTo>
                  <a:close/>
                </a:path>
                <a:path w="118110" h="500379">
                  <a:moveTo>
                    <a:pt x="73879" y="25145"/>
                  </a:moveTo>
                  <a:lnTo>
                    <a:pt x="71882" y="25145"/>
                  </a:lnTo>
                  <a:lnTo>
                    <a:pt x="71731" y="72031"/>
                  </a:lnTo>
                  <a:lnTo>
                    <a:pt x="92456" y="107823"/>
                  </a:lnTo>
                  <a:lnTo>
                    <a:pt x="96012" y="113918"/>
                  </a:lnTo>
                  <a:lnTo>
                    <a:pt x="103759" y="115950"/>
                  </a:lnTo>
                  <a:lnTo>
                    <a:pt x="109855" y="112522"/>
                  </a:lnTo>
                  <a:lnTo>
                    <a:pt x="115824" y="108966"/>
                  </a:lnTo>
                  <a:lnTo>
                    <a:pt x="117983" y="101218"/>
                  </a:lnTo>
                  <a:lnTo>
                    <a:pt x="114426" y="95123"/>
                  </a:lnTo>
                  <a:lnTo>
                    <a:pt x="73879" y="25145"/>
                  </a:lnTo>
                  <a:close/>
                </a:path>
                <a:path w="118110" h="500379">
                  <a:moveTo>
                    <a:pt x="59309" y="0"/>
                  </a:moveTo>
                  <a:lnTo>
                    <a:pt x="3556" y="94742"/>
                  </a:lnTo>
                  <a:lnTo>
                    <a:pt x="0" y="100837"/>
                  </a:lnTo>
                  <a:lnTo>
                    <a:pt x="2032" y="108585"/>
                  </a:lnTo>
                  <a:lnTo>
                    <a:pt x="8128" y="112141"/>
                  </a:lnTo>
                  <a:lnTo>
                    <a:pt x="14097" y="115697"/>
                  </a:lnTo>
                  <a:lnTo>
                    <a:pt x="21971" y="113664"/>
                  </a:lnTo>
                  <a:lnTo>
                    <a:pt x="25526" y="107695"/>
                  </a:lnTo>
                  <a:lnTo>
                    <a:pt x="46343" y="72272"/>
                  </a:lnTo>
                  <a:lnTo>
                    <a:pt x="46482" y="25145"/>
                  </a:lnTo>
                  <a:lnTo>
                    <a:pt x="73879" y="25145"/>
                  </a:lnTo>
                  <a:lnTo>
                    <a:pt x="59309" y="0"/>
                  </a:lnTo>
                  <a:close/>
                </a:path>
                <a:path w="118110" h="500379">
                  <a:moveTo>
                    <a:pt x="71882" y="25145"/>
                  </a:moveTo>
                  <a:lnTo>
                    <a:pt x="46482" y="25145"/>
                  </a:lnTo>
                  <a:lnTo>
                    <a:pt x="46343" y="72272"/>
                  </a:lnTo>
                  <a:lnTo>
                    <a:pt x="59201" y="50392"/>
                  </a:lnTo>
                  <a:lnTo>
                    <a:pt x="48260" y="31495"/>
                  </a:lnTo>
                  <a:lnTo>
                    <a:pt x="71861" y="31495"/>
                  </a:lnTo>
                  <a:lnTo>
                    <a:pt x="71882" y="25145"/>
                  </a:lnTo>
                  <a:close/>
                </a:path>
                <a:path w="118110" h="500379">
                  <a:moveTo>
                    <a:pt x="71861" y="31495"/>
                  </a:moveTo>
                  <a:lnTo>
                    <a:pt x="48260" y="31495"/>
                  </a:lnTo>
                  <a:lnTo>
                    <a:pt x="70231" y="31623"/>
                  </a:lnTo>
                  <a:lnTo>
                    <a:pt x="59201" y="50392"/>
                  </a:lnTo>
                  <a:lnTo>
                    <a:pt x="71731" y="72031"/>
                  </a:lnTo>
                  <a:lnTo>
                    <a:pt x="71861" y="31495"/>
                  </a:lnTo>
                  <a:close/>
                </a:path>
                <a:path w="118110" h="500379">
                  <a:moveTo>
                    <a:pt x="48260" y="31495"/>
                  </a:moveTo>
                  <a:lnTo>
                    <a:pt x="59201" y="50392"/>
                  </a:lnTo>
                  <a:lnTo>
                    <a:pt x="70231" y="31623"/>
                  </a:lnTo>
                  <a:lnTo>
                    <a:pt x="48260" y="3149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792223" y="4733544"/>
              <a:ext cx="2417064" cy="156971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57374" y="4786376"/>
              <a:ext cx="2286000" cy="1905"/>
            </a:xfrm>
            <a:custGeom>
              <a:avLst/>
              <a:gdLst/>
              <a:ahLst/>
              <a:cxnLst/>
              <a:rect l="l" t="t" r="r" b="b"/>
              <a:pathLst>
                <a:path w="2286000" h="1904">
                  <a:moveTo>
                    <a:pt x="2286000" y="1524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96912" y="1689100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30" h="1903729">
                <a:moveTo>
                  <a:pt x="303212" y="0"/>
                </a:moveTo>
                <a:lnTo>
                  <a:pt x="303212" y="1903476"/>
                </a:lnTo>
              </a:path>
              <a:path w="2132330" h="1903729">
                <a:moveTo>
                  <a:pt x="684212" y="0"/>
                </a:moveTo>
                <a:lnTo>
                  <a:pt x="684212" y="1903476"/>
                </a:lnTo>
              </a:path>
              <a:path w="2132330" h="1903729">
                <a:moveTo>
                  <a:pt x="1065212" y="0"/>
                </a:moveTo>
                <a:lnTo>
                  <a:pt x="1065212" y="1903476"/>
                </a:lnTo>
              </a:path>
              <a:path w="2132330" h="1903729">
                <a:moveTo>
                  <a:pt x="1446212" y="0"/>
                </a:moveTo>
                <a:lnTo>
                  <a:pt x="1446212" y="1903476"/>
                </a:lnTo>
              </a:path>
              <a:path w="2132330" h="1903729">
                <a:moveTo>
                  <a:pt x="1827212" y="0"/>
                </a:moveTo>
                <a:lnTo>
                  <a:pt x="1827212" y="1903476"/>
                </a:lnTo>
              </a:path>
              <a:path w="2132330" h="1903729">
                <a:moveTo>
                  <a:pt x="0" y="303275"/>
                </a:moveTo>
                <a:lnTo>
                  <a:pt x="2132012" y="303275"/>
                </a:lnTo>
              </a:path>
              <a:path w="2132330" h="1903729">
                <a:moveTo>
                  <a:pt x="0" y="608076"/>
                </a:moveTo>
                <a:lnTo>
                  <a:pt x="2132012" y="608076"/>
                </a:lnTo>
              </a:path>
              <a:path w="2132330" h="1903729">
                <a:moveTo>
                  <a:pt x="0" y="912876"/>
                </a:moveTo>
                <a:lnTo>
                  <a:pt x="2132012" y="912876"/>
                </a:lnTo>
              </a:path>
              <a:path w="2132330" h="1903729">
                <a:moveTo>
                  <a:pt x="0" y="1217676"/>
                </a:moveTo>
                <a:lnTo>
                  <a:pt x="2132012" y="1217676"/>
                </a:lnTo>
              </a:path>
              <a:path w="2132330" h="1903729">
                <a:moveTo>
                  <a:pt x="0" y="1522476"/>
                </a:moveTo>
                <a:lnTo>
                  <a:pt x="2132012" y="1522476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7776" y="1719326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3503" y="148715"/>
            <a:ext cx="6453505" cy="3762375"/>
          </a:xfrm>
          <a:prstGeom prst="rect">
            <a:avLst/>
          </a:prstGeom>
        </p:spPr>
        <p:txBody>
          <a:bodyPr vert="horz" wrap="square" lIns="0" tIns="129540" rIns="0" bIns="0" rtlCol="0">
            <a:spAutoFit/>
          </a:bodyPr>
          <a:lstStyle/>
          <a:p>
            <a:pPr marL="683895" algn="ctr">
              <a:lnSpc>
                <a:spcPct val="100000"/>
              </a:lnSpc>
              <a:spcBef>
                <a:spcPts val="1020"/>
              </a:spcBef>
            </a:pPr>
            <a:r>
              <a:rPr dirty="0"/>
              <a:t>Pendekatan</a:t>
            </a:r>
            <a:r>
              <a:rPr spc="35" dirty="0"/>
              <a:t> </a:t>
            </a:r>
            <a:r>
              <a:rPr spc="-5" dirty="0"/>
              <a:t>Statistik</a:t>
            </a:r>
          </a:p>
          <a:p>
            <a:pPr marL="12700">
              <a:lnSpc>
                <a:spcPct val="100000"/>
              </a:lnSpc>
              <a:spcBef>
                <a:spcPts val="3420"/>
              </a:spcBef>
              <a:tabLst>
                <a:tab pos="2603500" algn="l"/>
                <a:tab pos="5042535" algn="l"/>
              </a:tabLst>
            </a:pPr>
            <a:r>
              <a:rPr sz="16500" dirty="0">
                <a:solidFill>
                  <a:srgbClr val="000000"/>
                </a:solidFill>
                <a:latin typeface="Comic Sans MS"/>
                <a:cs typeface="Comic Sans MS"/>
              </a:rPr>
              <a:t>A	</a:t>
            </a:r>
            <a:r>
              <a:rPr sz="24750" baseline="-1346" dirty="0">
                <a:solidFill>
                  <a:srgbClr val="000000"/>
                </a:solidFill>
              </a:rPr>
              <a:t>A	</a:t>
            </a:r>
            <a:r>
              <a:rPr sz="16500" dirty="0">
                <a:solidFill>
                  <a:srgbClr val="000000"/>
                </a:solidFill>
              </a:rPr>
              <a:t>B</a:t>
            </a:r>
            <a:endParaRPr sz="16500">
              <a:latin typeface="Comic Sans MS"/>
              <a:cs typeface="Comic Sans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26176" y="1703451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42937" y="4152900"/>
          <a:ext cx="2135502" cy="1903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3287776" y="4148073"/>
          <a:ext cx="2131694" cy="190347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2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26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21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26670" algn="r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68580" algn="r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8895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6009894" y="4306951"/>
            <a:ext cx="154432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250" dirty="0">
                <a:latin typeface="Cambria"/>
                <a:cs typeface="Cambria"/>
              </a:rPr>
              <a:t>Jumlah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grid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yang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tidak 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sesuai</a:t>
            </a:r>
            <a:r>
              <a:rPr sz="2000" spc="14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=</a:t>
            </a:r>
            <a:r>
              <a:rPr sz="2000" spc="17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3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5300" y="1422463"/>
            <a:ext cx="7868284" cy="4940300"/>
            <a:chOff x="495300" y="1422463"/>
            <a:chExt cx="7868284" cy="4940300"/>
          </a:xfrm>
        </p:grpSpPr>
        <p:sp>
          <p:nvSpPr>
            <p:cNvPr id="14" name="object 14"/>
            <p:cNvSpPr/>
            <p:nvPr/>
          </p:nvSpPr>
          <p:spPr>
            <a:xfrm>
              <a:off x="3070225" y="1427225"/>
              <a:ext cx="2501900" cy="4930775"/>
            </a:xfrm>
            <a:custGeom>
              <a:avLst/>
              <a:gdLst/>
              <a:ahLst/>
              <a:cxnLst/>
              <a:rect l="l" t="t" r="r" b="b"/>
              <a:pathLst>
                <a:path w="2501900" h="4930775">
                  <a:moveTo>
                    <a:pt x="1524" y="0"/>
                  </a:moveTo>
                  <a:lnTo>
                    <a:pt x="0" y="4930711"/>
                  </a:lnTo>
                </a:path>
                <a:path w="2501900" h="4930775">
                  <a:moveTo>
                    <a:pt x="2501900" y="0"/>
                  </a:moveTo>
                  <a:lnTo>
                    <a:pt x="2500376" y="4929124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0062" y="3856100"/>
              <a:ext cx="7858759" cy="1905"/>
            </a:xfrm>
            <a:custGeom>
              <a:avLst/>
              <a:gdLst/>
              <a:ahLst/>
              <a:cxnLst/>
              <a:rect l="l" t="t" r="r" b="b"/>
              <a:pathLst>
                <a:path w="7858759" h="1904">
                  <a:moveTo>
                    <a:pt x="0" y="0"/>
                  </a:moveTo>
                  <a:lnTo>
                    <a:pt x="7858188" y="1524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dirty="0"/>
              <a:t>Pendekatan</a:t>
            </a:r>
            <a:r>
              <a:rPr spc="15" dirty="0"/>
              <a:t> </a:t>
            </a:r>
            <a:r>
              <a:rPr spc="-5" dirty="0"/>
              <a:t>Statistik</a:t>
            </a:r>
          </a:p>
        </p:txBody>
      </p:sp>
      <p:sp>
        <p:nvSpPr>
          <p:cNvPr id="7" name="object 7"/>
          <p:cNvSpPr/>
          <p:nvPr/>
        </p:nvSpPr>
        <p:spPr>
          <a:xfrm>
            <a:off x="696912" y="2333625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30" h="1903729">
                <a:moveTo>
                  <a:pt x="303212" y="0"/>
                </a:moveTo>
                <a:lnTo>
                  <a:pt x="303212" y="1903476"/>
                </a:lnTo>
              </a:path>
              <a:path w="2132330" h="1903729">
                <a:moveTo>
                  <a:pt x="684212" y="0"/>
                </a:moveTo>
                <a:lnTo>
                  <a:pt x="684212" y="1903476"/>
                </a:lnTo>
              </a:path>
              <a:path w="2132330" h="1903729">
                <a:moveTo>
                  <a:pt x="1065212" y="0"/>
                </a:moveTo>
                <a:lnTo>
                  <a:pt x="1065212" y="1903476"/>
                </a:lnTo>
              </a:path>
              <a:path w="2132330" h="1903729">
                <a:moveTo>
                  <a:pt x="1446212" y="0"/>
                </a:moveTo>
                <a:lnTo>
                  <a:pt x="1446212" y="1903476"/>
                </a:lnTo>
              </a:path>
              <a:path w="2132330" h="1903729">
                <a:moveTo>
                  <a:pt x="1827212" y="0"/>
                </a:moveTo>
                <a:lnTo>
                  <a:pt x="1827212" y="1903476"/>
                </a:lnTo>
              </a:path>
              <a:path w="2132330" h="1903729">
                <a:moveTo>
                  <a:pt x="0" y="303275"/>
                </a:moveTo>
                <a:lnTo>
                  <a:pt x="2132012" y="303275"/>
                </a:lnTo>
              </a:path>
              <a:path w="2132330" h="1903729">
                <a:moveTo>
                  <a:pt x="0" y="608076"/>
                </a:moveTo>
                <a:lnTo>
                  <a:pt x="2132012" y="608076"/>
                </a:lnTo>
              </a:path>
              <a:path w="2132330" h="1903729">
                <a:moveTo>
                  <a:pt x="0" y="912876"/>
                </a:moveTo>
                <a:lnTo>
                  <a:pt x="2132012" y="912876"/>
                </a:lnTo>
              </a:path>
              <a:path w="2132330" h="1903729">
                <a:moveTo>
                  <a:pt x="0" y="1217676"/>
                </a:moveTo>
                <a:lnTo>
                  <a:pt x="2132012" y="1217676"/>
                </a:lnTo>
              </a:path>
              <a:path w="2132330" h="1903729">
                <a:moveTo>
                  <a:pt x="0" y="1522476"/>
                </a:moveTo>
                <a:lnTo>
                  <a:pt x="2132012" y="1522476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287776" y="2363851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003503" y="2014854"/>
            <a:ext cx="6453505" cy="2540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03500" algn="l"/>
                <a:tab pos="5042535" algn="l"/>
              </a:tabLst>
            </a:pPr>
            <a:r>
              <a:rPr sz="16500" dirty="0">
                <a:latin typeface="Comic Sans MS"/>
                <a:cs typeface="Comic Sans MS"/>
              </a:rPr>
              <a:t>A	</a:t>
            </a:r>
            <a:r>
              <a:rPr sz="24750" baseline="-1346" dirty="0">
                <a:latin typeface="Microsoft Sans Serif"/>
                <a:cs typeface="Microsoft Sans Serif"/>
              </a:rPr>
              <a:t>A	</a:t>
            </a:r>
            <a:r>
              <a:rPr sz="16500" dirty="0">
                <a:latin typeface="Microsoft Sans Serif"/>
                <a:cs typeface="Microsoft Sans Serif"/>
              </a:rPr>
              <a:t>B</a:t>
            </a:r>
            <a:endParaRPr sz="16500">
              <a:latin typeface="Microsoft Sans Serif"/>
              <a:cs typeface="Microsoft Sans Serif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726176" y="2347976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340353" y="4956175"/>
            <a:ext cx="1981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5080" indent="-196850">
              <a:lnSpc>
                <a:spcPct val="100000"/>
              </a:lnSpc>
              <a:spcBef>
                <a:spcPts val="100"/>
              </a:spcBef>
            </a:pPr>
            <a:r>
              <a:rPr sz="1800" b="1" spc="100" dirty="0">
                <a:latin typeface="Cambria"/>
                <a:cs typeface="Cambria"/>
              </a:rPr>
              <a:t>Membandingkan </a:t>
            </a:r>
            <a:r>
              <a:rPr sz="1800" b="1" spc="-385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Grid</a:t>
            </a:r>
            <a:r>
              <a:rPr sz="1800" b="1" spc="185" dirty="0">
                <a:latin typeface="Cambria"/>
                <a:cs typeface="Cambria"/>
              </a:rPr>
              <a:t> </a:t>
            </a:r>
            <a:r>
              <a:rPr sz="1800" b="1" spc="50" dirty="0">
                <a:latin typeface="Cambria"/>
                <a:cs typeface="Cambria"/>
              </a:rPr>
              <a:t>per</a:t>
            </a:r>
            <a:r>
              <a:rPr sz="1800" b="1" spc="210" dirty="0">
                <a:latin typeface="Cambria"/>
                <a:cs typeface="Cambria"/>
              </a:rPr>
              <a:t> </a:t>
            </a:r>
            <a:r>
              <a:rPr sz="1800" b="1" spc="95" dirty="0">
                <a:latin typeface="Cambria"/>
                <a:cs typeface="Cambria"/>
              </a:rPr>
              <a:t>Grid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677923" y="4133088"/>
            <a:ext cx="5217160" cy="756285"/>
            <a:chOff x="1677923" y="4133088"/>
            <a:chExt cx="5217160" cy="756285"/>
          </a:xfrm>
        </p:grpSpPr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77923" y="4133088"/>
              <a:ext cx="358139" cy="743712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1798065" y="4286250"/>
              <a:ext cx="118110" cy="500380"/>
            </a:xfrm>
            <a:custGeom>
              <a:avLst/>
              <a:gdLst/>
              <a:ahLst/>
              <a:cxnLst/>
              <a:rect l="l" t="t" r="r" b="b"/>
              <a:pathLst>
                <a:path w="118110" h="500379">
                  <a:moveTo>
                    <a:pt x="59201" y="50392"/>
                  </a:moveTo>
                  <a:lnTo>
                    <a:pt x="46343" y="72272"/>
                  </a:lnTo>
                  <a:lnTo>
                    <a:pt x="45084" y="499999"/>
                  </a:lnTo>
                  <a:lnTo>
                    <a:pt x="70484" y="500125"/>
                  </a:lnTo>
                  <a:lnTo>
                    <a:pt x="71744" y="72053"/>
                  </a:lnTo>
                  <a:lnTo>
                    <a:pt x="59201" y="50392"/>
                  </a:lnTo>
                  <a:close/>
                </a:path>
                <a:path w="118110" h="500379">
                  <a:moveTo>
                    <a:pt x="73879" y="25145"/>
                  </a:moveTo>
                  <a:lnTo>
                    <a:pt x="71881" y="25145"/>
                  </a:lnTo>
                  <a:lnTo>
                    <a:pt x="71744" y="72053"/>
                  </a:lnTo>
                  <a:lnTo>
                    <a:pt x="92456" y="107823"/>
                  </a:lnTo>
                  <a:lnTo>
                    <a:pt x="96011" y="113918"/>
                  </a:lnTo>
                  <a:lnTo>
                    <a:pt x="103758" y="115950"/>
                  </a:lnTo>
                  <a:lnTo>
                    <a:pt x="109854" y="112522"/>
                  </a:lnTo>
                  <a:lnTo>
                    <a:pt x="115823" y="108966"/>
                  </a:lnTo>
                  <a:lnTo>
                    <a:pt x="117982" y="101218"/>
                  </a:lnTo>
                  <a:lnTo>
                    <a:pt x="114426" y="95123"/>
                  </a:lnTo>
                  <a:lnTo>
                    <a:pt x="73879" y="25145"/>
                  </a:lnTo>
                  <a:close/>
                </a:path>
                <a:path w="118110" h="500379">
                  <a:moveTo>
                    <a:pt x="59308" y="0"/>
                  </a:moveTo>
                  <a:lnTo>
                    <a:pt x="3556" y="94742"/>
                  </a:lnTo>
                  <a:lnTo>
                    <a:pt x="0" y="100837"/>
                  </a:lnTo>
                  <a:lnTo>
                    <a:pt x="2031" y="108585"/>
                  </a:lnTo>
                  <a:lnTo>
                    <a:pt x="8127" y="112141"/>
                  </a:lnTo>
                  <a:lnTo>
                    <a:pt x="14096" y="115697"/>
                  </a:lnTo>
                  <a:lnTo>
                    <a:pt x="21970" y="113664"/>
                  </a:lnTo>
                  <a:lnTo>
                    <a:pt x="25526" y="107695"/>
                  </a:lnTo>
                  <a:lnTo>
                    <a:pt x="46343" y="72272"/>
                  </a:lnTo>
                  <a:lnTo>
                    <a:pt x="46481" y="25145"/>
                  </a:lnTo>
                  <a:lnTo>
                    <a:pt x="73879" y="25145"/>
                  </a:lnTo>
                  <a:lnTo>
                    <a:pt x="59308" y="0"/>
                  </a:lnTo>
                  <a:close/>
                </a:path>
                <a:path w="118110" h="500379">
                  <a:moveTo>
                    <a:pt x="71881" y="25145"/>
                  </a:moveTo>
                  <a:lnTo>
                    <a:pt x="46481" y="25145"/>
                  </a:lnTo>
                  <a:lnTo>
                    <a:pt x="46343" y="72272"/>
                  </a:lnTo>
                  <a:lnTo>
                    <a:pt x="59201" y="50392"/>
                  </a:lnTo>
                  <a:lnTo>
                    <a:pt x="48259" y="31495"/>
                  </a:lnTo>
                  <a:lnTo>
                    <a:pt x="71863" y="31495"/>
                  </a:lnTo>
                  <a:lnTo>
                    <a:pt x="71881" y="25145"/>
                  </a:lnTo>
                  <a:close/>
                </a:path>
                <a:path w="118110" h="500379">
                  <a:moveTo>
                    <a:pt x="71863" y="31495"/>
                  </a:moveTo>
                  <a:lnTo>
                    <a:pt x="48259" y="31495"/>
                  </a:lnTo>
                  <a:lnTo>
                    <a:pt x="70231" y="31623"/>
                  </a:lnTo>
                  <a:lnTo>
                    <a:pt x="59201" y="50392"/>
                  </a:lnTo>
                  <a:lnTo>
                    <a:pt x="71744" y="72053"/>
                  </a:lnTo>
                  <a:lnTo>
                    <a:pt x="71863" y="31495"/>
                  </a:lnTo>
                  <a:close/>
                </a:path>
                <a:path w="118110" h="500379">
                  <a:moveTo>
                    <a:pt x="48259" y="31495"/>
                  </a:moveTo>
                  <a:lnTo>
                    <a:pt x="59201" y="50392"/>
                  </a:lnTo>
                  <a:lnTo>
                    <a:pt x="70231" y="31623"/>
                  </a:lnTo>
                  <a:lnTo>
                    <a:pt x="48259" y="3149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536435" y="4133088"/>
              <a:ext cx="358140" cy="743712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55815" y="4286250"/>
              <a:ext cx="118110" cy="500380"/>
            </a:xfrm>
            <a:custGeom>
              <a:avLst/>
              <a:gdLst/>
              <a:ahLst/>
              <a:cxnLst/>
              <a:rect l="l" t="t" r="r" b="b"/>
              <a:pathLst>
                <a:path w="118109" h="500379">
                  <a:moveTo>
                    <a:pt x="59201" y="50392"/>
                  </a:moveTo>
                  <a:lnTo>
                    <a:pt x="46330" y="72294"/>
                  </a:lnTo>
                  <a:lnTo>
                    <a:pt x="44957" y="499999"/>
                  </a:lnTo>
                  <a:lnTo>
                    <a:pt x="70357" y="500125"/>
                  </a:lnTo>
                  <a:lnTo>
                    <a:pt x="71731" y="72031"/>
                  </a:lnTo>
                  <a:lnTo>
                    <a:pt x="59201" y="50392"/>
                  </a:lnTo>
                  <a:close/>
                </a:path>
                <a:path w="118109" h="500379">
                  <a:moveTo>
                    <a:pt x="73879" y="25145"/>
                  </a:moveTo>
                  <a:lnTo>
                    <a:pt x="71881" y="25145"/>
                  </a:lnTo>
                  <a:lnTo>
                    <a:pt x="71731" y="72031"/>
                  </a:lnTo>
                  <a:lnTo>
                    <a:pt x="92455" y="107823"/>
                  </a:lnTo>
                  <a:lnTo>
                    <a:pt x="96011" y="113918"/>
                  </a:lnTo>
                  <a:lnTo>
                    <a:pt x="103758" y="115950"/>
                  </a:lnTo>
                  <a:lnTo>
                    <a:pt x="109854" y="112522"/>
                  </a:lnTo>
                  <a:lnTo>
                    <a:pt x="115824" y="108966"/>
                  </a:lnTo>
                  <a:lnTo>
                    <a:pt x="117982" y="101218"/>
                  </a:lnTo>
                  <a:lnTo>
                    <a:pt x="114426" y="95123"/>
                  </a:lnTo>
                  <a:lnTo>
                    <a:pt x="73879" y="25145"/>
                  </a:lnTo>
                  <a:close/>
                </a:path>
                <a:path w="118109" h="500379">
                  <a:moveTo>
                    <a:pt x="59308" y="0"/>
                  </a:moveTo>
                  <a:lnTo>
                    <a:pt x="3555" y="94742"/>
                  </a:lnTo>
                  <a:lnTo>
                    <a:pt x="0" y="100837"/>
                  </a:lnTo>
                  <a:lnTo>
                    <a:pt x="2031" y="108585"/>
                  </a:lnTo>
                  <a:lnTo>
                    <a:pt x="8127" y="112141"/>
                  </a:lnTo>
                  <a:lnTo>
                    <a:pt x="14097" y="115697"/>
                  </a:lnTo>
                  <a:lnTo>
                    <a:pt x="21970" y="113664"/>
                  </a:lnTo>
                  <a:lnTo>
                    <a:pt x="25526" y="107695"/>
                  </a:lnTo>
                  <a:lnTo>
                    <a:pt x="46330" y="72294"/>
                  </a:lnTo>
                  <a:lnTo>
                    <a:pt x="46481" y="25145"/>
                  </a:lnTo>
                  <a:lnTo>
                    <a:pt x="73879" y="25145"/>
                  </a:lnTo>
                  <a:lnTo>
                    <a:pt x="59308" y="0"/>
                  </a:lnTo>
                  <a:close/>
                </a:path>
                <a:path w="118109" h="500379">
                  <a:moveTo>
                    <a:pt x="71881" y="25145"/>
                  </a:moveTo>
                  <a:lnTo>
                    <a:pt x="46481" y="25145"/>
                  </a:lnTo>
                  <a:lnTo>
                    <a:pt x="46330" y="72294"/>
                  </a:lnTo>
                  <a:lnTo>
                    <a:pt x="59201" y="50392"/>
                  </a:lnTo>
                  <a:lnTo>
                    <a:pt x="48259" y="31495"/>
                  </a:lnTo>
                  <a:lnTo>
                    <a:pt x="71861" y="31495"/>
                  </a:lnTo>
                  <a:lnTo>
                    <a:pt x="71881" y="25145"/>
                  </a:lnTo>
                  <a:close/>
                </a:path>
                <a:path w="118109" h="500379">
                  <a:moveTo>
                    <a:pt x="71861" y="31495"/>
                  </a:moveTo>
                  <a:lnTo>
                    <a:pt x="48259" y="31495"/>
                  </a:lnTo>
                  <a:lnTo>
                    <a:pt x="70230" y="31623"/>
                  </a:lnTo>
                  <a:lnTo>
                    <a:pt x="59201" y="50392"/>
                  </a:lnTo>
                  <a:lnTo>
                    <a:pt x="71731" y="72031"/>
                  </a:lnTo>
                  <a:lnTo>
                    <a:pt x="71861" y="31495"/>
                  </a:lnTo>
                  <a:close/>
                </a:path>
                <a:path w="118109" h="500379">
                  <a:moveTo>
                    <a:pt x="48259" y="31495"/>
                  </a:moveTo>
                  <a:lnTo>
                    <a:pt x="59201" y="50392"/>
                  </a:lnTo>
                  <a:lnTo>
                    <a:pt x="70230" y="31623"/>
                  </a:lnTo>
                  <a:lnTo>
                    <a:pt x="48259" y="31495"/>
                  </a:lnTo>
                  <a:close/>
                </a:path>
              </a:pathLst>
            </a:custGeom>
            <a:solidFill>
              <a:srgbClr val="BADFE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2223" y="4733544"/>
              <a:ext cx="4988052" cy="155448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1857374" y="4786249"/>
              <a:ext cx="4857750" cy="0"/>
            </a:xfrm>
            <a:custGeom>
              <a:avLst/>
              <a:gdLst/>
              <a:ahLst/>
              <a:cxnLst/>
              <a:rect l="l" t="t" r="r" b="b"/>
              <a:pathLst>
                <a:path w="4857750">
                  <a:moveTo>
                    <a:pt x="4857750" y="0"/>
                  </a:moveTo>
                  <a:lnTo>
                    <a:pt x="0" y="0"/>
                  </a:lnTo>
                </a:path>
              </a:pathLst>
            </a:custGeom>
            <a:ln w="25400">
              <a:solidFill>
                <a:srgbClr val="BADFE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696912" y="1619250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30" h="1903729">
                <a:moveTo>
                  <a:pt x="303212" y="0"/>
                </a:moveTo>
                <a:lnTo>
                  <a:pt x="303212" y="1903476"/>
                </a:lnTo>
              </a:path>
              <a:path w="2132330" h="1903729">
                <a:moveTo>
                  <a:pt x="684212" y="0"/>
                </a:moveTo>
                <a:lnTo>
                  <a:pt x="684212" y="1903476"/>
                </a:lnTo>
              </a:path>
              <a:path w="2132330" h="1903729">
                <a:moveTo>
                  <a:pt x="1065212" y="0"/>
                </a:moveTo>
                <a:lnTo>
                  <a:pt x="1065212" y="1903476"/>
                </a:lnTo>
              </a:path>
              <a:path w="2132330" h="1903729">
                <a:moveTo>
                  <a:pt x="1446212" y="0"/>
                </a:moveTo>
                <a:lnTo>
                  <a:pt x="1446212" y="1903476"/>
                </a:lnTo>
              </a:path>
              <a:path w="2132330" h="1903729">
                <a:moveTo>
                  <a:pt x="1827212" y="0"/>
                </a:moveTo>
                <a:lnTo>
                  <a:pt x="1827212" y="1903476"/>
                </a:lnTo>
              </a:path>
              <a:path w="2132330" h="1903729">
                <a:moveTo>
                  <a:pt x="0" y="303275"/>
                </a:moveTo>
                <a:lnTo>
                  <a:pt x="2132012" y="303275"/>
                </a:lnTo>
              </a:path>
              <a:path w="2132330" h="1903729">
                <a:moveTo>
                  <a:pt x="0" y="608076"/>
                </a:moveTo>
                <a:lnTo>
                  <a:pt x="2132012" y="608076"/>
                </a:lnTo>
              </a:path>
              <a:path w="2132330" h="1903729">
                <a:moveTo>
                  <a:pt x="0" y="912876"/>
                </a:moveTo>
                <a:lnTo>
                  <a:pt x="2132012" y="912876"/>
                </a:lnTo>
              </a:path>
              <a:path w="2132330" h="1903729">
                <a:moveTo>
                  <a:pt x="0" y="1217676"/>
                </a:moveTo>
                <a:lnTo>
                  <a:pt x="2132012" y="1217676"/>
                </a:lnTo>
              </a:path>
              <a:path w="2132330" h="1903729">
                <a:moveTo>
                  <a:pt x="0" y="1522476"/>
                </a:moveTo>
                <a:lnTo>
                  <a:pt x="2132012" y="1522476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287776" y="1649476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003503" y="167452"/>
            <a:ext cx="6454140" cy="367347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683895" algn="ctr">
              <a:lnSpc>
                <a:spcPct val="100000"/>
              </a:lnSpc>
              <a:spcBef>
                <a:spcPts val="869"/>
              </a:spcBef>
            </a:pPr>
            <a:r>
              <a:rPr dirty="0"/>
              <a:t>Pendekatan</a:t>
            </a:r>
            <a:r>
              <a:rPr spc="35" dirty="0"/>
              <a:t> </a:t>
            </a:r>
            <a:r>
              <a:rPr spc="-5" dirty="0"/>
              <a:t>Statistik</a:t>
            </a:r>
          </a:p>
          <a:p>
            <a:pPr marL="12700">
              <a:lnSpc>
                <a:spcPct val="100000"/>
              </a:lnSpc>
              <a:spcBef>
                <a:spcPts val="2870"/>
              </a:spcBef>
              <a:tabLst>
                <a:tab pos="2603500" algn="l"/>
                <a:tab pos="5042535" algn="l"/>
              </a:tabLst>
            </a:pPr>
            <a:r>
              <a:rPr sz="16500" dirty="0">
                <a:solidFill>
                  <a:srgbClr val="000000"/>
                </a:solidFill>
                <a:latin typeface="Comic Sans MS"/>
                <a:cs typeface="Comic Sans MS"/>
              </a:rPr>
              <a:t>A	</a:t>
            </a:r>
            <a:r>
              <a:rPr sz="24750" baseline="-1346" dirty="0">
                <a:solidFill>
                  <a:srgbClr val="000000"/>
                </a:solidFill>
              </a:rPr>
              <a:t>A	</a:t>
            </a:r>
            <a:r>
              <a:rPr sz="16500" dirty="0">
                <a:solidFill>
                  <a:srgbClr val="000000"/>
                </a:solidFill>
              </a:rPr>
              <a:t>B</a:t>
            </a:r>
            <a:endParaRPr sz="16500">
              <a:latin typeface="Comic Sans MS"/>
              <a:cs typeface="Comic Sans MS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726176" y="1633601"/>
            <a:ext cx="2132330" cy="1903730"/>
          </a:xfrm>
          <a:custGeom>
            <a:avLst/>
            <a:gdLst/>
            <a:ahLst/>
            <a:cxnLst/>
            <a:rect l="l" t="t" r="r" b="b"/>
            <a:pathLst>
              <a:path w="2132329" h="1903729">
                <a:moveTo>
                  <a:pt x="303149" y="0"/>
                </a:moveTo>
                <a:lnTo>
                  <a:pt x="303149" y="1903349"/>
                </a:lnTo>
              </a:path>
              <a:path w="2132329" h="1903729">
                <a:moveTo>
                  <a:pt x="684149" y="0"/>
                </a:moveTo>
                <a:lnTo>
                  <a:pt x="684149" y="1903349"/>
                </a:lnTo>
              </a:path>
              <a:path w="2132329" h="1903729">
                <a:moveTo>
                  <a:pt x="1065149" y="0"/>
                </a:moveTo>
                <a:lnTo>
                  <a:pt x="1065149" y="1903349"/>
                </a:lnTo>
              </a:path>
              <a:path w="2132329" h="1903729">
                <a:moveTo>
                  <a:pt x="1446149" y="0"/>
                </a:moveTo>
                <a:lnTo>
                  <a:pt x="1446149" y="1903349"/>
                </a:lnTo>
              </a:path>
              <a:path w="2132329" h="1903729">
                <a:moveTo>
                  <a:pt x="1827149" y="0"/>
                </a:moveTo>
                <a:lnTo>
                  <a:pt x="1827149" y="1903349"/>
                </a:lnTo>
              </a:path>
              <a:path w="2132329" h="1903729">
                <a:moveTo>
                  <a:pt x="0" y="303149"/>
                </a:moveTo>
                <a:lnTo>
                  <a:pt x="2131949" y="303149"/>
                </a:lnTo>
              </a:path>
              <a:path w="2132329" h="1903729">
                <a:moveTo>
                  <a:pt x="0" y="607949"/>
                </a:moveTo>
                <a:lnTo>
                  <a:pt x="2131949" y="607949"/>
                </a:lnTo>
              </a:path>
              <a:path w="2132329" h="1903729">
                <a:moveTo>
                  <a:pt x="0" y="912749"/>
                </a:moveTo>
                <a:lnTo>
                  <a:pt x="2131949" y="912749"/>
                </a:lnTo>
              </a:path>
              <a:path w="2132329" h="1903729">
                <a:moveTo>
                  <a:pt x="0" y="1217549"/>
                </a:moveTo>
                <a:lnTo>
                  <a:pt x="2131949" y="1217549"/>
                </a:lnTo>
              </a:path>
              <a:path w="2132329" h="1903729">
                <a:moveTo>
                  <a:pt x="0" y="1522349"/>
                </a:moveTo>
                <a:lnTo>
                  <a:pt x="2131949" y="1522349"/>
                </a:lnTo>
              </a:path>
            </a:pathLst>
          </a:custGeom>
          <a:ln w="25400">
            <a:solidFill>
              <a:srgbClr val="FF66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642937" y="4083050"/>
          <a:ext cx="2135502" cy="190341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35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54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915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63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19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7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74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6830" algn="r">
                        <a:lnSpc>
                          <a:spcPts val="269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9375" algn="r">
                        <a:lnSpc>
                          <a:spcPts val="269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69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8100">
                        <a:lnSpc>
                          <a:spcPts val="269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726176" y="4078351"/>
          <a:ext cx="2131694" cy="1903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2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31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77470" algn="r">
                        <a:lnSpc>
                          <a:spcPts val="230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735">
                        <a:lnSpc>
                          <a:spcPts val="230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  <a:lnB w="28575">
                      <a:solidFill>
                        <a:srgbClr val="FF66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35560" algn="r">
                        <a:lnSpc>
                          <a:spcPts val="2730"/>
                        </a:lnSpc>
                      </a:pPr>
                      <a:r>
                        <a:rPr sz="24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24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73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82550">
                        <a:lnSpc>
                          <a:spcPts val="273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1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005">
                        <a:lnSpc>
                          <a:spcPts val="2730"/>
                        </a:lnSpc>
                      </a:pPr>
                      <a:r>
                        <a:rPr sz="2400" b="1" dirty="0">
                          <a:solidFill>
                            <a:srgbClr val="00AF50"/>
                          </a:solidFill>
                          <a:latin typeface="Arial"/>
                          <a:cs typeface="Arial"/>
                        </a:rPr>
                        <a:t>0</a:t>
                      </a:r>
                      <a:endParaRPr sz="24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R w="28575">
                      <a:solidFill>
                        <a:srgbClr val="FF6600"/>
                      </a:solidFill>
                      <a:prstDash val="solid"/>
                    </a:lnR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FF6600"/>
                      </a:solidFill>
                      <a:prstDash val="solid"/>
                    </a:lnL>
                    <a:lnT w="28575">
                      <a:solidFill>
                        <a:srgbClr val="FF66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2" name="object 12"/>
          <p:cNvSpPr txBox="1"/>
          <p:nvPr/>
        </p:nvSpPr>
        <p:spPr>
          <a:xfrm>
            <a:off x="3437635" y="4314825"/>
            <a:ext cx="1544320" cy="9410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000" spc="250" dirty="0">
                <a:latin typeface="Cambria"/>
                <a:cs typeface="Cambria"/>
              </a:rPr>
              <a:t>Jumlah</a:t>
            </a:r>
            <a:r>
              <a:rPr sz="2000" spc="100" dirty="0">
                <a:latin typeface="Cambria"/>
                <a:cs typeface="Cambria"/>
              </a:rPr>
              <a:t> </a:t>
            </a:r>
            <a:r>
              <a:rPr sz="2000" spc="75" dirty="0">
                <a:latin typeface="Cambria"/>
                <a:cs typeface="Cambria"/>
              </a:rPr>
              <a:t>grid </a:t>
            </a:r>
            <a:r>
              <a:rPr sz="2000" spc="-425" dirty="0">
                <a:latin typeface="Cambria"/>
                <a:cs typeface="Cambria"/>
              </a:rPr>
              <a:t> </a:t>
            </a:r>
            <a:r>
              <a:rPr sz="2000" spc="135" dirty="0">
                <a:latin typeface="Cambria"/>
                <a:cs typeface="Cambria"/>
              </a:rPr>
              <a:t>yang</a:t>
            </a:r>
            <a:r>
              <a:rPr sz="2000" spc="165" dirty="0">
                <a:latin typeface="Cambria"/>
                <a:cs typeface="Cambria"/>
              </a:rPr>
              <a:t> </a:t>
            </a:r>
            <a:r>
              <a:rPr sz="2000" spc="125" dirty="0">
                <a:latin typeface="Cambria"/>
                <a:cs typeface="Cambria"/>
              </a:rPr>
              <a:t>tidak </a:t>
            </a:r>
            <a:r>
              <a:rPr sz="2000" spc="130" dirty="0">
                <a:latin typeface="Cambria"/>
                <a:cs typeface="Cambria"/>
              </a:rPr>
              <a:t> </a:t>
            </a:r>
            <a:r>
              <a:rPr sz="2000" spc="150" dirty="0">
                <a:latin typeface="Cambria"/>
                <a:cs typeface="Cambria"/>
              </a:rPr>
              <a:t>sesuai</a:t>
            </a:r>
            <a:r>
              <a:rPr sz="2000" spc="135" dirty="0">
                <a:latin typeface="Cambria"/>
                <a:cs typeface="Cambria"/>
              </a:rPr>
              <a:t> </a:t>
            </a:r>
            <a:r>
              <a:rPr sz="2000" spc="95" dirty="0">
                <a:latin typeface="Cambria"/>
                <a:cs typeface="Cambria"/>
              </a:rPr>
              <a:t>=</a:t>
            </a:r>
            <a:r>
              <a:rPr sz="2000" spc="170" dirty="0">
                <a:latin typeface="Cambria"/>
                <a:cs typeface="Cambria"/>
              </a:rPr>
              <a:t> </a:t>
            </a:r>
            <a:r>
              <a:rPr sz="2000" spc="130" dirty="0">
                <a:latin typeface="Cambria"/>
                <a:cs typeface="Cambria"/>
              </a:rPr>
              <a:t>10</a:t>
            </a:r>
            <a:endParaRPr sz="2000">
              <a:latin typeface="Cambria"/>
              <a:cs typeface="Cambria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95300" y="1352613"/>
            <a:ext cx="7868284" cy="4940300"/>
            <a:chOff x="495300" y="1352613"/>
            <a:chExt cx="7868284" cy="4940300"/>
          </a:xfrm>
        </p:grpSpPr>
        <p:sp>
          <p:nvSpPr>
            <p:cNvPr id="14" name="object 14"/>
            <p:cNvSpPr/>
            <p:nvPr/>
          </p:nvSpPr>
          <p:spPr>
            <a:xfrm>
              <a:off x="3070225" y="1357375"/>
              <a:ext cx="2501900" cy="4930775"/>
            </a:xfrm>
            <a:custGeom>
              <a:avLst/>
              <a:gdLst/>
              <a:ahLst/>
              <a:cxnLst/>
              <a:rect l="l" t="t" r="r" b="b"/>
              <a:pathLst>
                <a:path w="2501900" h="4930775">
                  <a:moveTo>
                    <a:pt x="1524" y="0"/>
                  </a:moveTo>
                  <a:lnTo>
                    <a:pt x="0" y="4930711"/>
                  </a:lnTo>
                </a:path>
                <a:path w="2501900" h="4930775">
                  <a:moveTo>
                    <a:pt x="2501900" y="0"/>
                  </a:moveTo>
                  <a:lnTo>
                    <a:pt x="2500376" y="4929124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00062" y="3786124"/>
              <a:ext cx="7858759" cy="1905"/>
            </a:xfrm>
            <a:custGeom>
              <a:avLst/>
              <a:gdLst/>
              <a:ahLst/>
              <a:cxnLst/>
              <a:rect l="l" t="t" r="r" b="b"/>
              <a:pathLst>
                <a:path w="7858759" h="1904">
                  <a:moveTo>
                    <a:pt x="0" y="0"/>
                  </a:moveTo>
                  <a:lnTo>
                    <a:pt x="7858188" y="1650"/>
                  </a:lnTo>
                </a:path>
              </a:pathLst>
            </a:custGeom>
            <a:ln w="9525">
              <a:solidFill>
                <a:srgbClr val="B6DCD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756154" y="264617"/>
            <a:ext cx="363347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Permasalahan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82064"/>
            <a:ext cx="7409815" cy="1489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Trebuchet MS"/>
              <a:buChar char="•"/>
              <a:tabLst>
                <a:tab pos="356235" algn="l"/>
              </a:tabLst>
            </a:pPr>
            <a:r>
              <a:rPr sz="3200" spc="254" dirty="0">
                <a:latin typeface="Cambria"/>
                <a:cs typeface="Cambria"/>
              </a:rPr>
              <a:t>Waktu</a:t>
            </a:r>
            <a:r>
              <a:rPr sz="3200" spc="310" dirty="0">
                <a:latin typeface="Cambria"/>
                <a:cs typeface="Cambria"/>
              </a:rPr>
              <a:t> </a:t>
            </a:r>
            <a:r>
              <a:rPr sz="3200" spc="215" dirty="0">
                <a:latin typeface="Cambria"/>
                <a:cs typeface="Cambria"/>
              </a:rPr>
              <a:t>yang</a:t>
            </a:r>
            <a:r>
              <a:rPr sz="3200" spc="305" dirty="0">
                <a:latin typeface="Cambria"/>
                <a:cs typeface="Cambria"/>
              </a:rPr>
              <a:t> </a:t>
            </a:r>
            <a:r>
              <a:rPr sz="3200" spc="295" dirty="0">
                <a:latin typeface="Cambria"/>
                <a:cs typeface="Cambria"/>
              </a:rPr>
              <a:t>dbutuhkan</a:t>
            </a:r>
            <a:r>
              <a:rPr sz="3200" spc="290" dirty="0">
                <a:latin typeface="Cambria"/>
                <a:cs typeface="Cambria"/>
              </a:rPr>
              <a:t> </a:t>
            </a:r>
            <a:r>
              <a:rPr sz="3200" spc="310" dirty="0">
                <a:latin typeface="Cambria"/>
                <a:cs typeface="Cambria"/>
              </a:rPr>
              <a:t>untuk </a:t>
            </a:r>
            <a:r>
              <a:rPr sz="3200" spc="315" dirty="0">
                <a:latin typeface="Cambria"/>
                <a:cs typeface="Cambria"/>
              </a:rPr>
              <a:t> </a:t>
            </a:r>
            <a:r>
              <a:rPr sz="3200" spc="200" dirty="0">
                <a:latin typeface="Cambria"/>
                <a:cs typeface="Cambria"/>
              </a:rPr>
              <a:t>mengenali</a:t>
            </a:r>
            <a:r>
              <a:rPr sz="3200" spc="315" dirty="0">
                <a:latin typeface="Cambria"/>
                <a:cs typeface="Cambria"/>
              </a:rPr>
              <a:t> </a:t>
            </a:r>
            <a:r>
              <a:rPr sz="3200" spc="165" dirty="0">
                <a:latin typeface="Cambria"/>
                <a:cs typeface="Cambria"/>
              </a:rPr>
              <a:t>pola</a:t>
            </a:r>
            <a:r>
              <a:rPr sz="3200" spc="300" dirty="0">
                <a:latin typeface="Cambria"/>
                <a:cs typeface="Cambria"/>
              </a:rPr>
              <a:t> </a:t>
            </a:r>
            <a:r>
              <a:rPr sz="3200" spc="170" dirty="0">
                <a:latin typeface="Cambria"/>
                <a:cs typeface="Cambria"/>
              </a:rPr>
              <a:t>(sesuai</a:t>
            </a:r>
            <a:r>
              <a:rPr sz="3200" spc="300" dirty="0">
                <a:latin typeface="Cambria"/>
                <a:cs typeface="Cambria"/>
              </a:rPr>
              <a:t> </a:t>
            </a:r>
            <a:r>
              <a:rPr sz="3200" spc="265" dirty="0">
                <a:latin typeface="Cambria"/>
                <a:cs typeface="Cambria"/>
              </a:rPr>
              <a:t>jumlah</a:t>
            </a:r>
            <a:r>
              <a:rPr sz="3200" spc="325" dirty="0">
                <a:latin typeface="Cambria"/>
                <a:cs typeface="Cambria"/>
              </a:rPr>
              <a:t> </a:t>
            </a:r>
            <a:r>
              <a:rPr sz="3200" spc="170" dirty="0">
                <a:latin typeface="Cambria"/>
                <a:cs typeface="Cambria"/>
              </a:rPr>
              <a:t>pola </a:t>
            </a:r>
            <a:r>
              <a:rPr sz="3200" spc="-690" dirty="0">
                <a:latin typeface="Cambria"/>
                <a:cs typeface="Cambria"/>
              </a:rPr>
              <a:t> </a:t>
            </a:r>
            <a:r>
              <a:rPr sz="3200" spc="220" dirty="0">
                <a:latin typeface="Cambria"/>
                <a:cs typeface="Cambria"/>
              </a:rPr>
              <a:t>yang</a:t>
            </a:r>
            <a:r>
              <a:rPr sz="3200" spc="305" dirty="0">
                <a:latin typeface="Cambria"/>
                <a:cs typeface="Cambria"/>
              </a:rPr>
              <a:t> </a:t>
            </a:r>
            <a:r>
              <a:rPr sz="3200" spc="170" dirty="0">
                <a:latin typeface="Cambria"/>
                <a:cs typeface="Cambria"/>
              </a:rPr>
              <a:t>disimpan)</a:t>
            </a:r>
            <a:endParaRPr sz="3200">
              <a:latin typeface="Cambria"/>
              <a:cs typeface="Cambria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71500" y="2724911"/>
            <a:ext cx="3355975" cy="3418840"/>
            <a:chOff x="571500" y="2724911"/>
            <a:chExt cx="3355975" cy="3418840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71500" y="3357625"/>
              <a:ext cx="1809750" cy="2785999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9863" y="2724911"/>
              <a:ext cx="1136903" cy="123139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68295" y="2724911"/>
              <a:ext cx="1069847" cy="123139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09672" y="2724911"/>
              <a:ext cx="1115568" cy="123139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74747" y="3368039"/>
              <a:ext cx="1039368" cy="1231392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485644" y="3368039"/>
              <a:ext cx="1069847" cy="1231392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27020" y="3368039"/>
              <a:ext cx="1028700" cy="123139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174747" y="4154423"/>
              <a:ext cx="1069848" cy="123139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16123" y="4154423"/>
              <a:ext cx="1069848" cy="123139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857500" y="4154423"/>
              <a:ext cx="1069848" cy="1231392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2293747" y="2862148"/>
            <a:ext cx="1264285" cy="2125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5170"/>
              </a:lnSpc>
              <a:spcBef>
                <a:spcPts val="105"/>
              </a:spcBef>
            </a:pPr>
            <a:r>
              <a:rPr sz="4400" b="1" spc="-5" dirty="0">
                <a:latin typeface="Comic Sans MS"/>
                <a:cs typeface="Comic Sans MS"/>
              </a:rPr>
              <a:t>A-Z</a:t>
            </a:r>
            <a:endParaRPr sz="4400">
              <a:latin typeface="Comic Sans MS"/>
              <a:cs typeface="Comic Sans MS"/>
            </a:endParaRPr>
          </a:p>
          <a:p>
            <a:pPr marL="226695">
              <a:lnSpc>
                <a:spcPts val="5170"/>
              </a:lnSpc>
            </a:pPr>
            <a:r>
              <a:rPr sz="4400" b="1" dirty="0">
                <a:latin typeface="Comic Sans MS"/>
                <a:cs typeface="Comic Sans MS"/>
              </a:rPr>
              <a:t>a-z</a:t>
            </a:r>
            <a:endParaRPr sz="4400">
              <a:latin typeface="Comic Sans MS"/>
              <a:cs typeface="Comic Sans MS"/>
            </a:endParaRPr>
          </a:p>
          <a:p>
            <a:pPr marL="226695">
              <a:lnSpc>
                <a:spcPct val="100000"/>
              </a:lnSpc>
              <a:spcBef>
                <a:spcPts val="905"/>
              </a:spcBef>
            </a:pPr>
            <a:r>
              <a:rPr sz="4400" b="1" dirty="0">
                <a:latin typeface="Comic Sans MS"/>
                <a:cs typeface="Comic Sans MS"/>
              </a:rPr>
              <a:t>0-9</a:t>
            </a:r>
            <a:endParaRPr sz="4400">
              <a:latin typeface="Comic Sans MS"/>
              <a:cs typeface="Comic Sans M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8242" y="3354704"/>
            <a:ext cx="3161665" cy="186182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065" marR="5080" indent="-3175" algn="ctr">
              <a:lnSpc>
                <a:spcPct val="100699"/>
              </a:lnSpc>
              <a:spcBef>
                <a:spcPts val="60"/>
              </a:spcBef>
            </a:pPr>
            <a:r>
              <a:rPr sz="4000" i="1" spc="195" dirty="0">
                <a:latin typeface="Cambria"/>
                <a:cs typeface="Cambria"/>
              </a:rPr>
              <a:t>Solution </a:t>
            </a:r>
            <a:r>
              <a:rPr sz="4000" i="1" spc="200" dirty="0">
                <a:latin typeface="Cambria"/>
                <a:cs typeface="Cambria"/>
              </a:rPr>
              <a:t> </a:t>
            </a:r>
            <a:r>
              <a:rPr sz="4000" b="1" i="1" spc="340" dirty="0">
                <a:solidFill>
                  <a:srgbClr val="FF0000"/>
                </a:solidFill>
                <a:latin typeface="Cambria"/>
                <a:cs typeface="Cambria"/>
              </a:rPr>
              <a:t>Artificial </a:t>
            </a:r>
            <a:r>
              <a:rPr sz="4000" b="1" i="1" spc="345" dirty="0">
                <a:solidFill>
                  <a:srgbClr val="FF0000"/>
                </a:solidFill>
                <a:latin typeface="Cambria"/>
                <a:cs typeface="Cambria"/>
              </a:rPr>
              <a:t> </a:t>
            </a:r>
            <a:r>
              <a:rPr sz="4000" b="1" i="1" spc="300" dirty="0">
                <a:solidFill>
                  <a:srgbClr val="FF0000"/>
                </a:solidFill>
                <a:latin typeface="Cambria"/>
                <a:cs typeface="Cambria"/>
              </a:rPr>
              <a:t>Intell</a:t>
            </a:r>
            <a:r>
              <a:rPr sz="4000" b="1" i="1" spc="240" dirty="0">
                <a:solidFill>
                  <a:srgbClr val="FF0000"/>
                </a:solidFill>
                <a:latin typeface="Cambria"/>
                <a:cs typeface="Cambria"/>
              </a:rPr>
              <a:t>i</a:t>
            </a:r>
            <a:r>
              <a:rPr sz="4000" b="1" i="1" spc="265" dirty="0">
                <a:solidFill>
                  <a:srgbClr val="FF0000"/>
                </a:solidFill>
                <a:latin typeface="Cambria"/>
                <a:cs typeface="Cambria"/>
              </a:rPr>
              <a:t>ge</a:t>
            </a:r>
            <a:r>
              <a:rPr sz="4000" b="1" i="1" spc="275" dirty="0">
                <a:solidFill>
                  <a:srgbClr val="FF0000"/>
                </a:solidFill>
                <a:latin typeface="Cambria"/>
                <a:cs typeface="Cambria"/>
              </a:rPr>
              <a:t>n</a:t>
            </a:r>
            <a:r>
              <a:rPr sz="4000" b="1" i="1" spc="330" dirty="0">
                <a:solidFill>
                  <a:srgbClr val="FF0000"/>
                </a:solidFill>
                <a:latin typeface="Cambria"/>
                <a:cs typeface="Cambria"/>
              </a:rPr>
              <a:t>ce</a:t>
            </a:r>
            <a:endParaRPr sz="4000">
              <a:latin typeface="Cambria"/>
              <a:cs typeface="Cambri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68146" y="264617"/>
            <a:ext cx="721105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Persepsi</a:t>
            </a:r>
            <a:r>
              <a:rPr spc="10" dirty="0"/>
              <a:t> </a:t>
            </a:r>
            <a:r>
              <a:rPr dirty="0"/>
              <a:t>Manusia</a:t>
            </a:r>
            <a:r>
              <a:rPr spc="35" dirty="0"/>
              <a:t> </a:t>
            </a:r>
            <a:r>
              <a:rPr dirty="0"/>
              <a:t>dan</a:t>
            </a:r>
            <a:r>
              <a:rPr spc="35" dirty="0"/>
              <a:t> </a:t>
            </a:r>
            <a:r>
              <a:rPr spc="-5" dirty="0"/>
              <a:t>Mesin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92732"/>
            <a:ext cx="7978140" cy="45446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1594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Kita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sering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dipengaruhi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oleh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pengetahuan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tentang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bagaimana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pola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dimodelkan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dan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dikenali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secara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alami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ketika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kita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membangun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algoritma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pengenalan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pola</a:t>
            </a:r>
            <a:endParaRPr sz="2600">
              <a:latin typeface="Microsoft Sans Serif"/>
              <a:cs typeface="Microsoft Sans Serif"/>
            </a:endParaRPr>
          </a:p>
          <a:p>
            <a:pPr marL="355600" marR="277495" indent="-343535">
              <a:lnSpc>
                <a:spcPct val="100000"/>
              </a:lnSpc>
              <a:spcBef>
                <a:spcPts val="625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spc="-5" dirty="0">
                <a:latin typeface="Microsoft Sans Serif"/>
                <a:cs typeface="Microsoft Sans Serif"/>
              </a:rPr>
              <a:t>Penelitian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tentang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persepsi mesin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juga</a:t>
            </a:r>
            <a:r>
              <a:rPr sz="2600" spc="4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membantu </a:t>
            </a:r>
            <a:r>
              <a:rPr sz="2600" spc="-67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kita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mendapatkan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pemahaman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lebih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dalam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dan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apresiasi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untuk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sistem</a:t>
            </a:r>
            <a:r>
              <a:rPr sz="2600" spc="1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pengenalan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pola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secara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alami</a:t>
            </a:r>
            <a:endParaRPr sz="26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625"/>
              </a:spcBef>
              <a:buChar char="•"/>
              <a:tabLst>
                <a:tab pos="355600" algn="l"/>
                <a:tab pos="356235" algn="l"/>
              </a:tabLst>
            </a:pPr>
            <a:r>
              <a:rPr sz="2600" dirty="0">
                <a:latin typeface="Microsoft Sans Serif"/>
                <a:cs typeface="Microsoft Sans Serif"/>
              </a:rPr>
              <a:t>Sampai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saat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10" dirty="0">
                <a:latin typeface="Microsoft Sans Serif"/>
                <a:cs typeface="Microsoft Sans Serif"/>
              </a:rPr>
              <a:t>ini,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kita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telah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mengaplikasikan </a:t>
            </a:r>
            <a:r>
              <a:rPr sz="2600" dirty="0">
                <a:latin typeface="Microsoft Sans Serif"/>
                <a:cs typeface="Microsoft Sans Serif"/>
              </a:rPr>
              <a:t> beberapa</a:t>
            </a:r>
            <a:r>
              <a:rPr sz="2600" spc="2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teknik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yang</a:t>
            </a:r>
            <a:r>
              <a:rPr sz="2600" spc="20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murni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secara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numerik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dan 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tidak</a:t>
            </a:r>
            <a:r>
              <a:rPr sz="2600" spc="30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ada</a:t>
            </a:r>
            <a:r>
              <a:rPr sz="2600" spc="3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korespondensinya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dengan</a:t>
            </a:r>
            <a:r>
              <a:rPr sz="2600" spc="15" dirty="0">
                <a:latin typeface="Microsoft Sans Serif"/>
                <a:cs typeface="Microsoft Sans Serif"/>
              </a:rPr>
              <a:t> </a:t>
            </a:r>
            <a:r>
              <a:rPr sz="2600" dirty="0">
                <a:latin typeface="Microsoft Sans Serif"/>
                <a:cs typeface="Microsoft Sans Serif"/>
              </a:rPr>
              <a:t>sistem</a:t>
            </a:r>
            <a:r>
              <a:rPr sz="2600" spc="5" dirty="0">
                <a:latin typeface="Microsoft Sans Serif"/>
                <a:cs typeface="Microsoft Sans Serif"/>
              </a:rPr>
              <a:t> </a:t>
            </a:r>
            <a:r>
              <a:rPr sz="2600" spc="-5" dirty="0">
                <a:latin typeface="Microsoft Sans Serif"/>
                <a:cs typeface="Microsoft Sans Serif"/>
              </a:rPr>
              <a:t>alamiah</a:t>
            </a:r>
            <a:endParaRPr sz="26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428113" y="264617"/>
            <a:ext cx="42887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Pengenalan</a:t>
            </a:r>
            <a:r>
              <a:rPr spc="-30" dirty="0"/>
              <a:t> </a:t>
            </a:r>
            <a:r>
              <a:rPr spc="-5" dirty="0"/>
              <a:t>Pola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189093"/>
            <a:ext cx="7769225" cy="490918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894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Microsoft Sans Serif"/>
                <a:cs typeface="Microsoft Sans Serif"/>
              </a:rPr>
              <a:t>Dua</a:t>
            </a:r>
            <a:r>
              <a:rPr sz="3200" spc="-20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Tahap</a:t>
            </a:r>
            <a:endParaRPr sz="3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Learning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5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Detection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5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dirty="0">
                <a:latin typeface="Microsoft Sans Serif"/>
                <a:cs typeface="Microsoft Sans Serif"/>
              </a:rPr>
              <a:t>Waktu</a:t>
            </a:r>
            <a:r>
              <a:rPr sz="3200" spc="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Learning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lebih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besar</a:t>
            </a:r>
            <a:endParaRPr sz="3200">
              <a:latin typeface="Microsoft Sans Serif"/>
              <a:cs typeface="Microsoft Sans Serif"/>
            </a:endParaRPr>
          </a:p>
          <a:p>
            <a:pPr marL="355600" marR="508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10" dirty="0">
                <a:latin typeface="Microsoft Sans Serif"/>
                <a:cs typeface="Microsoft Sans Serif"/>
              </a:rPr>
              <a:t>Sulit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untuk</a:t>
            </a:r>
            <a:r>
              <a:rPr sz="3200" spc="4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belajar,</a:t>
            </a:r>
            <a:r>
              <a:rPr sz="3200" spc="45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tetapi</a:t>
            </a:r>
            <a:r>
              <a:rPr sz="3200" spc="5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sekali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terpelajar </a:t>
            </a:r>
            <a:r>
              <a:rPr sz="3200" spc="-8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sistem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akan</a:t>
            </a:r>
            <a:r>
              <a:rPr sz="3200" spc="1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menjadi</a:t>
            </a:r>
            <a:r>
              <a:rPr sz="3200" spc="2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“</a:t>
            </a:r>
            <a:r>
              <a:rPr sz="3200" b="1" spc="-5" dirty="0">
                <a:latin typeface="Arial"/>
                <a:cs typeface="Arial"/>
              </a:rPr>
              <a:t>natural</a:t>
            </a:r>
            <a:r>
              <a:rPr sz="3200" spc="-5" dirty="0">
                <a:latin typeface="Microsoft Sans Serif"/>
                <a:cs typeface="Microsoft Sans Serif"/>
              </a:rPr>
              <a:t>”</a:t>
            </a:r>
            <a:endParaRPr sz="32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770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5" dirty="0">
                <a:latin typeface="Microsoft Sans Serif"/>
                <a:cs typeface="Microsoft Sans Serif"/>
              </a:rPr>
              <a:t>Dapat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menggunakan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metode</a:t>
            </a:r>
            <a:r>
              <a:rPr sz="3200" spc="1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AI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dirty="0">
                <a:latin typeface="Microsoft Sans Serif"/>
                <a:cs typeface="Microsoft Sans Serif"/>
              </a:rPr>
              <a:t>:</a:t>
            </a:r>
            <a:endParaRPr sz="3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9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Neural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Network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70"/>
              </a:spcBef>
              <a:buChar char="–"/>
              <a:tabLst>
                <a:tab pos="756920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Machine</a:t>
            </a:r>
            <a:r>
              <a:rPr sz="2800" spc="1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Learning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782808" y="1268475"/>
            <a:ext cx="2600325" cy="2308225"/>
            <a:chOff x="782808" y="1268475"/>
            <a:chExt cx="2600325" cy="2308225"/>
          </a:xfrm>
        </p:grpSpPr>
        <p:sp>
          <p:nvSpPr>
            <p:cNvPr id="7" name="object 7"/>
            <p:cNvSpPr/>
            <p:nvPr/>
          </p:nvSpPr>
          <p:spPr>
            <a:xfrm>
              <a:off x="2771775" y="1381886"/>
              <a:ext cx="606425" cy="2031364"/>
            </a:xfrm>
            <a:custGeom>
              <a:avLst/>
              <a:gdLst/>
              <a:ahLst/>
              <a:cxnLst/>
              <a:rect l="l" t="t" r="r" b="b"/>
              <a:pathLst>
                <a:path w="606425" h="2031364">
                  <a:moveTo>
                    <a:pt x="0" y="2031238"/>
                  </a:moveTo>
                  <a:lnTo>
                    <a:pt x="606425" y="2031238"/>
                  </a:lnTo>
                  <a:lnTo>
                    <a:pt x="606425" y="0"/>
                  </a:lnTo>
                  <a:lnTo>
                    <a:pt x="0" y="0"/>
                  </a:lnTo>
                  <a:lnTo>
                    <a:pt x="0" y="2031238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24047" y="1268475"/>
              <a:ext cx="280670" cy="2308225"/>
            </a:xfrm>
            <a:custGeom>
              <a:avLst/>
              <a:gdLst/>
              <a:ahLst/>
              <a:cxnLst/>
              <a:rect l="l" t="t" r="r" b="b"/>
              <a:pathLst>
                <a:path w="280669" h="2308225">
                  <a:moveTo>
                    <a:pt x="280098" y="0"/>
                  </a:moveTo>
                  <a:lnTo>
                    <a:pt x="0" y="0"/>
                  </a:lnTo>
                  <a:lnTo>
                    <a:pt x="0" y="2308225"/>
                  </a:lnTo>
                  <a:lnTo>
                    <a:pt x="280098" y="2308225"/>
                  </a:lnTo>
                  <a:lnTo>
                    <a:pt x="28009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95508" y="1773431"/>
              <a:ext cx="1824989" cy="1339215"/>
            </a:xfrm>
            <a:custGeom>
              <a:avLst/>
              <a:gdLst/>
              <a:ahLst/>
              <a:cxnLst/>
              <a:rect l="l" t="t" r="r" b="b"/>
              <a:pathLst>
                <a:path w="1824989" h="1339214">
                  <a:moveTo>
                    <a:pt x="1281165" y="0"/>
                  </a:moveTo>
                  <a:lnTo>
                    <a:pt x="1232332" y="2139"/>
                  </a:lnTo>
                  <a:lnTo>
                    <a:pt x="1184225" y="6244"/>
                  </a:lnTo>
                  <a:lnTo>
                    <a:pt x="1137110" y="11713"/>
                  </a:lnTo>
                  <a:lnTo>
                    <a:pt x="1091250" y="17946"/>
                  </a:lnTo>
                  <a:lnTo>
                    <a:pt x="1004355" y="30296"/>
                  </a:lnTo>
                  <a:lnTo>
                    <a:pt x="963849" y="35212"/>
                  </a:lnTo>
                  <a:lnTo>
                    <a:pt x="925657" y="38488"/>
                  </a:lnTo>
                  <a:lnTo>
                    <a:pt x="890042" y="39523"/>
                  </a:lnTo>
                  <a:lnTo>
                    <a:pt x="857269" y="37715"/>
                  </a:lnTo>
                  <a:lnTo>
                    <a:pt x="797970" y="30295"/>
                  </a:lnTo>
                  <a:lnTo>
                    <a:pt x="752272" y="19364"/>
                  </a:lnTo>
                  <a:lnTo>
                    <a:pt x="744646" y="17675"/>
                  </a:lnTo>
                  <a:lnTo>
                    <a:pt x="688645" y="11785"/>
                  </a:lnTo>
                  <a:lnTo>
                    <a:pt x="603625" y="6161"/>
                  </a:lnTo>
                  <a:lnTo>
                    <a:pt x="540785" y="2536"/>
                  </a:lnTo>
                  <a:lnTo>
                    <a:pt x="487706" y="28333"/>
                  </a:lnTo>
                  <a:lnTo>
                    <a:pt x="441505" y="51346"/>
                  </a:lnTo>
                  <a:lnTo>
                    <a:pt x="400107" y="72894"/>
                  </a:lnTo>
                  <a:lnTo>
                    <a:pt x="359291" y="97737"/>
                  </a:lnTo>
                  <a:lnTo>
                    <a:pt x="325830" y="132346"/>
                  </a:lnTo>
                  <a:lnTo>
                    <a:pt x="308919" y="197423"/>
                  </a:lnTo>
                  <a:lnTo>
                    <a:pt x="310698" y="237216"/>
                  </a:lnTo>
                  <a:lnTo>
                    <a:pt x="313138" y="277041"/>
                  </a:lnTo>
                  <a:lnTo>
                    <a:pt x="311856" y="313659"/>
                  </a:lnTo>
                  <a:lnTo>
                    <a:pt x="302468" y="343828"/>
                  </a:lnTo>
                  <a:lnTo>
                    <a:pt x="280590" y="364306"/>
                  </a:lnTo>
                  <a:lnTo>
                    <a:pt x="241840" y="371852"/>
                  </a:lnTo>
                  <a:lnTo>
                    <a:pt x="215262" y="369935"/>
                  </a:lnTo>
                  <a:lnTo>
                    <a:pt x="188909" y="365280"/>
                  </a:lnTo>
                  <a:lnTo>
                    <a:pt x="162648" y="359529"/>
                  </a:lnTo>
                  <a:lnTo>
                    <a:pt x="136341" y="354326"/>
                  </a:lnTo>
                  <a:lnTo>
                    <a:pt x="101175" y="389505"/>
                  </a:lnTo>
                  <a:lnTo>
                    <a:pt x="52976" y="426931"/>
                  </a:lnTo>
                  <a:lnTo>
                    <a:pt x="22313" y="447940"/>
                  </a:lnTo>
                  <a:lnTo>
                    <a:pt x="12495" y="454868"/>
                  </a:lnTo>
                  <a:lnTo>
                    <a:pt x="5786" y="460790"/>
                  </a:lnTo>
                  <a:lnTo>
                    <a:pt x="1763" y="466737"/>
                  </a:lnTo>
                  <a:lnTo>
                    <a:pt x="0" y="473741"/>
                  </a:lnTo>
                  <a:lnTo>
                    <a:pt x="72" y="482834"/>
                  </a:lnTo>
                  <a:lnTo>
                    <a:pt x="1554" y="495050"/>
                  </a:lnTo>
                  <a:lnTo>
                    <a:pt x="7054" y="532978"/>
                  </a:lnTo>
                  <a:lnTo>
                    <a:pt x="10220" y="560754"/>
                  </a:lnTo>
                  <a:lnTo>
                    <a:pt x="13099" y="595781"/>
                  </a:lnTo>
                  <a:lnTo>
                    <a:pt x="15265" y="639093"/>
                  </a:lnTo>
                  <a:lnTo>
                    <a:pt x="16294" y="691720"/>
                  </a:lnTo>
                  <a:lnTo>
                    <a:pt x="15760" y="754696"/>
                  </a:lnTo>
                  <a:lnTo>
                    <a:pt x="13240" y="829052"/>
                  </a:lnTo>
                  <a:lnTo>
                    <a:pt x="29648" y="895346"/>
                  </a:lnTo>
                  <a:lnTo>
                    <a:pt x="35382" y="913384"/>
                  </a:lnTo>
                  <a:lnTo>
                    <a:pt x="48419" y="952115"/>
                  </a:lnTo>
                  <a:lnTo>
                    <a:pt x="54039" y="981464"/>
                  </a:lnTo>
                  <a:lnTo>
                    <a:pt x="65278" y="1040162"/>
                  </a:lnTo>
                  <a:lnTo>
                    <a:pt x="131636" y="1073784"/>
                  </a:lnTo>
                  <a:lnTo>
                    <a:pt x="179302" y="1083054"/>
                  </a:lnTo>
                  <a:lnTo>
                    <a:pt x="226625" y="1086467"/>
                  </a:lnTo>
                  <a:lnTo>
                    <a:pt x="273644" y="1085026"/>
                  </a:lnTo>
                  <a:lnTo>
                    <a:pt x="320401" y="1079734"/>
                  </a:lnTo>
                  <a:lnTo>
                    <a:pt x="366935" y="1071594"/>
                  </a:lnTo>
                  <a:lnTo>
                    <a:pt x="413287" y="1061611"/>
                  </a:lnTo>
                  <a:lnTo>
                    <a:pt x="505606" y="1040126"/>
                  </a:lnTo>
                  <a:lnTo>
                    <a:pt x="552777" y="1055035"/>
                  </a:lnTo>
                  <a:lnTo>
                    <a:pt x="558391" y="1057666"/>
                  </a:lnTo>
                  <a:lnTo>
                    <a:pt x="557380" y="1060411"/>
                  </a:lnTo>
                  <a:lnTo>
                    <a:pt x="553758" y="1065764"/>
                  </a:lnTo>
                  <a:lnTo>
                    <a:pt x="551543" y="1076223"/>
                  </a:lnTo>
                  <a:lnTo>
                    <a:pt x="567393" y="1122439"/>
                  </a:lnTo>
                  <a:lnTo>
                    <a:pt x="593490" y="1163189"/>
                  </a:lnTo>
                  <a:lnTo>
                    <a:pt x="634067" y="1174584"/>
                  </a:lnTo>
                  <a:lnTo>
                    <a:pt x="646322" y="1180715"/>
                  </a:lnTo>
                  <a:lnTo>
                    <a:pt x="653758" y="1192060"/>
                  </a:lnTo>
                  <a:lnTo>
                    <a:pt x="657800" y="1205464"/>
                  </a:lnTo>
                  <a:lnTo>
                    <a:pt x="660485" y="1219702"/>
                  </a:lnTo>
                  <a:lnTo>
                    <a:pt x="663848" y="1233547"/>
                  </a:lnTo>
                  <a:lnTo>
                    <a:pt x="703621" y="1259676"/>
                  </a:lnTo>
                  <a:lnTo>
                    <a:pt x="716680" y="1268726"/>
                  </a:lnTo>
                  <a:lnTo>
                    <a:pt x="733637" y="1283337"/>
                  </a:lnTo>
                  <a:lnTo>
                    <a:pt x="749938" y="1299317"/>
                  </a:lnTo>
                  <a:lnTo>
                    <a:pt x="767169" y="1313178"/>
                  </a:lnTo>
                  <a:lnTo>
                    <a:pt x="833255" y="1328719"/>
                  </a:lnTo>
                  <a:lnTo>
                    <a:pt x="879997" y="1332866"/>
                  </a:lnTo>
                  <a:lnTo>
                    <a:pt x="927008" y="1334925"/>
                  </a:lnTo>
                  <a:lnTo>
                    <a:pt x="1021311" y="1336983"/>
                  </a:lnTo>
                  <a:lnTo>
                    <a:pt x="1068343" y="1339084"/>
                  </a:lnTo>
                  <a:lnTo>
                    <a:pt x="1109207" y="1325743"/>
                  </a:lnTo>
                  <a:lnTo>
                    <a:pt x="1144559" y="1311033"/>
                  </a:lnTo>
                  <a:lnTo>
                    <a:pt x="1176982" y="1288346"/>
                  </a:lnTo>
                  <a:lnTo>
                    <a:pt x="1209059" y="1251073"/>
                  </a:lnTo>
                  <a:lnTo>
                    <a:pt x="1223156" y="1194923"/>
                  </a:lnTo>
                  <a:lnTo>
                    <a:pt x="1228812" y="1166759"/>
                  </a:lnTo>
                  <a:lnTo>
                    <a:pt x="1244111" y="1145536"/>
                  </a:lnTo>
                  <a:lnTo>
                    <a:pt x="1275849" y="1132207"/>
                  </a:lnTo>
                  <a:lnTo>
                    <a:pt x="1311421" y="1128820"/>
                  </a:lnTo>
                  <a:lnTo>
                    <a:pt x="1348517" y="1129409"/>
                  </a:lnTo>
                  <a:lnTo>
                    <a:pt x="1384827" y="1128010"/>
                  </a:lnTo>
                  <a:lnTo>
                    <a:pt x="1425785" y="1138218"/>
                  </a:lnTo>
                  <a:lnTo>
                    <a:pt x="1490364" y="1163189"/>
                  </a:lnTo>
                  <a:lnTo>
                    <a:pt x="1507192" y="1191018"/>
                  </a:lnTo>
                  <a:lnTo>
                    <a:pt x="1514153" y="1206177"/>
                  </a:lnTo>
                  <a:lnTo>
                    <a:pt x="1525543" y="1215894"/>
                  </a:lnTo>
                  <a:lnTo>
                    <a:pt x="1563913" y="1225493"/>
                  </a:lnTo>
                  <a:lnTo>
                    <a:pt x="1603616" y="1229340"/>
                  </a:lnTo>
                  <a:lnTo>
                    <a:pt x="1643844" y="1230878"/>
                  </a:lnTo>
                  <a:lnTo>
                    <a:pt x="1683785" y="1233547"/>
                  </a:lnTo>
                  <a:lnTo>
                    <a:pt x="1703798" y="1226640"/>
                  </a:lnTo>
                  <a:lnTo>
                    <a:pt x="1725394" y="1221054"/>
                  </a:lnTo>
                  <a:lnTo>
                    <a:pt x="1743775" y="1212920"/>
                  </a:lnTo>
                  <a:lnTo>
                    <a:pt x="1764026" y="1150956"/>
                  </a:lnTo>
                  <a:lnTo>
                    <a:pt x="1770695" y="1103009"/>
                  </a:lnTo>
                  <a:lnTo>
                    <a:pt x="1774974" y="1054661"/>
                  </a:lnTo>
                  <a:lnTo>
                    <a:pt x="1777686" y="1006043"/>
                  </a:lnTo>
                  <a:lnTo>
                    <a:pt x="1781700" y="908529"/>
                  </a:lnTo>
                  <a:lnTo>
                    <a:pt x="1784649" y="859897"/>
                  </a:lnTo>
                  <a:lnTo>
                    <a:pt x="1789322" y="811526"/>
                  </a:lnTo>
                  <a:lnTo>
                    <a:pt x="1792721" y="798110"/>
                  </a:lnTo>
                  <a:lnTo>
                    <a:pt x="1803663" y="772182"/>
                  </a:lnTo>
                  <a:lnTo>
                    <a:pt x="1806848" y="758694"/>
                  </a:lnTo>
                  <a:lnTo>
                    <a:pt x="1811190" y="708989"/>
                  </a:lnTo>
                  <a:lnTo>
                    <a:pt x="1814529" y="659202"/>
                  </a:lnTo>
                  <a:lnTo>
                    <a:pt x="1817199" y="609358"/>
                  </a:lnTo>
                  <a:lnTo>
                    <a:pt x="1821853" y="509601"/>
                  </a:lnTo>
                  <a:lnTo>
                    <a:pt x="1824501" y="459736"/>
                  </a:lnTo>
                  <a:lnTo>
                    <a:pt x="1816199" y="415699"/>
                  </a:lnTo>
                  <a:lnTo>
                    <a:pt x="1806848" y="371852"/>
                  </a:lnTo>
                  <a:lnTo>
                    <a:pt x="1793291" y="319832"/>
                  </a:lnTo>
                  <a:lnTo>
                    <a:pt x="1781353" y="278872"/>
                  </a:lnTo>
                  <a:lnTo>
                    <a:pt x="1768986" y="240461"/>
                  </a:lnTo>
                  <a:lnTo>
                    <a:pt x="1754143" y="196084"/>
                  </a:lnTo>
                  <a:lnTo>
                    <a:pt x="1709773" y="161334"/>
                  </a:lnTo>
                  <a:lnTo>
                    <a:pt x="1687760" y="143810"/>
                  </a:lnTo>
                  <a:lnTo>
                    <a:pt x="1621132" y="90514"/>
                  </a:lnTo>
                  <a:lnTo>
                    <a:pt x="1574617" y="62074"/>
                  </a:lnTo>
                  <a:lnTo>
                    <a:pt x="1526977" y="39806"/>
                  </a:lnTo>
                  <a:lnTo>
                    <a:pt x="1478477" y="23107"/>
                  </a:lnTo>
                  <a:lnTo>
                    <a:pt x="1429381" y="11378"/>
                  </a:lnTo>
                  <a:lnTo>
                    <a:pt x="1379954" y="4018"/>
                  </a:lnTo>
                  <a:lnTo>
                    <a:pt x="1330461" y="425"/>
                  </a:lnTo>
                  <a:lnTo>
                    <a:pt x="1281165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95508" y="1773431"/>
              <a:ext cx="1824989" cy="1339215"/>
            </a:xfrm>
            <a:custGeom>
              <a:avLst/>
              <a:gdLst/>
              <a:ahLst/>
              <a:cxnLst/>
              <a:rect l="l" t="t" r="r" b="b"/>
              <a:pathLst>
                <a:path w="1824989" h="1339214">
                  <a:moveTo>
                    <a:pt x="857269" y="37715"/>
                  </a:moveTo>
                  <a:lnTo>
                    <a:pt x="890042" y="39523"/>
                  </a:lnTo>
                  <a:lnTo>
                    <a:pt x="925657" y="38488"/>
                  </a:lnTo>
                  <a:lnTo>
                    <a:pt x="963849" y="35212"/>
                  </a:lnTo>
                  <a:lnTo>
                    <a:pt x="1004355" y="30296"/>
                  </a:lnTo>
                  <a:lnTo>
                    <a:pt x="1046911" y="24340"/>
                  </a:lnTo>
                  <a:lnTo>
                    <a:pt x="1091250" y="17946"/>
                  </a:lnTo>
                  <a:lnTo>
                    <a:pt x="1137110" y="11713"/>
                  </a:lnTo>
                  <a:lnTo>
                    <a:pt x="1184225" y="6244"/>
                  </a:lnTo>
                  <a:lnTo>
                    <a:pt x="1232332" y="2139"/>
                  </a:lnTo>
                  <a:lnTo>
                    <a:pt x="1281165" y="0"/>
                  </a:lnTo>
                  <a:lnTo>
                    <a:pt x="1330461" y="425"/>
                  </a:lnTo>
                  <a:lnTo>
                    <a:pt x="1379954" y="4018"/>
                  </a:lnTo>
                  <a:lnTo>
                    <a:pt x="1429381" y="11378"/>
                  </a:lnTo>
                  <a:lnTo>
                    <a:pt x="1478477" y="23107"/>
                  </a:lnTo>
                  <a:lnTo>
                    <a:pt x="1526977" y="39806"/>
                  </a:lnTo>
                  <a:lnTo>
                    <a:pt x="1574617" y="62074"/>
                  </a:lnTo>
                  <a:lnTo>
                    <a:pt x="1621132" y="90514"/>
                  </a:lnTo>
                  <a:lnTo>
                    <a:pt x="1666259" y="125726"/>
                  </a:lnTo>
                  <a:lnTo>
                    <a:pt x="1687760" y="143810"/>
                  </a:lnTo>
                  <a:lnTo>
                    <a:pt x="1709773" y="161334"/>
                  </a:lnTo>
                  <a:lnTo>
                    <a:pt x="1754143" y="196084"/>
                  </a:lnTo>
                  <a:lnTo>
                    <a:pt x="1768986" y="240461"/>
                  </a:lnTo>
                  <a:lnTo>
                    <a:pt x="1781353" y="278872"/>
                  </a:lnTo>
                  <a:lnTo>
                    <a:pt x="1793291" y="319832"/>
                  </a:lnTo>
                  <a:lnTo>
                    <a:pt x="1806848" y="371852"/>
                  </a:lnTo>
                  <a:lnTo>
                    <a:pt x="1816199" y="415699"/>
                  </a:lnTo>
                  <a:lnTo>
                    <a:pt x="1820296" y="437753"/>
                  </a:lnTo>
                  <a:lnTo>
                    <a:pt x="1824501" y="459736"/>
                  </a:lnTo>
                  <a:lnTo>
                    <a:pt x="1821853" y="509601"/>
                  </a:lnTo>
                  <a:lnTo>
                    <a:pt x="1819529" y="559483"/>
                  </a:lnTo>
                  <a:lnTo>
                    <a:pt x="1817199" y="609358"/>
                  </a:lnTo>
                  <a:lnTo>
                    <a:pt x="1814529" y="659202"/>
                  </a:lnTo>
                  <a:lnTo>
                    <a:pt x="1811190" y="708989"/>
                  </a:lnTo>
                  <a:lnTo>
                    <a:pt x="1806848" y="758694"/>
                  </a:lnTo>
                  <a:lnTo>
                    <a:pt x="1792721" y="798110"/>
                  </a:lnTo>
                  <a:lnTo>
                    <a:pt x="1789322" y="811526"/>
                  </a:lnTo>
                  <a:lnTo>
                    <a:pt x="1784649" y="859897"/>
                  </a:lnTo>
                  <a:lnTo>
                    <a:pt x="1781700" y="908529"/>
                  </a:lnTo>
                  <a:lnTo>
                    <a:pt x="1779654" y="957288"/>
                  </a:lnTo>
                  <a:lnTo>
                    <a:pt x="1777686" y="1006043"/>
                  </a:lnTo>
                  <a:lnTo>
                    <a:pt x="1774974" y="1054661"/>
                  </a:lnTo>
                  <a:lnTo>
                    <a:pt x="1770695" y="1103009"/>
                  </a:lnTo>
                  <a:lnTo>
                    <a:pt x="1764026" y="1150956"/>
                  </a:lnTo>
                  <a:lnTo>
                    <a:pt x="1754143" y="1198368"/>
                  </a:lnTo>
                  <a:lnTo>
                    <a:pt x="1703798" y="1226640"/>
                  </a:lnTo>
                  <a:lnTo>
                    <a:pt x="1683785" y="1233547"/>
                  </a:lnTo>
                  <a:lnTo>
                    <a:pt x="1643844" y="1230878"/>
                  </a:lnTo>
                  <a:lnTo>
                    <a:pt x="1603616" y="1229340"/>
                  </a:lnTo>
                  <a:lnTo>
                    <a:pt x="1563913" y="1225493"/>
                  </a:lnTo>
                  <a:lnTo>
                    <a:pt x="1525543" y="1215894"/>
                  </a:lnTo>
                  <a:lnTo>
                    <a:pt x="1514153" y="1206177"/>
                  </a:lnTo>
                  <a:lnTo>
                    <a:pt x="1507192" y="1191018"/>
                  </a:lnTo>
                  <a:lnTo>
                    <a:pt x="1500612" y="1175121"/>
                  </a:lnTo>
                  <a:lnTo>
                    <a:pt x="1490364" y="1163189"/>
                  </a:lnTo>
                  <a:lnTo>
                    <a:pt x="1460587" y="1149388"/>
                  </a:lnTo>
                  <a:lnTo>
                    <a:pt x="1425785" y="1138218"/>
                  </a:lnTo>
                  <a:lnTo>
                    <a:pt x="1396888" y="1130739"/>
                  </a:lnTo>
                  <a:lnTo>
                    <a:pt x="1384827" y="1128010"/>
                  </a:lnTo>
                  <a:lnTo>
                    <a:pt x="1348517" y="1129409"/>
                  </a:lnTo>
                  <a:lnTo>
                    <a:pt x="1311421" y="1128820"/>
                  </a:lnTo>
                  <a:lnTo>
                    <a:pt x="1244111" y="1145536"/>
                  </a:lnTo>
                  <a:lnTo>
                    <a:pt x="1223156" y="1194923"/>
                  </a:lnTo>
                  <a:lnTo>
                    <a:pt x="1219215" y="1224778"/>
                  </a:lnTo>
                  <a:lnTo>
                    <a:pt x="1209059" y="1251073"/>
                  </a:lnTo>
                  <a:lnTo>
                    <a:pt x="1176982" y="1288346"/>
                  </a:lnTo>
                  <a:lnTo>
                    <a:pt x="1144559" y="1311033"/>
                  </a:lnTo>
                  <a:lnTo>
                    <a:pt x="1109207" y="1325743"/>
                  </a:lnTo>
                  <a:lnTo>
                    <a:pt x="1068343" y="1339084"/>
                  </a:lnTo>
                  <a:lnTo>
                    <a:pt x="1021311" y="1336983"/>
                  </a:lnTo>
                  <a:lnTo>
                    <a:pt x="974156" y="1335947"/>
                  </a:lnTo>
                  <a:lnTo>
                    <a:pt x="927008" y="1334925"/>
                  </a:lnTo>
                  <a:lnTo>
                    <a:pt x="879997" y="1332866"/>
                  </a:lnTo>
                  <a:lnTo>
                    <a:pt x="833255" y="1328719"/>
                  </a:lnTo>
                  <a:lnTo>
                    <a:pt x="786911" y="1321431"/>
                  </a:lnTo>
                  <a:lnTo>
                    <a:pt x="749938" y="1299317"/>
                  </a:lnTo>
                  <a:lnTo>
                    <a:pt x="733637" y="1283337"/>
                  </a:lnTo>
                  <a:lnTo>
                    <a:pt x="716680" y="1268726"/>
                  </a:lnTo>
                  <a:lnTo>
                    <a:pt x="703621" y="1259676"/>
                  </a:lnTo>
                  <a:lnTo>
                    <a:pt x="690407" y="1250899"/>
                  </a:lnTo>
                  <a:lnTo>
                    <a:pt x="677122" y="1242241"/>
                  </a:lnTo>
                  <a:lnTo>
                    <a:pt x="663848" y="1233547"/>
                  </a:lnTo>
                  <a:lnTo>
                    <a:pt x="660485" y="1219702"/>
                  </a:lnTo>
                  <a:lnTo>
                    <a:pt x="657800" y="1205464"/>
                  </a:lnTo>
                  <a:lnTo>
                    <a:pt x="653758" y="1192060"/>
                  </a:lnTo>
                  <a:lnTo>
                    <a:pt x="646322" y="1180715"/>
                  </a:lnTo>
                  <a:lnTo>
                    <a:pt x="634067" y="1174584"/>
                  </a:lnTo>
                  <a:lnTo>
                    <a:pt x="619049" y="1172714"/>
                  </a:lnTo>
                  <a:lnTo>
                    <a:pt x="604460" y="1170464"/>
                  </a:lnTo>
                  <a:lnTo>
                    <a:pt x="593490" y="1163189"/>
                  </a:lnTo>
                  <a:lnTo>
                    <a:pt x="567393" y="1122439"/>
                  </a:lnTo>
                  <a:lnTo>
                    <a:pt x="554749" y="1094282"/>
                  </a:lnTo>
                  <a:lnTo>
                    <a:pt x="551543" y="1076223"/>
                  </a:lnTo>
                  <a:lnTo>
                    <a:pt x="553758" y="1065764"/>
                  </a:lnTo>
                  <a:lnTo>
                    <a:pt x="557380" y="1060411"/>
                  </a:lnTo>
                  <a:lnTo>
                    <a:pt x="558391" y="1057666"/>
                  </a:lnTo>
                  <a:lnTo>
                    <a:pt x="552777" y="1055035"/>
                  </a:lnTo>
                  <a:lnTo>
                    <a:pt x="536520" y="1050020"/>
                  </a:lnTo>
                  <a:lnTo>
                    <a:pt x="505606" y="1040126"/>
                  </a:lnTo>
                  <a:lnTo>
                    <a:pt x="459498" y="1050787"/>
                  </a:lnTo>
                  <a:lnTo>
                    <a:pt x="413287" y="1061611"/>
                  </a:lnTo>
                  <a:lnTo>
                    <a:pt x="366935" y="1071594"/>
                  </a:lnTo>
                  <a:lnTo>
                    <a:pt x="320401" y="1079734"/>
                  </a:lnTo>
                  <a:lnTo>
                    <a:pt x="273644" y="1085026"/>
                  </a:lnTo>
                  <a:lnTo>
                    <a:pt x="226625" y="1086467"/>
                  </a:lnTo>
                  <a:lnTo>
                    <a:pt x="179302" y="1083054"/>
                  </a:lnTo>
                  <a:lnTo>
                    <a:pt x="131636" y="1073784"/>
                  </a:lnTo>
                  <a:lnTo>
                    <a:pt x="83585" y="1057652"/>
                  </a:lnTo>
                  <a:lnTo>
                    <a:pt x="57544" y="1012790"/>
                  </a:lnTo>
                  <a:lnTo>
                    <a:pt x="54039" y="981464"/>
                  </a:lnTo>
                  <a:lnTo>
                    <a:pt x="48419" y="952115"/>
                  </a:lnTo>
                  <a:lnTo>
                    <a:pt x="35382" y="913384"/>
                  </a:lnTo>
                  <a:lnTo>
                    <a:pt x="29648" y="895346"/>
                  </a:lnTo>
                  <a:lnTo>
                    <a:pt x="24505" y="874927"/>
                  </a:lnTo>
                  <a:lnTo>
                    <a:pt x="13240" y="829052"/>
                  </a:lnTo>
                  <a:lnTo>
                    <a:pt x="15760" y="754696"/>
                  </a:lnTo>
                  <a:lnTo>
                    <a:pt x="16294" y="691720"/>
                  </a:lnTo>
                  <a:lnTo>
                    <a:pt x="15265" y="639093"/>
                  </a:lnTo>
                  <a:lnTo>
                    <a:pt x="13099" y="595781"/>
                  </a:lnTo>
                  <a:lnTo>
                    <a:pt x="7054" y="532978"/>
                  </a:lnTo>
                  <a:lnTo>
                    <a:pt x="1554" y="495050"/>
                  </a:lnTo>
                  <a:lnTo>
                    <a:pt x="72" y="482834"/>
                  </a:lnTo>
                  <a:lnTo>
                    <a:pt x="22313" y="447940"/>
                  </a:lnTo>
                  <a:lnTo>
                    <a:pt x="35665" y="438971"/>
                  </a:lnTo>
                  <a:lnTo>
                    <a:pt x="52976" y="426931"/>
                  </a:lnTo>
                  <a:lnTo>
                    <a:pt x="101175" y="389505"/>
                  </a:lnTo>
                  <a:lnTo>
                    <a:pt x="127691" y="363252"/>
                  </a:lnTo>
                  <a:lnTo>
                    <a:pt x="136341" y="354326"/>
                  </a:lnTo>
                  <a:lnTo>
                    <a:pt x="162648" y="359529"/>
                  </a:lnTo>
                  <a:lnTo>
                    <a:pt x="188909" y="365280"/>
                  </a:lnTo>
                  <a:lnTo>
                    <a:pt x="215262" y="369935"/>
                  </a:lnTo>
                  <a:lnTo>
                    <a:pt x="280590" y="364306"/>
                  </a:lnTo>
                  <a:lnTo>
                    <a:pt x="311856" y="313659"/>
                  </a:lnTo>
                  <a:lnTo>
                    <a:pt x="313138" y="277041"/>
                  </a:lnTo>
                  <a:lnTo>
                    <a:pt x="310698" y="237216"/>
                  </a:lnTo>
                  <a:lnTo>
                    <a:pt x="308919" y="197423"/>
                  </a:lnTo>
                  <a:lnTo>
                    <a:pt x="317450" y="146025"/>
                  </a:lnTo>
                  <a:lnTo>
                    <a:pt x="347352" y="108073"/>
                  </a:lnTo>
                  <a:lnTo>
                    <a:pt x="386138" y="80588"/>
                  </a:lnTo>
                  <a:lnTo>
                    <a:pt x="441505" y="51346"/>
                  </a:lnTo>
                  <a:lnTo>
                    <a:pt x="487706" y="28333"/>
                  </a:lnTo>
                  <a:lnTo>
                    <a:pt x="525277" y="10012"/>
                  </a:lnTo>
                  <a:lnTo>
                    <a:pt x="540785" y="2536"/>
                  </a:lnTo>
                  <a:lnTo>
                    <a:pt x="603625" y="6161"/>
                  </a:lnTo>
                  <a:lnTo>
                    <a:pt x="652242" y="9210"/>
                  </a:lnTo>
                  <a:lnTo>
                    <a:pt x="714840" y="13987"/>
                  </a:lnTo>
                  <a:lnTo>
                    <a:pt x="757725" y="21084"/>
                  </a:lnTo>
                  <a:lnTo>
                    <a:pt x="763013" y="22935"/>
                  </a:lnTo>
                  <a:lnTo>
                    <a:pt x="770144" y="25021"/>
                  </a:lnTo>
                  <a:lnTo>
                    <a:pt x="781127" y="27440"/>
                  </a:lnTo>
                  <a:lnTo>
                    <a:pt x="797970" y="30295"/>
                  </a:lnTo>
                  <a:lnTo>
                    <a:pt x="822681" y="33686"/>
                  </a:lnTo>
                  <a:lnTo>
                    <a:pt x="857269" y="37715"/>
                  </a:lnTo>
                  <a:close/>
                </a:path>
              </a:pathLst>
            </a:custGeom>
            <a:ln w="254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786633" y="264617"/>
            <a:ext cx="3573779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Konsep</a:t>
            </a:r>
            <a:r>
              <a:rPr spc="-15" dirty="0"/>
              <a:t> </a:t>
            </a:r>
            <a:r>
              <a:rPr spc="5" dirty="0"/>
              <a:t>Dasar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592707" y="2174824"/>
            <a:ext cx="2292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latin typeface="Arial"/>
                <a:cs typeface="Arial"/>
              </a:rPr>
              <a:t>y</a:t>
            </a:r>
            <a:endParaRPr sz="32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003675" y="1368628"/>
            <a:ext cx="281940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47570" algn="l"/>
              </a:tabLst>
            </a:pPr>
            <a:r>
              <a:rPr sz="24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Feature</a:t>
            </a:r>
            <a:r>
              <a:rPr sz="2400" u="heavy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vector</a:t>
            </a:r>
            <a:r>
              <a:rPr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x</a:t>
            </a:r>
            <a:r>
              <a:rPr sz="2400" spc="-30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ϵ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X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003675" y="1807845"/>
            <a:ext cx="4318000" cy="15621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Char char="-"/>
              <a:tabLst>
                <a:tab pos="354965" algn="l"/>
                <a:tab pos="355600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Vector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dari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hasil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pengamatan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(pengukuran).</a:t>
            </a:r>
            <a:endParaRPr sz="2400">
              <a:latin typeface="Microsoft Sans Serif"/>
              <a:cs typeface="Microsoft Sans Serif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-"/>
              <a:tabLst>
                <a:tab pos="354965" algn="l"/>
                <a:tab pos="355600" algn="l"/>
              </a:tabLst>
            </a:pPr>
            <a:r>
              <a:rPr sz="2400" dirty="0">
                <a:latin typeface="Microsoft Sans Serif"/>
                <a:cs typeface="Microsoft Sans Serif"/>
              </a:rPr>
              <a:t>x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adalah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sebuah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titik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dalam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5" dirty="0">
                <a:latin typeface="Microsoft Sans Serif"/>
                <a:cs typeface="Microsoft Sans Serif"/>
              </a:rPr>
              <a:t>ruang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vektor X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8042" y="1294257"/>
            <a:ext cx="6350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latin typeface="Microsoft Sans Serif"/>
                <a:cs typeface="Microsoft Sans Serif"/>
              </a:rPr>
              <a:t>P</a:t>
            </a:r>
            <a:r>
              <a:rPr sz="2400" spc="-15" dirty="0">
                <a:latin typeface="Microsoft Sans Serif"/>
                <a:cs typeface="Microsoft Sans Serif"/>
              </a:rPr>
              <a:t>o</a:t>
            </a:r>
            <a:r>
              <a:rPr sz="2400" spc="-10" dirty="0">
                <a:latin typeface="Microsoft Sans Serif"/>
                <a:cs typeface="Microsoft Sans Serif"/>
              </a:rPr>
              <a:t>la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954273" y="1568958"/>
            <a:ext cx="30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Sans Serif"/>
                <a:cs typeface="Microsoft Sans Serif"/>
              </a:rPr>
              <a:t>X1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954273" y="1843278"/>
            <a:ext cx="30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Sans Serif"/>
                <a:cs typeface="Microsoft Sans Serif"/>
              </a:rPr>
              <a:t>X2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018282" y="2117597"/>
            <a:ext cx="8439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19430" algn="l"/>
              </a:tabLst>
            </a:pPr>
            <a:r>
              <a:rPr sz="1800" dirty="0">
                <a:latin typeface="Microsoft Sans Serif"/>
                <a:cs typeface="Microsoft Sans Serif"/>
              </a:rPr>
              <a:t>.	=</a:t>
            </a:r>
            <a:r>
              <a:rPr sz="1800" spc="-65" dirty="0">
                <a:latin typeface="Microsoft Sans Serif"/>
                <a:cs typeface="Microsoft Sans Serif"/>
              </a:rPr>
              <a:t> </a:t>
            </a:r>
            <a:r>
              <a:rPr sz="1800" dirty="0">
                <a:latin typeface="Microsoft Sans Serif"/>
                <a:cs typeface="Microsoft Sans Serif"/>
              </a:rPr>
              <a:t>x</a:t>
            </a:r>
            <a:endParaRPr sz="18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</a:pPr>
            <a:r>
              <a:rPr sz="1800" dirty="0">
                <a:latin typeface="Microsoft Sans Serif"/>
                <a:cs typeface="Microsoft Sans Serif"/>
              </a:rPr>
              <a:t>.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54273" y="2940811"/>
            <a:ext cx="264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Sans Serif"/>
                <a:cs typeface="Microsoft Sans Serif"/>
              </a:rPr>
              <a:t>xn</a:t>
            </a:r>
            <a:endParaRPr sz="1800">
              <a:latin typeface="Microsoft Sans Serif"/>
              <a:cs typeface="Microsoft Sans Serif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56460" y="1758569"/>
            <a:ext cx="1115695" cy="1818639"/>
            <a:chOff x="1656460" y="1758569"/>
            <a:chExt cx="1115695" cy="1818639"/>
          </a:xfrm>
        </p:grpSpPr>
        <p:sp>
          <p:nvSpPr>
            <p:cNvPr id="21" name="object 21"/>
            <p:cNvSpPr/>
            <p:nvPr/>
          </p:nvSpPr>
          <p:spPr>
            <a:xfrm>
              <a:off x="2459862" y="1758569"/>
              <a:ext cx="312420" cy="146050"/>
            </a:xfrm>
            <a:custGeom>
              <a:avLst/>
              <a:gdLst/>
              <a:ahLst/>
              <a:cxnLst/>
              <a:rect l="l" t="t" r="r" b="b"/>
              <a:pathLst>
                <a:path w="312419" h="146050">
                  <a:moveTo>
                    <a:pt x="276031" y="22296"/>
                  </a:moveTo>
                  <a:lnTo>
                    <a:pt x="0" y="134238"/>
                  </a:lnTo>
                  <a:lnTo>
                    <a:pt x="4699" y="145922"/>
                  </a:lnTo>
                  <a:lnTo>
                    <a:pt x="280922" y="34067"/>
                  </a:lnTo>
                  <a:lnTo>
                    <a:pt x="288617" y="24109"/>
                  </a:lnTo>
                  <a:lnTo>
                    <a:pt x="276031" y="22296"/>
                  </a:lnTo>
                  <a:close/>
                </a:path>
                <a:path w="312419" h="146050">
                  <a:moveTo>
                    <a:pt x="303962" y="13461"/>
                  </a:moveTo>
                  <a:lnTo>
                    <a:pt x="297814" y="13461"/>
                  </a:lnTo>
                  <a:lnTo>
                    <a:pt x="302641" y="25272"/>
                  </a:lnTo>
                  <a:lnTo>
                    <a:pt x="280922" y="34067"/>
                  </a:lnTo>
                  <a:lnTo>
                    <a:pt x="239141" y="88137"/>
                  </a:lnTo>
                  <a:lnTo>
                    <a:pt x="239649" y="92075"/>
                  </a:lnTo>
                  <a:lnTo>
                    <a:pt x="245237" y="96392"/>
                  </a:lnTo>
                  <a:lnTo>
                    <a:pt x="249174" y="95884"/>
                  </a:lnTo>
                  <a:lnTo>
                    <a:pt x="311912" y="14604"/>
                  </a:lnTo>
                  <a:lnTo>
                    <a:pt x="303962" y="13461"/>
                  </a:lnTo>
                  <a:close/>
                </a:path>
                <a:path w="312419" h="146050">
                  <a:moveTo>
                    <a:pt x="288617" y="24109"/>
                  </a:moveTo>
                  <a:lnTo>
                    <a:pt x="280922" y="34067"/>
                  </a:lnTo>
                  <a:lnTo>
                    <a:pt x="301700" y="25653"/>
                  </a:lnTo>
                  <a:lnTo>
                    <a:pt x="299338" y="25653"/>
                  </a:lnTo>
                  <a:lnTo>
                    <a:pt x="288617" y="24109"/>
                  </a:lnTo>
                  <a:close/>
                </a:path>
                <a:path w="312419" h="146050">
                  <a:moveTo>
                    <a:pt x="295275" y="15493"/>
                  </a:moveTo>
                  <a:lnTo>
                    <a:pt x="288617" y="24109"/>
                  </a:lnTo>
                  <a:lnTo>
                    <a:pt x="299338" y="25653"/>
                  </a:lnTo>
                  <a:lnTo>
                    <a:pt x="295275" y="15493"/>
                  </a:lnTo>
                  <a:close/>
                </a:path>
                <a:path w="312419" h="146050">
                  <a:moveTo>
                    <a:pt x="298645" y="15493"/>
                  </a:moveTo>
                  <a:lnTo>
                    <a:pt x="295275" y="15493"/>
                  </a:lnTo>
                  <a:lnTo>
                    <a:pt x="299338" y="25653"/>
                  </a:lnTo>
                  <a:lnTo>
                    <a:pt x="301700" y="25653"/>
                  </a:lnTo>
                  <a:lnTo>
                    <a:pt x="302641" y="25272"/>
                  </a:lnTo>
                  <a:lnTo>
                    <a:pt x="298645" y="15493"/>
                  </a:lnTo>
                  <a:close/>
                </a:path>
                <a:path w="312419" h="146050">
                  <a:moveTo>
                    <a:pt x="297814" y="13461"/>
                  </a:moveTo>
                  <a:lnTo>
                    <a:pt x="276031" y="22296"/>
                  </a:lnTo>
                  <a:lnTo>
                    <a:pt x="288617" y="24109"/>
                  </a:lnTo>
                  <a:lnTo>
                    <a:pt x="295275" y="15493"/>
                  </a:lnTo>
                  <a:lnTo>
                    <a:pt x="298645" y="15493"/>
                  </a:lnTo>
                  <a:lnTo>
                    <a:pt x="297814" y="13461"/>
                  </a:lnTo>
                  <a:close/>
                </a:path>
                <a:path w="312419" h="146050">
                  <a:moveTo>
                    <a:pt x="210438" y="0"/>
                  </a:moveTo>
                  <a:lnTo>
                    <a:pt x="207137" y="2412"/>
                  </a:lnTo>
                  <a:lnTo>
                    <a:pt x="206120" y="9397"/>
                  </a:lnTo>
                  <a:lnTo>
                    <a:pt x="208534" y="12572"/>
                  </a:lnTo>
                  <a:lnTo>
                    <a:pt x="276031" y="22296"/>
                  </a:lnTo>
                  <a:lnTo>
                    <a:pt x="297814" y="13461"/>
                  </a:lnTo>
                  <a:lnTo>
                    <a:pt x="303962" y="13461"/>
                  </a:lnTo>
                  <a:lnTo>
                    <a:pt x="2104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8165" y="2022475"/>
              <a:ext cx="173608" cy="12738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548381" y="2947161"/>
              <a:ext cx="223393" cy="101473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1656460" y="2708275"/>
              <a:ext cx="103505" cy="868680"/>
            </a:xfrm>
            <a:custGeom>
              <a:avLst/>
              <a:gdLst/>
              <a:ahLst/>
              <a:cxnLst/>
              <a:rect l="l" t="t" r="r" b="b"/>
              <a:pathLst>
                <a:path w="103505" h="868679">
                  <a:moveTo>
                    <a:pt x="7112" y="772287"/>
                  </a:moveTo>
                  <a:lnTo>
                    <a:pt x="1015" y="775842"/>
                  </a:lnTo>
                  <a:lnTo>
                    <a:pt x="0" y="779779"/>
                  </a:lnTo>
                  <a:lnTo>
                    <a:pt x="51688" y="868426"/>
                  </a:lnTo>
                  <a:lnTo>
                    <a:pt x="59020" y="855852"/>
                  </a:lnTo>
                  <a:lnTo>
                    <a:pt x="45338" y="855852"/>
                  </a:lnTo>
                  <a:lnTo>
                    <a:pt x="45338" y="832303"/>
                  </a:lnTo>
                  <a:lnTo>
                    <a:pt x="10921" y="773302"/>
                  </a:lnTo>
                  <a:lnTo>
                    <a:pt x="7112" y="772287"/>
                  </a:lnTo>
                  <a:close/>
                </a:path>
                <a:path w="103505" h="868679">
                  <a:moveTo>
                    <a:pt x="45338" y="832303"/>
                  </a:moveTo>
                  <a:lnTo>
                    <a:pt x="45338" y="855852"/>
                  </a:lnTo>
                  <a:lnTo>
                    <a:pt x="58038" y="855852"/>
                  </a:lnTo>
                  <a:lnTo>
                    <a:pt x="58038" y="852551"/>
                  </a:lnTo>
                  <a:lnTo>
                    <a:pt x="46227" y="852551"/>
                  </a:lnTo>
                  <a:lnTo>
                    <a:pt x="51688" y="843189"/>
                  </a:lnTo>
                  <a:lnTo>
                    <a:pt x="45338" y="832303"/>
                  </a:lnTo>
                  <a:close/>
                </a:path>
                <a:path w="103505" h="868679">
                  <a:moveTo>
                    <a:pt x="96265" y="772287"/>
                  </a:moveTo>
                  <a:lnTo>
                    <a:pt x="92456" y="773302"/>
                  </a:lnTo>
                  <a:lnTo>
                    <a:pt x="58038" y="832303"/>
                  </a:lnTo>
                  <a:lnTo>
                    <a:pt x="58038" y="855852"/>
                  </a:lnTo>
                  <a:lnTo>
                    <a:pt x="59020" y="855852"/>
                  </a:lnTo>
                  <a:lnTo>
                    <a:pt x="103377" y="779779"/>
                  </a:lnTo>
                  <a:lnTo>
                    <a:pt x="102362" y="775842"/>
                  </a:lnTo>
                  <a:lnTo>
                    <a:pt x="96265" y="772287"/>
                  </a:lnTo>
                  <a:close/>
                </a:path>
                <a:path w="103505" h="868679">
                  <a:moveTo>
                    <a:pt x="51688" y="843189"/>
                  </a:moveTo>
                  <a:lnTo>
                    <a:pt x="46227" y="852551"/>
                  </a:lnTo>
                  <a:lnTo>
                    <a:pt x="57150" y="852551"/>
                  </a:lnTo>
                  <a:lnTo>
                    <a:pt x="51688" y="843189"/>
                  </a:lnTo>
                  <a:close/>
                </a:path>
                <a:path w="103505" h="868679">
                  <a:moveTo>
                    <a:pt x="58038" y="832303"/>
                  </a:moveTo>
                  <a:lnTo>
                    <a:pt x="51688" y="843189"/>
                  </a:lnTo>
                  <a:lnTo>
                    <a:pt x="57150" y="852551"/>
                  </a:lnTo>
                  <a:lnTo>
                    <a:pt x="58038" y="852551"/>
                  </a:lnTo>
                  <a:lnTo>
                    <a:pt x="58038" y="832303"/>
                  </a:lnTo>
                  <a:close/>
                </a:path>
                <a:path w="103505" h="868679">
                  <a:moveTo>
                    <a:pt x="58038" y="0"/>
                  </a:moveTo>
                  <a:lnTo>
                    <a:pt x="45338" y="0"/>
                  </a:lnTo>
                  <a:lnTo>
                    <a:pt x="45338" y="832303"/>
                  </a:lnTo>
                  <a:lnTo>
                    <a:pt x="51688" y="843189"/>
                  </a:lnTo>
                  <a:lnTo>
                    <a:pt x="58038" y="832303"/>
                  </a:lnTo>
                  <a:lnTo>
                    <a:pt x="580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08863" y="3382136"/>
            <a:ext cx="7522845" cy="20491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1894839" algn="l"/>
              </a:tabLst>
            </a:pPr>
            <a:r>
              <a:rPr sz="2400" u="heavy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Hidden</a:t>
            </a:r>
            <a:r>
              <a:rPr sz="2400" u="heavy" spc="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4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state</a:t>
            </a:r>
            <a:r>
              <a:rPr sz="240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r>
              <a:rPr sz="2400" spc="-5" dirty="0">
                <a:latin typeface="Microsoft Sans Serif"/>
                <a:cs typeface="Microsoft Sans Serif"/>
              </a:rPr>
              <a:t> </a:t>
            </a:r>
            <a:r>
              <a:rPr sz="2400" spc="-55" dirty="0">
                <a:latin typeface="Microsoft Sans Serif"/>
                <a:cs typeface="Microsoft Sans Serif"/>
              </a:rPr>
              <a:t>ϵ</a:t>
            </a:r>
            <a:r>
              <a:rPr sz="2400" spc="-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-"/>
              <a:tabLst>
                <a:tab pos="355600" algn="l"/>
                <a:tab pos="356235" algn="l"/>
              </a:tabLst>
            </a:pPr>
            <a:r>
              <a:rPr sz="2400" spc="-25" dirty="0">
                <a:latin typeface="Microsoft Sans Serif"/>
                <a:cs typeface="Microsoft Sans Serif"/>
              </a:rPr>
              <a:t>Tidak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dapat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diukur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secara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langsung.</a:t>
            </a:r>
            <a:endParaRPr sz="2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80"/>
              </a:spcBef>
              <a:buChar char="-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Pola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dengan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hidden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sama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terdapat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dalam</a:t>
            </a:r>
            <a:endParaRPr sz="2400">
              <a:latin typeface="Microsoft Sans Serif"/>
              <a:cs typeface="Microsoft Sans Serif"/>
            </a:endParaRPr>
          </a:p>
          <a:p>
            <a:pPr marL="17145" marR="4871720" indent="337820">
              <a:lnSpc>
                <a:spcPts val="2680"/>
              </a:lnSpc>
              <a:spcBef>
                <a:spcPts val="254"/>
              </a:spcBef>
            </a:pPr>
            <a:r>
              <a:rPr sz="2400" spc="-5" dirty="0">
                <a:latin typeface="Microsoft Sans Serif"/>
                <a:cs typeface="Microsoft Sans Serif"/>
              </a:rPr>
              <a:t>kelas</a:t>
            </a:r>
            <a:r>
              <a:rPr sz="2400" spc="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 sama </a:t>
            </a:r>
            <a:r>
              <a:rPr sz="2400" spc="-620" dirty="0">
                <a:latin typeface="Microsoft Sans Serif"/>
                <a:cs typeface="Microsoft Sans Serif"/>
              </a:rPr>
              <a:t> </a:t>
            </a:r>
            <a:r>
              <a:rPr sz="2400" u="heavy" spc="-7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Task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7938007" y="5477357"/>
            <a:ext cx="68453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5" dirty="0">
                <a:latin typeface="Microsoft Sans Serif"/>
                <a:cs typeface="Microsoft Sans Serif"/>
              </a:rPr>
              <a:t>y</a:t>
            </a:r>
            <a:r>
              <a:rPr sz="2400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n</a:t>
            </a:r>
            <a:r>
              <a:rPr sz="2400" dirty="0">
                <a:latin typeface="Microsoft Sans Serif"/>
                <a:cs typeface="Microsoft Sans Serif"/>
              </a:rPr>
              <a:t>g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13740" y="5477357"/>
            <a:ext cx="7446645" cy="758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54965" algn="l"/>
                <a:tab pos="2059305" algn="l"/>
                <a:tab pos="3385820" algn="l"/>
                <a:tab pos="4817110" algn="l"/>
                <a:tab pos="5638165" algn="l"/>
                <a:tab pos="6016625" algn="l"/>
                <a:tab pos="6308725" algn="l"/>
                <a:tab pos="6722109" algn="l"/>
                <a:tab pos="7229475" algn="l"/>
              </a:tabLst>
            </a:pPr>
            <a:r>
              <a:rPr sz="2400" dirty="0">
                <a:latin typeface="Microsoft Sans Serif"/>
                <a:cs typeface="Microsoft Sans Serif"/>
              </a:rPr>
              <a:t>-	Men</a:t>
            </a:r>
            <a:r>
              <a:rPr sz="2400" spc="-10" dirty="0">
                <a:latin typeface="Microsoft Sans Serif"/>
                <a:cs typeface="Microsoft Sans Serif"/>
              </a:rPr>
              <a:t>d</a:t>
            </a:r>
            <a:r>
              <a:rPr sz="2400" dirty="0">
                <a:latin typeface="Microsoft Sans Serif"/>
                <a:cs typeface="Microsoft Sans Serif"/>
              </a:rPr>
              <a:t>es</a:t>
            </a:r>
            <a:r>
              <a:rPr sz="2400" spc="10" dirty="0">
                <a:latin typeface="Microsoft Sans Serif"/>
                <a:cs typeface="Microsoft Sans Serif"/>
              </a:rPr>
              <a:t>a</a:t>
            </a:r>
            <a:r>
              <a:rPr sz="2400" spc="-10" dirty="0">
                <a:latin typeface="Microsoft Sans Serif"/>
                <a:cs typeface="Microsoft Sans Serif"/>
              </a:rPr>
              <a:t>in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" dirty="0">
                <a:latin typeface="Microsoft Sans Serif"/>
                <a:cs typeface="Microsoft Sans Serif"/>
              </a:rPr>
              <a:t>cl</a:t>
            </a:r>
            <a:r>
              <a:rPr sz="2400" spc="-20" dirty="0">
                <a:latin typeface="Microsoft Sans Serif"/>
                <a:cs typeface="Microsoft Sans Serif"/>
              </a:rPr>
              <a:t>a</a:t>
            </a:r>
            <a:r>
              <a:rPr sz="2400" spc="-5" dirty="0">
                <a:latin typeface="Microsoft Sans Serif"/>
                <a:cs typeface="Microsoft Sans Serif"/>
              </a:rPr>
              <a:t>ss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dirty="0">
                <a:latin typeface="Microsoft Sans Serif"/>
                <a:cs typeface="Microsoft Sans Serif"/>
              </a:rPr>
              <a:t>fer	</a:t>
            </a:r>
            <a:r>
              <a:rPr sz="2400" spc="-5" dirty="0">
                <a:latin typeface="Microsoft Sans Serif"/>
                <a:cs typeface="Microsoft Sans Serif"/>
              </a:rPr>
              <a:t>(dec</a:t>
            </a:r>
            <a:r>
              <a:rPr sz="2400" spc="-15" dirty="0">
                <a:latin typeface="Microsoft Sans Serif"/>
                <a:cs typeface="Microsoft Sans Serif"/>
              </a:rPr>
              <a:t>i</a:t>
            </a:r>
            <a:r>
              <a:rPr sz="2400" spc="5" dirty="0">
                <a:latin typeface="Microsoft Sans Serif"/>
                <a:cs typeface="Microsoft Sans Serif"/>
              </a:rPr>
              <a:t>s</a:t>
            </a:r>
            <a:r>
              <a:rPr sz="2400" spc="-5" dirty="0">
                <a:latin typeface="Microsoft Sans Serif"/>
                <a:cs typeface="Microsoft Sans Serif"/>
              </a:rPr>
              <a:t>ion</a:t>
            </a:r>
            <a:r>
              <a:rPr sz="2400" dirty="0">
                <a:latin typeface="Microsoft Sans Serif"/>
                <a:cs typeface="Microsoft Sans Serif"/>
              </a:rPr>
              <a:t>	</a:t>
            </a:r>
            <a:r>
              <a:rPr sz="2400" spc="-5" dirty="0">
                <a:latin typeface="Microsoft Sans Serif"/>
                <a:cs typeface="Microsoft Sans Serif"/>
              </a:rPr>
              <a:t>rule)</a:t>
            </a:r>
            <a:r>
              <a:rPr sz="2400" dirty="0">
                <a:latin typeface="Microsoft Sans Serif"/>
                <a:cs typeface="Microsoft Sans Serif"/>
              </a:rPr>
              <a:t>	q	:	X	</a:t>
            </a:r>
            <a:r>
              <a:rPr sz="2400" dirty="0">
                <a:latin typeface="Wingdings"/>
                <a:cs typeface="Wingdings"/>
              </a:rPr>
              <a:t>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dirty="0">
                <a:latin typeface="Microsoft Sans Serif"/>
                <a:cs typeface="Microsoft Sans Serif"/>
              </a:rPr>
              <a:t>Y</a:t>
            </a:r>
            <a:endParaRPr sz="2400">
              <a:latin typeface="Microsoft Sans Serif"/>
              <a:cs typeface="Microsoft Sans Serif"/>
            </a:endParaRPr>
          </a:p>
          <a:p>
            <a:pPr marL="355600">
              <a:lnSpc>
                <a:spcPct val="100000"/>
              </a:lnSpc>
              <a:spcBef>
                <a:spcPts val="15"/>
              </a:spcBef>
            </a:pPr>
            <a:r>
              <a:rPr sz="2400" spc="-5" dirty="0">
                <a:latin typeface="Microsoft Sans Serif"/>
                <a:cs typeface="Microsoft Sans Serif"/>
              </a:rPr>
              <a:t>menentukan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hidden</a:t>
            </a:r>
            <a:r>
              <a:rPr sz="2400" spc="7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state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berdasarkan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pengamatan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630612" y="1430274"/>
            <a:ext cx="617855" cy="1422400"/>
            <a:chOff x="3630612" y="1430274"/>
            <a:chExt cx="617855" cy="1422400"/>
          </a:xfrm>
        </p:grpSpPr>
        <p:sp>
          <p:nvSpPr>
            <p:cNvPr id="7" name="object 7"/>
            <p:cNvSpPr/>
            <p:nvPr/>
          </p:nvSpPr>
          <p:spPr>
            <a:xfrm>
              <a:off x="3635375" y="1500251"/>
              <a:ext cx="608330" cy="1252220"/>
            </a:xfrm>
            <a:custGeom>
              <a:avLst/>
              <a:gdLst/>
              <a:ahLst/>
              <a:cxnLst/>
              <a:rect l="l" t="t" r="r" b="b"/>
              <a:pathLst>
                <a:path w="608329" h="1252220">
                  <a:moveTo>
                    <a:pt x="0" y="1251712"/>
                  </a:moveTo>
                  <a:lnTo>
                    <a:pt x="608012" y="1251712"/>
                  </a:lnTo>
                  <a:lnTo>
                    <a:pt x="608012" y="0"/>
                  </a:lnTo>
                  <a:lnTo>
                    <a:pt x="0" y="0"/>
                  </a:lnTo>
                  <a:lnTo>
                    <a:pt x="0" y="1251712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788029" y="1430274"/>
              <a:ext cx="281305" cy="1422400"/>
            </a:xfrm>
            <a:custGeom>
              <a:avLst/>
              <a:gdLst/>
              <a:ahLst/>
              <a:cxnLst/>
              <a:rect l="l" t="t" r="r" b="b"/>
              <a:pathLst>
                <a:path w="281304" h="1422400">
                  <a:moveTo>
                    <a:pt x="280835" y="0"/>
                  </a:moveTo>
                  <a:lnTo>
                    <a:pt x="0" y="0"/>
                  </a:lnTo>
                  <a:lnTo>
                    <a:pt x="0" y="1422400"/>
                  </a:lnTo>
                  <a:lnTo>
                    <a:pt x="280835" y="1422400"/>
                  </a:lnTo>
                  <a:lnTo>
                    <a:pt x="28083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3470909" y="264617"/>
            <a:ext cx="22034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Exa</a:t>
            </a:r>
            <a:r>
              <a:rPr spc="10" dirty="0"/>
              <a:t>m</a:t>
            </a:r>
            <a:r>
              <a:rPr spc="-10" dirty="0"/>
              <a:t>ple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18328" y="1368627"/>
            <a:ext cx="366966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45490" algn="l"/>
              </a:tabLst>
            </a:pPr>
            <a:r>
              <a:rPr sz="2000" u="heavy" spc="-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Task:</a:t>
            </a:r>
            <a:r>
              <a:rPr sz="2000" spc="-40" dirty="0">
                <a:solidFill>
                  <a:srgbClr val="FF0000"/>
                </a:solidFill>
                <a:latin typeface="Microsoft Sans Serif"/>
                <a:cs typeface="Microsoft Sans Serif"/>
              </a:rPr>
              <a:t>	</a:t>
            </a:r>
            <a:r>
              <a:rPr sz="2000" dirty="0">
                <a:latin typeface="Microsoft Sans Serif"/>
                <a:cs typeface="Microsoft Sans Serif"/>
              </a:rPr>
              <a:t>jockey-hooper</a:t>
            </a:r>
            <a:r>
              <a:rPr sz="2000" spc="-9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recognition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92928" y="2040102"/>
            <a:ext cx="375666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Himpunan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hidden </a:t>
            </a:r>
            <a:r>
              <a:rPr sz="2000" dirty="0">
                <a:latin typeface="Microsoft Sans Serif"/>
                <a:cs typeface="Microsoft Sans Serif"/>
              </a:rPr>
              <a:t>state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{H,J}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Ruang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vektor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X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spc="5" dirty="0">
                <a:latin typeface="Microsoft Sans Serif"/>
                <a:cs typeface="Microsoft Sans Serif"/>
              </a:rPr>
              <a:t>R</a:t>
            </a:r>
            <a:r>
              <a:rPr sz="2400" spc="7" baseline="24305" dirty="0">
                <a:latin typeface="Microsoft Sans Serif"/>
                <a:cs typeface="Microsoft Sans Serif"/>
              </a:rPr>
              <a:t>2</a:t>
            </a:r>
            <a:endParaRPr sz="2400" baseline="24305">
              <a:latin typeface="Microsoft Sans Serif"/>
              <a:cs typeface="Microsoft Sans Serif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9590" y="1294257"/>
            <a:ext cx="709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75" dirty="0">
                <a:latin typeface="Microsoft Sans Serif"/>
                <a:cs typeface="Microsoft Sans Serif"/>
              </a:rPr>
              <a:t>T</a:t>
            </a:r>
            <a:r>
              <a:rPr sz="2000" spc="-5" dirty="0">
                <a:latin typeface="Microsoft Sans Serif"/>
                <a:cs typeface="Microsoft Sans Serif"/>
              </a:rPr>
              <a:t>inggi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18001" y="1730755"/>
            <a:ext cx="3022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0" dirty="0">
                <a:latin typeface="Microsoft Sans Serif"/>
                <a:cs typeface="Microsoft Sans Serif"/>
              </a:rPr>
              <a:t>X1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389501" y="2005076"/>
            <a:ext cx="4006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3050" algn="l"/>
              </a:tabLst>
            </a:pPr>
            <a:r>
              <a:rPr sz="1800" dirty="0">
                <a:latin typeface="Microsoft Sans Serif"/>
                <a:cs typeface="Microsoft Sans Serif"/>
              </a:rPr>
              <a:t>=	x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818001" y="2279345"/>
            <a:ext cx="30353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5" dirty="0">
                <a:latin typeface="Microsoft Sans Serif"/>
                <a:cs typeface="Microsoft Sans Serif"/>
              </a:rPr>
              <a:t>X</a:t>
            </a:r>
            <a:r>
              <a:rPr sz="1800" dirty="0">
                <a:latin typeface="Microsoft Sans Serif"/>
                <a:cs typeface="Microsoft Sans Serif"/>
              </a:rPr>
              <a:t>2</a:t>
            </a:r>
            <a:endParaRPr sz="18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08863" y="4031741"/>
            <a:ext cx="184594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Linier</a:t>
            </a:r>
            <a:r>
              <a:rPr sz="20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classifier</a:t>
            </a:r>
            <a:r>
              <a:rPr sz="2000" u="heavy" spc="-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390525" y="1823910"/>
            <a:ext cx="314325" cy="1681480"/>
            <a:chOff x="390525" y="1823910"/>
            <a:chExt cx="314325" cy="1681480"/>
          </a:xfrm>
        </p:grpSpPr>
        <p:sp>
          <p:nvSpPr>
            <p:cNvPr id="18" name="object 18"/>
            <p:cNvSpPr/>
            <p:nvPr/>
          </p:nvSpPr>
          <p:spPr>
            <a:xfrm>
              <a:off x="395287" y="1828673"/>
              <a:ext cx="304800" cy="1671955"/>
            </a:xfrm>
            <a:custGeom>
              <a:avLst/>
              <a:gdLst/>
              <a:ahLst/>
              <a:cxnLst/>
              <a:rect l="l" t="t" r="r" b="b"/>
              <a:pathLst>
                <a:path w="304800" h="1671954">
                  <a:moveTo>
                    <a:pt x="0" y="1671701"/>
                  </a:moveTo>
                  <a:lnTo>
                    <a:pt x="304800" y="1671701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1671701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95287" y="1898650"/>
              <a:ext cx="215900" cy="1484630"/>
            </a:xfrm>
            <a:custGeom>
              <a:avLst/>
              <a:gdLst/>
              <a:ahLst/>
              <a:cxnLst/>
              <a:rect l="l" t="t" r="r" b="b"/>
              <a:pathLst>
                <a:path w="215900" h="1484629">
                  <a:moveTo>
                    <a:pt x="0" y="0"/>
                  </a:moveTo>
                  <a:lnTo>
                    <a:pt x="152400" y="0"/>
                  </a:lnTo>
                </a:path>
                <a:path w="215900" h="1484629">
                  <a:moveTo>
                    <a:pt x="0" y="152400"/>
                  </a:moveTo>
                  <a:lnTo>
                    <a:pt x="215900" y="152400"/>
                  </a:lnTo>
                </a:path>
                <a:path w="215900" h="1484629">
                  <a:moveTo>
                    <a:pt x="0" y="306450"/>
                  </a:moveTo>
                  <a:lnTo>
                    <a:pt x="152400" y="306450"/>
                  </a:lnTo>
                </a:path>
                <a:path w="215900" h="1484629">
                  <a:moveTo>
                    <a:pt x="0" y="458850"/>
                  </a:moveTo>
                  <a:lnTo>
                    <a:pt x="107950" y="458850"/>
                  </a:lnTo>
                </a:path>
                <a:path w="215900" h="1484629">
                  <a:moveTo>
                    <a:pt x="0" y="639826"/>
                  </a:moveTo>
                  <a:lnTo>
                    <a:pt x="152400" y="639826"/>
                  </a:lnTo>
                </a:path>
                <a:path w="215900" h="1484629">
                  <a:moveTo>
                    <a:pt x="0" y="792226"/>
                  </a:moveTo>
                  <a:lnTo>
                    <a:pt x="215900" y="792226"/>
                  </a:lnTo>
                </a:path>
                <a:path w="215900" h="1484629">
                  <a:moveTo>
                    <a:pt x="0" y="946150"/>
                  </a:moveTo>
                  <a:lnTo>
                    <a:pt x="152400" y="946150"/>
                  </a:lnTo>
                </a:path>
                <a:path w="215900" h="1484629">
                  <a:moveTo>
                    <a:pt x="0" y="1098550"/>
                  </a:moveTo>
                  <a:lnTo>
                    <a:pt x="107950" y="1098550"/>
                  </a:lnTo>
                </a:path>
                <a:path w="215900" h="1484629">
                  <a:moveTo>
                    <a:pt x="0" y="1025525"/>
                  </a:moveTo>
                  <a:lnTo>
                    <a:pt x="152400" y="1025525"/>
                  </a:lnTo>
                </a:path>
                <a:path w="215900" h="1484629">
                  <a:moveTo>
                    <a:pt x="0" y="1177925"/>
                  </a:moveTo>
                  <a:lnTo>
                    <a:pt x="215900" y="1177925"/>
                  </a:lnTo>
                </a:path>
                <a:path w="215900" h="1484629">
                  <a:moveTo>
                    <a:pt x="0" y="1331976"/>
                  </a:moveTo>
                  <a:lnTo>
                    <a:pt x="152400" y="1331976"/>
                  </a:lnTo>
                </a:path>
                <a:path w="215900" h="1484629">
                  <a:moveTo>
                    <a:pt x="0" y="1484376"/>
                  </a:moveTo>
                  <a:lnTo>
                    <a:pt x="107950" y="148437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815975" y="1493900"/>
            <a:ext cx="2707005" cy="2200275"/>
            <a:chOff x="815975" y="1493900"/>
            <a:chExt cx="2707005" cy="2200275"/>
          </a:xfrm>
        </p:grpSpPr>
        <p:sp>
          <p:nvSpPr>
            <p:cNvPr id="21" name="object 21"/>
            <p:cNvSpPr/>
            <p:nvPr/>
          </p:nvSpPr>
          <p:spPr>
            <a:xfrm>
              <a:off x="1258887" y="1773300"/>
              <a:ext cx="433705" cy="431800"/>
            </a:xfrm>
            <a:custGeom>
              <a:avLst/>
              <a:gdLst/>
              <a:ahLst/>
              <a:cxnLst/>
              <a:rect l="l" t="t" r="r" b="b"/>
              <a:pathLst>
                <a:path w="433705" h="431800">
                  <a:moveTo>
                    <a:pt x="0" y="215900"/>
                  </a:moveTo>
                  <a:lnTo>
                    <a:pt x="5720" y="166391"/>
                  </a:lnTo>
                  <a:lnTo>
                    <a:pt x="22016" y="120946"/>
                  </a:lnTo>
                  <a:lnTo>
                    <a:pt x="47591" y="80859"/>
                  </a:lnTo>
                  <a:lnTo>
                    <a:pt x="81146" y="47426"/>
                  </a:lnTo>
                  <a:lnTo>
                    <a:pt x="121385" y="21941"/>
                  </a:lnTo>
                  <a:lnTo>
                    <a:pt x="167011" y="5701"/>
                  </a:lnTo>
                  <a:lnTo>
                    <a:pt x="216725" y="0"/>
                  </a:lnTo>
                  <a:lnTo>
                    <a:pt x="266396" y="5701"/>
                  </a:lnTo>
                  <a:lnTo>
                    <a:pt x="311996" y="21941"/>
                  </a:lnTo>
                  <a:lnTo>
                    <a:pt x="352225" y="47426"/>
                  </a:lnTo>
                  <a:lnTo>
                    <a:pt x="385781" y="80859"/>
                  </a:lnTo>
                  <a:lnTo>
                    <a:pt x="411361" y="120946"/>
                  </a:lnTo>
                  <a:lnTo>
                    <a:pt x="427663" y="166391"/>
                  </a:lnTo>
                  <a:lnTo>
                    <a:pt x="433387" y="215900"/>
                  </a:lnTo>
                  <a:lnTo>
                    <a:pt x="427663" y="265368"/>
                  </a:lnTo>
                  <a:lnTo>
                    <a:pt x="411361" y="310798"/>
                  </a:lnTo>
                  <a:lnTo>
                    <a:pt x="385781" y="350887"/>
                  </a:lnTo>
                  <a:lnTo>
                    <a:pt x="352225" y="384333"/>
                  </a:lnTo>
                  <a:lnTo>
                    <a:pt x="311996" y="409836"/>
                  </a:lnTo>
                  <a:lnTo>
                    <a:pt x="266396" y="426092"/>
                  </a:lnTo>
                  <a:lnTo>
                    <a:pt x="216725" y="431800"/>
                  </a:lnTo>
                  <a:lnTo>
                    <a:pt x="167011" y="426092"/>
                  </a:lnTo>
                  <a:lnTo>
                    <a:pt x="121385" y="409836"/>
                  </a:lnTo>
                  <a:lnTo>
                    <a:pt x="81146" y="384333"/>
                  </a:lnTo>
                  <a:lnTo>
                    <a:pt x="47591" y="350887"/>
                  </a:lnTo>
                  <a:lnTo>
                    <a:pt x="22016" y="310798"/>
                  </a:lnTo>
                  <a:lnTo>
                    <a:pt x="5720" y="265368"/>
                  </a:lnTo>
                  <a:lnTo>
                    <a:pt x="0" y="215900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079500" y="2205100"/>
              <a:ext cx="828675" cy="1295400"/>
            </a:xfrm>
            <a:custGeom>
              <a:avLst/>
              <a:gdLst/>
              <a:ahLst/>
              <a:cxnLst/>
              <a:rect l="l" t="t" r="r" b="b"/>
              <a:pathLst>
                <a:path w="828675" h="1295400">
                  <a:moveTo>
                    <a:pt x="396875" y="0"/>
                  </a:moveTo>
                  <a:lnTo>
                    <a:pt x="396875" y="719074"/>
                  </a:lnTo>
                </a:path>
                <a:path w="828675" h="1295400">
                  <a:moveTo>
                    <a:pt x="396875" y="719074"/>
                  </a:moveTo>
                  <a:lnTo>
                    <a:pt x="0" y="1295400"/>
                  </a:lnTo>
                </a:path>
                <a:path w="828675" h="1295400">
                  <a:moveTo>
                    <a:pt x="396875" y="719074"/>
                  </a:moveTo>
                  <a:lnTo>
                    <a:pt x="828675" y="1295400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0737" y="3516312"/>
              <a:ext cx="2054225" cy="173355"/>
            </a:xfrm>
            <a:custGeom>
              <a:avLst/>
              <a:gdLst/>
              <a:ahLst/>
              <a:cxnLst/>
              <a:rect l="l" t="t" r="r" b="b"/>
              <a:pathLst>
                <a:path w="2054225" h="173354">
                  <a:moveTo>
                    <a:pt x="0" y="173037"/>
                  </a:moveTo>
                  <a:lnTo>
                    <a:pt x="2054225" y="173037"/>
                  </a:lnTo>
                  <a:lnTo>
                    <a:pt x="2054225" y="0"/>
                  </a:lnTo>
                  <a:lnTo>
                    <a:pt x="0" y="0"/>
                  </a:lnTo>
                  <a:lnTo>
                    <a:pt x="0" y="173037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195575" y="3187699"/>
              <a:ext cx="679450" cy="501650"/>
            </a:xfrm>
            <a:custGeom>
              <a:avLst/>
              <a:gdLst/>
              <a:ahLst/>
              <a:cxnLst/>
              <a:rect l="l" t="t" r="r" b="b"/>
              <a:pathLst>
                <a:path w="679450" h="501650">
                  <a:moveTo>
                    <a:pt x="679450" y="0"/>
                  </a:moveTo>
                  <a:lnTo>
                    <a:pt x="0" y="0"/>
                  </a:lnTo>
                  <a:lnTo>
                    <a:pt x="0" y="501650"/>
                  </a:lnTo>
                  <a:lnTo>
                    <a:pt x="679450" y="501650"/>
                  </a:lnTo>
                  <a:lnTo>
                    <a:pt x="679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195575" y="3187699"/>
              <a:ext cx="679450" cy="501650"/>
            </a:xfrm>
            <a:custGeom>
              <a:avLst/>
              <a:gdLst/>
              <a:ahLst/>
              <a:cxnLst/>
              <a:rect l="l" t="t" r="r" b="b"/>
              <a:pathLst>
                <a:path w="679450" h="501650">
                  <a:moveTo>
                    <a:pt x="0" y="501650"/>
                  </a:moveTo>
                  <a:lnTo>
                    <a:pt x="679450" y="501650"/>
                  </a:lnTo>
                  <a:lnTo>
                    <a:pt x="679450" y="0"/>
                  </a:lnTo>
                  <a:lnTo>
                    <a:pt x="0" y="0"/>
                  </a:lnTo>
                  <a:lnTo>
                    <a:pt x="0" y="5016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1258887" y="2357500"/>
              <a:ext cx="433705" cy="306705"/>
            </a:xfrm>
            <a:custGeom>
              <a:avLst/>
              <a:gdLst/>
              <a:ahLst/>
              <a:cxnLst/>
              <a:rect l="l" t="t" r="r" b="b"/>
              <a:pathLst>
                <a:path w="433705" h="306705">
                  <a:moveTo>
                    <a:pt x="217487" y="0"/>
                  </a:moveTo>
                  <a:lnTo>
                    <a:pt x="0" y="269875"/>
                  </a:lnTo>
                </a:path>
                <a:path w="433705" h="306705">
                  <a:moveTo>
                    <a:pt x="217487" y="0"/>
                  </a:moveTo>
                  <a:lnTo>
                    <a:pt x="433387" y="306324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484501" y="2406650"/>
              <a:ext cx="106680" cy="768350"/>
            </a:xfrm>
            <a:custGeom>
              <a:avLst/>
              <a:gdLst/>
              <a:ahLst/>
              <a:cxnLst/>
              <a:rect l="l" t="t" r="r" b="b"/>
              <a:pathLst>
                <a:path w="106680" h="768350">
                  <a:moveTo>
                    <a:pt x="0" y="768350"/>
                  </a:moveTo>
                  <a:lnTo>
                    <a:pt x="106362" y="768350"/>
                  </a:lnTo>
                  <a:lnTo>
                    <a:pt x="106362" y="0"/>
                  </a:lnTo>
                  <a:lnTo>
                    <a:pt x="0" y="0"/>
                  </a:lnTo>
                  <a:lnTo>
                    <a:pt x="0" y="768350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211450" y="1789175"/>
              <a:ext cx="666750" cy="628650"/>
            </a:xfrm>
            <a:custGeom>
              <a:avLst/>
              <a:gdLst/>
              <a:ahLst/>
              <a:cxnLst/>
              <a:rect l="l" t="t" r="r" b="b"/>
              <a:pathLst>
                <a:path w="666750" h="628650">
                  <a:moveTo>
                    <a:pt x="0" y="314325"/>
                  </a:moveTo>
                  <a:lnTo>
                    <a:pt x="3613" y="267873"/>
                  </a:lnTo>
                  <a:lnTo>
                    <a:pt x="14112" y="223539"/>
                  </a:lnTo>
                  <a:lnTo>
                    <a:pt x="30979" y="181808"/>
                  </a:lnTo>
                  <a:lnTo>
                    <a:pt x="53700" y="143166"/>
                  </a:lnTo>
                  <a:lnTo>
                    <a:pt x="81760" y="108099"/>
                  </a:lnTo>
                  <a:lnTo>
                    <a:pt x="114643" y="77094"/>
                  </a:lnTo>
                  <a:lnTo>
                    <a:pt x="151834" y="50636"/>
                  </a:lnTo>
                  <a:lnTo>
                    <a:pt x="192818" y="29212"/>
                  </a:lnTo>
                  <a:lnTo>
                    <a:pt x="237080" y="13307"/>
                  </a:lnTo>
                  <a:lnTo>
                    <a:pt x="284104" y="3407"/>
                  </a:lnTo>
                  <a:lnTo>
                    <a:pt x="333375" y="0"/>
                  </a:lnTo>
                  <a:lnTo>
                    <a:pt x="382617" y="3407"/>
                  </a:lnTo>
                  <a:lnTo>
                    <a:pt x="429623" y="13307"/>
                  </a:lnTo>
                  <a:lnTo>
                    <a:pt x="473876" y="29212"/>
                  </a:lnTo>
                  <a:lnTo>
                    <a:pt x="514859" y="50636"/>
                  </a:lnTo>
                  <a:lnTo>
                    <a:pt x="552054" y="77094"/>
                  </a:lnTo>
                  <a:lnTo>
                    <a:pt x="584946" y="108099"/>
                  </a:lnTo>
                  <a:lnTo>
                    <a:pt x="613017" y="143166"/>
                  </a:lnTo>
                  <a:lnTo>
                    <a:pt x="635749" y="181808"/>
                  </a:lnTo>
                  <a:lnTo>
                    <a:pt x="652627" y="223539"/>
                  </a:lnTo>
                  <a:lnTo>
                    <a:pt x="663133" y="267873"/>
                  </a:lnTo>
                  <a:lnTo>
                    <a:pt x="666750" y="314325"/>
                  </a:lnTo>
                  <a:lnTo>
                    <a:pt x="663133" y="360747"/>
                  </a:lnTo>
                  <a:lnTo>
                    <a:pt x="652627" y="405064"/>
                  </a:lnTo>
                  <a:lnTo>
                    <a:pt x="635749" y="446786"/>
                  </a:lnTo>
                  <a:lnTo>
                    <a:pt x="613017" y="485427"/>
                  </a:lnTo>
                  <a:lnTo>
                    <a:pt x="584946" y="520498"/>
                  </a:lnTo>
                  <a:lnTo>
                    <a:pt x="552054" y="551512"/>
                  </a:lnTo>
                  <a:lnTo>
                    <a:pt x="514859" y="577981"/>
                  </a:lnTo>
                  <a:lnTo>
                    <a:pt x="473876" y="599417"/>
                  </a:lnTo>
                  <a:lnTo>
                    <a:pt x="429623" y="615332"/>
                  </a:lnTo>
                  <a:lnTo>
                    <a:pt x="382617" y="625239"/>
                  </a:lnTo>
                  <a:lnTo>
                    <a:pt x="333375" y="628650"/>
                  </a:lnTo>
                  <a:lnTo>
                    <a:pt x="284104" y="625239"/>
                  </a:lnTo>
                  <a:lnTo>
                    <a:pt x="237080" y="615332"/>
                  </a:lnTo>
                  <a:lnTo>
                    <a:pt x="192818" y="599417"/>
                  </a:lnTo>
                  <a:lnTo>
                    <a:pt x="151834" y="577981"/>
                  </a:lnTo>
                  <a:lnTo>
                    <a:pt x="114643" y="551512"/>
                  </a:lnTo>
                  <a:lnTo>
                    <a:pt x="81760" y="520498"/>
                  </a:lnTo>
                  <a:lnTo>
                    <a:pt x="53700" y="485427"/>
                  </a:lnTo>
                  <a:lnTo>
                    <a:pt x="30979" y="446786"/>
                  </a:lnTo>
                  <a:lnTo>
                    <a:pt x="14112" y="405064"/>
                  </a:lnTo>
                  <a:lnTo>
                    <a:pt x="3613" y="360747"/>
                  </a:lnTo>
                  <a:lnTo>
                    <a:pt x="0" y="314325"/>
                  </a:lnTo>
                  <a:close/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228850" y="1789175"/>
              <a:ext cx="649605" cy="570230"/>
            </a:xfrm>
            <a:custGeom>
              <a:avLst/>
              <a:gdLst/>
              <a:ahLst/>
              <a:cxnLst/>
              <a:rect l="l" t="t" r="r" b="b"/>
              <a:pathLst>
                <a:path w="649605" h="570230">
                  <a:moveTo>
                    <a:pt x="307975" y="0"/>
                  </a:moveTo>
                  <a:lnTo>
                    <a:pt x="307975" y="142875"/>
                  </a:lnTo>
                </a:path>
                <a:path w="649605" h="570230">
                  <a:moveTo>
                    <a:pt x="193675" y="403225"/>
                  </a:moveTo>
                  <a:lnTo>
                    <a:pt x="92075" y="538099"/>
                  </a:lnTo>
                </a:path>
                <a:path w="649605" h="570230">
                  <a:moveTo>
                    <a:pt x="434975" y="426974"/>
                  </a:moveTo>
                  <a:lnTo>
                    <a:pt x="560451" y="569849"/>
                  </a:lnTo>
                </a:path>
                <a:path w="649605" h="570230">
                  <a:moveTo>
                    <a:pt x="649351" y="314198"/>
                  </a:moveTo>
                  <a:lnTo>
                    <a:pt x="460375" y="314325"/>
                  </a:lnTo>
                </a:path>
                <a:path w="649605" h="570230">
                  <a:moveTo>
                    <a:pt x="188975" y="296799"/>
                  </a:moveTo>
                  <a:lnTo>
                    <a:pt x="0" y="296799"/>
                  </a:lnTo>
                </a:path>
                <a:path w="649605" h="570230">
                  <a:moveTo>
                    <a:pt x="92075" y="96774"/>
                  </a:moveTo>
                  <a:lnTo>
                    <a:pt x="217550" y="241300"/>
                  </a:lnTo>
                </a:path>
                <a:path w="649605" h="570230">
                  <a:moveTo>
                    <a:pt x="525526" y="82550"/>
                  </a:moveTo>
                  <a:lnTo>
                    <a:pt x="423925" y="219075"/>
                  </a:lnTo>
                </a:path>
              </a:pathLst>
            </a:custGeom>
            <a:ln w="285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492120" y="2030348"/>
              <a:ext cx="131445" cy="292735"/>
            </a:xfrm>
            <a:custGeom>
              <a:avLst/>
              <a:gdLst/>
              <a:ahLst/>
              <a:cxnLst/>
              <a:rect l="l" t="t" r="r" b="b"/>
              <a:pathLst>
                <a:path w="131444" h="292735">
                  <a:moveTo>
                    <a:pt x="74252" y="55999"/>
                  </a:moveTo>
                  <a:lnTo>
                    <a:pt x="56419" y="78037"/>
                  </a:lnTo>
                  <a:lnTo>
                    <a:pt x="24256" y="288416"/>
                  </a:lnTo>
                  <a:lnTo>
                    <a:pt x="52451" y="292735"/>
                  </a:lnTo>
                  <a:lnTo>
                    <a:pt x="84699" y="82455"/>
                  </a:lnTo>
                  <a:lnTo>
                    <a:pt x="74252" y="55999"/>
                  </a:lnTo>
                  <a:close/>
                </a:path>
                <a:path w="131444" h="292735">
                  <a:moveTo>
                    <a:pt x="93041" y="25908"/>
                  </a:moveTo>
                  <a:lnTo>
                    <a:pt x="64389" y="25908"/>
                  </a:lnTo>
                  <a:lnTo>
                    <a:pt x="92710" y="30225"/>
                  </a:lnTo>
                  <a:lnTo>
                    <a:pt x="84699" y="82455"/>
                  </a:lnTo>
                  <a:lnTo>
                    <a:pt x="104648" y="132968"/>
                  </a:lnTo>
                  <a:lnTo>
                    <a:pt x="112903" y="136525"/>
                  </a:lnTo>
                  <a:lnTo>
                    <a:pt x="127635" y="130683"/>
                  </a:lnTo>
                  <a:lnTo>
                    <a:pt x="131191" y="122427"/>
                  </a:lnTo>
                  <a:lnTo>
                    <a:pt x="93041" y="25908"/>
                  </a:lnTo>
                  <a:close/>
                </a:path>
                <a:path w="131444" h="292735">
                  <a:moveTo>
                    <a:pt x="82804" y="0"/>
                  </a:moveTo>
                  <a:lnTo>
                    <a:pt x="5080" y="96265"/>
                  </a:lnTo>
                  <a:lnTo>
                    <a:pt x="0" y="102362"/>
                  </a:lnTo>
                  <a:lnTo>
                    <a:pt x="1016" y="111378"/>
                  </a:lnTo>
                  <a:lnTo>
                    <a:pt x="7112" y="116331"/>
                  </a:lnTo>
                  <a:lnTo>
                    <a:pt x="13335" y="121285"/>
                  </a:lnTo>
                  <a:lnTo>
                    <a:pt x="22225" y="120268"/>
                  </a:lnTo>
                  <a:lnTo>
                    <a:pt x="56419" y="78037"/>
                  </a:lnTo>
                  <a:lnTo>
                    <a:pt x="64389" y="25908"/>
                  </a:lnTo>
                  <a:lnTo>
                    <a:pt x="93041" y="25908"/>
                  </a:lnTo>
                  <a:lnTo>
                    <a:pt x="82804" y="0"/>
                  </a:lnTo>
                  <a:close/>
                </a:path>
                <a:path w="131444" h="292735">
                  <a:moveTo>
                    <a:pt x="92242" y="33274"/>
                  </a:moveTo>
                  <a:lnTo>
                    <a:pt x="65278" y="33274"/>
                  </a:lnTo>
                  <a:lnTo>
                    <a:pt x="89662" y="36956"/>
                  </a:lnTo>
                  <a:lnTo>
                    <a:pt x="74252" y="55999"/>
                  </a:lnTo>
                  <a:lnTo>
                    <a:pt x="84699" y="82455"/>
                  </a:lnTo>
                  <a:lnTo>
                    <a:pt x="92242" y="33274"/>
                  </a:lnTo>
                  <a:close/>
                </a:path>
                <a:path w="131444" h="292735">
                  <a:moveTo>
                    <a:pt x="64389" y="25908"/>
                  </a:moveTo>
                  <a:lnTo>
                    <a:pt x="56419" y="78037"/>
                  </a:lnTo>
                  <a:lnTo>
                    <a:pt x="74252" y="55999"/>
                  </a:lnTo>
                  <a:lnTo>
                    <a:pt x="65278" y="33274"/>
                  </a:lnTo>
                  <a:lnTo>
                    <a:pt x="92242" y="33274"/>
                  </a:lnTo>
                  <a:lnTo>
                    <a:pt x="92710" y="30225"/>
                  </a:lnTo>
                  <a:lnTo>
                    <a:pt x="64389" y="25908"/>
                  </a:lnTo>
                  <a:close/>
                </a:path>
                <a:path w="131444" h="292735">
                  <a:moveTo>
                    <a:pt x="65278" y="33274"/>
                  </a:moveTo>
                  <a:lnTo>
                    <a:pt x="74252" y="55999"/>
                  </a:lnTo>
                  <a:lnTo>
                    <a:pt x="89662" y="36956"/>
                  </a:lnTo>
                  <a:lnTo>
                    <a:pt x="65278" y="332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486025" y="2273299"/>
              <a:ext cx="101600" cy="8102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1078750" y="1493900"/>
              <a:ext cx="2444115" cy="336550"/>
            </a:xfrm>
            <a:custGeom>
              <a:avLst/>
              <a:gdLst/>
              <a:ahLst/>
              <a:cxnLst/>
              <a:rect l="l" t="t" r="r" b="b"/>
              <a:pathLst>
                <a:path w="2444115" h="336550">
                  <a:moveTo>
                    <a:pt x="2407228" y="297316"/>
                  </a:moveTo>
                  <a:lnTo>
                    <a:pt x="2344788" y="324485"/>
                  </a:lnTo>
                  <a:lnTo>
                    <a:pt x="2343264" y="328295"/>
                  </a:lnTo>
                  <a:lnTo>
                    <a:pt x="2346058" y="334645"/>
                  </a:lnTo>
                  <a:lnTo>
                    <a:pt x="2349868" y="336169"/>
                  </a:lnTo>
                  <a:lnTo>
                    <a:pt x="2432864" y="300100"/>
                  </a:lnTo>
                  <a:lnTo>
                    <a:pt x="2430767" y="300100"/>
                  </a:lnTo>
                  <a:lnTo>
                    <a:pt x="2407228" y="297316"/>
                  </a:lnTo>
                  <a:close/>
                </a:path>
                <a:path w="2444115" h="336550">
                  <a:moveTo>
                    <a:pt x="2418863" y="292256"/>
                  </a:moveTo>
                  <a:lnTo>
                    <a:pt x="2407228" y="297316"/>
                  </a:lnTo>
                  <a:lnTo>
                    <a:pt x="2430767" y="300100"/>
                  </a:lnTo>
                  <a:lnTo>
                    <a:pt x="2430907" y="298831"/>
                  </a:lnTo>
                  <a:lnTo>
                    <a:pt x="2427592" y="298831"/>
                  </a:lnTo>
                  <a:lnTo>
                    <a:pt x="2418863" y="292256"/>
                  </a:lnTo>
                  <a:close/>
                </a:path>
                <a:path w="2444115" h="336550">
                  <a:moveTo>
                    <a:pt x="2361933" y="233425"/>
                  </a:moveTo>
                  <a:lnTo>
                    <a:pt x="2357996" y="234061"/>
                  </a:lnTo>
                  <a:lnTo>
                    <a:pt x="2355964" y="236854"/>
                  </a:lnTo>
                  <a:lnTo>
                    <a:pt x="2353805" y="239649"/>
                  </a:lnTo>
                  <a:lnTo>
                    <a:pt x="2354313" y="243586"/>
                  </a:lnTo>
                  <a:lnTo>
                    <a:pt x="2357107" y="245745"/>
                  </a:lnTo>
                  <a:lnTo>
                    <a:pt x="2408738" y="284631"/>
                  </a:lnTo>
                  <a:lnTo>
                    <a:pt x="2432164" y="287400"/>
                  </a:lnTo>
                  <a:lnTo>
                    <a:pt x="2430767" y="300100"/>
                  </a:lnTo>
                  <a:lnTo>
                    <a:pt x="2432864" y="300100"/>
                  </a:lnTo>
                  <a:lnTo>
                    <a:pt x="2443975" y="295275"/>
                  </a:lnTo>
                  <a:lnTo>
                    <a:pt x="2364854" y="235585"/>
                  </a:lnTo>
                  <a:lnTo>
                    <a:pt x="2361933" y="233425"/>
                  </a:lnTo>
                  <a:close/>
                </a:path>
                <a:path w="2444115" h="336550">
                  <a:moveTo>
                    <a:pt x="2428862" y="287909"/>
                  </a:moveTo>
                  <a:lnTo>
                    <a:pt x="2418863" y="292256"/>
                  </a:lnTo>
                  <a:lnTo>
                    <a:pt x="2427592" y="298831"/>
                  </a:lnTo>
                  <a:lnTo>
                    <a:pt x="2428862" y="287909"/>
                  </a:lnTo>
                  <a:close/>
                </a:path>
                <a:path w="2444115" h="336550">
                  <a:moveTo>
                    <a:pt x="2432108" y="287909"/>
                  </a:moveTo>
                  <a:lnTo>
                    <a:pt x="2428862" y="287909"/>
                  </a:lnTo>
                  <a:lnTo>
                    <a:pt x="2427592" y="298831"/>
                  </a:lnTo>
                  <a:lnTo>
                    <a:pt x="2430907" y="298831"/>
                  </a:lnTo>
                  <a:lnTo>
                    <a:pt x="2432108" y="287909"/>
                  </a:lnTo>
                  <a:close/>
                </a:path>
                <a:path w="2444115" h="336550">
                  <a:moveTo>
                    <a:pt x="1498" y="0"/>
                  </a:moveTo>
                  <a:lnTo>
                    <a:pt x="0" y="12573"/>
                  </a:lnTo>
                  <a:lnTo>
                    <a:pt x="2407228" y="297316"/>
                  </a:lnTo>
                  <a:lnTo>
                    <a:pt x="2418863" y="292256"/>
                  </a:lnTo>
                  <a:lnTo>
                    <a:pt x="2408738" y="284631"/>
                  </a:lnTo>
                  <a:lnTo>
                    <a:pt x="1498" y="0"/>
                  </a:lnTo>
                  <a:close/>
                </a:path>
                <a:path w="2444115" h="336550">
                  <a:moveTo>
                    <a:pt x="2408738" y="284631"/>
                  </a:moveTo>
                  <a:lnTo>
                    <a:pt x="2418863" y="292256"/>
                  </a:lnTo>
                  <a:lnTo>
                    <a:pt x="2428862" y="287909"/>
                  </a:lnTo>
                  <a:lnTo>
                    <a:pt x="2432108" y="287909"/>
                  </a:lnTo>
                  <a:lnTo>
                    <a:pt x="2432164" y="287400"/>
                  </a:lnTo>
                  <a:lnTo>
                    <a:pt x="2408738" y="28463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679573" y="2699385"/>
            <a:ext cx="67754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Microsoft Sans Serif"/>
                <a:cs typeface="Microsoft Sans Serif"/>
              </a:rPr>
              <a:t>Lebar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3059302" y="2535173"/>
            <a:ext cx="463550" cy="144780"/>
          </a:xfrm>
          <a:custGeom>
            <a:avLst/>
            <a:gdLst/>
            <a:ahLst/>
            <a:cxnLst/>
            <a:rect l="l" t="t" r="r" b="b"/>
            <a:pathLst>
              <a:path w="463550" h="144780">
                <a:moveTo>
                  <a:pt x="426873" y="32256"/>
                </a:moveTo>
                <a:lnTo>
                  <a:pt x="0" y="131952"/>
                </a:lnTo>
                <a:lnTo>
                  <a:pt x="2794" y="144399"/>
                </a:lnTo>
                <a:lnTo>
                  <a:pt x="429767" y="44558"/>
                </a:lnTo>
                <a:lnTo>
                  <a:pt x="438869" y="35942"/>
                </a:lnTo>
                <a:lnTo>
                  <a:pt x="426873" y="32256"/>
                </a:lnTo>
                <a:close/>
              </a:path>
              <a:path w="463550" h="144780">
                <a:moveTo>
                  <a:pt x="452712" y="26924"/>
                </a:moveTo>
                <a:lnTo>
                  <a:pt x="449707" y="26924"/>
                </a:lnTo>
                <a:lnTo>
                  <a:pt x="452500" y="39242"/>
                </a:lnTo>
                <a:lnTo>
                  <a:pt x="429767" y="44558"/>
                </a:lnTo>
                <a:lnTo>
                  <a:pt x="380111" y="91566"/>
                </a:lnTo>
                <a:lnTo>
                  <a:pt x="379984" y="95503"/>
                </a:lnTo>
                <a:lnTo>
                  <a:pt x="384810" y="100584"/>
                </a:lnTo>
                <a:lnTo>
                  <a:pt x="388874" y="100711"/>
                </a:lnTo>
                <a:lnTo>
                  <a:pt x="463423" y="30225"/>
                </a:lnTo>
                <a:lnTo>
                  <a:pt x="452712" y="26924"/>
                </a:lnTo>
                <a:close/>
              </a:path>
              <a:path w="463550" h="144780">
                <a:moveTo>
                  <a:pt x="438869" y="35942"/>
                </a:moveTo>
                <a:lnTo>
                  <a:pt x="429767" y="44558"/>
                </a:lnTo>
                <a:lnTo>
                  <a:pt x="452500" y="39242"/>
                </a:lnTo>
                <a:lnTo>
                  <a:pt x="449199" y="39115"/>
                </a:lnTo>
                <a:lnTo>
                  <a:pt x="438869" y="35942"/>
                </a:lnTo>
                <a:close/>
              </a:path>
              <a:path w="463550" h="144780">
                <a:moveTo>
                  <a:pt x="446786" y="28448"/>
                </a:moveTo>
                <a:lnTo>
                  <a:pt x="438869" y="35942"/>
                </a:lnTo>
                <a:lnTo>
                  <a:pt x="449199" y="39115"/>
                </a:lnTo>
                <a:lnTo>
                  <a:pt x="446786" y="28448"/>
                </a:lnTo>
                <a:close/>
              </a:path>
              <a:path w="463550" h="144780">
                <a:moveTo>
                  <a:pt x="450052" y="28448"/>
                </a:moveTo>
                <a:lnTo>
                  <a:pt x="446786" y="28448"/>
                </a:lnTo>
                <a:lnTo>
                  <a:pt x="449199" y="39115"/>
                </a:lnTo>
                <a:lnTo>
                  <a:pt x="452472" y="39115"/>
                </a:lnTo>
                <a:lnTo>
                  <a:pt x="450052" y="28448"/>
                </a:lnTo>
                <a:close/>
              </a:path>
              <a:path w="463550" h="144780">
                <a:moveTo>
                  <a:pt x="449707" y="26924"/>
                </a:moveTo>
                <a:lnTo>
                  <a:pt x="426873" y="32256"/>
                </a:lnTo>
                <a:lnTo>
                  <a:pt x="438869" y="35942"/>
                </a:lnTo>
                <a:lnTo>
                  <a:pt x="446786" y="28448"/>
                </a:lnTo>
                <a:lnTo>
                  <a:pt x="450052" y="28448"/>
                </a:lnTo>
                <a:lnTo>
                  <a:pt x="449707" y="26924"/>
                </a:lnTo>
                <a:close/>
              </a:path>
              <a:path w="463550" h="144780">
                <a:moveTo>
                  <a:pt x="365379" y="0"/>
                </a:moveTo>
                <a:lnTo>
                  <a:pt x="361823" y="1904"/>
                </a:lnTo>
                <a:lnTo>
                  <a:pt x="360680" y="5334"/>
                </a:lnTo>
                <a:lnTo>
                  <a:pt x="359663" y="8636"/>
                </a:lnTo>
                <a:lnTo>
                  <a:pt x="361569" y="12191"/>
                </a:lnTo>
                <a:lnTo>
                  <a:pt x="426873" y="32256"/>
                </a:lnTo>
                <a:lnTo>
                  <a:pt x="449707" y="26924"/>
                </a:lnTo>
                <a:lnTo>
                  <a:pt x="452712" y="26924"/>
                </a:lnTo>
                <a:lnTo>
                  <a:pt x="36537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1097130" y="5286300"/>
            <a:ext cx="17018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50" spc="-125" dirty="0">
                <a:latin typeface="Symbol"/>
                <a:cs typeface="Symbol"/>
              </a:rPr>
              <a:t></a:t>
            </a:r>
            <a:endParaRPr sz="2550">
              <a:latin typeface="Symbol"/>
              <a:cs typeface="Symbo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7130" y="4644706"/>
            <a:ext cx="2804795" cy="982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720725" marR="5080" indent="-708660">
              <a:lnSpc>
                <a:spcPct val="123200"/>
              </a:lnSpc>
              <a:spcBef>
                <a:spcPts val="90"/>
              </a:spcBef>
              <a:tabLst>
                <a:tab pos="767080" algn="l"/>
                <a:tab pos="1289050" algn="l"/>
                <a:tab pos="1335405" algn="l"/>
              </a:tabLst>
            </a:pPr>
            <a:r>
              <a:rPr sz="3825" spc="-225" baseline="-4357" dirty="0">
                <a:latin typeface="Symbol"/>
                <a:cs typeface="Symbol"/>
              </a:rPr>
              <a:t></a:t>
            </a:r>
            <a:r>
              <a:rPr sz="2550" spc="-185" dirty="0">
                <a:latin typeface="Times New Roman"/>
                <a:cs typeface="Times New Roman"/>
              </a:rPr>
              <a:t>H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550" spc="-229" dirty="0">
                <a:latin typeface="Times New Roman"/>
                <a:cs typeface="Times New Roman"/>
              </a:rPr>
              <a:t>i</a:t>
            </a:r>
            <a:r>
              <a:rPr sz="2550" spc="-85" dirty="0">
                <a:latin typeface="Times New Roman"/>
                <a:cs typeface="Times New Roman"/>
              </a:rPr>
              <a:t>f</a:t>
            </a:r>
            <a:r>
              <a:rPr sz="2550" dirty="0">
                <a:latin typeface="Times New Roman"/>
                <a:cs typeface="Times New Roman"/>
              </a:rPr>
              <a:t>		</a:t>
            </a:r>
            <a:r>
              <a:rPr sz="2550" spc="-15" dirty="0">
                <a:latin typeface="Times New Roman"/>
                <a:cs typeface="Times New Roman"/>
              </a:rPr>
              <a:t>(</a:t>
            </a:r>
            <a:r>
              <a:rPr sz="2550" spc="-200" dirty="0">
                <a:latin typeface="Times New Roman"/>
                <a:cs typeface="Times New Roman"/>
              </a:rPr>
              <a:t>w</a:t>
            </a:r>
            <a:r>
              <a:rPr sz="2550" spc="-114" dirty="0">
                <a:latin typeface="Times New Roman"/>
                <a:cs typeface="Times New Roman"/>
              </a:rPr>
              <a:t>.</a:t>
            </a:r>
            <a:r>
              <a:rPr sz="2550" spc="-55" dirty="0">
                <a:latin typeface="Times New Roman"/>
                <a:cs typeface="Times New Roman"/>
              </a:rPr>
              <a:t>x</a:t>
            </a:r>
            <a:r>
              <a:rPr sz="2550" spc="-85" dirty="0">
                <a:latin typeface="Times New Roman"/>
                <a:cs typeface="Times New Roman"/>
              </a:rPr>
              <a:t>)</a:t>
            </a:r>
            <a:r>
              <a:rPr sz="2550" spc="-285" dirty="0">
                <a:latin typeface="Times New Roman"/>
                <a:cs typeface="Times New Roman"/>
              </a:rPr>
              <a:t> </a:t>
            </a:r>
            <a:r>
              <a:rPr sz="2550" spc="-140" dirty="0">
                <a:latin typeface="Symbol"/>
                <a:cs typeface="Symbol"/>
              </a:rPr>
              <a:t></a:t>
            </a:r>
            <a:r>
              <a:rPr sz="2550" spc="-265" dirty="0">
                <a:latin typeface="Times New Roman"/>
                <a:cs typeface="Times New Roman"/>
              </a:rPr>
              <a:t> </a:t>
            </a:r>
            <a:r>
              <a:rPr sz="2550" spc="-125" dirty="0">
                <a:latin typeface="Times New Roman"/>
                <a:cs typeface="Times New Roman"/>
              </a:rPr>
              <a:t>b</a:t>
            </a:r>
            <a:r>
              <a:rPr sz="2550" spc="-180" dirty="0">
                <a:latin typeface="Times New Roman"/>
                <a:cs typeface="Times New Roman"/>
              </a:rPr>
              <a:t> </a:t>
            </a:r>
            <a:r>
              <a:rPr sz="2550" spc="-140" dirty="0">
                <a:latin typeface="Symbol"/>
                <a:cs typeface="Symbol"/>
              </a:rPr>
              <a:t></a:t>
            </a:r>
            <a:r>
              <a:rPr sz="2550" spc="-190" dirty="0">
                <a:latin typeface="Times New Roman"/>
                <a:cs typeface="Times New Roman"/>
              </a:rPr>
              <a:t> </a:t>
            </a:r>
            <a:r>
              <a:rPr sz="2550" spc="-85" dirty="0">
                <a:latin typeface="Times New Roman"/>
                <a:cs typeface="Times New Roman"/>
              </a:rPr>
              <a:t>0  </a:t>
            </a:r>
            <a:r>
              <a:rPr sz="2550" spc="-229" dirty="0">
                <a:latin typeface="Times New Roman"/>
                <a:cs typeface="Times New Roman"/>
              </a:rPr>
              <a:t>i</a:t>
            </a:r>
            <a:r>
              <a:rPr sz="2550" spc="-85" dirty="0">
                <a:latin typeface="Times New Roman"/>
                <a:cs typeface="Times New Roman"/>
              </a:rPr>
              <a:t>f</a:t>
            </a:r>
            <a:r>
              <a:rPr sz="2550" dirty="0">
                <a:latin typeface="Times New Roman"/>
                <a:cs typeface="Times New Roman"/>
              </a:rPr>
              <a:t>	</a:t>
            </a:r>
            <a:r>
              <a:rPr sz="2550" spc="-15" dirty="0">
                <a:latin typeface="Times New Roman"/>
                <a:cs typeface="Times New Roman"/>
              </a:rPr>
              <a:t>(</a:t>
            </a:r>
            <a:r>
              <a:rPr sz="2550" spc="-204" dirty="0">
                <a:latin typeface="Times New Roman"/>
                <a:cs typeface="Times New Roman"/>
              </a:rPr>
              <a:t>w</a:t>
            </a:r>
            <a:r>
              <a:rPr sz="2550" spc="-114" dirty="0">
                <a:latin typeface="Times New Roman"/>
                <a:cs typeface="Times New Roman"/>
              </a:rPr>
              <a:t>.</a:t>
            </a:r>
            <a:r>
              <a:rPr sz="2550" spc="-50" dirty="0">
                <a:latin typeface="Times New Roman"/>
                <a:cs typeface="Times New Roman"/>
              </a:rPr>
              <a:t>x</a:t>
            </a:r>
            <a:r>
              <a:rPr sz="2550" spc="-85" dirty="0">
                <a:latin typeface="Times New Roman"/>
                <a:cs typeface="Times New Roman"/>
              </a:rPr>
              <a:t>)</a:t>
            </a:r>
            <a:r>
              <a:rPr sz="2550" spc="-290" dirty="0">
                <a:latin typeface="Times New Roman"/>
                <a:cs typeface="Times New Roman"/>
              </a:rPr>
              <a:t> </a:t>
            </a:r>
            <a:r>
              <a:rPr sz="2550" spc="-140" dirty="0">
                <a:latin typeface="Symbol"/>
                <a:cs typeface="Symbol"/>
              </a:rPr>
              <a:t></a:t>
            </a:r>
            <a:r>
              <a:rPr sz="2550" spc="-254" dirty="0">
                <a:latin typeface="Times New Roman"/>
                <a:cs typeface="Times New Roman"/>
              </a:rPr>
              <a:t> </a:t>
            </a:r>
            <a:r>
              <a:rPr sz="2550" spc="-125" dirty="0">
                <a:latin typeface="Times New Roman"/>
                <a:cs typeface="Times New Roman"/>
              </a:rPr>
              <a:t>b</a:t>
            </a:r>
            <a:r>
              <a:rPr sz="2550" spc="-180" dirty="0">
                <a:latin typeface="Times New Roman"/>
                <a:cs typeface="Times New Roman"/>
              </a:rPr>
              <a:t> </a:t>
            </a:r>
            <a:r>
              <a:rPr sz="2550" spc="-140" dirty="0">
                <a:latin typeface="Symbol"/>
                <a:cs typeface="Symbol"/>
              </a:rPr>
              <a:t></a:t>
            </a:r>
            <a:r>
              <a:rPr sz="2550" spc="-185" dirty="0">
                <a:latin typeface="Times New Roman"/>
                <a:cs typeface="Times New Roman"/>
              </a:rPr>
              <a:t> </a:t>
            </a:r>
            <a:r>
              <a:rPr sz="2550" spc="-125" dirty="0">
                <a:latin typeface="Times New Roman"/>
                <a:cs typeface="Times New Roman"/>
              </a:rPr>
              <a:t>0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76761" y="4965542"/>
            <a:ext cx="1173480" cy="41783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2550" spc="-90" dirty="0">
                <a:latin typeface="Times New Roman"/>
                <a:cs typeface="Times New Roman"/>
              </a:rPr>
              <a:t>q</a:t>
            </a:r>
            <a:r>
              <a:rPr sz="2550" spc="-35" dirty="0">
                <a:latin typeface="Times New Roman"/>
                <a:cs typeface="Times New Roman"/>
              </a:rPr>
              <a:t>(x</a:t>
            </a:r>
            <a:r>
              <a:rPr sz="2550" spc="-85" dirty="0">
                <a:latin typeface="Times New Roman"/>
                <a:cs typeface="Times New Roman"/>
              </a:rPr>
              <a:t>)</a:t>
            </a:r>
            <a:r>
              <a:rPr sz="2550" spc="-145" dirty="0">
                <a:latin typeface="Times New Roman"/>
                <a:cs typeface="Times New Roman"/>
              </a:rPr>
              <a:t> </a:t>
            </a:r>
            <a:r>
              <a:rPr sz="2550" spc="-140" dirty="0">
                <a:latin typeface="Symbol"/>
                <a:cs typeface="Symbol"/>
              </a:rPr>
              <a:t></a:t>
            </a:r>
            <a:r>
              <a:rPr sz="2550" spc="-150" dirty="0">
                <a:latin typeface="Times New Roman"/>
                <a:cs typeface="Times New Roman"/>
              </a:rPr>
              <a:t> </a:t>
            </a:r>
            <a:r>
              <a:rPr sz="3825" spc="-187" baseline="-9803" dirty="0">
                <a:latin typeface="Symbol"/>
                <a:cs typeface="Symbol"/>
              </a:rPr>
              <a:t></a:t>
            </a:r>
            <a:r>
              <a:rPr sz="3825" spc="-434" baseline="-9803" dirty="0">
                <a:latin typeface="Times New Roman"/>
                <a:cs typeface="Times New Roman"/>
              </a:rPr>
              <a:t> </a:t>
            </a:r>
            <a:r>
              <a:rPr sz="3825" spc="-150" baseline="-41394" dirty="0">
                <a:latin typeface="Times New Roman"/>
                <a:cs typeface="Times New Roman"/>
              </a:rPr>
              <a:t>J</a:t>
            </a:r>
            <a:endParaRPr sz="3825" baseline="-41394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859148" y="3455289"/>
            <a:ext cx="22326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u="heavy" spc="-1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Training</a:t>
            </a:r>
            <a:r>
              <a:rPr sz="2000" u="heavy" spc="-2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examples</a:t>
            </a:r>
            <a:r>
              <a:rPr sz="2000" u="heavy" spc="-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 </a:t>
            </a:r>
            <a:r>
              <a:rPr sz="2000" u="heavy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691062" y="4000436"/>
            <a:ext cx="3126105" cy="1594485"/>
            <a:chOff x="4691062" y="4000436"/>
            <a:chExt cx="3126105" cy="1594485"/>
          </a:xfrm>
        </p:grpSpPr>
        <p:sp>
          <p:nvSpPr>
            <p:cNvPr id="40" name="object 40"/>
            <p:cNvSpPr/>
            <p:nvPr/>
          </p:nvSpPr>
          <p:spPr>
            <a:xfrm>
              <a:off x="4695825" y="4005198"/>
              <a:ext cx="3116580" cy="1584960"/>
            </a:xfrm>
            <a:custGeom>
              <a:avLst/>
              <a:gdLst/>
              <a:ahLst/>
              <a:cxnLst/>
              <a:rect l="l" t="t" r="r" b="b"/>
              <a:pathLst>
                <a:path w="3116579" h="1584960">
                  <a:moveTo>
                    <a:pt x="0" y="0"/>
                  </a:moveTo>
                  <a:lnTo>
                    <a:pt x="0" y="1584388"/>
                  </a:lnTo>
                </a:path>
                <a:path w="3116579" h="1584960">
                  <a:moveTo>
                    <a:pt x="0" y="1584388"/>
                  </a:moveTo>
                  <a:lnTo>
                    <a:pt x="3116326" y="1584388"/>
                  </a:lnTo>
                </a:path>
                <a:path w="3116579" h="1584960">
                  <a:moveTo>
                    <a:pt x="452500" y="71500"/>
                  </a:moveTo>
                  <a:lnTo>
                    <a:pt x="1820926" y="1224026"/>
                  </a:lnTo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951475" y="4437125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0" y="53975"/>
                  </a:moveTo>
                  <a:lnTo>
                    <a:pt x="4236" y="32950"/>
                  </a:lnTo>
                  <a:lnTo>
                    <a:pt x="15795" y="15795"/>
                  </a:lnTo>
                  <a:lnTo>
                    <a:pt x="32950" y="4236"/>
                  </a:lnTo>
                  <a:lnTo>
                    <a:pt x="53975" y="0"/>
                  </a:lnTo>
                  <a:lnTo>
                    <a:pt x="74945" y="4236"/>
                  </a:lnTo>
                  <a:lnTo>
                    <a:pt x="92106" y="15795"/>
                  </a:lnTo>
                  <a:lnTo>
                    <a:pt x="103695" y="32950"/>
                  </a:lnTo>
                  <a:lnTo>
                    <a:pt x="107950" y="53975"/>
                  </a:lnTo>
                  <a:lnTo>
                    <a:pt x="103695" y="74945"/>
                  </a:lnTo>
                  <a:lnTo>
                    <a:pt x="92106" y="92106"/>
                  </a:lnTo>
                  <a:lnTo>
                    <a:pt x="74945" y="103695"/>
                  </a:lnTo>
                  <a:lnTo>
                    <a:pt x="53975" y="107950"/>
                  </a:lnTo>
                  <a:lnTo>
                    <a:pt x="32950" y="103695"/>
                  </a:lnTo>
                  <a:lnTo>
                    <a:pt x="15795" y="92106"/>
                  </a:lnTo>
                  <a:lnTo>
                    <a:pt x="4236" y="74945"/>
                  </a:lnTo>
                  <a:lnTo>
                    <a:pt x="0" y="5397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380479" y="3421837"/>
            <a:ext cx="194500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" dirty="0">
                <a:latin typeface="Microsoft Sans Serif"/>
                <a:cs typeface="Microsoft Sans Serif"/>
              </a:rPr>
              <a:t>{(x</a:t>
            </a:r>
            <a:r>
              <a:rPr sz="1100" spc="-5" dirty="0">
                <a:latin typeface="Microsoft Sans Serif"/>
                <a:cs typeface="Microsoft Sans Serif"/>
              </a:rPr>
              <a:t>1</a:t>
            </a:r>
            <a:r>
              <a:rPr sz="2000" spc="-5" dirty="0">
                <a:latin typeface="Microsoft Sans Serif"/>
                <a:cs typeface="Microsoft Sans Serif"/>
              </a:rPr>
              <a:t>,y</a:t>
            </a:r>
            <a:r>
              <a:rPr sz="1200" spc="-5" dirty="0">
                <a:latin typeface="Microsoft Sans Serif"/>
                <a:cs typeface="Microsoft Sans Serif"/>
              </a:rPr>
              <a:t>1</a:t>
            </a:r>
            <a:r>
              <a:rPr sz="2000" spc="-5" dirty="0">
                <a:latin typeface="Microsoft Sans Serif"/>
                <a:cs typeface="Microsoft Sans Serif"/>
              </a:rPr>
              <a:t>),</a:t>
            </a:r>
            <a:r>
              <a:rPr sz="2000" spc="-65" dirty="0">
                <a:latin typeface="Microsoft Sans Serif"/>
                <a:cs typeface="Microsoft Sans Serif"/>
              </a:rPr>
              <a:t> </a:t>
            </a:r>
            <a:r>
              <a:rPr sz="2000" spc="75" dirty="0">
                <a:latin typeface="Microsoft Sans Serif"/>
                <a:cs typeface="Microsoft Sans Serif"/>
              </a:rPr>
              <a:t>…..(x</a:t>
            </a:r>
            <a:r>
              <a:rPr sz="1200" spc="75" dirty="0">
                <a:latin typeface="Microsoft Sans Serif"/>
                <a:cs typeface="Microsoft Sans Serif"/>
              </a:rPr>
              <a:t>i</a:t>
            </a:r>
            <a:r>
              <a:rPr sz="2000" spc="75" dirty="0">
                <a:latin typeface="Microsoft Sans Serif"/>
                <a:cs typeface="Microsoft Sans Serif"/>
              </a:rPr>
              <a:t>,y</a:t>
            </a:r>
            <a:r>
              <a:rPr sz="1200" spc="75" dirty="0">
                <a:latin typeface="Microsoft Sans Serif"/>
                <a:cs typeface="Microsoft Sans Serif"/>
              </a:rPr>
              <a:t>i</a:t>
            </a:r>
            <a:r>
              <a:rPr sz="2000" spc="75" dirty="0">
                <a:latin typeface="Microsoft Sans Serif"/>
                <a:cs typeface="Microsoft Sans Serif"/>
              </a:rPr>
              <a:t>)}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51401" y="3958590"/>
            <a:ext cx="229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Microsoft Sans Serif"/>
                <a:cs typeface="Microsoft Sans Serif"/>
              </a:rPr>
              <a:t>x</a:t>
            </a:r>
            <a:r>
              <a:rPr sz="1100" dirty="0">
                <a:latin typeface="Microsoft Sans Serif"/>
                <a:cs typeface="Microsoft Sans Serif"/>
              </a:rPr>
              <a:t>2</a:t>
            </a:r>
            <a:endParaRPr sz="1100">
              <a:latin typeface="Microsoft Sans Serif"/>
              <a:cs typeface="Microsoft Sans Serif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7687436" y="5616346"/>
            <a:ext cx="2298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Microsoft Sans Serif"/>
                <a:cs typeface="Microsoft Sans Serif"/>
              </a:rPr>
              <a:t>x</a:t>
            </a:r>
            <a:r>
              <a:rPr sz="1100" dirty="0">
                <a:latin typeface="Microsoft Sans Serif"/>
                <a:cs typeface="Microsoft Sans Serif"/>
              </a:rPr>
              <a:t>1</a:t>
            </a:r>
            <a:endParaRPr sz="1100">
              <a:latin typeface="Microsoft Sans Serif"/>
              <a:cs typeface="Microsoft Sans Serif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846701" y="4352925"/>
            <a:ext cx="1250950" cy="1022350"/>
            <a:chOff x="4846701" y="4352925"/>
            <a:chExt cx="1250950" cy="1022350"/>
          </a:xfrm>
        </p:grpSpPr>
        <p:sp>
          <p:nvSpPr>
            <p:cNvPr id="46" name="object 46"/>
            <p:cNvSpPr/>
            <p:nvPr/>
          </p:nvSpPr>
          <p:spPr>
            <a:xfrm>
              <a:off x="4859401" y="4365625"/>
              <a:ext cx="962025" cy="996950"/>
            </a:xfrm>
            <a:custGeom>
              <a:avLst/>
              <a:gdLst/>
              <a:ahLst/>
              <a:cxnLst/>
              <a:rect l="l" t="t" r="r" b="b"/>
              <a:pathLst>
                <a:path w="962025" h="996950">
                  <a:moveTo>
                    <a:pt x="244475" y="277875"/>
                  </a:moveTo>
                  <a:lnTo>
                    <a:pt x="248711" y="256851"/>
                  </a:lnTo>
                  <a:lnTo>
                    <a:pt x="260270" y="239696"/>
                  </a:lnTo>
                  <a:lnTo>
                    <a:pt x="277425" y="228137"/>
                  </a:lnTo>
                  <a:lnTo>
                    <a:pt x="298450" y="223900"/>
                  </a:lnTo>
                  <a:lnTo>
                    <a:pt x="319420" y="228137"/>
                  </a:lnTo>
                  <a:lnTo>
                    <a:pt x="336581" y="239696"/>
                  </a:lnTo>
                  <a:lnTo>
                    <a:pt x="348170" y="256851"/>
                  </a:lnTo>
                  <a:lnTo>
                    <a:pt x="352425" y="277875"/>
                  </a:lnTo>
                  <a:lnTo>
                    <a:pt x="348170" y="298846"/>
                  </a:lnTo>
                  <a:lnTo>
                    <a:pt x="336581" y="316007"/>
                  </a:lnTo>
                  <a:lnTo>
                    <a:pt x="319420" y="327596"/>
                  </a:lnTo>
                  <a:lnTo>
                    <a:pt x="298450" y="331850"/>
                  </a:lnTo>
                  <a:lnTo>
                    <a:pt x="277425" y="327596"/>
                  </a:lnTo>
                  <a:lnTo>
                    <a:pt x="260270" y="316007"/>
                  </a:lnTo>
                  <a:lnTo>
                    <a:pt x="248711" y="298846"/>
                  </a:lnTo>
                  <a:lnTo>
                    <a:pt x="244475" y="277875"/>
                  </a:lnTo>
                  <a:close/>
                </a:path>
                <a:path w="962025" h="996950">
                  <a:moveTo>
                    <a:pt x="396875" y="430275"/>
                  </a:moveTo>
                  <a:lnTo>
                    <a:pt x="401111" y="409251"/>
                  </a:lnTo>
                  <a:lnTo>
                    <a:pt x="412670" y="392096"/>
                  </a:lnTo>
                  <a:lnTo>
                    <a:pt x="429825" y="380537"/>
                  </a:lnTo>
                  <a:lnTo>
                    <a:pt x="450850" y="376300"/>
                  </a:lnTo>
                  <a:lnTo>
                    <a:pt x="471820" y="380537"/>
                  </a:lnTo>
                  <a:lnTo>
                    <a:pt x="488981" y="392096"/>
                  </a:lnTo>
                  <a:lnTo>
                    <a:pt x="500570" y="409251"/>
                  </a:lnTo>
                  <a:lnTo>
                    <a:pt x="504825" y="430275"/>
                  </a:lnTo>
                  <a:lnTo>
                    <a:pt x="500570" y="451246"/>
                  </a:lnTo>
                  <a:lnTo>
                    <a:pt x="488981" y="468407"/>
                  </a:lnTo>
                  <a:lnTo>
                    <a:pt x="471820" y="479996"/>
                  </a:lnTo>
                  <a:lnTo>
                    <a:pt x="450850" y="484250"/>
                  </a:lnTo>
                  <a:lnTo>
                    <a:pt x="429825" y="479996"/>
                  </a:lnTo>
                  <a:lnTo>
                    <a:pt x="412670" y="468407"/>
                  </a:lnTo>
                  <a:lnTo>
                    <a:pt x="401111" y="451246"/>
                  </a:lnTo>
                  <a:lnTo>
                    <a:pt x="396875" y="430275"/>
                  </a:lnTo>
                  <a:close/>
                </a:path>
                <a:path w="962025" h="996950">
                  <a:moveTo>
                    <a:pt x="549275" y="582676"/>
                  </a:moveTo>
                  <a:lnTo>
                    <a:pt x="553511" y="561651"/>
                  </a:lnTo>
                  <a:lnTo>
                    <a:pt x="565070" y="544496"/>
                  </a:lnTo>
                  <a:lnTo>
                    <a:pt x="582225" y="532937"/>
                  </a:lnTo>
                  <a:lnTo>
                    <a:pt x="603250" y="528701"/>
                  </a:lnTo>
                  <a:lnTo>
                    <a:pt x="624220" y="532937"/>
                  </a:lnTo>
                  <a:lnTo>
                    <a:pt x="641381" y="544496"/>
                  </a:lnTo>
                  <a:lnTo>
                    <a:pt x="652970" y="561651"/>
                  </a:lnTo>
                  <a:lnTo>
                    <a:pt x="657225" y="582676"/>
                  </a:lnTo>
                  <a:lnTo>
                    <a:pt x="652970" y="603646"/>
                  </a:lnTo>
                  <a:lnTo>
                    <a:pt x="641381" y="620807"/>
                  </a:lnTo>
                  <a:lnTo>
                    <a:pt x="624220" y="632396"/>
                  </a:lnTo>
                  <a:lnTo>
                    <a:pt x="603250" y="636651"/>
                  </a:lnTo>
                  <a:lnTo>
                    <a:pt x="582225" y="632396"/>
                  </a:lnTo>
                  <a:lnTo>
                    <a:pt x="565070" y="620807"/>
                  </a:lnTo>
                  <a:lnTo>
                    <a:pt x="553511" y="603646"/>
                  </a:lnTo>
                  <a:lnTo>
                    <a:pt x="549275" y="582676"/>
                  </a:lnTo>
                  <a:close/>
                </a:path>
                <a:path w="962025" h="996950">
                  <a:moveTo>
                    <a:pt x="701675" y="735076"/>
                  </a:moveTo>
                  <a:lnTo>
                    <a:pt x="705911" y="714051"/>
                  </a:lnTo>
                  <a:lnTo>
                    <a:pt x="717470" y="696896"/>
                  </a:lnTo>
                  <a:lnTo>
                    <a:pt x="734625" y="685337"/>
                  </a:lnTo>
                  <a:lnTo>
                    <a:pt x="755650" y="681101"/>
                  </a:lnTo>
                  <a:lnTo>
                    <a:pt x="776620" y="685337"/>
                  </a:lnTo>
                  <a:lnTo>
                    <a:pt x="793781" y="696896"/>
                  </a:lnTo>
                  <a:lnTo>
                    <a:pt x="805370" y="714051"/>
                  </a:lnTo>
                  <a:lnTo>
                    <a:pt x="809625" y="735076"/>
                  </a:lnTo>
                  <a:lnTo>
                    <a:pt x="805370" y="756046"/>
                  </a:lnTo>
                  <a:lnTo>
                    <a:pt x="793781" y="773207"/>
                  </a:lnTo>
                  <a:lnTo>
                    <a:pt x="776620" y="784796"/>
                  </a:lnTo>
                  <a:lnTo>
                    <a:pt x="755650" y="789051"/>
                  </a:lnTo>
                  <a:lnTo>
                    <a:pt x="734625" y="784796"/>
                  </a:lnTo>
                  <a:lnTo>
                    <a:pt x="717470" y="773207"/>
                  </a:lnTo>
                  <a:lnTo>
                    <a:pt x="705911" y="756046"/>
                  </a:lnTo>
                  <a:lnTo>
                    <a:pt x="701675" y="735076"/>
                  </a:lnTo>
                  <a:close/>
                </a:path>
                <a:path w="962025" h="996950">
                  <a:moveTo>
                    <a:pt x="854075" y="887476"/>
                  </a:moveTo>
                  <a:lnTo>
                    <a:pt x="858311" y="866451"/>
                  </a:lnTo>
                  <a:lnTo>
                    <a:pt x="869870" y="849296"/>
                  </a:lnTo>
                  <a:lnTo>
                    <a:pt x="887025" y="837737"/>
                  </a:lnTo>
                  <a:lnTo>
                    <a:pt x="908050" y="833501"/>
                  </a:lnTo>
                  <a:lnTo>
                    <a:pt x="929020" y="837737"/>
                  </a:lnTo>
                  <a:lnTo>
                    <a:pt x="946181" y="849296"/>
                  </a:lnTo>
                  <a:lnTo>
                    <a:pt x="957770" y="866451"/>
                  </a:lnTo>
                  <a:lnTo>
                    <a:pt x="962025" y="887476"/>
                  </a:lnTo>
                  <a:lnTo>
                    <a:pt x="957770" y="908446"/>
                  </a:lnTo>
                  <a:lnTo>
                    <a:pt x="946181" y="925607"/>
                  </a:lnTo>
                  <a:lnTo>
                    <a:pt x="929020" y="937196"/>
                  </a:lnTo>
                  <a:lnTo>
                    <a:pt x="908050" y="941451"/>
                  </a:lnTo>
                  <a:lnTo>
                    <a:pt x="887025" y="937196"/>
                  </a:lnTo>
                  <a:lnTo>
                    <a:pt x="869870" y="925607"/>
                  </a:lnTo>
                  <a:lnTo>
                    <a:pt x="858311" y="908446"/>
                  </a:lnTo>
                  <a:lnTo>
                    <a:pt x="854075" y="887476"/>
                  </a:lnTo>
                  <a:close/>
                </a:path>
                <a:path w="962025" h="996950">
                  <a:moveTo>
                    <a:pt x="36449" y="485775"/>
                  </a:moveTo>
                  <a:lnTo>
                    <a:pt x="40685" y="464750"/>
                  </a:lnTo>
                  <a:lnTo>
                    <a:pt x="52244" y="447595"/>
                  </a:lnTo>
                  <a:lnTo>
                    <a:pt x="69399" y="436036"/>
                  </a:lnTo>
                  <a:lnTo>
                    <a:pt x="90424" y="431800"/>
                  </a:lnTo>
                  <a:lnTo>
                    <a:pt x="111448" y="436036"/>
                  </a:lnTo>
                  <a:lnTo>
                    <a:pt x="128603" y="447595"/>
                  </a:lnTo>
                  <a:lnTo>
                    <a:pt x="140162" y="464750"/>
                  </a:lnTo>
                  <a:lnTo>
                    <a:pt x="144399" y="485775"/>
                  </a:lnTo>
                  <a:lnTo>
                    <a:pt x="140162" y="506799"/>
                  </a:lnTo>
                  <a:lnTo>
                    <a:pt x="128603" y="523954"/>
                  </a:lnTo>
                  <a:lnTo>
                    <a:pt x="111448" y="535513"/>
                  </a:lnTo>
                  <a:lnTo>
                    <a:pt x="90424" y="539750"/>
                  </a:lnTo>
                  <a:lnTo>
                    <a:pt x="69399" y="535513"/>
                  </a:lnTo>
                  <a:lnTo>
                    <a:pt x="52244" y="523954"/>
                  </a:lnTo>
                  <a:lnTo>
                    <a:pt x="40685" y="506799"/>
                  </a:lnTo>
                  <a:lnTo>
                    <a:pt x="36449" y="485775"/>
                  </a:lnTo>
                  <a:close/>
                </a:path>
                <a:path w="962025" h="996950">
                  <a:moveTo>
                    <a:pt x="188849" y="638175"/>
                  </a:moveTo>
                  <a:lnTo>
                    <a:pt x="193085" y="617150"/>
                  </a:lnTo>
                  <a:lnTo>
                    <a:pt x="204644" y="599995"/>
                  </a:lnTo>
                  <a:lnTo>
                    <a:pt x="221799" y="588436"/>
                  </a:lnTo>
                  <a:lnTo>
                    <a:pt x="242824" y="584200"/>
                  </a:lnTo>
                  <a:lnTo>
                    <a:pt x="263848" y="588436"/>
                  </a:lnTo>
                  <a:lnTo>
                    <a:pt x="281003" y="599995"/>
                  </a:lnTo>
                  <a:lnTo>
                    <a:pt x="292562" y="617150"/>
                  </a:lnTo>
                  <a:lnTo>
                    <a:pt x="296799" y="638175"/>
                  </a:lnTo>
                  <a:lnTo>
                    <a:pt x="292562" y="659199"/>
                  </a:lnTo>
                  <a:lnTo>
                    <a:pt x="281003" y="676354"/>
                  </a:lnTo>
                  <a:lnTo>
                    <a:pt x="263848" y="687913"/>
                  </a:lnTo>
                  <a:lnTo>
                    <a:pt x="242824" y="692150"/>
                  </a:lnTo>
                  <a:lnTo>
                    <a:pt x="221799" y="687913"/>
                  </a:lnTo>
                  <a:lnTo>
                    <a:pt x="204644" y="676354"/>
                  </a:lnTo>
                  <a:lnTo>
                    <a:pt x="193085" y="659199"/>
                  </a:lnTo>
                  <a:lnTo>
                    <a:pt x="188849" y="638175"/>
                  </a:lnTo>
                  <a:close/>
                </a:path>
                <a:path w="962025" h="996950">
                  <a:moveTo>
                    <a:pt x="341249" y="790575"/>
                  </a:moveTo>
                  <a:lnTo>
                    <a:pt x="345485" y="769550"/>
                  </a:lnTo>
                  <a:lnTo>
                    <a:pt x="357044" y="752395"/>
                  </a:lnTo>
                  <a:lnTo>
                    <a:pt x="374199" y="740836"/>
                  </a:lnTo>
                  <a:lnTo>
                    <a:pt x="395224" y="736600"/>
                  </a:lnTo>
                  <a:lnTo>
                    <a:pt x="416248" y="740836"/>
                  </a:lnTo>
                  <a:lnTo>
                    <a:pt x="433403" y="752395"/>
                  </a:lnTo>
                  <a:lnTo>
                    <a:pt x="444962" y="769550"/>
                  </a:lnTo>
                  <a:lnTo>
                    <a:pt x="449199" y="790575"/>
                  </a:lnTo>
                  <a:lnTo>
                    <a:pt x="444962" y="811599"/>
                  </a:lnTo>
                  <a:lnTo>
                    <a:pt x="433403" y="828754"/>
                  </a:lnTo>
                  <a:lnTo>
                    <a:pt x="416248" y="840313"/>
                  </a:lnTo>
                  <a:lnTo>
                    <a:pt x="395224" y="844550"/>
                  </a:lnTo>
                  <a:lnTo>
                    <a:pt x="374199" y="840313"/>
                  </a:lnTo>
                  <a:lnTo>
                    <a:pt x="357044" y="828754"/>
                  </a:lnTo>
                  <a:lnTo>
                    <a:pt x="345485" y="811599"/>
                  </a:lnTo>
                  <a:lnTo>
                    <a:pt x="341249" y="790575"/>
                  </a:lnTo>
                  <a:close/>
                </a:path>
                <a:path w="962025" h="996950">
                  <a:moveTo>
                    <a:pt x="493649" y="942975"/>
                  </a:moveTo>
                  <a:lnTo>
                    <a:pt x="497885" y="921950"/>
                  </a:lnTo>
                  <a:lnTo>
                    <a:pt x="509444" y="904795"/>
                  </a:lnTo>
                  <a:lnTo>
                    <a:pt x="526599" y="893236"/>
                  </a:lnTo>
                  <a:lnTo>
                    <a:pt x="547624" y="889000"/>
                  </a:lnTo>
                  <a:lnTo>
                    <a:pt x="568648" y="893236"/>
                  </a:lnTo>
                  <a:lnTo>
                    <a:pt x="585803" y="904795"/>
                  </a:lnTo>
                  <a:lnTo>
                    <a:pt x="597362" y="921950"/>
                  </a:lnTo>
                  <a:lnTo>
                    <a:pt x="601599" y="942975"/>
                  </a:lnTo>
                  <a:lnTo>
                    <a:pt x="597362" y="963999"/>
                  </a:lnTo>
                  <a:lnTo>
                    <a:pt x="585803" y="981154"/>
                  </a:lnTo>
                  <a:lnTo>
                    <a:pt x="568648" y="992713"/>
                  </a:lnTo>
                  <a:lnTo>
                    <a:pt x="547624" y="996950"/>
                  </a:lnTo>
                  <a:lnTo>
                    <a:pt x="526599" y="992713"/>
                  </a:lnTo>
                  <a:lnTo>
                    <a:pt x="509444" y="981154"/>
                  </a:lnTo>
                  <a:lnTo>
                    <a:pt x="497885" y="963999"/>
                  </a:lnTo>
                  <a:lnTo>
                    <a:pt x="493649" y="942975"/>
                  </a:lnTo>
                  <a:close/>
                </a:path>
                <a:path w="962025" h="996950">
                  <a:moveTo>
                    <a:pt x="0" y="846074"/>
                  </a:moveTo>
                  <a:lnTo>
                    <a:pt x="4236" y="825103"/>
                  </a:lnTo>
                  <a:lnTo>
                    <a:pt x="15795" y="807942"/>
                  </a:lnTo>
                  <a:lnTo>
                    <a:pt x="32950" y="796353"/>
                  </a:lnTo>
                  <a:lnTo>
                    <a:pt x="53975" y="792099"/>
                  </a:lnTo>
                  <a:lnTo>
                    <a:pt x="74945" y="796353"/>
                  </a:lnTo>
                  <a:lnTo>
                    <a:pt x="92106" y="807942"/>
                  </a:lnTo>
                  <a:lnTo>
                    <a:pt x="103695" y="825103"/>
                  </a:lnTo>
                  <a:lnTo>
                    <a:pt x="107950" y="846074"/>
                  </a:lnTo>
                  <a:lnTo>
                    <a:pt x="103695" y="867118"/>
                  </a:lnTo>
                  <a:lnTo>
                    <a:pt x="92106" y="884316"/>
                  </a:lnTo>
                  <a:lnTo>
                    <a:pt x="74945" y="895919"/>
                  </a:lnTo>
                  <a:lnTo>
                    <a:pt x="53975" y="900176"/>
                  </a:lnTo>
                  <a:lnTo>
                    <a:pt x="32950" y="895919"/>
                  </a:lnTo>
                  <a:lnTo>
                    <a:pt x="15795" y="884316"/>
                  </a:lnTo>
                  <a:lnTo>
                    <a:pt x="4236" y="867118"/>
                  </a:lnTo>
                  <a:lnTo>
                    <a:pt x="0" y="846074"/>
                  </a:lnTo>
                  <a:close/>
                </a:path>
                <a:path w="962025" h="996950">
                  <a:moveTo>
                    <a:pt x="541274" y="341249"/>
                  </a:moveTo>
                  <a:lnTo>
                    <a:pt x="545510" y="320278"/>
                  </a:lnTo>
                  <a:lnTo>
                    <a:pt x="557069" y="303117"/>
                  </a:lnTo>
                  <a:lnTo>
                    <a:pt x="574224" y="291528"/>
                  </a:lnTo>
                  <a:lnTo>
                    <a:pt x="595249" y="287274"/>
                  </a:lnTo>
                  <a:lnTo>
                    <a:pt x="616273" y="291528"/>
                  </a:lnTo>
                  <a:lnTo>
                    <a:pt x="633428" y="303117"/>
                  </a:lnTo>
                  <a:lnTo>
                    <a:pt x="644987" y="320278"/>
                  </a:lnTo>
                  <a:lnTo>
                    <a:pt x="649224" y="341249"/>
                  </a:lnTo>
                  <a:lnTo>
                    <a:pt x="644987" y="362273"/>
                  </a:lnTo>
                  <a:lnTo>
                    <a:pt x="633428" y="379428"/>
                  </a:lnTo>
                  <a:lnTo>
                    <a:pt x="616273" y="390987"/>
                  </a:lnTo>
                  <a:lnTo>
                    <a:pt x="595249" y="395224"/>
                  </a:lnTo>
                  <a:lnTo>
                    <a:pt x="574224" y="390987"/>
                  </a:lnTo>
                  <a:lnTo>
                    <a:pt x="557069" y="379428"/>
                  </a:lnTo>
                  <a:lnTo>
                    <a:pt x="545510" y="362273"/>
                  </a:lnTo>
                  <a:lnTo>
                    <a:pt x="541274" y="341249"/>
                  </a:lnTo>
                  <a:close/>
                </a:path>
                <a:path w="962025" h="996950">
                  <a:moveTo>
                    <a:pt x="757174" y="485775"/>
                  </a:moveTo>
                  <a:lnTo>
                    <a:pt x="761410" y="464750"/>
                  </a:lnTo>
                  <a:lnTo>
                    <a:pt x="772969" y="447595"/>
                  </a:lnTo>
                  <a:lnTo>
                    <a:pt x="790124" y="436036"/>
                  </a:lnTo>
                  <a:lnTo>
                    <a:pt x="811149" y="431800"/>
                  </a:lnTo>
                  <a:lnTo>
                    <a:pt x="832173" y="436036"/>
                  </a:lnTo>
                  <a:lnTo>
                    <a:pt x="849328" y="447595"/>
                  </a:lnTo>
                  <a:lnTo>
                    <a:pt x="860887" y="464750"/>
                  </a:lnTo>
                  <a:lnTo>
                    <a:pt x="865124" y="485775"/>
                  </a:lnTo>
                  <a:lnTo>
                    <a:pt x="860887" y="506799"/>
                  </a:lnTo>
                  <a:lnTo>
                    <a:pt x="849328" y="523954"/>
                  </a:lnTo>
                  <a:lnTo>
                    <a:pt x="832173" y="535513"/>
                  </a:lnTo>
                  <a:lnTo>
                    <a:pt x="811149" y="539750"/>
                  </a:lnTo>
                  <a:lnTo>
                    <a:pt x="790124" y="535513"/>
                  </a:lnTo>
                  <a:lnTo>
                    <a:pt x="772969" y="523954"/>
                  </a:lnTo>
                  <a:lnTo>
                    <a:pt x="761410" y="506799"/>
                  </a:lnTo>
                  <a:lnTo>
                    <a:pt x="757174" y="485775"/>
                  </a:lnTo>
                  <a:close/>
                </a:path>
                <a:path w="962025" h="996950">
                  <a:moveTo>
                    <a:pt x="325374" y="53975"/>
                  </a:moveTo>
                  <a:lnTo>
                    <a:pt x="329610" y="32950"/>
                  </a:lnTo>
                  <a:lnTo>
                    <a:pt x="341169" y="15795"/>
                  </a:lnTo>
                  <a:lnTo>
                    <a:pt x="358324" y="4236"/>
                  </a:lnTo>
                  <a:lnTo>
                    <a:pt x="379349" y="0"/>
                  </a:lnTo>
                  <a:lnTo>
                    <a:pt x="400373" y="4236"/>
                  </a:lnTo>
                  <a:lnTo>
                    <a:pt x="417528" y="15795"/>
                  </a:lnTo>
                  <a:lnTo>
                    <a:pt x="429087" y="32950"/>
                  </a:lnTo>
                  <a:lnTo>
                    <a:pt x="433324" y="53975"/>
                  </a:lnTo>
                  <a:lnTo>
                    <a:pt x="429087" y="74999"/>
                  </a:lnTo>
                  <a:lnTo>
                    <a:pt x="417528" y="92154"/>
                  </a:lnTo>
                  <a:lnTo>
                    <a:pt x="400373" y="103713"/>
                  </a:lnTo>
                  <a:lnTo>
                    <a:pt x="379349" y="107950"/>
                  </a:lnTo>
                  <a:lnTo>
                    <a:pt x="358324" y="103713"/>
                  </a:lnTo>
                  <a:lnTo>
                    <a:pt x="341169" y="92154"/>
                  </a:lnTo>
                  <a:lnTo>
                    <a:pt x="329610" y="74999"/>
                  </a:lnTo>
                  <a:lnTo>
                    <a:pt x="325374" y="5397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64301" y="5072126"/>
              <a:ext cx="133350" cy="133350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5076825" y="5229225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0" y="53975"/>
                  </a:moveTo>
                  <a:lnTo>
                    <a:pt x="4236" y="32950"/>
                  </a:lnTo>
                  <a:lnTo>
                    <a:pt x="15795" y="15795"/>
                  </a:lnTo>
                  <a:lnTo>
                    <a:pt x="32950" y="4236"/>
                  </a:lnTo>
                  <a:lnTo>
                    <a:pt x="53975" y="0"/>
                  </a:lnTo>
                  <a:lnTo>
                    <a:pt x="74999" y="4236"/>
                  </a:lnTo>
                  <a:lnTo>
                    <a:pt x="92154" y="15795"/>
                  </a:lnTo>
                  <a:lnTo>
                    <a:pt x="103713" y="32950"/>
                  </a:lnTo>
                  <a:lnTo>
                    <a:pt x="107950" y="53975"/>
                  </a:lnTo>
                  <a:lnTo>
                    <a:pt x="103713" y="74999"/>
                  </a:lnTo>
                  <a:lnTo>
                    <a:pt x="92154" y="92154"/>
                  </a:lnTo>
                  <a:lnTo>
                    <a:pt x="74999" y="103713"/>
                  </a:lnTo>
                  <a:lnTo>
                    <a:pt x="53975" y="107950"/>
                  </a:lnTo>
                  <a:lnTo>
                    <a:pt x="32950" y="103713"/>
                  </a:lnTo>
                  <a:lnTo>
                    <a:pt x="15795" y="92154"/>
                  </a:lnTo>
                  <a:lnTo>
                    <a:pt x="4236" y="74999"/>
                  </a:lnTo>
                  <a:lnTo>
                    <a:pt x="0" y="53975"/>
                  </a:lnTo>
                  <a:close/>
                </a:path>
              </a:pathLst>
            </a:custGeom>
            <a:ln w="2540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838190" y="4047490"/>
            <a:ext cx="174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019291" y="4319142"/>
            <a:ext cx="174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324853" y="4253560"/>
            <a:ext cx="90233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715010" algn="l"/>
              </a:tabLst>
            </a:pPr>
            <a:r>
              <a:rPr sz="2000" spc="15" dirty="0">
                <a:latin typeface="Microsoft Sans Serif"/>
                <a:cs typeface="Microsoft Sans Serif"/>
              </a:rPr>
              <a:t>+</a:t>
            </a:r>
            <a:r>
              <a:rPr sz="3000" spc="22" baseline="-33333" dirty="0">
                <a:latin typeface="Microsoft Sans Serif"/>
                <a:cs typeface="Microsoft Sans Serif"/>
              </a:rPr>
              <a:t>+</a:t>
            </a:r>
            <a:r>
              <a:rPr sz="3000" spc="240" baseline="-33333" dirty="0">
                <a:latin typeface="Microsoft Sans Serif"/>
                <a:cs typeface="Microsoft Sans Serif"/>
              </a:rPr>
              <a:t> </a:t>
            </a:r>
            <a:r>
              <a:rPr sz="3000" baseline="1388" dirty="0">
                <a:latin typeface="Microsoft Sans Serif"/>
                <a:cs typeface="Microsoft Sans Serif"/>
              </a:rPr>
              <a:t>+	+</a:t>
            </a:r>
            <a:endParaRPr sz="3000" baseline="1388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341490" y="3903090"/>
            <a:ext cx="17462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197853" y="4103065"/>
            <a:ext cx="859790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7820" algn="l"/>
                <a:tab pos="697865" algn="l"/>
              </a:tabLst>
            </a:pPr>
            <a:r>
              <a:rPr sz="2000" dirty="0">
                <a:latin typeface="Microsoft Sans Serif"/>
                <a:cs typeface="Microsoft Sans Serif"/>
              </a:rPr>
              <a:t>+	+	+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6425819" y="4463541"/>
            <a:ext cx="1473835" cy="9074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41655" algn="l"/>
              </a:tabLst>
            </a:pPr>
            <a:r>
              <a:rPr sz="3000" baseline="-34722" dirty="0">
                <a:latin typeface="Microsoft Sans Serif"/>
                <a:cs typeface="Microsoft Sans Serif"/>
              </a:rPr>
              <a:t>+</a:t>
            </a:r>
            <a:r>
              <a:rPr sz="3000" spc="-150" baseline="-34722" dirty="0">
                <a:latin typeface="Microsoft Sans Serif"/>
                <a:cs typeface="Microsoft Sans Serif"/>
              </a:rPr>
              <a:t> </a:t>
            </a:r>
            <a:r>
              <a:rPr sz="3000" baseline="-20833" dirty="0">
                <a:latin typeface="Microsoft Sans Serif"/>
                <a:cs typeface="Microsoft Sans Serif"/>
              </a:rPr>
              <a:t>+	</a:t>
            </a:r>
            <a:r>
              <a:rPr sz="2000" dirty="0">
                <a:latin typeface="Microsoft Sans Serif"/>
                <a:cs typeface="Microsoft Sans Serif"/>
              </a:rPr>
              <a:t>+</a:t>
            </a:r>
            <a:endParaRPr sz="2000">
              <a:latin typeface="Microsoft Sans Serif"/>
              <a:cs typeface="Microsoft Sans Serif"/>
            </a:endParaRPr>
          </a:p>
          <a:p>
            <a:pPr marL="182880">
              <a:lnSpc>
                <a:spcPct val="100000"/>
              </a:lnSpc>
              <a:spcBef>
                <a:spcPts val="2140"/>
              </a:spcBef>
            </a:pPr>
            <a:r>
              <a:rPr sz="2000" spc="-15" dirty="0">
                <a:latin typeface="Microsoft Sans Serif"/>
                <a:cs typeface="Microsoft Sans Serif"/>
              </a:rPr>
              <a:t>(w.x)+b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=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0</a:t>
            </a:r>
            <a:endParaRPr sz="2000">
              <a:latin typeface="Microsoft Sans Serif"/>
              <a:cs typeface="Microsoft Sans Serif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374381" y="4031741"/>
            <a:ext cx="6375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i="1" dirty="0">
                <a:solidFill>
                  <a:srgbClr val="000099"/>
                </a:solidFill>
                <a:latin typeface="Arial"/>
                <a:cs typeface="Arial"/>
              </a:rPr>
              <a:t>y</a:t>
            </a:r>
            <a:r>
              <a:rPr sz="2000" b="1" i="1" spc="-45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Arial"/>
                <a:cs typeface="Arial"/>
              </a:rPr>
              <a:t>=</a:t>
            </a:r>
            <a:r>
              <a:rPr sz="2000" b="1" i="1" spc="-70" dirty="0">
                <a:solidFill>
                  <a:srgbClr val="000099"/>
                </a:solidFill>
                <a:latin typeface="Arial"/>
                <a:cs typeface="Arial"/>
              </a:rPr>
              <a:t> </a:t>
            </a:r>
            <a:r>
              <a:rPr sz="2000" b="1" i="1" dirty="0">
                <a:solidFill>
                  <a:srgbClr val="000099"/>
                </a:solidFill>
                <a:latin typeface="Arial"/>
                <a:cs typeface="Arial"/>
              </a:rPr>
              <a:t>H</a:t>
            </a:r>
            <a:endParaRPr sz="2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459860" y="59182"/>
            <a:ext cx="22021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5" dirty="0"/>
              <a:t>Learning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29308"/>
            <a:ext cx="8074025" cy="46621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  <a:tab pos="2705735" algn="l"/>
                <a:tab pos="4085590" algn="l"/>
                <a:tab pos="5396230" algn="l"/>
                <a:tab pos="6911340" algn="l"/>
              </a:tabLst>
            </a:pPr>
            <a:r>
              <a:rPr sz="3200" dirty="0">
                <a:latin typeface="Microsoft Sans Serif"/>
                <a:cs typeface="Microsoft Sans Serif"/>
              </a:rPr>
              <a:t>Ba</a:t>
            </a:r>
            <a:r>
              <a:rPr sz="3200" spc="-15" dirty="0">
                <a:latin typeface="Microsoft Sans Serif"/>
                <a:cs typeface="Microsoft Sans Serif"/>
              </a:rPr>
              <a:t>g</a:t>
            </a:r>
            <a:r>
              <a:rPr sz="3200" spc="-5" dirty="0">
                <a:latin typeface="Microsoft Sans Serif"/>
                <a:cs typeface="Microsoft Sans Serif"/>
              </a:rPr>
              <a:t>ai</a:t>
            </a:r>
            <a:r>
              <a:rPr sz="3200" spc="-25" dirty="0">
                <a:latin typeface="Microsoft Sans Serif"/>
                <a:cs typeface="Microsoft Sans Serif"/>
              </a:rPr>
              <a:t>m</a:t>
            </a:r>
            <a:r>
              <a:rPr sz="3200" dirty="0">
                <a:latin typeface="Microsoft Sans Serif"/>
                <a:cs typeface="Microsoft Sans Serif"/>
              </a:rPr>
              <a:t>a</a:t>
            </a:r>
            <a:r>
              <a:rPr sz="3200" spc="-10" dirty="0">
                <a:latin typeface="Microsoft Sans Serif"/>
                <a:cs typeface="Microsoft Sans Serif"/>
              </a:rPr>
              <a:t>n</a:t>
            </a:r>
            <a:r>
              <a:rPr sz="3200" dirty="0">
                <a:latin typeface="Microsoft Sans Serif"/>
                <a:cs typeface="Microsoft Sans Serif"/>
              </a:rPr>
              <a:t>a	m</a:t>
            </a:r>
            <a:r>
              <a:rPr sz="3200" spc="-25" dirty="0">
                <a:latin typeface="Microsoft Sans Serif"/>
                <a:cs typeface="Microsoft Sans Serif"/>
              </a:rPr>
              <a:t>e</a:t>
            </a:r>
            <a:r>
              <a:rPr sz="3200" spc="-5" dirty="0">
                <a:latin typeface="Microsoft Sans Serif"/>
                <a:cs typeface="Microsoft Sans Serif"/>
              </a:rPr>
              <a:t>sin</a:t>
            </a:r>
            <a:r>
              <a:rPr sz="3200" dirty="0">
                <a:latin typeface="Microsoft Sans Serif"/>
                <a:cs typeface="Microsoft Sans Serif"/>
              </a:rPr>
              <a:t>	d</a:t>
            </a:r>
            <a:r>
              <a:rPr sz="3200" spc="-10" dirty="0">
                <a:latin typeface="Microsoft Sans Serif"/>
                <a:cs typeface="Microsoft Sans Serif"/>
              </a:rPr>
              <a:t>a</a:t>
            </a:r>
            <a:r>
              <a:rPr sz="3200" spc="-20" dirty="0">
                <a:latin typeface="Microsoft Sans Serif"/>
                <a:cs typeface="Microsoft Sans Serif"/>
              </a:rPr>
              <a:t>p</a:t>
            </a:r>
            <a:r>
              <a:rPr sz="3200" dirty="0">
                <a:latin typeface="Microsoft Sans Serif"/>
                <a:cs typeface="Microsoft Sans Serif"/>
              </a:rPr>
              <a:t>at	b</a:t>
            </a:r>
            <a:r>
              <a:rPr sz="3200" spc="-10" dirty="0">
                <a:latin typeface="Microsoft Sans Serif"/>
                <a:cs typeface="Microsoft Sans Serif"/>
              </a:rPr>
              <a:t>e</a:t>
            </a:r>
            <a:r>
              <a:rPr sz="3200" spc="-15" dirty="0">
                <a:latin typeface="Microsoft Sans Serif"/>
                <a:cs typeface="Microsoft Sans Serif"/>
              </a:rPr>
              <a:t>la</a:t>
            </a:r>
            <a:r>
              <a:rPr sz="3200" spc="-25" dirty="0">
                <a:latin typeface="Microsoft Sans Serif"/>
                <a:cs typeface="Microsoft Sans Serif"/>
              </a:rPr>
              <a:t>j</a:t>
            </a:r>
            <a:r>
              <a:rPr sz="3200" dirty="0">
                <a:latin typeface="Microsoft Sans Serif"/>
                <a:cs typeface="Microsoft Sans Serif"/>
              </a:rPr>
              <a:t>ar	at</a:t>
            </a:r>
            <a:r>
              <a:rPr sz="3200" spc="-30" dirty="0">
                <a:latin typeface="Microsoft Sans Serif"/>
                <a:cs typeface="Microsoft Sans Serif"/>
              </a:rPr>
              <a:t>u</a:t>
            </a:r>
            <a:r>
              <a:rPr sz="3200" spc="-10" dirty="0">
                <a:latin typeface="Microsoft Sans Serif"/>
                <a:cs typeface="Microsoft Sans Serif"/>
              </a:rPr>
              <a:t>r</a:t>
            </a:r>
            <a:r>
              <a:rPr sz="3200" dirty="0">
                <a:latin typeface="Microsoft Sans Serif"/>
                <a:cs typeface="Microsoft Sans Serif"/>
              </a:rPr>
              <a:t>an  </a:t>
            </a:r>
            <a:r>
              <a:rPr sz="3200" spc="-5" dirty="0">
                <a:latin typeface="Microsoft Sans Serif"/>
                <a:cs typeface="Microsoft Sans Serif"/>
              </a:rPr>
              <a:t>(rule)</a:t>
            </a:r>
            <a:r>
              <a:rPr sz="3200" spc="20" dirty="0">
                <a:latin typeface="Microsoft Sans Serif"/>
                <a:cs typeface="Microsoft Sans Serif"/>
              </a:rPr>
              <a:t> </a:t>
            </a:r>
            <a:r>
              <a:rPr sz="3200" spc="-10" dirty="0">
                <a:latin typeface="Microsoft Sans Serif"/>
                <a:cs typeface="Microsoft Sans Serif"/>
              </a:rPr>
              <a:t>dari</a:t>
            </a:r>
            <a:r>
              <a:rPr sz="3200" spc="35" dirty="0">
                <a:latin typeface="Microsoft Sans Serif"/>
                <a:cs typeface="Microsoft Sans Serif"/>
              </a:rPr>
              <a:t> </a:t>
            </a:r>
            <a:r>
              <a:rPr sz="3200" spc="-5" dirty="0">
                <a:latin typeface="Microsoft Sans Serif"/>
                <a:cs typeface="Microsoft Sans Serif"/>
              </a:rPr>
              <a:t>data.</a:t>
            </a:r>
            <a:endParaRPr sz="32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665"/>
              </a:spcBef>
              <a:buFont typeface="Trebuchet MS"/>
              <a:buChar char="–"/>
              <a:tabLst>
                <a:tab pos="756920" algn="l"/>
              </a:tabLst>
            </a:pPr>
            <a:r>
              <a:rPr sz="2800" b="1" spc="150" dirty="0">
                <a:solidFill>
                  <a:srgbClr val="375F92"/>
                </a:solidFill>
                <a:latin typeface="Cambria"/>
                <a:cs typeface="Cambria"/>
              </a:rPr>
              <a:t>Supervised</a:t>
            </a:r>
            <a:r>
              <a:rPr sz="2800" b="1" spc="305" dirty="0">
                <a:solidFill>
                  <a:srgbClr val="375F92"/>
                </a:solidFill>
                <a:latin typeface="Cambria"/>
                <a:cs typeface="Cambria"/>
              </a:rPr>
              <a:t> </a:t>
            </a:r>
            <a:r>
              <a:rPr sz="2800" b="1" spc="130" dirty="0">
                <a:solidFill>
                  <a:srgbClr val="375F92"/>
                </a:solidFill>
                <a:latin typeface="Cambria"/>
                <a:cs typeface="Cambria"/>
              </a:rPr>
              <a:t>learning</a:t>
            </a:r>
            <a:r>
              <a:rPr sz="2800" b="1" spc="340" dirty="0">
                <a:solidFill>
                  <a:srgbClr val="375F92"/>
                </a:solidFill>
                <a:latin typeface="Cambria"/>
                <a:cs typeface="Cambria"/>
              </a:rPr>
              <a:t> </a:t>
            </a:r>
            <a:r>
              <a:rPr sz="2800" b="1" spc="165" dirty="0">
                <a:solidFill>
                  <a:srgbClr val="375F92"/>
                </a:solidFill>
                <a:latin typeface="Cambria"/>
                <a:cs typeface="Cambria"/>
              </a:rPr>
              <a:t>:</a:t>
            </a:r>
            <a:endParaRPr sz="2800">
              <a:latin typeface="Cambria"/>
              <a:cs typeface="Cambria"/>
            </a:endParaRPr>
          </a:p>
          <a:p>
            <a:pPr marL="756285" marR="276225" algn="just">
              <a:lnSpc>
                <a:spcPct val="100000"/>
              </a:lnSpc>
              <a:spcBef>
                <a:spcPts val="25"/>
              </a:spcBef>
            </a:pPr>
            <a:r>
              <a:rPr sz="2800" spc="-5" dirty="0">
                <a:latin typeface="Microsoft Sans Serif"/>
                <a:cs typeface="Microsoft Sans Serif"/>
              </a:rPr>
              <a:t>User menyediakan </a:t>
            </a:r>
            <a:r>
              <a:rPr sz="2800" spc="-10" dirty="0">
                <a:latin typeface="Microsoft Sans Serif"/>
                <a:cs typeface="Microsoft Sans Serif"/>
              </a:rPr>
              <a:t>label </a:t>
            </a:r>
            <a:r>
              <a:rPr sz="2800" spc="-5" dirty="0">
                <a:latin typeface="Microsoft Sans Serif"/>
                <a:cs typeface="Microsoft Sans Serif"/>
              </a:rPr>
              <a:t>kategori </a:t>
            </a:r>
            <a:r>
              <a:rPr sz="2800" dirty="0">
                <a:latin typeface="Microsoft Sans Serif"/>
                <a:cs typeface="Microsoft Sans Serif"/>
              </a:rPr>
              <a:t>atau </a:t>
            </a:r>
            <a:r>
              <a:rPr sz="2800" spc="-5" dirty="0">
                <a:latin typeface="Microsoft Sans Serif"/>
                <a:cs typeface="Microsoft Sans Serif"/>
              </a:rPr>
              <a:t>value/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bobot </a:t>
            </a:r>
            <a:r>
              <a:rPr sz="2800" dirty="0">
                <a:latin typeface="Microsoft Sans Serif"/>
                <a:cs typeface="Microsoft Sans Serif"/>
              </a:rPr>
              <a:t>untuk </a:t>
            </a:r>
            <a:r>
              <a:rPr sz="2800" spc="-5" dirty="0">
                <a:latin typeface="Microsoft Sans Serif"/>
                <a:cs typeface="Microsoft Sans Serif"/>
              </a:rPr>
              <a:t>masing-masing pola dalam </a:t>
            </a:r>
            <a:r>
              <a:rPr sz="2800" dirty="0">
                <a:latin typeface="Microsoft Sans Serif"/>
                <a:cs typeface="Microsoft Sans Serif"/>
              </a:rPr>
              <a:t>data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training.</a:t>
            </a:r>
            <a:endParaRPr sz="2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730"/>
              </a:spcBef>
              <a:buFont typeface="Trebuchet MS"/>
              <a:buChar char="–"/>
              <a:tabLst>
                <a:tab pos="756920" algn="l"/>
                <a:tab pos="3732529" algn="l"/>
                <a:tab pos="5603875" algn="l"/>
              </a:tabLst>
            </a:pPr>
            <a:r>
              <a:rPr sz="3200" b="1" spc="165" dirty="0">
                <a:solidFill>
                  <a:srgbClr val="375F92"/>
                </a:solidFill>
                <a:latin typeface="Cambria"/>
                <a:cs typeface="Cambria"/>
              </a:rPr>
              <a:t>Unsupervised	</a:t>
            </a:r>
            <a:r>
              <a:rPr sz="3200" b="1" spc="155" dirty="0">
                <a:solidFill>
                  <a:srgbClr val="375F92"/>
                </a:solidFill>
                <a:latin typeface="Cambria"/>
                <a:cs typeface="Cambria"/>
              </a:rPr>
              <a:t>learning	</a:t>
            </a:r>
            <a:r>
              <a:rPr sz="3200" b="1" spc="190" dirty="0">
                <a:solidFill>
                  <a:srgbClr val="375F92"/>
                </a:solidFill>
                <a:latin typeface="Cambria"/>
                <a:cs typeface="Cambria"/>
              </a:rPr>
              <a:t>:</a:t>
            </a:r>
            <a:endParaRPr sz="3200">
              <a:latin typeface="Cambria"/>
              <a:cs typeface="Cambria"/>
            </a:endParaRPr>
          </a:p>
          <a:p>
            <a:pPr marL="756285" marR="312420">
              <a:lnSpc>
                <a:spcPct val="100000"/>
              </a:lnSpc>
              <a:spcBef>
                <a:spcPts val="40"/>
              </a:spcBef>
            </a:pPr>
            <a:r>
              <a:rPr sz="2800" spc="-5" dirty="0">
                <a:latin typeface="Microsoft Sans Serif"/>
                <a:cs typeface="Microsoft Sans Serif"/>
              </a:rPr>
              <a:t>Sistem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membentuk</a:t>
            </a:r>
            <a:r>
              <a:rPr sz="2800" spc="7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cluster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atau 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pengelompokan</a:t>
            </a:r>
            <a:r>
              <a:rPr sz="2800" spc="8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secara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alami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pola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yang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dimasukan.</a:t>
            </a:r>
            <a:endParaRPr sz="28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1159560" y="59182"/>
            <a:ext cx="679958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Classification</a:t>
            </a:r>
            <a:r>
              <a:rPr spc="15" dirty="0"/>
              <a:t> </a:t>
            </a:r>
            <a:r>
              <a:rPr dirty="0"/>
              <a:t>Vs</a:t>
            </a:r>
            <a:r>
              <a:rPr spc="45" dirty="0"/>
              <a:t> </a:t>
            </a:r>
            <a:r>
              <a:rPr spc="-5" dirty="0"/>
              <a:t>Clustering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2356"/>
            <a:ext cx="8070215" cy="22447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94155" indent="-343535" algn="just">
              <a:lnSpc>
                <a:spcPct val="100000"/>
              </a:lnSpc>
              <a:spcBef>
                <a:spcPts val="95"/>
              </a:spcBef>
              <a:buChar char="•"/>
              <a:tabLst>
                <a:tab pos="356235" algn="l"/>
              </a:tabLst>
            </a:pPr>
            <a:r>
              <a:rPr sz="2800" spc="-10" dirty="0">
                <a:latin typeface="Microsoft Sans Serif"/>
                <a:cs typeface="Microsoft Sans Serif"/>
              </a:rPr>
              <a:t>Classification </a:t>
            </a:r>
            <a:r>
              <a:rPr sz="2800" spc="-5" dirty="0">
                <a:latin typeface="Microsoft Sans Serif"/>
                <a:cs typeface="Microsoft Sans Serif"/>
              </a:rPr>
              <a:t>(Kategori/ Label kelasnya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diketahui).</a:t>
            </a:r>
            <a:endParaRPr sz="2800">
              <a:latin typeface="Microsoft Sans Serif"/>
              <a:cs typeface="Microsoft Sans Serif"/>
            </a:endParaRPr>
          </a:p>
          <a:p>
            <a:pPr marL="355600" marR="508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Clustering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(Kategori/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Label</a:t>
            </a:r>
            <a:r>
              <a:rPr sz="2800" dirty="0">
                <a:latin typeface="Microsoft Sans Serif"/>
                <a:cs typeface="Microsoft Sans Serif"/>
              </a:rPr>
              <a:t> kelompoknya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tidak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diketahui</a:t>
            </a:r>
            <a:r>
              <a:rPr sz="2800" dirty="0">
                <a:latin typeface="Microsoft Sans Serif"/>
                <a:cs typeface="Microsoft Sans Serif"/>
              </a:rPr>
              <a:t> dan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biasanya</a:t>
            </a:r>
            <a:r>
              <a:rPr sz="2800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dinamai</a:t>
            </a:r>
            <a:r>
              <a:rPr sz="2800" spc="-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dengan</a:t>
            </a:r>
            <a:r>
              <a:rPr sz="2800" spc="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kelas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pertama,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kedua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dst).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0112" y="3717925"/>
            <a:ext cx="7919974" cy="24574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09624" y="59182"/>
            <a:ext cx="730186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45" dirty="0"/>
              <a:t> </a:t>
            </a:r>
            <a:r>
              <a:rPr spc="-5" dirty="0"/>
              <a:t>Recognation</a:t>
            </a:r>
            <a:r>
              <a:rPr spc="45" dirty="0"/>
              <a:t> </a:t>
            </a:r>
            <a:r>
              <a:rPr dirty="0"/>
              <a:t>Process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89461"/>
            <a:ext cx="5786120" cy="517588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47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Input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&amp;</a:t>
            </a:r>
            <a:r>
              <a:rPr sz="160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Sensing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0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dirty="0">
                <a:latin typeface="Microsoft Sans Serif"/>
                <a:cs typeface="Microsoft Sans Serif"/>
              </a:rPr>
              <a:t>Proses</a:t>
            </a:r>
            <a:r>
              <a:rPr sz="1400" spc="-5" dirty="0">
                <a:latin typeface="Microsoft Sans Serif"/>
                <a:cs typeface="Microsoft Sans Serif"/>
              </a:rPr>
              <a:t> pengambilan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data</a:t>
            </a:r>
            <a:r>
              <a:rPr sz="1400" spc="-5" dirty="0">
                <a:latin typeface="Microsoft Sans Serif"/>
                <a:cs typeface="Microsoft Sans Serif"/>
              </a:rPr>
              <a:t> (Acquisition)</a:t>
            </a:r>
            <a:r>
              <a:rPr sz="1400" spc="38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&amp;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pemasukkan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data.</a:t>
            </a:r>
            <a:endParaRPr sz="1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dirty="0">
                <a:latin typeface="Microsoft Sans Serif"/>
                <a:cs typeface="Microsoft Sans Serif"/>
              </a:rPr>
              <a:t>Pemrosesan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data sesuai</a:t>
            </a:r>
            <a:r>
              <a:rPr sz="1400" spc="-5" dirty="0">
                <a:latin typeface="Microsoft Sans Serif"/>
                <a:cs typeface="Microsoft Sans Serif"/>
              </a:rPr>
              <a:t> dengan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karakteristik/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fakta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yang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ada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&amp;</a:t>
            </a:r>
            <a:endParaRPr sz="14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pengukuran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untuk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nilai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dari variable</a:t>
            </a:r>
            <a:r>
              <a:rPr sz="1400" dirty="0">
                <a:latin typeface="Microsoft Sans Serif"/>
                <a:cs typeface="Microsoft Sans Serif"/>
              </a:rPr>
              <a:t> data.</a:t>
            </a:r>
            <a:endParaRPr sz="1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Pre-processing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Menghilangkan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noise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pada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data.</a:t>
            </a:r>
            <a:endParaRPr sz="1400">
              <a:latin typeface="Microsoft Sans Serif"/>
              <a:cs typeface="Microsoft Sans Serif"/>
            </a:endParaRPr>
          </a:p>
          <a:p>
            <a:pPr marL="756285" marR="49974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dirty="0">
                <a:latin typeface="Microsoft Sans Serif"/>
                <a:cs typeface="Microsoft Sans Serif"/>
              </a:rPr>
              <a:t>Melakukan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pemisahan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pola-pola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yang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menarik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(pattern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of </a:t>
            </a:r>
            <a:r>
              <a:rPr sz="1400" spc="-35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interest)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dari </a:t>
            </a:r>
            <a:r>
              <a:rPr sz="1400" dirty="0">
                <a:latin typeface="Microsoft Sans Serif"/>
                <a:cs typeface="Microsoft Sans Serif"/>
              </a:rPr>
              <a:t>data.</a:t>
            </a:r>
            <a:endParaRPr sz="1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39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Segmentation</a:t>
            </a:r>
            <a:r>
              <a:rPr sz="1600" spc="-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marR="289560" lvl="1" indent="-287020">
              <a:lnSpc>
                <a:spcPct val="100000"/>
              </a:lnSpc>
              <a:spcBef>
                <a:spcPts val="330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dirty="0">
                <a:latin typeface="Microsoft Sans Serif"/>
                <a:cs typeface="Microsoft Sans Serif"/>
              </a:rPr>
              <a:t>Proses pemisahan </a:t>
            </a:r>
            <a:r>
              <a:rPr sz="1400" spc="-5" dirty="0">
                <a:latin typeface="Microsoft Sans Serif"/>
                <a:cs typeface="Microsoft Sans Serif"/>
              </a:rPr>
              <a:t>objek </a:t>
            </a:r>
            <a:r>
              <a:rPr sz="1400" dirty="0">
                <a:latin typeface="Microsoft Sans Serif"/>
                <a:cs typeface="Microsoft Sans Serif"/>
              </a:rPr>
              <a:t>satu </a:t>
            </a:r>
            <a:r>
              <a:rPr sz="1400" spc="-5" dirty="0">
                <a:latin typeface="Microsoft Sans Serif"/>
                <a:cs typeface="Microsoft Sans Serif"/>
              </a:rPr>
              <a:t>dengan objek yang lain dalam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suatu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gambar.</a:t>
            </a:r>
            <a:endParaRPr sz="1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39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Feature</a:t>
            </a:r>
            <a:r>
              <a:rPr sz="1600" spc="1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extraction</a:t>
            </a:r>
            <a:r>
              <a:rPr sz="1600" spc="2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30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dirty="0">
                <a:latin typeface="Microsoft Sans Serif"/>
                <a:cs typeface="Microsoft Sans Serif"/>
              </a:rPr>
              <a:t>Menemukan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representasi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baru/</a:t>
            </a:r>
            <a:r>
              <a:rPr sz="1400" spc="-5" dirty="0">
                <a:latin typeface="Microsoft Sans Serif"/>
                <a:cs typeface="Microsoft Sans Serif"/>
              </a:rPr>
              <a:t> perwakilan/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ciri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khas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data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dari</a:t>
            </a:r>
            <a:endParaRPr sz="14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segi</a:t>
            </a:r>
            <a:r>
              <a:rPr sz="1400" spc="-5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fitur.</a:t>
            </a:r>
            <a:endParaRPr sz="1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385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Classification</a:t>
            </a:r>
            <a:r>
              <a:rPr sz="1600" spc="-4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marR="241935" lvl="1" indent="-287020">
              <a:lnSpc>
                <a:spcPct val="100000"/>
              </a:lnSpc>
              <a:spcBef>
                <a:spcPts val="335"/>
              </a:spcBef>
              <a:buChar char="–"/>
              <a:tabLst>
                <a:tab pos="756285" algn="l"/>
                <a:tab pos="756920" algn="l"/>
              </a:tabLst>
            </a:pPr>
            <a:r>
              <a:rPr sz="1400" spc="-5" dirty="0">
                <a:latin typeface="Microsoft Sans Serif"/>
                <a:cs typeface="Microsoft Sans Serif"/>
              </a:rPr>
              <a:t>Menggunakan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fitur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dan</a:t>
            </a:r>
            <a:r>
              <a:rPr sz="1400" spc="1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model/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algoritma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pembelajaran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untuk </a:t>
            </a:r>
            <a:r>
              <a:rPr sz="1400" spc="-36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menetapkan</a:t>
            </a:r>
            <a:r>
              <a:rPr sz="1400" spc="-35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pola</a:t>
            </a:r>
            <a:r>
              <a:rPr sz="1400" dirty="0">
                <a:latin typeface="Microsoft Sans Serif"/>
                <a:cs typeface="Microsoft Sans Serif"/>
              </a:rPr>
              <a:t> </a:t>
            </a:r>
            <a:r>
              <a:rPr sz="1400" spc="-5" dirty="0">
                <a:latin typeface="Microsoft Sans Serif"/>
                <a:cs typeface="Microsoft Sans Serif"/>
              </a:rPr>
              <a:t>pada </a:t>
            </a:r>
            <a:r>
              <a:rPr sz="1400" dirty="0">
                <a:latin typeface="Microsoft Sans Serif"/>
                <a:cs typeface="Microsoft Sans Serif"/>
              </a:rPr>
              <a:t>suatu</a:t>
            </a:r>
            <a:r>
              <a:rPr sz="1400" spc="-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kelas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tertentu.</a:t>
            </a:r>
            <a:endParaRPr sz="14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390"/>
              </a:spcBef>
              <a:buChar char="•"/>
              <a:tabLst>
                <a:tab pos="355600" algn="l"/>
                <a:tab pos="356235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Post-processing</a:t>
            </a:r>
            <a:r>
              <a:rPr sz="1600" spc="-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:</a:t>
            </a:r>
            <a:endParaRPr sz="16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385"/>
              </a:spcBef>
              <a:buChar char="–"/>
              <a:tabLst>
                <a:tab pos="756285" algn="l"/>
                <a:tab pos="756920" algn="l"/>
              </a:tabLst>
            </a:pPr>
            <a:r>
              <a:rPr sz="1600" spc="-5" dirty="0">
                <a:latin typeface="Microsoft Sans Serif"/>
                <a:cs typeface="Microsoft Sans Serif"/>
              </a:rPr>
              <a:t>Melakukan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evaluasi</a:t>
            </a:r>
            <a:r>
              <a:rPr sz="1600" spc="5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tingkat</a:t>
            </a:r>
            <a:r>
              <a:rPr sz="1600" spc="2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keberhasilan</a:t>
            </a:r>
            <a:r>
              <a:rPr sz="1600" spc="10" dirty="0">
                <a:latin typeface="Microsoft Sans Serif"/>
                <a:cs typeface="Microsoft Sans Serif"/>
              </a:rPr>
              <a:t> </a:t>
            </a:r>
            <a:r>
              <a:rPr sz="1600" spc="-5" dirty="0">
                <a:latin typeface="Microsoft Sans Serif"/>
                <a:cs typeface="Microsoft Sans Serif"/>
              </a:rPr>
              <a:t>dalam</a:t>
            </a:r>
            <a:endParaRPr sz="16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1600" spc="-5" dirty="0">
                <a:latin typeface="Microsoft Sans Serif"/>
                <a:cs typeface="Microsoft Sans Serif"/>
              </a:rPr>
              <a:t>keputusan.</a:t>
            </a:r>
            <a:endParaRPr sz="16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516751" y="1235075"/>
            <a:ext cx="2447925" cy="5073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987348" y="59182"/>
            <a:ext cx="71456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Pattern</a:t>
            </a:r>
            <a:r>
              <a:rPr spc="40" dirty="0"/>
              <a:t> </a:t>
            </a:r>
            <a:r>
              <a:rPr spc="-5" dirty="0"/>
              <a:t>Recognation</a:t>
            </a:r>
            <a:r>
              <a:rPr spc="45" dirty="0"/>
              <a:t> </a:t>
            </a:r>
            <a:r>
              <a:rPr dirty="0"/>
              <a:t>System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2356"/>
            <a:ext cx="7540625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Sistem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adalah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keseluruhan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bagian</a:t>
            </a:r>
            <a:r>
              <a:rPr sz="2800" spc="5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 </a:t>
            </a:r>
            <a:r>
              <a:rPr sz="2800" dirty="0">
                <a:latin typeface="Microsoft Sans Serif"/>
                <a:cs typeface="Microsoft Sans Serif"/>
              </a:rPr>
              <a:t> pengenalan</a:t>
            </a:r>
            <a:r>
              <a:rPr sz="2800" spc="5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pola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10" dirty="0">
                <a:latin typeface="Microsoft Sans Serif"/>
                <a:cs typeface="Microsoft Sans Serif"/>
              </a:rPr>
              <a:t>mulai</a:t>
            </a:r>
            <a:r>
              <a:rPr sz="2800" spc="4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dari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Input,</a:t>
            </a:r>
            <a:r>
              <a:rPr sz="2800" spc="2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Proses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dan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Output.</a:t>
            </a:r>
            <a:endParaRPr sz="28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5259120"/>
            <a:ext cx="7372984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95"/>
              </a:spcBef>
              <a:buChar char="•"/>
              <a:tabLst>
                <a:tab pos="355600" algn="l"/>
                <a:tab pos="356235" algn="l"/>
              </a:tabLst>
            </a:pPr>
            <a:r>
              <a:rPr sz="2800" spc="-5" dirty="0">
                <a:latin typeface="Microsoft Sans Serif"/>
                <a:cs typeface="Microsoft Sans Serif"/>
              </a:rPr>
              <a:t>Teacher/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Human</a:t>
            </a:r>
            <a:r>
              <a:rPr sz="2800" spc="6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sebagai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salah</a:t>
            </a:r>
            <a:r>
              <a:rPr sz="2800" spc="30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satu</a:t>
            </a:r>
            <a:r>
              <a:rPr sz="2800" spc="35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sumber </a:t>
            </a:r>
            <a:r>
              <a:rPr sz="2800" spc="-73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basis</a:t>
            </a:r>
            <a:r>
              <a:rPr sz="2800" spc="2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pengetahuan</a:t>
            </a:r>
            <a:r>
              <a:rPr sz="2800" spc="60" dirty="0">
                <a:latin typeface="Microsoft Sans Serif"/>
                <a:cs typeface="Microsoft Sans Serif"/>
              </a:rPr>
              <a:t> </a:t>
            </a:r>
            <a:r>
              <a:rPr sz="2800" spc="-5" dirty="0">
                <a:latin typeface="Microsoft Sans Serif"/>
                <a:cs typeface="Microsoft Sans Serif"/>
              </a:rPr>
              <a:t>(knowledge</a:t>
            </a:r>
            <a:r>
              <a:rPr sz="2800" spc="45" dirty="0">
                <a:latin typeface="Microsoft Sans Serif"/>
                <a:cs typeface="Microsoft Sans Serif"/>
              </a:rPr>
              <a:t> </a:t>
            </a:r>
            <a:r>
              <a:rPr sz="2800" dirty="0">
                <a:latin typeface="Microsoft Sans Serif"/>
                <a:cs typeface="Microsoft Sans Serif"/>
              </a:rPr>
              <a:t>base)</a:t>
            </a:r>
            <a:endParaRPr sz="28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5650" y="2924048"/>
            <a:ext cx="8201025" cy="201777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102991" y="59182"/>
            <a:ext cx="291655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-25" dirty="0"/>
              <a:t> </a:t>
            </a:r>
            <a:r>
              <a:rPr dirty="0"/>
              <a:t>Study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3880"/>
            <a:ext cx="557212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Klasifikasi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Ikan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Salmon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dan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Bass.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5940" y="3529076"/>
            <a:ext cx="7791450" cy="2501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99700"/>
              </a:lnSpc>
              <a:spcBef>
                <a:spcPts val="10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Permasalahan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Bagaimana</a:t>
            </a:r>
            <a:r>
              <a:rPr sz="2400" spc="6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memisahkan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ikan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 </a:t>
            </a:r>
            <a:r>
              <a:rPr sz="240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masuk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secara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otomatis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pada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permukaan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berjalan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(mesin)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sesuai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dengan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spesiesnya</a:t>
            </a:r>
            <a:r>
              <a:rPr sz="2800" spc="-5" dirty="0">
                <a:latin typeface="Microsoft Sans Serif"/>
                <a:cs typeface="Microsoft Sans Serif"/>
              </a:rPr>
              <a:t>.</a:t>
            </a:r>
            <a:endParaRPr sz="28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9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Asumsikan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bahwa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kita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hanya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memiliki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dua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jenis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ikan</a:t>
            </a:r>
            <a:r>
              <a:rPr sz="2400" spc="5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75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Sea</a:t>
            </a:r>
            <a:r>
              <a:rPr sz="2400" spc="-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bass.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80"/>
              </a:spcBef>
              <a:buChar char="–"/>
              <a:tabLst>
                <a:tab pos="756920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Salmon.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15975" y="1916048"/>
            <a:ext cx="2532126" cy="144145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810000" y="2197036"/>
            <a:ext cx="2305050" cy="11604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3880"/>
            <a:ext cx="7607934" cy="37579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Apa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yang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bisa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menyebabkan</a:t>
            </a:r>
            <a:r>
              <a:rPr sz="2400" spc="6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masalah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selama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proses </a:t>
            </a:r>
            <a:r>
              <a:rPr sz="2400" spc="-62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Sensing</a:t>
            </a:r>
            <a:r>
              <a:rPr sz="2400" spc="4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?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Kondisi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pencahayaan.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Posisi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permukaan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berjalan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(mesin).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Noise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kamera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hal-hal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lainnya.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Apa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saja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langkah-langkah</a:t>
            </a:r>
            <a:r>
              <a:rPr sz="2400" spc="70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dalam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Proses?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Mengambil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gambar.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Memisahkan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setiap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gambar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melakukan</a:t>
            </a:r>
            <a:r>
              <a:rPr sz="2000" spc="-4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pengukuran.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membuat</a:t>
            </a:r>
            <a:r>
              <a:rPr sz="2000" spc="-4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keputusan.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3880"/>
            <a:ext cx="40811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Diagram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proses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10" dirty="0">
                <a:latin typeface="Microsoft Sans Serif"/>
                <a:cs typeface="Microsoft Sans Serif"/>
              </a:rPr>
              <a:t>klasifikasi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00112" y="1916176"/>
            <a:ext cx="7559675" cy="430682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60874"/>
            <a:ext cx="8189595" cy="492887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 algn="just">
              <a:lnSpc>
                <a:spcPct val="100000"/>
              </a:lnSpc>
              <a:spcBef>
                <a:spcPts val="675"/>
              </a:spcBef>
              <a:buChar char="•"/>
              <a:tabLst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Pre-Processing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Peningkatan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kualitas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gambar.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4"/>
              </a:spcBef>
              <a:buChar char="–"/>
              <a:tabLst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Memisahkan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titik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 yang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merupakan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representasi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kedua</a:t>
            </a:r>
            <a:endParaRPr sz="2000">
              <a:latin typeface="Microsoft Sans Serif"/>
              <a:cs typeface="Microsoft Sans Serif"/>
            </a:endParaRPr>
          </a:p>
          <a:p>
            <a:pPr marL="756285" algn="just">
              <a:lnSpc>
                <a:spcPct val="100000"/>
              </a:lnSpc>
            </a:pP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hampir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saling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bersinggungan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atau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saling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overlap.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Menemukan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garis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boundary/batas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pemisah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kedua</a:t>
            </a:r>
            <a:r>
              <a:rPr sz="2000" spc="-5" dirty="0">
                <a:latin typeface="Microsoft Sans Serif"/>
                <a:cs typeface="Microsoft Sans Serif"/>
              </a:rPr>
              <a:t> ikan.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 algn="just">
              <a:lnSpc>
                <a:spcPct val="100000"/>
              </a:lnSpc>
              <a:spcBef>
                <a:spcPts val="570"/>
              </a:spcBef>
              <a:buChar char="•"/>
              <a:tabLst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How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separate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 </a:t>
            </a:r>
            <a:r>
              <a:rPr sz="2400" spc="-5" dirty="0">
                <a:latin typeface="Microsoft Sans Serif"/>
                <a:cs typeface="Microsoft Sans Serif"/>
              </a:rPr>
              <a:t>Salmon?</a:t>
            </a:r>
            <a:endParaRPr sz="2400">
              <a:latin typeface="Microsoft Sans Serif"/>
              <a:cs typeface="Microsoft Sans Serif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489"/>
              </a:spcBef>
              <a:buChar char="–"/>
              <a:tabLst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Menggunakan </a:t>
            </a:r>
            <a:r>
              <a:rPr sz="2000" spc="-5" dirty="0">
                <a:latin typeface="Microsoft Sans Serif"/>
                <a:cs typeface="Microsoft Sans Serif"/>
              </a:rPr>
              <a:t>fitur </a:t>
            </a:r>
            <a:r>
              <a:rPr sz="2000" dirty="0">
                <a:latin typeface="Microsoft Sans Serif"/>
                <a:cs typeface="Microsoft Sans Serif"/>
              </a:rPr>
              <a:t>yang memungkinkan untuk </a:t>
            </a:r>
            <a:r>
              <a:rPr sz="2000" spc="-5" dirty="0">
                <a:latin typeface="Microsoft Sans Serif"/>
                <a:cs typeface="Microsoft Sans Serif"/>
              </a:rPr>
              <a:t>bisa </a:t>
            </a:r>
            <a:r>
              <a:rPr sz="2000" dirty="0">
                <a:latin typeface="Microsoft Sans Serif"/>
                <a:cs typeface="Microsoft Sans Serif"/>
              </a:rPr>
              <a:t>memisahkan :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(Panjang </a:t>
            </a:r>
            <a:r>
              <a:rPr sz="2000" spc="-5" dirty="0">
                <a:latin typeface="Microsoft Sans Serif"/>
                <a:cs typeface="Microsoft Sans Serif"/>
              </a:rPr>
              <a:t>ikan, </a:t>
            </a:r>
            <a:r>
              <a:rPr sz="2000" dirty="0">
                <a:latin typeface="Microsoft Sans Serif"/>
                <a:cs typeface="Microsoft Sans Serif"/>
              </a:rPr>
              <a:t>Tingkat kecerahan, Lebar </a:t>
            </a:r>
            <a:r>
              <a:rPr sz="2000" spc="-5" dirty="0">
                <a:latin typeface="Microsoft Sans Serif"/>
                <a:cs typeface="Microsoft Sans Serif"/>
              </a:rPr>
              <a:t>ikan, </a:t>
            </a:r>
            <a:r>
              <a:rPr sz="2000" dirty="0">
                <a:latin typeface="Microsoft Sans Serif"/>
                <a:cs typeface="Microsoft Sans Serif"/>
              </a:rPr>
              <a:t>Jumlah dan Bentuk </a:t>
            </a:r>
            <a:r>
              <a:rPr sz="2000" spc="-5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sirip,</a:t>
            </a:r>
            <a:r>
              <a:rPr sz="200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Posisi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mulut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lainnya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spc="-10" dirty="0">
                <a:latin typeface="Microsoft Sans Serif"/>
                <a:cs typeface="Microsoft Sans Serif"/>
              </a:rPr>
              <a:t>jika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masih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ada).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 algn="just">
              <a:lnSpc>
                <a:spcPct val="100000"/>
              </a:lnSpc>
              <a:spcBef>
                <a:spcPts val="480"/>
              </a:spcBef>
              <a:buChar char="–"/>
              <a:tabLst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Asumsi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beberapa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nelayan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mengatakan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bahwa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"Sea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Bass"</a:t>
            </a:r>
            <a:endParaRPr sz="2000">
              <a:latin typeface="Microsoft Sans Serif"/>
              <a:cs typeface="Microsoft Sans Serif"/>
            </a:endParaRPr>
          </a:p>
          <a:p>
            <a:pPr marL="756285" algn="just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umumnya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lebih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panjang daripada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"Salmon".</a:t>
            </a:r>
            <a:endParaRPr sz="2000">
              <a:latin typeface="Microsoft Sans Serif"/>
              <a:cs typeface="Microsoft Sans Serif"/>
            </a:endParaRPr>
          </a:p>
          <a:p>
            <a:pPr marL="756285" marR="71310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Meskipun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rata-rata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"Sea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Bass"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lebih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panjang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"Salmon",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namun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banyak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contoh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mana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dirty="0">
                <a:latin typeface="Microsoft Sans Serif"/>
                <a:cs typeface="Microsoft Sans Serif"/>
              </a:rPr>
              <a:t> 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dilakukan 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pengamatan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ini,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malah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tidak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berlaku.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60874"/>
            <a:ext cx="8042275" cy="291592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How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to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separate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Sea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Bass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from </a:t>
            </a:r>
            <a:r>
              <a:rPr sz="2400" spc="-5" dirty="0">
                <a:latin typeface="Microsoft Sans Serif"/>
                <a:cs typeface="Microsoft Sans Serif"/>
              </a:rPr>
              <a:t>Salmon?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Untuk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meningkatkan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hasil</a:t>
            </a:r>
            <a:r>
              <a:rPr sz="2000" dirty="0">
                <a:latin typeface="Microsoft Sans Serif"/>
                <a:cs typeface="Microsoft Sans Serif"/>
              </a:rPr>
              <a:t> recognition/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pengenalan,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kita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mungkin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icrosoft Sans Serif"/>
                <a:cs typeface="Microsoft Sans Serif"/>
              </a:rPr>
              <a:t>harus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menggunakan</a:t>
            </a:r>
            <a:r>
              <a:rPr sz="2000" spc="-5" dirty="0">
                <a:latin typeface="Microsoft Sans Serif"/>
                <a:cs typeface="Microsoft Sans Serif"/>
              </a:rPr>
              <a:t> lebih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dari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satu </a:t>
            </a: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pada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suatu waktu.</a:t>
            </a:r>
            <a:endParaRPr sz="2000">
              <a:latin typeface="Microsoft Sans Serif"/>
              <a:cs typeface="Microsoft Sans Serif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tunggal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kemungkinan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besar</a:t>
            </a:r>
            <a:r>
              <a:rPr sz="2000" spc="-5" dirty="0">
                <a:latin typeface="Microsoft Sans Serif"/>
                <a:cs typeface="Microsoft Sans Serif"/>
              </a:rPr>
              <a:t> tidak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akan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dapat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menghasilkan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kinerja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terbaik.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Kombinasi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kemungkinan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besar akan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menghasilkan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kinerja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lebih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baik.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Feature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Extraction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67677" y="4797365"/>
            <a:ext cx="208279" cy="60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3800" spc="-25" dirty="0">
                <a:latin typeface="Symbol"/>
                <a:cs typeface="Symbol"/>
              </a:rPr>
              <a:t>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42277" y="5145530"/>
            <a:ext cx="906144" cy="60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3800" spc="-25" dirty="0">
                <a:latin typeface="Symbol"/>
                <a:cs typeface="Symbol"/>
              </a:rPr>
              <a:t></a:t>
            </a:r>
            <a:r>
              <a:rPr sz="3800" spc="-605" dirty="0">
                <a:latin typeface="Times New Roman"/>
                <a:cs typeface="Times New Roman"/>
              </a:rPr>
              <a:t> </a:t>
            </a:r>
            <a:r>
              <a:rPr sz="5700" i="1" spc="-75" baseline="14619" dirty="0">
                <a:latin typeface="Times New Roman"/>
                <a:cs typeface="Times New Roman"/>
              </a:rPr>
              <a:t>x</a:t>
            </a:r>
            <a:r>
              <a:rPr sz="2200" spc="-10" dirty="0">
                <a:latin typeface="Times New Roman"/>
                <a:cs typeface="Times New Roman"/>
              </a:rPr>
              <a:t>2</a:t>
            </a:r>
            <a:r>
              <a:rPr sz="2200" spc="30" dirty="0">
                <a:latin typeface="Times New Roman"/>
                <a:cs typeface="Times New Roman"/>
              </a:rPr>
              <a:t> </a:t>
            </a:r>
            <a:r>
              <a:rPr sz="3800" spc="-25" dirty="0">
                <a:latin typeface="Symbol"/>
                <a:cs typeface="Symbol"/>
              </a:rPr>
              <a:t></a:t>
            </a:r>
            <a:endParaRPr sz="380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13825" y="5265175"/>
            <a:ext cx="140970" cy="30289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800" spc="5" dirty="0">
                <a:latin typeface="Times New Roman"/>
                <a:cs typeface="Times New Roman"/>
              </a:rPr>
              <a:t>2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42277" y="4321344"/>
            <a:ext cx="3038475" cy="60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1113790" algn="l"/>
              </a:tabLst>
            </a:pPr>
            <a:r>
              <a:rPr sz="5700" spc="-37" baseline="-2192" dirty="0">
                <a:latin typeface="Symbol"/>
                <a:cs typeface="Symbol"/>
              </a:rPr>
              <a:t></a:t>
            </a:r>
            <a:r>
              <a:rPr sz="5700" spc="-592" baseline="-2192" dirty="0">
                <a:latin typeface="Times New Roman"/>
                <a:cs typeface="Times New Roman"/>
              </a:rPr>
              <a:t> </a:t>
            </a:r>
            <a:r>
              <a:rPr sz="5700" i="1" spc="-450" baseline="1461" dirty="0">
                <a:latin typeface="Times New Roman"/>
                <a:cs typeface="Times New Roman"/>
              </a:rPr>
              <a:t>x</a:t>
            </a:r>
            <a:r>
              <a:rPr sz="3300" spc="-15" baseline="-21464" dirty="0">
                <a:latin typeface="Times New Roman"/>
                <a:cs typeface="Times New Roman"/>
              </a:rPr>
              <a:t>1</a:t>
            </a:r>
            <a:r>
              <a:rPr sz="3300" spc="97" baseline="-21464" dirty="0">
                <a:latin typeface="Times New Roman"/>
                <a:cs typeface="Times New Roman"/>
              </a:rPr>
              <a:t> </a:t>
            </a:r>
            <a:r>
              <a:rPr sz="5700" spc="-37" baseline="-2192" dirty="0">
                <a:latin typeface="Symbol"/>
                <a:cs typeface="Symbol"/>
              </a:rPr>
              <a:t></a:t>
            </a:r>
            <a:r>
              <a:rPr sz="5700" baseline="-2192" dirty="0">
                <a:latin typeface="Times New Roman"/>
                <a:cs typeface="Times New Roman"/>
              </a:rPr>
              <a:t>	</a:t>
            </a:r>
            <a:r>
              <a:rPr sz="3100" i="1" spc="-245" dirty="0">
                <a:latin typeface="Times New Roman"/>
                <a:cs typeface="Times New Roman"/>
              </a:rPr>
              <a:t>x</a:t>
            </a:r>
            <a:r>
              <a:rPr sz="2700" spc="7" baseline="-24691" dirty="0">
                <a:latin typeface="Times New Roman"/>
                <a:cs typeface="Times New Roman"/>
              </a:rPr>
              <a:t>1</a:t>
            </a:r>
            <a:r>
              <a:rPr sz="2700" spc="254" baseline="-24691" dirty="0">
                <a:latin typeface="Times New Roman"/>
                <a:cs typeface="Times New Roman"/>
              </a:rPr>
              <a:t> </a:t>
            </a:r>
            <a:r>
              <a:rPr sz="3100" spc="5" dirty="0">
                <a:latin typeface="Times New Roman"/>
                <a:cs typeface="Times New Roman"/>
              </a:rPr>
              <a:t>:</a:t>
            </a:r>
            <a:r>
              <a:rPr sz="3100" spc="-400" dirty="0">
                <a:latin typeface="Times New Roman"/>
                <a:cs typeface="Times New Roman"/>
              </a:rPr>
              <a:t> </a:t>
            </a:r>
            <a:r>
              <a:rPr sz="3100" i="1" spc="5" dirty="0">
                <a:latin typeface="Times New Roman"/>
                <a:cs typeface="Times New Roman"/>
              </a:rPr>
              <a:t>li</a:t>
            </a:r>
            <a:r>
              <a:rPr sz="3100" i="1" spc="-35" dirty="0">
                <a:latin typeface="Times New Roman"/>
                <a:cs typeface="Times New Roman"/>
              </a:rPr>
              <a:t>g</a:t>
            </a:r>
            <a:r>
              <a:rPr sz="3100" i="1" spc="-25" dirty="0">
                <a:latin typeface="Times New Roman"/>
                <a:cs typeface="Times New Roman"/>
              </a:rPr>
              <a:t>h</a:t>
            </a:r>
            <a:r>
              <a:rPr sz="3100" i="1" spc="5" dirty="0">
                <a:latin typeface="Times New Roman"/>
                <a:cs typeface="Times New Roman"/>
              </a:rPr>
              <a:t>t</a:t>
            </a:r>
            <a:r>
              <a:rPr sz="3100" i="1" spc="-30" dirty="0">
                <a:latin typeface="Times New Roman"/>
                <a:cs typeface="Times New Roman"/>
              </a:rPr>
              <a:t>n</a:t>
            </a:r>
            <a:r>
              <a:rPr sz="3100" i="1" spc="-40" dirty="0">
                <a:latin typeface="Times New Roman"/>
                <a:cs typeface="Times New Roman"/>
              </a:rPr>
              <a:t>e</a:t>
            </a:r>
            <a:r>
              <a:rPr sz="3100" i="1" spc="-10" dirty="0">
                <a:latin typeface="Times New Roman"/>
                <a:cs typeface="Times New Roman"/>
              </a:rPr>
              <a:t>s</a:t>
            </a:r>
            <a:r>
              <a:rPr sz="3100" i="1" spc="5" dirty="0">
                <a:latin typeface="Times New Roman"/>
                <a:cs typeface="Times New Roman"/>
              </a:rPr>
              <a:t>s</a:t>
            </a:r>
            <a:endParaRPr sz="31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589347" y="4910149"/>
            <a:ext cx="1937385" cy="6089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  <a:tabLst>
                <a:tab pos="466725" algn="l"/>
                <a:tab pos="848994" algn="l"/>
              </a:tabLst>
            </a:pPr>
            <a:r>
              <a:rPr sz="5700" spc="-37" baseline="13157" dirty="0">
                <a:latin typeface="Symbol"/>
                <a:cs typeface="Symbol"/>
              </a:rPr>
              <a:t></a:t>
            </a:r>
            <a:r>
              <a:rPr sz="5700" spc="-37" baseline="13157" dirty="0">
                <a:latin typeface="Times New Roman"/>
                <a:cs typeface="Times New Roman"/>
              </a:rPr>
              <a:t>	</a:t>
            </a:r>
            <a:r>
              <a:rPr sz="3100" i="1" spc="5" dirty="0">
                <a:latin typeface="Times New Roman"/>
                <a:cs typeface="Times New Roman"/>
              </a:rPr>
              <a:t>x	</a:t>
            </a:r>
            <a:r>
              <a:rPr sz="3100" spc="5" dirty="0">
                <a:latin typeface="Times New Roman"/>
                <a:cs typeface="Times New Roman"/>
              </a:rPr>
              <a:t>:</a:t>
            </a:r>
            <a:r>
              <a:rPr sz="3100" spc="-260" dirty="0">
                <a:latin typeface="Times New Roman"/>
                <a:cs typeface="Times New Roman"/>
              </a:rPr>
              <a:t> </a:t>
            </a:r>
            <a:r>
              <a:rPr sz="3100" i="1" spc="-10" dirty="0">
                <a:latin typeface="Times New Roman"/>
                <a:cs typeface="Times New Roman"/>
              </a:rPr>
              <a:t>w</a:t>
            </a:r>
            <a:r>
              <a:rPr sz="3100" i="1" spc="5" dirty="0">
                <a:latin typeface="Times New Roman"/>
                <a:cs typeface="Times New Roman"/>
              </a:rPr>
              <a:t>i</a:t>
            </a:r>
            <a:r>
              <a:rPr sz="3100" i="1" spc="-30" dirty="0">
                <a:latin typeface="Times New Roman"/>
                <a:cs typeface="Times New Roman"/>
              </a:rPr>
              <a:t>d</a:t>
            </a:r>
            <a:r>
              <a:rPr sz="3100" i="1" spc="5" dirty="0">
                <a:latin typeface="Times New Roman"/>
                <a:cs typeface="Times New Roman"/>
              </a:rPr>
              <a:t>th</a:t>
            </a:r>
            <a:endParaRPr sz="3100">
              <a:latin typeface="Times New Roman"/>
              <a:cs typeface="Times New Roman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284726" y="4238625"/>
            <a:ext cx="4248150" cy="19272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333880"/>
            <a:ext cx="3098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Decision</a:t>
            </a:r>
            <a:r>
              <a:rPr sz="2400" spc="3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Boundary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95287" y="1773301"/>
            <a:ext cx="8428355" cy="2173605"/>
            <a:chOff x="395287" y="1773301"/>
            <a:chExt cx="8428355" cy="2173605"/>
          </a:xfrm>
        </p:grpSpPr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5287" y="1773301"/>
              <a:ext cx="4752975" cy="216052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716526" y="1836801"/>
              <a:ext cx="4106799" cy="21097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083555" y="4147566"/>
            <a:ext cx="3865879" cy="2220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Model yang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lebih kompleks</a:t>
            </a:r>
            <a:r>
              <a:rPr sz="1800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akan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menghasilkan</a:t>
            </a:r>
            <a:r>
              <a:rPr sz="1800" i="1" spc="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boundary/batas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pemisah</a:t>
            </a:r>
            <a:r>
              <a:rPr sz="1800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yang</a:t>
            </a:r>
            <a:r>
              <a:rPr sz="1800" i="1" spc="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lebih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kompleks</a:t>
            </a:r>
            <a:r>
              <a:rPr sz="1800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pula.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Clr>
                <a:srgbClr val="FF0000"/>
              </a:buClr>
              <a:buFont typeface="Wingdings"/>
              <a:buChar char=""/>
            </a:pPr>
            <a:endParaRPr sz="1850">
              <a:latin typeface="Arial"/>
              <a:cs typeface="Arial"/>
            </a:endParaRPr>
          </a:p>
          <a:p>
            <a:pPr marL="299085" marR="359410" indent="-287020">
              <a:lnSpc>
                <a:spcPct val="100000"/>
              </a:lnSpc>
              <a:spcBef>
                <a:spcPts val="5"/>
              </a:spcBef>
              <a:buFont typeface="Wingdings"/>
              <a:buChar char=""/>
              <a:tabLst>
                <a:tab pos="299085" algn="l"/>
                <a:tab pos="299720" algn="l"/>
              </a:tabLst>
            </a:pP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Penggunaan fitur yang berbeda </a:t>
            </a:r>
            <a:r>
              <a:rPr sz="1800" i="1" spc="-4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akan</a:t>
            </a:r>
            <a:r>
              <a:rPr sz="1800" i="1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menghasilkan</a:t>
            </a:r>
            <a:r>
              <a:rPr sz="1800" i="1" spc="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boundary/ 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batas</a:t>
            </a:r>
            <a:r>
              <a:rPr sz="1800" i="1" spc="-10" dirty="0">
                <a:solidFill>
                  <a:srgbClr val="FF0000"/>
                </a:solidFill>
                <a:latin typeface="Arial"/>
                <a:cs typeface="Arial"/>
              </a:rPr>
              <a:t> pemisah</a:t>
            </a:r>
            <a:r>
              <a:rPr sz="1800" i="1" spc="2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keputusan</a:t>
            </a:r>
            <a:r>
              <a:rPr sz="1800" i="1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yang </a:t>
            </a:r>
            <a:r>
              <a:rPr sz="1800" i="1" spc="-484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berbeda</a:t>
            </a:r>
            <a:r>
              <a:rPr sz="1800" i="1" spc="1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800" i="1" spc="-5" dirty="0">
                <a:solidFill>
                  <a:srgbClr val="FF0000"/>
                </a:solidFill>
                <a:latin typeface="Arial"/>
                <a:cs typeface="Arial"/>
              </a:rPr>
              <a:t>pula.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12" name="object 1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54050" y="4078287"/>
            <a:ext cx="3946525" cy="235267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60874"/>
            <a:ext cx="8192134" cy="497014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Decision</a:t>
            </a:r>
            <a:r>
              <a:rPr sz="2400" spc="4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Boundary</a:t>
            </a:r>
            <a:r>
              <a:rPr sz="2400" spc="30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Apakah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kemungkinan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bahwa pelanggan/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pembeli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icrosoft Sans Serif"/>
                <a:cs typeface="Microsoft Sans Serif"/>
              </a:rPr>
              <a:t>menemukan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"Sea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Bass"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dalam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kumpulan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"Salmon"?</a:t>
            </a:r>
            <a:endParaRPr sz="2000">
              <a:latin typeface="Microsoft Sans Serif"/>
              <a:cs typeface="Microsoft Sans Serif"/>
            </a:endParaRPr>
          </a:p>
          <a:p>
            <a:pPr marL="756285" marR="17081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Kita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juga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harus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mempertimbangkan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biaya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sesuai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dengan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tingkat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kesalahan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berbeda</a:t>
            </a:r>
            <a:r>
              <a:rPr sz="2000" spc="-5" dirty="0">
                <a:latin typeface="Microsoft Sans Serif"/>
                <a:cs typeface="Microsoft Sans Serif"/>
              </a:rPr>
              <a:t> dalam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setiap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keputusan 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kita</a:t>
            </a:r>
            <a:r>
              <a:rPr sz="2000" spc="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buat.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Sebagai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contoh,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jika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perusahaan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melakukan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pengepakan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mengetahui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bahwa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:</a:t>
            </a:r>
            <a:endParaRPr sz="2000">
              <a:latin typeface="Microsoft Sans Serif"/>
              <a:cs typeface="Microsoft Sans Serif"/>
            </a:endParaRPr>
          </a:p>
          <a:p>
            <a:pPr marL="1155700" marR="576580" lvl="2" indent="-228600">
              <a:lnSpc>
                <a:spcPct val="100000"/>
              </a:lnSpc>
              <a:spcBef>
                <a:spcPts val="440"/>
              </a:spcBef>
              <a:buChar char="•"/>
              <a:tabLst>
                <a:tab pos="1155700" algn="l"/>
                <a:tab pos="115633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Pelanggan</a:t>
            </a:r>
            <a:r>
              <a:rPr sz="1800" spc="5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yang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membeli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ikan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Salmon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akan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sangat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kecewa</a:t>
            </a:r>
            <a:r>
              <a:rPr sz="1800" spc="7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jika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mereka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melihat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ikan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Sea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Bass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dalam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kaleng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mereka.</a:t>
            </a:r>
            <a:endParaRPr sz="1800">
              <a:latin typeface="Microsoft Sans Serif"/>
              <a:cs typeface="Microsoft Sans Serif"/>
            </a:endParaRPr>
          </a:p>
          <a:p>
            <a:pPr marL="1155700" marR="5080" lvl="2" indent="-228600">
              <a:lnSpc>
                <a:spcPct val="100000"/>
              </a:lnSpc>
              <a:spcBef>
                <a:spcPts val="434"/>
              </a:spcBef>
              <a:buChar char="•"/>
              <a:tabLst>
                <a:tab pos="1155700" algn="l"/>
                <a:tab pos="1156335" algn="l"/>
              </a:tabLst>
            </a:pPr>
            <a:r>
              <a:rPr sz="1800" spc="-10" dirty="0">
                <a:latin typeface="Microsoft Sans Serif"/>
                <a:cs typeface="Microsoft Sans Serif"/>
              </a:rPr>
              <a:t>Pelanggan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yang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membeli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ikan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Bass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tidak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akan</a:t>
            </a:r>
            <a:r>
              <a:rPr sz="1800" spc="2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merasa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senang </a:t>
            </a:r>
            <a:r>
              <a:rPr sz="180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jika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mereka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sering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melihat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ikan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Salmon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5" dirty="0">
                <a:latin typeface="Microsoft Sans Serif"/>
                <a:cs typeface="Microsoft Sans Serif"/>
              </a:rPr>
              <a:t>yang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lebih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mahal</a:t>
            </a:r>
            <a:r>
              <a:rPr sz="1800" spc="30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di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kaleng </a:t>
            </a:r>
            <a:r>
              <a:rPr sz="1800" spc="-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yang</a:t>
            </a:r>
            <a:r>
              <a:rPr sz="1800" spc="5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mereka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beli.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Ini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sepertinya</a:t>
            </a:r>
            <a:r>
              <a:rPr sz="1800" spc="6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buka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masalah</a:t>
            </a:r>
            <a:r>
              <a:rPr sz="1800" spc="40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harga,</a:t>
            </a:r>
            <a:r>
              <a:rPr sz="1800" spc="4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tapi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5" dirty="0">
                <a:latin typeface="Microsoft Sans Serif"/>
                <a:cs typeface="Microsoft Sans Serif"/>
              </a:rPr>
              <a:t>selera</a:t>
            </a:r>
            <a:r>
              <a:rPr sz="1800" spc="3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ikan </a:t>
            </a:r>
            <a:r>
              <a:rPr sz="1800" spc="-46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dari</a:t>
            </a:r>
            <a:r>
              <a:rPr sz="1800" spc="25" dirty="0">
                <a:latin typeface="Microsoft Sans Serif"/>
                <a:cs typeface="Microsoft Sans Serif"/>
              </a:rPr>
              <a:t> </a:t>
            </a:r>
            <a:r>
              <a:rPr sz="1800" spc="-10" dirty="0">
                <a:latin typeface="Microsoft Sans Serif"/>
                <a:cs typeface="Microsoft Sans Serif"/>
              </a:rPr>
              <a:t>pelanggan.</a:t>
            </a:r>
            <a:endParaRPr sz="18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515"/>
              </a:spcBef>
              <a:buChar char="–"/>
              <a:tabLst>
                <a:tab pos="756285" algn="l"/>
                <a:tab pos="756920" algn="l"/>
              </a:tabLst>
            </a:pPr>
            <a:r>
              <a:rPr sz="2200" spc="-5" dirty="0">
                <a:latin typeface="Microsoft Sans Serif"/>
                <a:cs typeface="Microsoft Sans Serif"/>
              </a:rPr>
              <a:t>Bagaimanapun,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pengetahuan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yang</a:t>
            </a:r>
            <a:r>
              <a:rPr sz="2200" spc="45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dimiliki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pelanggan</a:t>
            </a:r>
            <a:r>
              <a:rPr sz="2200" spc="6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akan</a:t>
            </a:r>
            <a:endParaRPr sz="22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2200" spc="-5" dirty="0">
                <a:latin typeface="Microsoft Sans Serif"/>
                <a:cs typeface="Microsoft Sans Serif"/>
              </a:rPr>
              <a:t>mempengaruhi</a:t>
            </a:r>
            <a:r>
              <a:rPr sz="2200" spc="75" dirty="0">
                <a:latin typeface="Microsoft Sans Serif"/>
                <a:cs typeface="Microsoft Sans Serif"/>
              </a:rPr>
              <a:t> </a:t>
            </a:r>
            <a:r>
              <a:rPr sz="2200" dirty="0">
                <a:latin typeface="Microsoft Sans Serif"/>
                <a:cs typeface="Microsoft Sans Serif"/>
              </a:rPr>
              <a:t>keputusan</a:t>
            </a:r>
            <a:r>
              <a:rPr sz="2200" spc="3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untuk</a:t>
            </a:r>
            <a:r>
              <a:rPr sz="2200" spc="30" dirty="0">
                <a:latin typeface="Microsoft Sans Serif"/>
                <a:cs typeface="Microsoft Sans Serif"/>
              </a:rPr>
              <a:t> </a:t>
            </a:r>
            <a:r>
              <a:rPr sz="2200" spc="-10" dirty="0">
                <a:latin typeface="Microsoft Sans Serif"/>
                <a:cs typeface="Microsoft Sans Serif"/>
              </a:rPr>
              <a:t>membeli</a:t>
            </a:r>
            <a:r>
              <a:rPr sz="2200" spc="55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ikan</a:t>
            </a:r>
            <a:r>
              <a:rPr sz="2200" spc="20" dirty="0">
                <a:latin typeface="Microsoft Sans Serif"/>
                <a:cs typeface="Microsoft Sans Serif"/>
              </a:rPr>
              <a:t> </a:t>
            </a:r>
            <a:r>
              <a:rPr sz="2200" spc="-5" dirty="0">
                <a:latin typeface="Microsoft Sans Serif"/>
                <a:cs typeface="Microsoft Sans Serif"/>
              </a:rPr>
              <a:t>kaleng.</a:t>
            </a:r>
            <a:endParaRPr sz="22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170302" y="59182"/>
            <a:ext cx="4781550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Case</a:t>
            </a:r>
            <a:r>
              <a:rPr spc="20" dirty="0"/>
              <a:t> </a:t>
            </a:r>
            <a:r>
              <a:rPr dirty="0"/>
              <a:t>Study</a:t>
            </a:r>
            <a:r>
              <a:rPr spc="20" dirty="0"/>
              <a:t> </a:t>
            </a:r>
            <a:r>
              <a:rPr dirty="0"/>
              <a:t>(Cont.)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60874"/>
            <a:ext cx="8035290" cy="357441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dirty="0">
                <a:latin typeface="Microsoft Sans Serif"/>
                <a:cs typeface="Microsoft Sans Serif"/>
              </a:rPr>
              <a:t>Isu-Isu </a:t>
            </a:r>
            <a:r>
              <a:rPr sz="2400" spc="-5" dirty="0">
                <a:latin typeface="Microsoft Sans Serif"/>
                <a:cs typeface="Microsoft Sans Serif"/>
              </a:rPr>
              <a:t>terkait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dengan</a:t>
            </a:r>
            <a:r>
              <a:rPr sz="2400" spc="5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Ekstraksi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Fitur</a:t>
            </a:r>
            <a:r>
              <a:rPr sz="2400" spc="15" dirty="0">
                <a:latin typeface="Microsoft Sans Serif"/>
                <a:cs typeface="Microsoft Sans Serif"/>
              </a:rPr>
              <a:t> </a:t>
            </a:r>
            <a:r>
              <a:rPr sz="2400" dirty="0">
                <a:latin typeface="Microsoft Sans Serif"/>
                <a:cs typeface="Microsoft Sans Serif"/>
              </a:rPr>
              <a:t>: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Apakah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ada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kemungkinan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bahwa pelanggan/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pembeli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Microsoft Sans Serif"/>
                <a:cs typeface="Microsoft Sans Serif"/>
              </a:rPr>
              <a:t>menemukan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"Sea</a:t>
            </a:r>
            <a:r>
              <a:rPr sz="2000" spc="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Bass"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di</a:t>
            </a:r>
            <a:r>
              <a:rPr sz="2000" spc="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dalam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kumpulan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ikan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"Salmon"?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berkorelasi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besar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tidak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akan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meningkatkan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kinerja.</a:t>
            </a:r>
            <a:endParaRPr sz="2000">
              <a:latin typeface="Microsoft Sans Serif"/>
              <a:cs typeface="Microsoft Sans Serif"/>
            </a:endParaRPr>
          </a:p>
          <a:p>
            <a:pPr marL="756285" marR="63817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Kemungkinan akan ada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kesulitan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untuk mengekstraksi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 </a:t>
            </a:r>
            <a:r>
              <a:rPr sz="2000" spc="-5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tertentu.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Dibutuhkan komputasi yang</a:t>
            </a:r>
            <a:r>
              <a:rPr sz="2000" spc="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cukup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mahal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untuk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mengekstraksi</a:t>
            </a:r>
            <a:endParaRPr sz="2000">
              <a:latin typeface="Microsoft Sans Serif"/>
              <a:cs typeface="Microsoft Sans Serif"/>
            </a:endParaRPr>
          </a:p>
          <a:p>
            <a:pPr marL="756285">
              <a:lnSpc>
                <a:spcPct val="100000"/>
              </a:lnSpc>
            </a:pPr>
            <a:r>
              <a:rPr sz="2000" dirty="0">
                <a:latin typeface="Microsoft Sans Serif"/>
                <a:cs typeface="Microsoft Sans Serif"/>
              </a:rPr>
              <a:t>banyak</a:t>
            </a:r>
            <a:r>
              <a:rPr sz="2000" spc="-35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Adanya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fitur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hilang.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Domain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pengetahuan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yang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digunakan.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7937" y="15875"/>
            <a:ext cx="9136380" cy="1079500"/>
            <a:chOff x="7937" y="15875"/>
            <a:chExt cx="9136380" cy="107950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37" y="15875"/>
              <a:ext cx="9136062" cy="10795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7949" y="260375"/>
              <a:ext cx="708025" cy="535025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340991" y="59182"/>
            <a:ext cx="4439285" cy="69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The</a:t>
            </a:r>
            <a:r>
              <a:rPr spc="15" dirty="0"/>
              <a:t> </a:t>
            </a:r>
            <a:r>
              <a:rPr spc="-5" dirty="0"/>
              <a:t>Design</a:t>
            </a:r>
            <a:r>
              <a:rPr spc="20" dirty="0"/>
              <a:t> </a:t>
            </a:r>
            <a:r>
              <a:rPr spc="-5" dirty="0"/>
              <a:t>Cycle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535940" y="1260874"/>
            <a:ext cx="6827520" cy="44164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6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Collect</a:t>
            </a:r>
            <a:r>
              <a:rPr sz="2400" spc="2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Data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Mengumpulkan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 </a:t>
            </a:r>
            <a:r>
              <a:rPr sz="2000" spc="-5" dirty="0">
                <a:latin typeface="Microsoft Sans Serif"/>
                <a:cs typeface="Microsoft Sans Serif"/>
              </a:rPr>
              <a:t>training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dan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testing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Choose</a:t>
            </a:r>
            <a:r>
              <a:rPr sz="2400" spc="25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Features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Disesuaikan</a:t>
            </a:r>
            <a:r>
              <a:rPr sz="2000" spc="-2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dengan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domain</a:t>
            </a:r>
            <a:r>
              <a:rPr sz="2000" spc="-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Choose</a:t>
            </a:r>
            <a:r>
              <a:rPr sz="2400" spc="10" dirty="0">
                <a:latin typeface="Microsoft Sans Serif"/>
                <a:cs typeface="Microsoft Sans Serif"/>
              </a:rPr>
              <a:t> </a:t>
            </a:r>
            <a:r>
              <a:rPr sz="2400" spc="-5" dirty="0">
                <a:latin typeface="Microsoft Sans Serif"/>
                <a:cs typeface="Microsoft Sans Serif"/>
              </a:rPr>
              <a:t>Model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Disesuaikan</a:t>
            </a:r>
            <a:r>
              <a:rPr sz="2000" spc="-2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dengan</a:t>
            </a:r>
            <a:r>
              <a:rPr sz="2000" spc="-1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domain</a:t>
            </a:r>
            <a:r>
              <a:rPr sz="2000" spc="-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0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10" dirty="0">
                <a:latin typeface="Microsoft Sans Serif"/>
                <a:cs typeface="Microsoft Sans Serif"/>
              </a:rPr>
              <a:t>Training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Supervised</a:t>
            </a:r>
            <a:r>
              <a:rPr sz="2000" spc="-30" dirty="0">
                <a:latin typeface="Microsoft Sans Serif"/>
                <a:cs typeface="Microsoft Sans Serif"/>
              </a:rPr>
              <a:t> </a:t>
            </a:r>
            <a:r>
              <a:rPr sz="2000" spc="-5" dirty="0">
                <a:latin typeface="Microsoft Sans Serif"/>
                <a:cs typeface="Microsoft Sans Serif"/>
              </a:rPr>
              <a:t>learning.</a:t>
            </a:r>
            <a:endParaRPr sz="20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0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Unsupervised</a:t>
            </a:r>
            <a:r>
              <a:rPr sz="2000" spc="-5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learning.</a:t>
            </a:r>
            <a:endParaRPr sz="2000">
              <a:latin typeface="Microsoft Sans Serif"/>
              <a:cs typeface="Microsoft Sans Serif"/>
            </a:endParaRP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Char char="•"/>
              <a:tabLst>
                <a:tab pos="355600" algn="l"/>
                <a:tab pos="356235" algn="l"/>
              </a:tabLst>
            </a:pPr>
            <a:r>
              <a:rPr sz="2400" spc="-5" dirty="0">
                <a:latin typeface="Microsoft Sans Serif"/>
                <a:cs typeface="Microsoft Sans Serif"/>
              </a:rPr>
              <a:t>Evaluate</a:t>
            </a:r>
            <a:endParaRPr sz="2400">
              <a:latin typeface="Microsoft Sans Serif"/>
              <a:cs typeface="Microsoft Sans Serif"/>
            </a:endParaRPr>
          </a:p>
          <a:p>
            <a:pPr marL="756285" lvl="1" indent="-287020">
              <a:lnSpc>
                <a:spcPct val="100000"/>
              </a:lnSpc>
              <a:spcBef>
                <a:spcPts val="484"/>
              </a:spcBef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Microsoft Sans Serif"/>
                <a:cs typeface="Microsoft Sans Serif"/>
              </a:rPr>
              <a:t>Menghitung</a:t>
            </a:r>
            <a:r>
              <a:rPr sz="2000" spc="-5" dirty="0">
                <a:latin typeface="Microsoft Sans Serif"/>
                <a:cs typeface="Microsoft Sans Serif"/>
              </a:rPr>
              <a:t> kinerja</a:t>
            </a:r>
            <a:r>
              <a:rPr sz="2000" dirty="0">
                <a:latin typeface="Microsoft Sans Serif"/>
                <a:cs typeface="Microsoft Sans Serif"/>
              </a:rPr>
              <a:t> dengan</a:t>
            </a:r>
            <a:r>
              <a:rPr sz="2000" spc="-5" dirty="0">
                <a:latin typeface="Microsoft Sans Serif"/>
                <a:cs typeface="Microsoft Sans Serif"/>
              </a:rPr>
              <a:t> fitur</a:t>
            </a:r>
            <a:r>
              <a:rPr sz="2000" spc="10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data yang</a:t>
            </a:r>
            <a:r>
              <a:rPr sz="2000" spc="5" dirty="0">
                <a:latin typeface="Microsoft Sans Serif"/>
                <a:cs typeface="Microsoft Sans Serif"/>
              </a:rPr>
              <a:t> </a:t>
            </a:r>
            <a:r>
              <a:rPr sz="2000" dirty="0">
                <a:latin typeface="Microsoft Sans Serif"/>
                <a:cs typeface="Microsoft Sans Serif"/>
              </a:rPr>
              <a:t>digunakan.</a:t>
            </a:r>
            <a:endParaRPr sz="20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5000" y="3276600"/>
            <a:ext cx="6002935" cy="65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>
                <a:solidFill>
                  <a:srgbClr val="1C1C1C"/>
                </a:solidFill>
                <a:latin typeface="Arial"/>
                <a:cs typeface="Arial"/>
              </a:rPr>
              <a:t>Selesai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34</TotalTime>
  <Words>1776</Words>
  <Application>Microsoft Office PowerPoint</Application>
  <PresentationFormat>On-screen Show (4:3)</PresentationFormat>
  <Paragraphs>399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4" baseType="lpstr">
      <vt:lpstr>Arial</vt:lpstr>
      <vt:lpstr>Cambria</vt:lpstr>
      <vt:lpstr>Comic Sans MS</vt:lpstr>
      <vt:lpstr>Microsoft Sans Serif</vt:lpstr>
      <vt:lpstr>Symbol</vt:lpstr>
      <vt:lpstr>Times New Roman</vt:lpstr>
      <vt:lpstr>Trebuchet MS</vt:lpstr>
      <vt:lpstr>Wingdings</vt:lpstr>
      <vt:lpstr>Wingdings 3</vt:lpstr>
      <vt:lpstr>Facet</vt:lpstr>
      <vt:lpstr>Pengenalan Pola/  Pattern Recognition</vt:lpstr>
      <vt:lpstr>Dasar Pengenalan Pola 1</vt:lpstr>
      <vt:lpstr>Apa itu Pola (Pattern) ?</vt:lpstr>
      <vt:lpstr>Apa itu Kelas Pola ?</vt:lpstr>
      <vt:lpstr>Apa itu Pengenalan Pola ?</vt:lpstr>
      <vt:lpstr>Persepsi Manusia</vt:lpstr>
      <vt:lpstr>Contoh Aplikasi</vt:lpstr>
      <vt:lpstr>Aplikasi Pengenalan Pola berdasarkan  Domain Permasalahan</vt:lpstr>
      <vt:lpstr>Aplikasi Pengenalan Pola berdasarkan  Domain Permasalahan</vt:lpstr>
      <vt:lpstr>Pendekatan Pengenalan Pola</vt:lpstr>
      <vt:lpstr>Model Pengenalan Pola</vt:lpstr>
      <vt:lpstr>Pendekatan Statistik</vt:lpstr>
      <vt:lpstr>Pendekatan Statistik A A B</vt:lpstr>
      <vt:lpstr>Pendekatan Statistik</vt:lpstr>
      <vt:lpstr>Pendekatan Statistik A A B</vt:lpstr>
      <vt:lpstr>Permasalahan</vt:lpstr>
      <vt:lpstr>Persepsi Manusia dan Mesin</vt:lpstr>
      <vt:lpstr>Pengenalan Pola</vt:lpstr>
      <vt:lpstr>Konsep Dasar</vt:lpstr>
      <vt:lpstr>Example</vt:lpstr>
      <vt:lpstr>Learning</vt:lpstr>
      <vt:lpstr>Classification Vs Clustering</vt:lpstr>
      <vt:lpstr>Pattern Recognation Process</vt:lpstr>
      <vt:lpstr>Pattern Recognation System</vt:lpstr>
      <vt:lpstr>Case Study</vt:lpstr>
      <vt:lpstr>Case Study (Cont.)</vt:lpstr>
      <vt:lpstr>Case Study (Cont.)</vt:lpstr>
      <vt:lpstr>Case Study (Cont.)</vt:lpstr>
      <vt:lpstr>Case Study (Cont.)</vt:lpstr>
      <vt:lpstr>Case Study (Cont.)</vt:lpstr>
      <vt:lpstr>Case Study (Cont.)</vt:lpstr>
      <vt:lpstr>Case Study (Cont.)</vt:lpstr>
      <vt:lpstr>The Design Cycle</vt:lpstr>
      <vt:lpstr>Selesai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</dc:title>
  <dc:creator>arief</dc:creator>
  <cp:lastModifiedBy>arief kelik nugroho</cp:lastModifiedBy>
  <cp:revision>6</cp:revision>
  <dcterms:created xsi:type="dcterms:W3CDTF">2021-08-19T16:45:48Z</dcterms:created>
  <dcterms:modified xsi:type="dcterms:W3CDTF">2026-08-18T09:15:55Z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2014-07-07T00:00:00Z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2021-08-19T00:00:00Z</vt:filetime>
  </property>
</Properties>
</file>