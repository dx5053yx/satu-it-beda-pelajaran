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97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23682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541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480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4994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3867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398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409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117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4052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41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7437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219201" y="2204720"/>
            <a:ext cx="70866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4000" b="1" spc="-5" dirty="0" err="1">
                <a:latin typeface="Arial"/>
                <a:cs typeface="Arial"/>
              </a:rPr>
              <a:t>Pengenalan</a:t>
            </a:r>
            <a:r>
              <a:rPr sz="4000" b="1" spc="-5" dirty="0">
                <a:latin typeface="Arial"/>
                <a:cs typeface="Arial"/>
              </a:rPr>
              <a:t> Pola  Pattern</a:t>
            </a:r>
            <a:r>
              <a:rPr sz="4000" b="1" spc="-55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Recognition</a:t>
            </a:r>
            <a:endParaRPr sz="40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0132" y="149428"/>
            <a:ext cx="640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Dasar Pengenalan Pola</a:t>
            </a:r>
            <a:r>
              <a:rPr spc="-60" dirty="0"/>
              <a:t> </a:t>
            </a:r>
            <a:r>
              <a:rPr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35148"/>
            <a:ext cx="5168265" cy="434276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The Design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Cycle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Collect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Object to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Dataset</a:t>
            </a:r>
            <a:endParaRPr sz="28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Feature </a:t>
            </a:r>
            <a:r>
              <a:rPr sz="2800" dirty="0">
                <a:latin typeface="Arial"/>
                <a:cs typeface="Arial"/>
              </a:rPr>
              <a:t>Selection </a:t>
            </a:r>
            <a:r>
              <a:rPr sz="2800" spc="-5" dirty="0">
                <a:latin typeface="Arial"/>
                <a:cs typeface="Arial"/>
              </a:rPr>
              <a:t>Using </a:t>
            </a:r>
            <a:r>
              <a:rPr sz="2800" spc="-10" dirty="0">
                <a:latin typeface="Arial"/>
                <a:cs typeface="Arial"/>
              </a:rPr>
              <a:t>PCA</a:t>
            </a:r>
            <a:endParaRPr sz="2800">
              <a:latin typeface="Arial"/>
              <a:cs typeface="Arial"/>
            </a:endParaRPr>
          </a:p>
          <a:p>
            <a:pPr marL="927100" lvl="1" indent="-514350">
              <a:lnSpc>
                <a:spcPct val="100000"/>
              </a:lnSpc>
              <a:spcBef>
                <a:spcPts val="595"/>
              </a:spcBef>
              <a:buChar char="–"/>
              <a:tabLst>
                <a:tab pos="927100" algn="l"/>
                <a:tab pos="927735" algn="l"/>
              </a:tabLst>
            </a:pPr>
            <a:r>
              <a:rPr sz="2400" spc="-5" dirty="0">
                <a:latin typeface="Arial"/>
                <a:cs typeface="Arial"/>
              </a:rPr>
              <a:t>Menghitung Eigen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Value</a:t>
            </a:r>
            <a:endParaRPr sz="2400">
              <a:latin typeface="Arial"/>
              <a:cs typeface="Arial"/>
            </a:endParaRPr>
          </a:p>
          <a:p>
            <a:pPr marL="927100" lvl="1" indent="-514350">
              <a:lnSpc>
                <a:spcPct val="100000"/>
              </a:lnSpc>
              <a:spcBef>
                <a:spcPts val="575"/>
              </a:spcBef>
              <a:buChar char="–"/>
              <a:tabLst>
                <a:tab pos="927100" algn="l"/>
                <a:tab pos="927735" algn="l"/>
              </a:tabLst>
            </a:pPr>
            <a:r>
              <a:rPr sz="2400" spc="-5" dirty="0">
                <a:latin typeface="Arial"/>
                <a:cs typeface="Arial"/>
              </a:rPr>
              <a:t>Menghitung Eigen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Vector</a:t>
            </a:r>
            <a:endParaRPr sz="2400">
              <a:latin typeface="Arial"/>
              <a:cs typeface="Arial"/>
            </a:endParaRPr>
          </a:p>
          <a:p>
            <a:pPr marL="927100" lvl="1" indent="-514350">
              <a:lnSpc>
                <a:spcPct val="100000"/>
              </a:lnSpc>
              <a:spcBef>
                <a:spcPts val="580"/>
              </a:spcBef>
              <a:buChar char="–"/>
              <a:tabLst>
                <a:tab pos="927100" algn="l"/>
                <a:tab pos="927735" algn="l"/>
              </a:tabLst>
            </a:pPr>
            <a:r>
              <a:rPr sz="2400" dirty="0">
                <a:latin typeface="Arial"/>
                <a:cs typeface="Arial"/>
              </a:rPr>
              <a:t>Transformasi </a:t>
            </a:r>
            <a:r>
              <a:rPr sz="2400" spc="-5" dirty="0">
                <a:latin typeface="Arial"/>
                <a:cs typeface="Arial"/>
              </a:rPr>
              <a:t>Data</a:t>
            </a:r>
            <a:r>
              <a:rPr sz="2400" spc="-1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Fitur</a:t>
            </a:r>
            <a:endParaRPr sz="2400">
              <a:latin typeface="Arial"/>
              <a:cs typeface="Arial"/>
            </a:endParaRPr>
          </a:p>
          <a:p>
            <a:pPr marL="927100" lvl="1" indent="-514350">
              <a:lnSpc>
                <a:spcPct val="100000"/>
              </a:lnSpc>
              <a:spcBef>
                <a:spcPts val="575"/>
              </a:spcBef>
              <a:buChar char="–"/>
              <a:tabLst>
                <a:tab pos="927100" algn="l"/>
                <a:tab pos="927735" algn="l"/>
              </a:tabLst>
            </a:pPr>
            <a:r>
              <a:rPr sz="2400" spc="-5" dirty="0">
                <a:latin typeface="Arial"/>
                <a:cs typeface="Arial"/>
              </a:rPr>
              <a:t>Menghitung Nilai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Error</a:t>
            </a:r>
            <a:endParaRPr sz="2400">
              <a:latin typeface="Arial"/>
              <a:cs typeface="Arial"/>
            </a:endParaRPr>
          </a:p>
          <a:p>
            <a:pPr marL="527685" indent="-51562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Arial"/>
                <a:cs typeface="Arial"/>
              </a:rPr>
              <a:t>Tugas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2294" y="264617"/>
            <a:ext cx="44405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The Design</a:t>
            </a:r>
            <a:r>
              <a:rPr spc="-75" dirty="0"/>
              <a:t> </a:t>
            </a:r>
            <a:r>
              <a:rPr dirty="0"/>
              <a:t>Cycle</a:t>
            </a:r>
          </a:p>
        </p:txBody>
      </p:sp>
      <p:sp>
        <p:nvSpPr>
          <p:cNvPr id="3" name="object 3"/>
          <p:cNvSpPr/>
          <p:nvPr/>
        </p:nvSpPr>
        <p:spPr>
          <a:xfrm>
            <a:off x="395287" y="1859152"/>
            <a:ext cx="2597785" cy="462280"/>
          </a:xfrm>
          <a:custGeom>
            <a:avLst/>
            <a:gdLst/>
            <a:ahLst/>
            <a:cxnLst/>
            <a:rect l="l" t="t" r="r" b="b"/>
            <a:pathLst>
              <a:path w="2597785" h="462280">
                <a:moveTo>
                  <a:pt x="0" y="462152"/>
                </a:moveTo>
                <a:lnTo>
                  <a:pt x="2597404" y="462152"/>
                </a:lnTo>
                <a:lnTo>
                  <a:pt x="2597404" y="0"/>
                </a:lnTo>
                <a:lnTo>
                  <a:pt x="0" y="0"/>
                </a:lnTo>
                <a:lnTo>
                  <a:pt x="0" y="46215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32180" y="1884375"/>
            <a:ext cx="15220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Collect</a:t>
            </a:r>
            <a:r>
              <a:rPr sz="2400" i="1" spc="-1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data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5287" y="2717926"/>
            <a:ext cx="2597785" cy="462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285750">
              <a:lnSpc>
                <a:spcPct val="100000"/>
              </a:lnSpc>
              <a:spcBef>
                <a:spcPts val="300"/>
              </a:spcBef>
            </a:pPr>
            <a:r>
              <a:rPr sz="2400" b="1" i="1" spc="-5" dirty="0">
                <a:solidFill>
                  <a:srgbClr val="009999"/>
                </a:solidFill>
                <a:latin typeface="Times New Roman"/>
                <a:cs typeface="Times New Roman"/>
              </a:rPr>
              <a:t>Choose</a:t>
            </a:r>
            <a:r>
              <a:rPr sz="2400" b="1" i="1" spc="-1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400" b="1" i="1" dirty="0">
                <a:solidFill>
                  <a:srgbClr val="009999"/>
                </a:solidFill>
                <a:latin typeface="Times New Roman"/>
                <a:cs typeface="Times New Roman"/>
              </a:rPr>
              <a:t>features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95287" y="3578097"/>
            <a:ext cx="2597785" cy="462280"/>
          </a:xfrm>
          <a:custGeom>
            <a:avLst/>
            <a:gdLst/>
            <a:ahLst/>
            <a:cxnLst/>
            <a:rect l="l" t="t" r="r" b="b"/>
            <a:pathLst>
              <a:path w="2597785" h="462279">
                <a:moveTo>
                  <a:pt x="0" y="462152"/>
                </a:moveTo>
                <a:lnTo>
                  <a:pt x="2597404" y="462152"/>
                </a:lnTo>
                <a:lnTo>
                  <a:pt x="2597404" y="0"/>
                </a:lnTo>
                <a:lnTo>
                  <a:pt x="0" y="0"/>
                </a:lnTo>
                <a:lnTo>
                  <a:pt x="0" y="46215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3308" y="3603752"/>
            <a:ext cx="1760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i="1" spc="-5" dirty="0">
                <a:latin typeface="Times New Roman"/>
                <a:cs typeface="Times New Roman"/>
              </a:rPr>
              <a:t>Choose</a:t>
            </a:r>
            <a:r>
              <a:rPr sz="2400" i="1" spc="-4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model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287" y="4438269"/>
            <a:ext cx="2597785" cy="462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21970">
              <a:lnSpc>
                <a:spcPct val="100000"/>
              </a:lnSpc>
              <a:spcBef>
                <a:spcPts val="300"/>
              </a:spcBef>
            </a:pPr>
            <a:r>
              <a:rPr sz="2400" i="1" spc="-30" dirty="0">
                <a:latin typeface="Times New Roman"/>
                <a:cs typeface="Times New Roman"/>
              </a:rPr>
              <a:t>Train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5287" y="5296941"/>
            <a:ext cx="2597785" cy="46228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313055">
              <a:lnSpc>
                <a:spcPct val="100000"/>
              </a:lnSpc>
              <a:spcBef>
                <a:spcPts val="305"/>
              </a:spcBef>
            </a:pPr>
            <a:r>
              <a:rPr sz="2400" i="1" dirty="0">
                <a:latin typeface="Times New Roman"/>
                <a:cs typeface="Times New Roman"/>
              </a:rPr>
              <a:t>Evaluate</a:t>
            </a:r>
            <a:r>
              <a:rPr sz="2400" i="1" spc="-5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system</a:t>
            </a:r>
            <a:endParaRPr sz="2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56714" y="1593850"/>
            <a:ext cx="2064385" cy="4572000"/>
            <a:chOff x="1656714" y="1593850"/>
            <a:chExt cx="2064385" cy="4572000"/>
          </a:xfrm>
        </p:grpSpPr>
        <p:sp>
          <p:nvSpPr>
            <p:cNvPr id="11" name="object 11"/>
            <p:cNvSpPr/>
            <p:nvPr/>
          </p:nvSpPr>
          <p:spPr>
            <a:xfrm>
              <a:off x="1656702" y="1593849"/>
              <a:ext cx="2058670" cy="4572000"/>
            </a:xfrm>
            <a:custGeom>
              <a:avLst/>
              <a:gdLst/>
              <a:ahLst/>
              <a:cxnLst/>
              <a:rect l="l" t="t" r="r" b="b"/>
              <a:pathLst>
                <a:path w="2058670" h="4572000">
                  <a:moveTo>
                    <a:pt x="76212" y="187706"/>
                  </a:moveTo>
                  <a:lnTo>
                    <a:pt x="44462" y="187706"/>
                  </a:lnTo>
                  <a:lnTo>
                    <a:pt x="44462" y="0"/>
                  </a:lnTo>
                  <a:lnTo>
                    <a:pt x="31762" y="0"/>
                  </a:lnTo>
                  <a:lnTo>
                    <a:pt x="31762" y="187706"/>
                  </a:lnTo>
                  <a:lnTo>
                    <a:pt x="0" y="187706"/>
                  </a:lnTo>
                  <a:lnTo>
                    <a:pt x="38112" y="263906"/>
                  </a:lnTo>
                  <a:lnTo>
                    <a:pt x="69862" y="200406"/>
                  </a:lnTo>
                  <a:lnTo>
                    <a:pt x="76212" y="187706"/>
                  </a:lnTo>
                  <a:close/>
                </a:path>
                <a:path w="2058670" h="4572000">
                  <a:moveTo>
                    <a:pt x="77482" y="4495647"/>
                  </a:moveTo>
                  <a:lnTo>
                    <a:pt x="45681" y="4495787"/>
                  </a:lnTo>
                  <a:lnTo>
                    <a:pt x="44462" y="4166679"/>
                  </a:lnTo>
                  <a:lnTo>
                    <a:pt x="31762" y="4166730"/>
                  </a:lnTo>
                  <a:lnTo>
                    <a:pt x="32981" y="4495838"/>
                  </a:lnTo>
                  <a:lnTo>
                    <a:pt x="1282" y="4495952"/>
                  </a:lnTo>
                  <a:lnTo>
                    <a:pt x="39636" y="4572000"/>
                  </a:lnTo>
                  <a:lnTo>
                    <a:pt x="71094" y="4508525"/>
                  </a:lnTo>
                  <a:lnTo>
                    <a:pt x="77419" y="4495787"/>
                  </a:lnTo>
                  <a:lnTo>
                    <a:pt x="77482" y="4495647"/>
                  </a:lnTo>
                  <a:close/>
                </a:path>
                <a:path w="2058670" h="4572000">
                  <a:moveTo>
                    <a:pt x="77482" y="3635502"/>
                  </a:moveTo>
                  <a:lnTo>
                    <a:pt x="45681" y="3635616"/>
                  </a:lnTo>
                  <a:lnTo>
                    <a:pt x="44462" y="3306572"/>
                  </a:lnTo>
                  <a:lnTo>
                    <a:pt x="31762" y="3306572"/>
                  </a:lnTo>
                  <a:lnTo>
                    <a:pt x="32981" y="3635654"/>
                  </a:lnTo>
                  <a:lnTo>
                    <a:pt x="1282" y="3635756"/>
                  </a:lnTo>
                  <a:lnTo>
                    <a:pt x="39636" y="3711829"/>
                  </a:lnTo>
                  <a:lnTo>
                    <a:pt x="71120" y="3648329"/>
                  </a:lnTo>
                  <a:lnTo>
                    <a:pt x="77482" y="3635502"/>
                  </a:lnTo>
                  <a:close/>
                </a:path>
                <a:path w="2058670" h="4572000">
                  <a:moveTo>
                    <a:pt x="77482" y="2776728"/>
                  </a:moveTo>
                  <a:lnTo>
                    <a:pt x="45681" y="2776893"/>
                  </a:lnTo>
                  <a:lnTo>
                    <a:pt x="44462" y="2447798"/>
                  </a:lnTo>
                  <a:lnTo>
                    <a:pt x="31762" y="2447798"/>
                  </a:lnTo>
                  <a:lnTo>
                    <a:pt x="32981" y="2776956"/>
                  </a:lnTo>
                  <a:lnTo>
                    <a:pt x="1282" y="2777109"/>
                  </a:lnTo>
                  <a:lnTo>
                    <a:pt x="39636" y="2853182"/>
                  </a:lnTo>
                  <a:lnTo>
                    <a:pt x="71069" y="2789682"/>
                  </a:lnTo>
                  <a:lnTo>
                    <a:pt x="77482" y="2776728"/>
                  </a:lnTo>
                  <a:close/>
                </a:path>
                <a:path w="2058670" h="4572000">
                  <a:moveTo>
                    <a:pt x="77482" y="1916557"/>
                  </a:moveTo>
                  <a:lnTo>
                    <a:pt x="45681" y="1916722"/>
                  </a:lnTo>
                  <a:lnTo>
                    <a:pt x="44462" y="1587627"/>
                  </a:lnTo>
                  <a:lnTo>
                    <a:pt x="31762" y="1587627"/>
                  </a:lnTo>
                  <a:lnTo>
                    <a:pt x="32981" y="1916785"/>
                  </a:lnTo>
                  <a:lnTo>
                    <a:pt x="1282" y="1916938"/>
                  </a:lnTo>
                  <a:lnTo>
                    <a:pt x="39636" y="1993011"/>
                  </a:lnTo>
                  <a:lnTo>
                    <a:pt x="71069" y="1929511"/>
                  </a:lnTo>
                  <a:lnTo>
                    <a:pt x="77482" y="1916557"/>
                  </a:lnTo>
                  <a:close/>
                </a:path>
                <a:path w="2058670" h="4572000">
                  <a:moveTo>
                    <a:pt x="77482" y="1056386"/>
                  </a:moveTo>
                  <a:lnTo>
                    <a:pt x="45681" y="1056551"/>
                  </a:lnTo>
                  <a:lnTo>
                    <a:pt x="44462" y="727456"/>
                  </a:lnTo>
                  <a:lnTo>
                    <a:pt x="31762" y="727583"/>
                  </a:lnTo>
                  <a:lnTo>
                    <a:pt x="32981" y="1056614"/>
                  </a:lnTo>
                  <a:lnTo>
                    <a:pt x="1282" y="1056767"/>
                  </a:lnTo>
                  <a:lnTo>
                    <a:pt x="39636" y="1132840"/>
                  </a:lnTo>
                  <a:lnTo>
                    <a:pt x="71069" y="1069340"/>
                  </a:lnTo>
                  <a:lnTo>
                    <a:pt x="77482" y="1056386"/>
                  </a:lnTo>
                  <a:close/>
                </a:path>
                <a:path w="2058670" h="4572000">
                  <a:moveTo>
                    <a:pt x="2058047" y="3903726"/>
                  </a:moveTo>
                  <a:lnTo>
                    <a:pt x="1412125" y="3903726"/>
                  </a:lnTo>
                  <a:lnTo>
                    <a:pt x="1412125" y="3871976"/>
                  </a:lnTo>
                  <a:lnTo>
                    <a:pt x="1335925" y="3910076"/>
                  </a:lnTo>
                  <a:lnTo>
                    <a:pt x="1412125" y="3948176"/>
                  </a:lnTo>
                  <a:lnTo>
                    <a:pt x="1412125" y="3916426"/>
                  </a:lnTo>
                  <a:lnTo>
                    <a:pt x="2058047" y="3916426"/>
                  </a:lnTo>
                  <a:lnTo>
                    <a:pt x="2058047" y="3903726"/>
                  </a:lnTo>
                  <a:close/>
                </a:path>
                <a:path w="2058670" h="4572000">
                  <a:moveTo>
                    <a:pt x="2058047" y="3043555"/>
                  </a:moveTo>
                  <a:lnTo>
                    <a:pt x="1412125" y="3043555"/>
                  </a:lnTo>
                  <a:lnTo>
                    <a:pt x="1412125" y="3011805"/>
                  </a:lnTo>
                  <a:lnTo>
                    <a:pt x="1335925" y="3049905"/>
                  </a:lnTo>
                  <a:lnTo>
                    <a:pt x="1412125" y="3088005"/>
                  </a:lnTo>
                  <a:lnTo>
                    <a:pt x="1412125" y="3056255"/>
                  </a:lnTo>
                  <a:lnTo>
                    <a:pt x="2058047" y="3056255"/>
                  </a:lnTo>
                  <a:lnTo>
                    <a:pt x="2058047" y="3043555"/>
                  </a:lnTo>
                  <a:close/>
                </a:path>
                <a:path w="2058670" h="4572000">
                  <a:moveTo>
                    <a:pt x="2058047" y="2184908"/>
                  </a:moveTo>
                  <a:lnTo>
                    <a:pt x="1412125" y="2184908"/>
                  </a:lnTo>
                  <a:lnTo>
                    <a:pt x="1412125" y="2153158"/>
                  </a:lnTo>
                  <a:lnTo>
                    <a:pt x="1335925" y="2191258"/>
                  </a:lnTo>
                  <a:lnTo>
                    <a:pt x="1412125" y="2229358"/>
                  </a:lnTo>
                  <a:lnTo>
                    <a:pt x="1412125" y="2197608"/>
                  </a:lnTo>
                  <a:lnTo>
                    <a:pt x="2058047" y="2197608"/>
                  </a:lnTo>
                  <a:lnTo>
                    <a:pt x="2058047" y="2184908"/>
                  </a:lnTo>
                  <a:close/>
                </a:path>
                <a:path w="2058670" h="4572000">
                  <a:moveTo>
                    <a:pt x="2058047" y="1324737"/>
                  </a:moveTo>
                  <a:lnTo>
                    <a:pt x="1412125" y="1324737"/>
                  </a:lnTo>
                  <a:lnTo>
                    <a:pt x="1412125" y="1292987"/>
                  </a:lnTo>
                  <a:lnTo>
                    <a:pt x="1335925" y="1331087"/>
                  </a:lnTo>
                  <a:lnTo>
                    <a:pt x="1412125" y="1369187"/>
                  </a:lnTo>
                  <a:lnTo>
                    <a:pt x="1412125" y="1337437"/>
                  </a:lnTo>
                  <a:lnTo>
                    <a:pt x="2058047" y="1337437"/>
                  </a:lnTo>
                  <a:lnTo>
                    <a:pt x="2058047" y="1324737"/>
                  </a:lnTo>
                  <a:close/>
                </a:path>
                <a:path w="2058670" h="4572000">
                  <a:moveTo>
                    <a:pt x="2058047" y="464566"/>
                  </a:moveTo>
                  <a:lnTo>
                    <a:pt x="1412125" y="464566"/>
                  </a:lnTo>
                  <a:lnTo>
                    <a:pt x="1412125" y="432816"/>
                  </a:lnTo>
                  <a:lnTo>
                    <a:pt x="1335925" y="470916"/>
                  </a:lnTo>
                  <a:lnTo>
                    <a:pt x="1412125" y="509016"/>
                  </a:lnTo>
                  <a:lnTo>
                    <a:pt x="1412125" y="477266"/>
                  </a:lnTo>
                  <a:lnTo>
                    <a:pt x="2058047" y="477266"/>
                  </a:lnTo>
                  <a:lnTo>
                    <a:pt x="2058047" y="46456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14750" y="2064766"/>
              <a:ext cx="0" cy="3439160"/>
            </a:xfrm>
            <a:custGeom>
              <a:avLst/>
              <a:gdLst/>
              <a:ahLst/>
              <a:cxnLst/>
              <a:rect l="l" t="t" r="r" b="b"/>
              <a:pathLst>
                <a:path h="3439160">
                  <a:moveTo>
                    <a:pt x="0" y="0"/>
                  </a:moveTo>
                  <a:lnTo>
                    <a:pt x="0" y="343916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003675" y="1642110"/>
            <a:ext cx="4681855" cy="24206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875030">
              <a:lnSpc>
                <a:spcPct val="100000"/>
              </a:lnSpc>
              <a:spcBef>
                <a:spcPts val="105"/>
              </a:spcBef>
            </a:pPr>
            <a:r>
              <a:rPr sz="2000" spc="5" dirty="0">
                <a:latin typeface="Times New Roman"/>
                <a:cs typeface="Times New Roman"/>
              </a:rPr>
              <a:t>Apa </a:t>
            </a:r>
            <a:r>
              <a:rPr sz="2000" dirty="0">
                <a:latin typeface="Times New Roman"/>
                <a:cs typeface="Times New Roman"/>
              </a:rPr>
              <a:t>sensor </a:t>
            </a:r>
            <a:r>
              <a:rPr sz="2000" spc="-5" dirty="0">
                <a:latin typeface="Times New Roman"/>
                <a:cs typeface="Times New Roman"/>
              </a:rPr>
              <a:t>yang </a:t>
            </a:r>
            <a:r>
              <a:rPr sz="2000" dirty="0">
                <a:latin typeface="Times New Roman"/>
                <a:cs typeface="Times New Roman"/>
              </a:rPr>
              <a:t>harus kita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gunakan?  </a:t>
            </a:r>
            <a:r>
              <a:rPr sz="2000" spc="-5" dirty="0">
                <a:latin typeface="Times New Roman"/>
                <a:cs typeface="Times New Roman"/>
              </a:rPr>
              <a:t>Bagaimana </a:t>
            </a:r>
            <a:r>
              <a:rPr sz="2000" dirty="0">
                <a:latin typeface="Times New Roman"/>
                <a:cs typeface="Times New Roman"/>
              </a:rPr>
              <a:t>mengumpulkan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data?</a:t>
            </a:r>
            <a:endParaRPr sz="20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1185"/>
              </a:spcBef>
            </a:pPr>
            <a:r>
              <a:rPr sz="2000" spc="-5" dirty="0">
                <a:solidFill>
                  <a:srgbClr val="009999"/>
                </a:solidFill>
                <a:latin typeface="Times New Roman"/>
                <a:cs typeface="Times New Roman"/>
              </a:rPr>
              <a:t>Bagaimana mengetahui </a:t>
            </a:r>
            <a:r>
              <a:rPr sz="2000" dirty="0">
                <a:solidFill>
                  <a:srgbClr val="009999"/>
                </a:solidFill>
                <a:latin typeface="Times New Roman"/>
                <a:cs typeface="Times New Roman"/>
              </a:rPr>
              <a:t>fitur apa </a:t>
            </a:r>
            <a:r>
              <a:rPr sz="2000" spc="-5" dirty="0">
                <a:solidFill>
                  <a:srgbClr val="009999"/>
                </a:solidFill>
                <a:latin typeface="Times New Roman"/>
                <a:cs typeface="Times New Roman"/>
              </a:rPr>
              <a:t>yang</a:t>
            </a:r>
            <a:r>
              <a:rPr sz="2000" spc="-60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9999"/>
                </a:solidFill>
                <a:latin typeface="Times New Roman"/>
                <a:cs typeface="Times New Roman"/>
              </a:rPr>
              <a:t>dipilih,</a:t>
            </a:r>
            <a:endParaRPr sz="20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</a:pPr>
            <a:r>
              <a:rPr sz="2000" dirty="0">
                <a:solidFill>
                  <a:srgbClr val="009999"/>
                </a:solidFill>
                <a:latin typeface="Times New Roman"/>
                <a:cs typeface="Times New Roman"/>
              </a:rPr>
              <a:t>dan </a:t>
            </a:r>
            <a:r>
              <a:rPr sz="2000" spc="-5" dirty="0">
                <a:solidFill>
                  <a:srgbClr val="009999"/>
                </a:solidFill>
                <a:latin typeface="Times New Roman"/>
                <a:cs typeface="Times New Roman"/>
              </a:rPr>
              <a:t>bagaimana kita memilihnya</a:t>
            </a:r>
            <a:r>
              <a:rPr sz="2000" spc="-4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9999"/>
                </a:solidFill>
                <a:latin typeface="Times New Roman"/>
                <a:cs typeface="Times New Roman"/>
              </a:rPr>
              <a:t>...?</a:t>
            </a:r>
            <a:endParaRPr sz="200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</a:pPr>
            <a:r>
              <a:rPr sz="2000" dirty="0">
                <a:solidFill>
                  <a:srgbClr val="009999"/>
                </a:solidFill>
                <a:latin typeface="Times New Roman"/>
                <a:cs typeface="Times New Roman"/>
              </a:rPr>
              <a:t>(Misal </a:t>
            </a:r>
            <a:r>
              <a:rPr sz="2000" spc="-5" dirty="0">
                <a:solidFill>
                  <a:srgbClr val="009999"/>
                </a:solidFill>
                <a:latin typeface="Times New Roman"/>
                <a:cs typeface="Times New Roman"/>
              </a:rPr>
              <a:t>transformasi </a:t>
            </a:r>
            <a:r>
              <a:rPr sz="2000" dirty="0">
                <a:solidFill>
                  <a:srgbClr val="009999"/>
                </a:solidFill>
                <a:latin typeface="Times New Roman"/>
                <a:cs typeface="Times New Roman"/>
              </a:rPr>
              <a:t>data fitur dengan</a:t>
            </a:r>
            <a:r>
              <a:rPr sz="2000" spc="-135" dirty="0">
                <a:solidFill>
                  <a:srgbClr val="009999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9999"/>
                </a:solidFill>
                <a:latin typeface="Times New Roman"/>
                <a:cs typeface="Times New Roman"/>
              </a:rPr>
              <a:t>PCA)</a:t>
            </a:r>
            <a:endParaRPr sz="2000">
              <a:latin typeface="Times New Roman"/>
              <a:cs typeface="Times New Roman"/>
            </a:endParaRPr>
          </a:p>
          <a:p>
            <a:pPr marL="12700" marR="785495">
              <a:lnSpc>
                <a:spcPct val="100000"/>
              </a:lnSpc>
              <a:spcBef>
                <a:spcPts val="865"/>
              </a:spcBef>
            </a:pPr>
            <a:r>
              <a:rPr sz="2000" spc="5" dirty="0">
                <a:latin typeface="Times New Roman"/>
                <a:cs typeface="Times New Roman"/>
              </a:rPr>
              <a:t>Apa </a:t>
            </a:r>
            <a:r>
              <a:rPr sz="2000" spc="-5" dirty="0">
                <a:latin typeface="Times New Roman"/>
                <a:cs typeface="Times New Roman"/>
              </a:rPr>
              <a:t>classifier yang </a:t>
            </a:r>
            <a:r>
              <a:rPr sz="2000" dirty="0">
                <a:latin typeface="Times New Roman"/>
                <a:cs typeface="Times New Roman"/>
              </a:rPr>
              <a:t>akan digunakan?  Apakah ada </a:t>
            </a:r>
            <a:r>
              <a:rPr sz="2000" spc="-5" dirty="0">
                <a:latin typeface="Times New Roman"/>
                <a:cs typeface="Times New Roman"/>
              </a:rPr>
              <a:t>classifier yang terbaik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...?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3675" y="4385817"/>
            <a:ext cx="45358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Bagaimana </a:t>
            </a:r>
            <a:r>
              <a:rPr sz="2000" dirty="0">
                <a:latin typeface="Times New Roman"/>
                <a:cs typeface="Times New Roman"/>
              </a:rPr>
              <a:t>kita </a:t>
            </a:r>
            <a:r>
              <a:rPr sz="2000" spc="-5" dirty="0">
                <a:latin typeface="Times New Roman"/>
                <a:cs typeface="Times New Roman"/>
              </a:rPr>
              <a:t>melakukan </a:t>
            </a:r>
            <a:r>
              <a:rPr sz="2000" dirty="0">
                <a:latin typeface="Times New Roman"/>
                <a:cs typeface="Times New Roman"/>
              </a:rPr>
              <a:t>proses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Training?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03675" y="5014722"/>
            <a:ext cx="495744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93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Times New Roman"/>
                <a:cs typeface="Times New Roman"/>
              </a:rPr>
              <a:t>Bagaimana </a:t>
            </a:r>
            <a:r>
              <a:rPr sz="2000" dirty="0">
                <a:latin typeface="Times New Roman"/>
                <a:cs typeface="Times New Roman"/>
              </a:rPr>
              <a:t>mengevaluasi kinerja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sistem?  Bagaimana memvalidasi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hasil?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Berapakah tingkat kepercayaan hasil</a:t>
            </a:r>
            <a:r>
              <a:rPr sz="2000" spc="-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keputusan?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6570" y="264617"/>
            <a:ext cx="30721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Collect</a:t>
            </a:r>
            <a:r>
              <a:rPr spc="-85" dirty="0"/>
              <a:t> </a:t>
            </a:r>
            <a:r>
              <a:rPr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8074659" cy="508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8575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Arial"/>
                <a:cs typeface="Arial"/>
              </a:rPr>
              <a:t>Mengambil nilai data dari objek, Tipe data berdasarkan  penskalaan datanya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Data Kualitatif : Data yang bukan berupa angka,. Terbagi dua</a:t>
            </a:r>
            <a:r>
              <a:rPr sz="2000" spc="-20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155700" lvl="2" indent="-229235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  <a:tab pos="1156335" algn="l"/>
                <a:tab pos="2263775" algn="l"/>
              </a:tabLst>
            </a:pPr>
            <a:r>
              <a:rPr sz="2000" dirty="0">
                <a:latin typeface="Arial"/>
                <a:cs typeface="Arial"/>
              </a:rPr>
              <a:t>Nominal	:</a:t>
            </a:r>
            <a:r>
              <a:rPr sz="2000" spc="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yang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paling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rendah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dalam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level</a:t>
            </a:r>
            <a:r>
              <a:rPr sz="2000" spc="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pengukuran</a:t>
            </a:r>
            <a:endParaRPr sz="2000">
              <a:latin typeface="Arial"/>
              <a:cs typeface="Arial"/>
            </a:endParaRPr>
          </a:p>
          <a:p>
            <a:pPr marL="1155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data. Contoh : Jenis kelamin, Merk mobil, Nama</a:t>
            </a:r>
            <a:r>
              <a:rPr sz="2000" spc="-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tempat</a:t>
            </a:r>
            <a:endParaRPr sz="2000">
              <a:latin typeface="Arial"/>
              <a:cs typeface="Arial"/>
            </a:endParaRPr>
          </a:p>
          <a:p>
            <a:pPr marL="1155700" marR="8255" lvl="2" indent="-228600">
              <a:lnSpc>
                <a:spcPct val="100000"/>
              </a:lnSpc>
              <a:spcBef>
                <a:spcPts val="480"/>
              </a:spcBef>
              <a:buChar char="•"/>
              <a:tabLst>
                <a:tab pos="1155700" algn="l"/>
                <a:tab pos="1156335" algn="l"/>
              </a:tabLst>
            </a:pPr>
            <a:r>
              <a:rPr sz="2000" spc="-5" dirty="0">
                <a:latin typeface="Arial"/>
                <a:cs typeface="Arial"/>
              </a:rPr>
              <a:t>Ordinal </a:t>
            </a:r>
            <a:r>
              <a:rPr sz="2000" dirty="0">
                <a:latin typeface="Arial"/>
                <a:cs typeface="Arial"/>
              </a:rPr>
              <a:t>: Ada tingkatan </a:t>
            </a:r>
            <a:r>
              <a:rPr sz="2000" spc="-5" dirty="0">
                <a:latin typeface="Arial"/>
                <a:cs typeface="Arial"/>
              </a:rPr>
              <a:t>data. </a:t>
            </a:r>
            <a:r>
              <a:rPr sz="2000" dirty="0">
                <a:latin typeface="Arial"/>
                <a:cs typeface="Arial"/>
              </a:rPr>
              <a:t>Contoh : </a:t>
            </a:r>
            <a:r>
              <a:rPr sz="2000" spc="-5" dirty="0">
                <a:latin typeface="Arial"/>
                <a:cs typeface="Arial"/>
              </a:rPr>
              <a:t>Sangat </a:t>
            </a:r>
            <a:r>
              <a:rPr sz="2000" dirty="0">
                <a:latin typeface="Arial"/>
                <a:cs typeface="Arial"/>
              </a:rPr>
              <a:t>setuju, Setuju,  kurang setuju, tidak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setuju.</a:t>
            </a:r>
            <a:endParaRPr sz="2000">
              <a:latin typeface="Arial"/>
              <a:cs typeface="Arial"/>
            </a:endParaRPr>
          </a:p>
          <a:p>
            <a:pPr marL="756285" marR="5715" lvl="1" indent="-287020">
              <a:lnSpc>
                <a:spcPct val="101499"/>
              </a:lnSpc>
              <a:spcBef>
                <a:spcPts val="459"/>
              </a:spcBef>
              <a:buChar char="–"/>
              <a:tabLst>
                <a:tab pos="756285" algn="l"/>
                <a:tab pos="756920" algn="l"/>
                <a:tab pos="1442085" algn="l"/>
                <a:tab pos="2716530" algn="l"/>
                <a:tab pos="2934335" algn="l"/>
                <a:tab pos="3604895" algn="l"/>
                <a:tab pos="4533265" algn="l"/>
                <a:tab pos="5353050" algn="l"/>
                <a:tab pos="6179820" algn="l"/>
                <a:tab pos="6696075" algn="l"/>
              </a:tabLst>
            </a:pPr>
            <a:r>
              <a:rPr sz="2000" dirty="0">
                <a:latin typeface="Arial"/>
                <a:cs typeface="Arial"/>
              </a:rPr>
              <a:t>Data	K</a:t>
            </a:r>
            <a:r>
              <a:rPr sz="2000" spc="-15" dirty="0">
                <a:latin typeface="Arial"/>
                <a:cs typeface="Arial"/>
              </a:rPr>
              <a:t>u</a:t>
            </a:r>
            <a:r>
              <a:rPr sz="2000" dirty="0">
                <a:latin typeface="Arial"/>
                <a:cs typeface="Arial"/>
              </a:rPr>
              <a:t>anti</a:t>
            </a:r>
            <a:r>
              <a:rPr sz="2000" spc="-20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atif	:	</a:t>
            </a:r>
            <a:r>
              <a:rPr sz="2000" spc="-5" dirty="0">
                <a:latin typeface="Tahoma"/>
                <a:cs typeface="Tahoma"/>
              </a:rPr>
              <a:t>Da</a:t>
            </a:r>
            <a:r>
              <a:rPr sz="2000" spc="-10" dirty="0">
                <a:latin typeface="Tahoma"/>
                <a:cs typeface="Tahoma"/>
              </a:rPr>
              <a:t>t</a:t>
            </a:r>
            <a:r>
              <a:rPr sz="2000" dirty="0">
                <a:latin typeface="Tahoma"/>
                <a:cs typeface="Tahoma"/>
              </a:rPr>
              <a:t>a	beru</a:t>
            </a:r>
            <a:r>
              <a:rPr sz="2000" spc="-10" dirty="0">
                <a:latin typeface="Tahoma"/>
                <a:cs typeface="Tahoma"/>
              </a:rPr>
              <a:t>p</a:t>
            </a:r>
            <a:r>
              <a:rPr sz="2000" dirty="0">
                <a:latin typeface="Tahoma"/>
                <a:cs typeface="Tahoma"/>
              </a:rPr>
              <a:t>a	</a:t>
            </a:r>
            <a:r>
              <a:rPr sz="2000" spc="-10" dirty="0">
                <a:latin typeface="Tahoma"/>
                <a:cs typeface="Tahoma"/>
              </a:rPr>
              <a:t>a</a:t>
            </a:r>
            <a:r>
              <a:rPr sz="2000" dirty="0">
                <a:latin typeface="Tahoma"/>
                <a:cs typeface="Tahoma"/>
              </a:rPr>
              <a:t>n</a:t>
            </a:r>
            <a:r>
              <a:rPr sz="2000" spc="-10" dirty="0">
                <a:latin typeface="Tahoma"/>
                <a:cs typeface="Tahoma"/>
              </a:rPr>
              <a:t>g</a:t>
            </a:r>
            <a:r>
              <a:rPr sz="2000" spc="-5" dirty="0">
                <a:latin typeface="Tahoma"/>
                <a:cs typeface="Tahoma"/>
              </a:rPr>
              <a:t>k</a:t>
            </a:r>
            <a:r>
              <a:rPr sz="2000" dirty="0">
                <a:latin typeface="Tahoma"/>
                <a:cs typeface="Tahoma"/>
              </a:rPr>
              <a:t>a	dalam	arti	</a:t>
            </a:r>
            <a:r>
              <a:rPr sz="2000" spc="-5" dirty="0">
                <a:latin typeface="Tahoma"/>
                <a:cs typeface="Tahoma"/>
              </a:rPr>
              <a:t>se</a:t>
            </a:r>
            <a:r>
              <a:rPr sz="2000" spc="-10" dirty="0">
                <a:latin typeface="Tahoma"/>
                <a:cs typeface="Tahoma"/>
              </a:rPr>
              <a:t>b</a:t>
            </a:r>
            <a:r>
              <a:rPr sz="2000" spc="-15" dirty="0">
                <a:latin typeface="Tahoma"/>
                <a:cs typeface="Tahoma"/>
              </a:rPr>
              <a:t>e</a:t>
            </a:r>
            <a:r>
              <a:rPr sz="2000" dirty="0">
                <a:latin typeface="Tahoma"/>
                <a:cs typeface="Tahoma"/>
              </a:rPr>
              <a:t>narn</a:t>
            </a:r>
            <a:r>
              <a:rPr sz="2000" spc="-20" dirty="0">
                <a:latin typeface="Tahoma"/>
                <a:cs typeface="Tahoma"/>
              </a:rPr>
              <a:t>y</a:t>
            </a:r>
            <a:r>
              <a:rPr sz="2000" spc="-10" dirty="0">
                <a:latin typeface="Tahoma"/>
                <a:cs typeface="Tahoma"/>
              </a:rPr>
              <a:t>a</a:t>
            </a:r>
            <a:r>
              <a:rPr sz="2000" dirty="0">
                <a:latin typeface="Tahoma"/>
                <a:cs typeface="Tahoma"/>
              </a:rPr>
              <a:t>.  </a:t>
            </a:r>
            <a:r>
              <a:rPr sz="2000" spc="-5" dirty="0">
                <a:latin typeface="Tahoma"/>
                <a:cs typeface="Tahoma"/>
              </a:rPr>
              <a:t>Terbagi dua</a:t>
            </a:r>
            <a:r>
              <a:rPr sz="2000" spc="-4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:</a:t>
            </a:r>
            <a:endParaRPr sz="2000">
              <a:latin typeface="Tahoma"/>
              <a:cs typeface="Tahoma"/>
            </a:endParaRPr>
          </a:p>
          <a:p>
            <a:pPr marL="227965" marR="5080" lvl="2" indent="-227965" algn="r">
              <a:lnSpc>
                <a:spcPct val="100000"/>
              </a:lnSpc>
              <a:spcBef>
                <a:spcPts val="430"/>
              </a:spcBef>
              <a:buChar char="•"/>
              <a:tabLst>
                <a:tab pos="227965" algn="l"/>
                <a:tab pos="228600" algn="l"/>
              </a:tabLst>
            </a:pPr>
            <a:r>
              <a:rPr sz="2000" dirty="0">
                <a:latin typeface="Arial"/>
                <a:cs typeface="Arial"/>
              </a:rPr>
              <a:t>Data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Interval,</a:t>
            </a:r>
            <a:r>
              <a:rPr sz="2000" spc="13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Contoh</a:t>
            </a:r>
            <a:r>
              <a:rPr sz="2000" spc="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: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Interval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temperatur</a:t>
            </a:r>
            <a:r>
              <a:rPr sz="2000" spc="14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ruang</a:t>
            </a:r>
            <a:r>
              <a:rPr sz="2000" spc="12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adalah</a:t>
            </a:r>
            <a:r>
              <a:rPr sz="2000" spc="1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sbb</a:t>
            </a:r>
            <a:endParaRPr sz="20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: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Cukup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panas</a:t>
            </a:r>
            <a:r>
              <a:rPr sz="2000" spc="1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jika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antara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50</a:t>
            </a:r>
            <a:r>
              <a:rPr sz="2000" dirty="0">
                <a:latin typeface="Symbol"/>
                <a:cs typeface="Symbol"/>
              </a:rPr>
              <a:t></a:t>
            </a:r>
            <a:r>
              <a:rPr sz="2000" dirty="0">
                <a:latin typeface="Arial"/>
                <a:cs typeface="Arial"/>
              </a:rPr>
              <a:t>C-80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spc="-5" dirty="0">
                <a:latin typeface="Symbol"/>
                <a:cs typeface="Symbol"/>
              </a:rPr>
              <a:t></a:t>
            </a:r>
            <a:r>
              <a:rPr sz="2000" spc="-5" dirty="0">
                <a:latin typeface="Arial"/>
                <a:cs typeface="Arial"/>
              </a:rPr>
              <a:t>C,</a:t>
            </a:r>
            <a:r>
              <a:rPr sz="2000" spc="1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Panas</a:t>
            </a:r>
            <a:r>
              <a:rPr sz="2000" spc="1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jika</a:t>
            </a:r>
            <a:r>
              <a:rPr sz="2000" spc="16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antara</a:t>
            </a:r>
            <a:r>
              <a:rPr sz="2000" spc="1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80</a:t>
            </a:r>
            <a:endParaRPr sz="2000">
              <a:latin typeface="Arial"/>
              <a:cs typeface="Arial"/>
            </a:endParaRPr>
          </a:p>
          <a:p>
            <a:pPr marL="1257935" lvl="3" indent="-102870" algn="just">
              <a:lnSpc>
                <a:spcPct val="100000"/>
              </a:lnSpc>
              <a:buSzPct val="95000"/>
              <a:buFont typeface="Symbol"/>
              <a:buChar char=""/>
              <a:tabLst>
                <a:tab pos="1258570" algn="l"/>
              </a:tabLst>
            </a:pPr>
            <a:r>
              <a:rPr sz="2000" dirty="0">
                <a:latin typeface="Arial"/>
                <a:cs typeface="Arial"/>
              </a:rPr>
              <a:t>C-110 </a:t>
            </a:r>
            <a:r>
              <a:rPr sz="2000" dirty="0">
                <a:latin typeface="Symbol"/>
                <a:cs typeface="Symbol"/>
              </a:rPr>
              <a:t></a:t>
            </a:r>
            <a:r>
              <a:rPr sz="2000" dirty="0">
                <a:latin typeface="Arial"/>
                <a:cs typeface="Arial"/>
              </a:rPr>
              <a:t>C, Sangat panas jika antara 110 </a:t>
            </a:r>
            <a:r>
              <a:rPr sz="2000" dirty="0">
                <a:latin typeface="Symbol"/>
                <a:cs typeface="Symbol"/>
              </a:rPr>
              <a:t></a:t>
            </a:r>
            <a:r>
              <a:rPr sz="2000" dirty="0">
                <a:latin typeface="Arial"/>
                <a:cs typeface="Arial"/>
              </a:rPr>
              <a:t>C-140</a:t>
            </a:r>
            <a:r>
              <a:rPr sz="2000" spc="-180" dirty="0">
                <a:latin typeface="Arial"/>
                <a:cs typeface="Arial"/>
              </a:rPr>
              <a:t> </a:t>
            </a:r>
            <a:r>
              <a:rPr sz="2000" dirty="0">
                <a:latin typeface="Symbol"/>
                <a:cs typeface="Symbol"/>
              </a:rPr>
              <a:t></a:t>
            </a:r>
            <a:r>
              <a:rPr sz="2000" dirty="0">
                <a:latin typeface="Arial"/>
                <a:cs typeface="Arial"/>
              </a:rPr>
              <a:t>C.</a:t>
            </a:r>
            <a:endParaRPr sz="2000">
              <a:latin typeface="Arial"/>
              <a:cs typeface="Arial"/>
            </a:endParaRPr>
          </a:p>
          <a:p>
            <a:pPr marL="1155700" marR="5080" lvl="2" indent="-228600" algn="just">
              <a:lnSpc>
                <a:spcPct val="100000"/>
              </a:lnSpc>
              <a:spcBef>
                <a:spcPts val="484"/>
              </a:spcBef>
              <a:buChar char="•"/>
              <a:tabLst>
                <a:tab pos="1156335" algn="l"/>
              </a:tabLst>
            </a:pPr>
            <a:r>
              <a:rPr sz="2000" dirty="0">
                <a:latin typeface="Arial"/>
                <a:cs typeface="Arial"/>
              </a:rPr>
              <a:t>Data Rasio, Tingkat </a:t>
            </a:r>
            <a:r>
              <a:rPr sz="2000" spc="-5" dirty="0">
                <a:latin typeface="Arial"/>
                <a:cs typeface="Arial"/>
              </a:rPr>
              <a:t>pengukuran paling </a:t>
            </a:r>
            <a:r>
              <a:rPr sz="2000" spc="-180" dirty="0">
                <a:latin typeface="Arial"/>
                <a:cs typeface="Arial"/>
              </a:rPr>
              <a:t>„tinggi‟ </a:t>
            </a:r>
            <a:r>
              <a:rPr sz="2000" dirty="0">
                <a:latin typeface="Arial"/>
                <a:cs typeface="Arial"/>
              </a:rPr>
              <a:t>; </a:t>
            </a:r>
            <a:r>
              <a:rPr sz="2000" spc="-55" dirty="0">
                <a:latin typeface="Arial"/>
                <a:cs typeface="Arial"/>
              </a:rPr>
              <a:t>bersifat  </a:t>
            </a:r>
            <a:r>
              <a:rPr sz="2000" spc="-5" dirty="0">
                <a:latin typeface="Arial"/>
                <a:cs typeface="Arial"/>
              </a:rPr>
              <a:t>angka dalam arti </a:t>
            </a:r>
            <a:r>
              <a:rPr sz="2000" dirty="0">
                <a:latin typeface="Arial"/>
                <a:cs typeface="Arial"/>
              </a:rPr>
              <a:t>sesungguhnya. Contoh : Tinggi </a:t>
            </a:r>
            <a:r>
              <a:rPr sz="2000" spc="-5" dirty="0">
                <a:latin typeface="Arial"/>
                <a:cs typeface="Arial"/>
              </a:rPr>
              <a:t>badan,  </a:t>
            </a:r>
            <a:r>
              <a:rPr sz="2000" dirty="0">
                <a:latin typeface="Arial"/>
                <a:cs typeface="Arial"/>
              </a:rPr>
              <a:t>Berat badan,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Usia.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3336" y="1967484"/>
            <a:ext cx="1456944" cy="21046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7251700" cy="350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Arial"/>
                <a:cs typeface="Arial"/>
              </a:rPr>
              <a:t>Ilustrasi transformasi </a:t>
            </a:r>
            <a:r>
              <a:rPr sz="2400" spc="-5" dirty="0">
                <a:latin typeface="Arial"/>
                <a:cs typeface="Arial"/>
              </a:rPr>
              <a:t>data dari objek yang diamati</a:t>
            </a:r>
            <a:r>
              <a:rPr sz="2400" spc="4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29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Text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Citra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Audio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Video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Arial"/>
                <a:cs typeface="Arial"/>
              </a:rPr>
              <a:t>Etc</a:t>
            </a:r>
            <a:endParaRPr sz="2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1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Keterangan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4814" y="5155438"/>
            <a:ext cx="13328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3760" algn="l"/>
              </a:tabLst>
            </a:pPr>
            <a:r>
              <a:rPr sz="1800" spc="-5" dirty="0">
                <a:latin typeface="Arial"/>
                <a:cs typeface="Arial"/>
              </a:rPr>
              <a:t>b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rupa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" dirty="0">
                <a:latin typeface="Arial"/>
                <a:cs typeface="Arial"/>
              </a:rPr>
              <a:t>d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10" dirty="0">
                <a:latin typeface="Arial"/>
                <a:cs typeface="Arial"/>
              </a:rPr>
              <a:t>t</a:t>
            </a:r>
            <a:r>
              <a:rPr sz="1800" spc="-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444" y="4771390"/>
            <a:ext cx="6155690" cy="95821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299085" algn="l"/>
                <a:tab pos="299720" algn="l"/>
              </a:tabLst>
            </a:pPr>
            <a:r>
              <a:rPr sz="1800" dirty="0">
                <a:latin typeface="Arial"/>
                <a:cs typeface="Arial"/>
              </a:rPr>
              <a:t>M </a:t>
            </a:r>
            <a:r>
              <a:rPr sz="1800" spc="-5" dirty="0">
                <a:latin typeface="Arial"/>
                <a:cs typeface="Arial"/>
              </a:rPr>
              <a:t>menyatakan </a:t>
            </a:r>
            <a:r>
              <a:rPr sz="1800" spc="-10" dirty="0">
                <a:latin typeface="Arial"/>
                <a:cs typeface="Arial"/>
              </a:rPr>
              <a:t>banyak </a:t>
            </a:r>
            <a:r>
              <a:rPr sz="1800" spc="-5" dirty="0">
                <a:latin typeface="Arial"/>
                <a:cs typeface="Arial"/>
              </a:rPr>
              <a:t>data, N menyatakan </a:t>
            </a:r>
            <a:r>
              <a:rPr sz="1800" spc="-10" dirty="0">
                <a:latin typeface="Arial"/>
                <a:cs typeface="Arial"/>
              </a:rPr>
              <a:t>banyak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fitur.</a:t>
            </a:r>
            <a:endParaRPr sz="180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430"/>
              </a:spcBef>
              <a:buChar char="–"/>
              <a:tabLst>
                <a:tab pos="299085" algn="l"/>
                <a:tab pos="299720" algn="l"/>
                <a:tab pos="1261745" algn="l"/>
                <a:tab pos="1794510" algn="l"/>
                <a:tab pos="2909570" algn="l"/>
                <a:tab pos="3403600" algn="l"/>
                <a:tab pos="3999865" algn="l"/>
                <a:tab pos="4644390" algn="l"/>
                <a:tab pos="5531485" algn="l"/>
              </a:tabLst>
            </a:pPr>
            <a:r>
              <a:rPr sz="1800" dirty="0">
                <a:latin typeface="Arial"/>
                <a:cs typeface="Arial"/>
              </a:rPr>
              <a:t>Ektraksi	fitur	</a:t>
            </a:r>
            <a:r>
              <a:rPr sz="1800" spc="-5" dirty="0">
                <a:latin typeface="Arial"/>
                <a:cs typeface="Arial"/>
              </a:rPr>
              <a:t>d</a:t>
            </a:r>
            <a:r>
              <a:rPr sz="1800" spc="-15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l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10" dirty="0">
                <a:latin typeface="Arial"/>
                <a:cs typeface="Arial"/>
              </a:rPr>
              <a:t>k</a:t>
            </a:r>
            <a:r>
              <a:rPr sz="1800" spc="-5" dirty="0">
                <a:latin typeface="Arial"/>
                <a:cs typeface="Arial"/>
              </a:rPr>
              <a:t>uk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n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" dirty="0">
                <a:latin typeface="Arial"/>
                <a:cs typeface="Arial"/>
              </a:rPr>
              <a:t>j</a:t>
            </a:r>
            <a:r>
              <a:rPr sz="1800" spc="-15" dirty="0">
                <a:latin typeface="Arial"/>
                <a:cs typeface="Arial"/>
              </a:rPr>
              <a:t>i</a:t>
            </a:r>
            <a:r>
              <a:rPr sz="1800" spc="-5" dirty="0">
                <a:latin typeface="Arial"/>
                <a:cs typeface="Arial"/>
              </a:rPr>
              <a:t>ka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" dirty="0">
                <a:latin typeface="Arial"/>
                <a:cs typeface="Arial"/>
              </a:rPr>
              <a:t>d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dirty="0">
                <a:latin typeface="Arial"/>
                <a:cs typeface="Arial"/>
              </a:rPr>
              <a:t>ta	</a:t>
            </a:r>
            <a:r>
              <a:rPr sz="1800" spc="-15" dirty="0">
                <a:latin typeface="Arial"/>
                <a:cs typeface="Arial"/>
              </a:rPr>
              <a:t>y</a:t>
            </a:r>
            <a:r>
              <a:rPr sz="1800" spc="-5" dirty="0">
                <a:latin typeface="Arial"/>
                <a:cs typeface="Arial"/>
              </a:rPr>
              <a:t>ang</a:t>
            </a:r>
            <a:r>
              <a:rPr sz="1800" dirty="0">
                <a:latin typeface="Arial"/>
                <a:cs typeface="Arial"/>
              </a:rPr>
              <a:t>	d</a:t>
            </a:r>
            <a:r>
              <a:rPr sz="1800" spc="-5" dirty="0">
                <a:latin typeface="Arial"/>
                <a:cs typeface="Arial"/>
              </a:rPr>
              <a:t>i</a:t>
            </a:r>
            <a:r>
              <a:rPr sz="1800" spc="-15" dirty="0">
                <a:latin typeface="Arial"/>
                <a:cs typeface="Arial"/>
              </a:rPr>
              <a:t>a</a:t>
            </a:r>
            <a:r>
              <a:rPr sz="1800" spc="-5" dirty="0">
                <a:latin typeface="Arial"/>
                <a:cs typeface="Arial"/>
              </a:rPr>
              <a:t>mati	ma</a:t>
            </a:r>
            <a:r>
              <a:rPr sz="1800" dirty="0">
                <a:latin typeface="Arial"/>
                <a:cs typeface="Arial"/>
              </a:rPr>
              <a:t>s</a:t>
            </a:r>
            <a:r>
              <a:rPr sz="1800" spc="-5" dirty="0">
                <a:latin typeface="Arial"/>
                <a:cs typeface="Arial"/>
              </a:rPr>
              <a:t>ih  mentah </a:t>
            </a:r>
            <a:r>
              <a:rPr sz="1800" spc="-10" dirty="0">
                <a:latin typeface="Arial"/>
                <a:cs typeface="Arial"/>
              </a:rPr>
              <a:t>(misalnya </a:t>
            </a:r>
            <a:r>
              <a:rPr sz="1800" spc="-5" dirty="0">
                <a:latin typeface="Arial"/>
                <a:cs typeface="Arial"/>
              </a:rPr>
              <a:t>masih berupa kumpulan data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awal).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444" y="5758992"/>
            <a:ext cx="76136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r>
              <a:rPr sz="1800" dirty="0">
                <a:latin typeface="Arial"/>
                <a:cs typeface="Arial"/>
              </a:rPr>
              <a:t>–	Fitur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yang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diambil</a:t>
            </a:r>
            <a:r>
              <a:rPr sz="1800" spc="8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adalah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yang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merupakan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ciri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khas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yang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membedakan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satu </a:t>
            </a:r>
            <a:r>
              <a:rPr sz="1800" spc="-10" dirty="0">
                <a:latin typeface="Arial"/>
                <a:cs typeface="Arial"/>
              </a:rPr>
              <a:t>objek dengan objek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lainnya.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397632" y="264617"/>
            <a:ext cx="43491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Object to</a:t>
            </a:r>
            <a:r>
              <a:rPr spc="-55" dirty="0"/>
              <a:t> </a:t>
            </a:r>
            <a:r>
              <a:rPr dirty="0"/>
              <a:t>Dataset</a:t>
            </a:r>
          </a:p>
        </p:txBody>
      </p:sp>
      <p:sp>
        <p:nvSpPr>
          <p:cNvPr id="8" name="object 8"/>
          <p:cNvSpPr/>
          <p:nvPr/>
        </p:nvSpPr>
        <p:spPr>
          <a:xfrm>
            <a:off x="2411476" y="3084760"/>
            <a:ext cx="576580" cy="257175"/>
          </a:xfrm>
          <a:custGeom>
            <a:avLst/>
            <a:gdLst/>
            <a:ahLst/>
            <a:cxnLst/>
            <a:rect l="l" t="t" r="r" b="b"/>
            <a:pathLst>
              <a:path w="576580" h="257175">
                <a:moveTo>
                  <a:pt x="462942" y="128339"/>
                </a:moveTo>
                <a:lnTo>
                  <a:pt x="333756" y="203650"/>
                </a:lnTo>
                <a:lnTo>
                  <a:pt x="325308" y="211226"/>
                </a:lnTo>
                <a:lnTo>
                  <a:pt x="320563" y="221112"/>
                </a:lnTo>
                <a:lnTo>
                  <a:pt x="319843" y="232046"/>
                </a:lnTo>
                <a:lnTo>
                  <a:pt x="323469" y="242766"/>
                </a:lnTo>
                <a:lnTo>
                  <a:pt x="331045" y="251213"/>
                </a:lnTo>
                <a:lnTo>
                  <a:pt x="340931" y="255958"/>
                </a:lnTo>
                <a:lnTo>
                  <a:pt x="351865" y="256678"/>
                </a:lnTo>
                <a:lnTo>
                  <a:pt x="362585" y="253053"/>
                </a:lnTo>
                <a:lnTo>
                  <a:pt x="527352" y="156914"/>
                </a:lnTo>
                <a:lnTo>
                  <a:pt x="519556" y="156914"/>
                </a:lnTo>
                <a:lnTo>
                  <a:pt x="519556" y="152977"/>
                </a:lnTo>
                <a:lnTo>
                  <a:pt x="505206" y="152977"/>
                </a:lnTo>
                <a:lnTo>
                  <a:pt x="462942" y="128339"/>
                </a:lnTo>
                <a:close/>
              </a:path>
              <a:path w="576580" h="257175">
                <a:moveTo>
                  <a:pt x="413925" y="99764"/>
                </a:moveTo>
                <a:lnTo>
                  <a:pt x="0" y="99764"/>
                </a:lnTo>
                <a:lnTo>
                  <a:pt x="0" y="156914"/>
                </a:lnTo>
                <a:lnTo>
                  <a:pt x="413925" y="156914"/>
                </a:lnTo>
                <a:lnTo>
                  <a:pt x="462942" y="128339"/>
                </a:lnTo>
                <a:lnTo>
                  <a:pt x="413925" y="99764"/>
                </a:lnTo>
                <a:close/>
              </a:path>
              <a:path w="576580" h="257175">
                <a:moveTo>
                  <a:pt x="527352" y="99764"/>
                </a:moveTo>
                <a:lnTo>
                  <a:pt x="519556" y="99764"/>
                </a:lnTo>
                <a:lnTo>
                  <a:pt x="519556" y="156914"/>
                </a:lnTo>
                <a:lnTo>
                  <a:pt x="527352" y="156914"/>
                </a:lnTo>
                <a:lnTo>
                  <a:pt x="576326" y="128339"/>
                </a:lnTo>
                <a:lnTo>
                  <a:pt x="527352" y="99764"/>
                </a:lnTo>
                <a:close/>
              </a:path>
              <a:path w="576580" h="257175">
                <a:moveTo>
                  <a:pt x="505206" y="103701"/>
                </a:moveTo>
                <a:lnTo>
                  <a:pt x="462942" y="128339"/>
                </a:lnTo>
                <a:lnTo>
                  <a:pt x="505206" y="152977"/>
                </a:lnTo>
                <a:lnTo>
                  <a:pt x="505206" y="103701"/>
                </a:lnTo>
                <a:close/>
              </a:path>
              <a:path w="576580" h="257175">
                <a:moveTo>
                  <a:pt x="519556" y="103701"/>
                </a:moveTo>
                <a:lnTo>
                  <a:pt x="505206" y="103701"/>
                </a:lnTo>
                <a:lnTo>
                  <a:pt x="505206" y="152977"/>
                </a:lnTo>
                <a:lnTo>
                  <a:pt x="519556" y="152977"/>
                </a:lnTo>
                <a:lnTo>
                  <a:pt x="519556" y="103701"/>
                </a:lnTo>
                <a:close/>
              </a:path>
              <a:path w="576580" h="257175">
                <a:moveTo>
                  <a:pt x="351865" y="0"/>
                </a:moveTo>
                <a:lnTo>
                  <a:pt x="340931" y="720"/>
                </a:lnTo>
                <a:lnTo>
                  <a:pt x="331045" y="5464"/>
                </a:lnTo>
                <a:lnTo>
                  <a:pt x="323469" y="13912"/>
                </a:lnTo>
                <a:lnTo>
                  <a:pt x="319843" y="24632"/>
                </a:lnTo>
                <a:lnTo>
                  <a:pt x="320563" y="35565"/>
                </a:lnTo>
                <a:lnTo>
                  <a:pt x="325308" y="45452"/>
                </a:lnTo>
                <a:lnTo>
                  <a:pt x="333756" y="53028"/>
                </a:lnTo>
                <a:lnTo>
                  <a:pt x="462942" y="128339"/>
                </a:lnTo>
                <a:lnTo>
                  <a:pt x="505206" y="103701"/>
                </a:lnTo>
                <a:lnTo>
                  <a:pt x="519556" y="103701"/>
                </a:lnTo>
                <a:lnTo>
                  <a:pt x="519556" y="99764"/>
                </a:lnTo>
                <a:lnTo>
                  <a:pt x="527352" y="99764"/>
                </a:lnTo>
                <a:lnTo>
                  <a:pt x="362585" y="3625"/>
                </a:lnTo>
                <a:lnTo>
                  <a:pt x="35186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203575" y="2060575"/>
            <a:ext cx="4824476" cy="24479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193986" y="2050986"/>
          <a:ext cx="4817108" cy="24402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3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43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2152"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35" dirty="0">
                          <a:latin typeface="Carlito"/>
                          <a:cs typeface="Carlito"/>
                        </a:rPr>
                        <a:t>No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30" dirty="0">
                          <a:latin typeface="Carlito"/>
                          <a:cs typeface="Carlito"/>
                        </a:rPr>
                        <a:t>Fitur</a:t>
                      </a:r>
                      <a:r>
                        <a:rPr sz="2050" spc="-1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50" spc="-60" dirty="0">
                          <a:latin typeface="Carlito"/>
                          <a:cs typeface="Carlito"/>
                        </a:rPr>
                        <a:t>1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30" dirty="0">
                          <a:latin typeface="Carlito"/>
                          <a:cs typeface="Carlito"/>
                        </a:rPr>
                        <a:t>Fitur</a:t>
                      </a:r>
                      <a:r>
                        <a:rPr sz="2050" spc="-145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50" spc="-60" dirty="0">
                          <a:latin typeface="Carlito"/>
                          <a:cs typeface="Carlito"/>
                        </a:rPr>
                        <a:t>2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.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.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7366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30" dirty="0">
                          <a:latin typeface="Carlito"/>
                          <a:cs typeface="Carlito"/>
                        </a:rPr>
                        <a:t>Fitur</a:t>
                      </a:r>
                      <a:r>
                        <a:rPr sz="2050" spc="-1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50" spc="-75" dirty="0">
                          <a:latin typeface="Carlito"/>
                          <a:cs typeface="Carlito"/>
                        </a:rPr>
                        <a:t>N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25" dirty="0">
                          <a:latin typeface="Carlito"/>
                          <a:cs typeface="Carlito"/>
                        </a:rPr>
                        <a:t>Kelas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93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1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106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2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106"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3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81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.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106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.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48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M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25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508" y="264617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Dimensionality</a:t>
            </a:r>
            <a:r>
              <a:rPr spc="-80" dirty="0"/>
              <a:t> </a:t>
            </a:r>
            <a:r>
              <a:rPr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9684"/>
            <a:ext cx="7190740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buChar char="•"/>
              <a:tabLst>
                <a:tab pos="299720" algn="l"/>
              </a:tabLst>
            </a:pPr>
            <a:r>
              <a:rPr sz="3200" dirty="0">
                <a:latin typeface="Arial"/>
                <a:cs typeface="Arial"/>
              </a:rPr>
              <a:t>Problem : </a:t>
            </a:r>
            <a:r>
              <a:rPr sz="3200" spc="-5" dirty="0">
                <a:latin typeface="Arial"/>
                <a:cs typeface="Arial"/>
              </a:rPr>
              <a:t>kompleksitas komputasi  terhadap pengenalan pola pada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ruang  dimensi </a:t>
            </a:r>
            <a:r>
              <a:rPr sz="3200" dirty="0">
                <a:latin typeface="Arial"/>
                <a:cs typeface="Arial"/>
              </a:rPr>
              <a:t>yang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tinggi.</a:t>
            </a:r>
            <a:endParaRPr sz="3200" dirty="0">
              <a:latin typeface="Arial"/>
              <a:cs typeface="Arial"/>
            </a:endParaRPr>
          </a:p>
          <a:p>
            <a:pPr marL="299085" marR="69215" indent="-287020">
              <a:lnSpc>
                <a:spcPct val="100000"/>
              </a:lnSpc>
              <a:spcBef>
                <a:spcPts val="770"/>
              </a:spcBef>
              <a:buChar char="•"/>
              <a:tabLst>
                <a:tab pos="299720" algn="l"/>
              </a:tabLst>
            </a:pPr>
            <a:r>
              <a:rPr sz="3200" spc="-5" dirty="0">
                <a:latin typeface="Arial"/>
                <a:cs typeface="Arial"/>
              </a:rPr>
              <a:t>Solusi </a:t>
            </a:r>
            <a:r>
              <a:rPr sz="3200" dirty="0">
                <a:latin typeface="Arial"/>
                <a:cs typeface="Arial"/>
              </a:rPr>
              <a:t>: </a:t>
            </a:r>
            <a:r>
              <a:rPr sz="3200" spc="-5" dirty="0">
                <a:latin typeface="Arial"/>
                <a:cs typeface="Arial"/>
              </a:rPr>
              <a:t>mapping data </a:t>
            </a:r>
            <a:r>
              <a:rPr sz="3200" dirty="0">
                <a:latin typeface="Arial"/>
                <a:cs typeface="Arial"/>
              </a:rPr>
              <a:t>ke </a:t>
            </a:r>
            <a:r>
              <a:rPr sz="3200" spc="-5" dirty="0">
                <a:latin typeface="Arial"/>
                <a:cs typeface="Arial"/>
              </a:rPr>
              <a:t>dalam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ruang  dimensi </a:t>
            </a:r>
            <a:r>
              <a:rPr sz="3200" dirty="0">
                <a:latin typeface="Arial"/>
                <a:cs typeface="Arial"/>
              </a:rPr>
              <a:t>yang </a:t>
            </a:r>
            <a:r>
              <a:rPr sz="3200" spc="-5" dirty="0">
                <a:latin typeface="Arial"/>
                <a:cs typeface="Arial"/>
              </a:rPr>
              <a:t>lebih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-5" dirty="0">
                <a:latin typeface="Arial"/>
                <a:cs typeface="Arial"/>
              </a:rPr>
              <a:t>rendah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508" y="264617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Dimensionality</a:t>
            </a:r>
            <a:r>
              <a:rPr spc="-80" dirty="0"/>
              <a:t> </a:t>
            </a:r>
            <a:r>
              <a:rPr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2733"/>
            <a:ext cx="7901940" cy="4427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741045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Arial"/>
                <a:cs typeface="Arial"/>
              </a:rPr>
              <a:t>Pengurangan dimensi data </a:t>
            </a:r>
            <a:r>
              <a:rPr sz="2800" dirty="0">
                <a:latin typeface="Arial"/>
                <a:cs typeface="Arial"/>
              </a:rPr>
              <a:t>dapat dilakukan  dengan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698500" marR="55880" lvl="1" indent="-285115">
              <a:lnSpc>
                <a:spcPct val="100000"/>
              </a:lnSpc>
              <a:spcBef>
                <a:spcPts val="590"/>
              </a:spcBef>
              <a:buChar char="•"/>
              <a:tabLst>
                <a:tab pos="698500" algn="l"/>
                <a:tab pos="699135" algn="l"/>
              </a:tabLst>
            </a:pPr>
            <a:r>
              <a:rPr sz="2400" spc="-5" dirty="0">
                <a:latin typeface="Arial"/>
                <a:cs typeface="Arial"/>
              </a:rPr>
              <a:t>Mengkombinasikan </a:t>
            </a:r>
            <a:r>
              <a:rPr sz="2400" dirty="0">
                <a:latin typeface="Arial"/>
                <a:cs typeface="Arial"/>
              </a:rPr>
              <a:t>Fitur </a:t>
            </a:r>
            <a:r>
              <a:rPr sz="2400" spc="-5" dirty="0">
                <a:latin typeface="Arial"/>
                <a:cs typeface="Arial"/>
              </a:rPr>
              <a:t>(secara linear maupun non-  linear)</a:t>
            </a:r>
            <a:endParaRPr sz="2400">
              <a:latin typeface="Arial"/>
              <a:cs typeface="Arial"/>
            </a:endParaRPr>
          </a:p>
          <a:p>
            <a:pPr marL="698500" lvl="1" indent="-285750">
              <a:lnSpc>
                <a:spcPct val="100000"/>
              </a:lnSpc>
              <a:spcBef>
                <a:spcPts val="580"/>
              </a:spcBef>
              <a:buChar char="•"/>
              <a:tabLst>
                <a:tab pos="698500" algn="l"/>
                <a:tab pos="699135" algn="l"/>
              </a:tabLst>
            </a:pPr>
            <a:r>
              <a:rPr sz="2400" spc="-5" dirty="0">
                <a:latin typeface="Arial"/>
                <a:cs typeface="Arial"/>
              </a:rPr>
              <a:t>Memilih himpunan bagian dari </a:t>
            </a:r>
            <a:r>
              <a:rPr sz="2400" dirty="0">
                <a:latin typeface="Arial"/>
                <a:cs typeface="Arial"/>
              </a:rPr>
              <a:t>fitur-fitur </a:t>
            </a:r>
            <a:r>
              <a:rPr sz="2400" spc="-5" dirty="0">
                <a:latin typeface="Arial"/>
                <a:cs typeface="Arial"/>
              </a:rPr>
              <a:t>yang</a:t>
            </a:r>
            <a:r>
              <a:rPr sz="2400" spc="12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tersedia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buFont typeface="Arial"/>
              <a:buChar char="•"/>
            </a:pPr>
            <a:endParaRPr sz="2700">
              <a:latin typeface="Arial"/>
              <a:cs typeface="Arial"/>
            </a:endParaRPr>
          </a:p>
          <a:p>
            <a:pPr marL="299085" marR="184785" indent="-287020">
              <a:lnSpc>
                <a:spcPct val="100000"/>
              </a:lnSpc>
              <a:spcBef>
                <a:spcPts val="158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dirty="0"/>
              <a:t>	</a:t>
            </a:r>
            <a:r>
              <a:rPr sz="2800" spc="-5" dirty="0">
                <a:latin typeface="Arial"/>
                <a:cs typeface="Arial"/>
              </a:rPr>
              <a:t>Kombinasi Linier merupakan </a:t>
            </a:r>
            <a:r>
              <a:rPr sz="2800" dirty="0">
                <a:latin typeface="Arial"/>
                <a:cs typeface="Arial"/>
              </a:rPr>
              <a:t>pendekatan yang  </a:t>
            </a:r>
            <a:r>
              <a:rPr sz="2800" spc="-5" dirty="0">
                <a:latin typeface="Arial"/>
                <a:cs typeface="Arial"/>
              </a:rPr>
              <a:t>menarik karena metode </a:t>
            </a:r>
            <a:r>
              <a:rPr sz="2800" dirty="0">
                <a:latin typeface="Arial"/>
                <a:cs typeface="Arial"/>
              </a:rPr>
              <a:t>tersebut dilakukan  </a:t>
            </a:r>
            <a:r>
              <a:rPr sz="2800" spc="-5" dirty="0">
                <a:latin typeface="Arial"/>
                <a:cs typeface="Arial"/>
              </a:rPr>
              <a:t>dengan </a:t>
            </a:r>
            <a:r>
              <a:rPr sz="2800" dirty="0">
                <a:latin typeface="Arial"/>
                <a:cs typeface="Arial"/>
              </a:rPr>
              <a:t>perhitungan </a:t>
            </a:r>
            <a:r>
              <a:rPr sz="2800" spc="-5" dirty="0">
                <a:latin typeface="Arial"/>
                <a:cs typeface="Arial"/>
              </a:rPr>
              <a:t>yang sederhana dan  </a:t>
            </a:r>
            <a:r>
              <a:rPr sz="2800" dirty="0">
                <a:latin typeface="Arial"/>
                <a:cs typeface="Arial"/>
              </a:rPr>
              <a:t>terlacak </a:t>
            </a:r>
            <a:r>
              <a:rPr sz="2800" spc="-5" dirty="0">
                <a:latin typeface="Arial"/>
                <a:cs typeface="Arial"/>
              </a:rPr>
              <a:t>secara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analitis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508" y="264617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Dimensionality</a:t>
            </a:r>
            <a:r>
              <a:rPr spc="-80" dirty="0"/>
              <a:t> </a:t>
            </a:r>
            <a:r>
              <a:rPr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09231" y="3992111"/>
            <a:ext cx="480059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2110" algn="l"/>
              </a:tabLst>
            </a:pPr>
            <a:r>
              <a:rPr sz="2050" spc="-40" dirty="0">
                <a:latin typeface="Symbol"/>
                <a:cs typeface="Symbol"/>
              </a:rPr>
              <a:t></a:t>
            </a:r>
            <a:r>
              <a:rPr sz="2050" spc="-40" dirty="0">
                <a:latin typeface="Times New Roman"/>
                <a:cs typeface="Times New Roman"/>
              </a:rPr>
              <a:t>	</a:t>
            </a:r>
            <a:r>
              <a:rPr sz="2050" spc="-4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3831" y="4227329"/>
            <a:ext cx="53086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60" dirty="0">
                <a:latin typeface="Symbol"/>
                <a:cs typeface="Symbol"/>
              </a:rPr>
              <a:t></a:t>
            </a:r>
            <a:r>
              <a:rPr sz="3075" i="1" spc="-89" baseline="14905" dirty="0">
                <a:latin typeface="Arial"/>
                <a:cs typeface="Arial"/>
              </a:rPr>
              <a:t>b</a:t>
            </a:r>
            <a:r>
              <a:rPr sz="2100" i="1" spc="-89" baseline="1984" dirty="0">
                <a:latin typeface="Arial"/>
                <a:cs typeface="Arial"/>
              </a:rPr>
              <a:t>k</a:t>
            </a:r>
            <a:r>
              <a:rPr sz="2100" i="1" spc="-112" baseline="1984" dirty="0">
                <a:latin typeface="Arial"/>
                <a:cs typeface="Arial"/>
              </a:rPr>
              <a:t> </a:t>
            </a:r>
            <a:r>
              <a:rPr sz="2050" spc="-40" dirty="0">
                <a:latin typeface="Symbol"/>
                <a:cs typeface="Symbol"/>
              </a:rPr>
              <a:t>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05864" y="3992111"/>
            <a:ext cx="51308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4495" algn="l"/>
              </a:tabLst>
            </a:pPr>
            <a:r>
              <a:rPr sz="2050" spc="-40" dirty="0">
                <a:latin typeface="Symbol"/>
                <a:cs typeface="Symbol"/>
              </a:rPr>
              <a:t></a:t>
            </a:r>
            <a:r>
              <a:rPr sz="2050" spc="-40" dirty="0">
                <a:latin typeface="Times New Roman"/>
                <a:cs typeface="Times New Roman"/>
              </a:rPr>
              <a:t>	</a:t>
            </a:r>
            <a:r>
              <a:rPr sz="2050" spc="-4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80464" y="4227329"/>
            <a:ext cx="56388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70" dirty="0">
                <a:latin typeface="Symbol"/>
                <a:cs typeface="Symbol"/>
              </a:rPr>
              <a:t></a:t>
            </a:r>
            <a:r>
              <a:rPr sz="3075" i="1" spc="-104" baseline="14905" dirty="0">
                <a:latin typeface="Arial"/>
                <a:cs typeface="Arial"/>
              </a:rPr>
              <a:t>a</a:t>
            </a:r>
            <a:r>
              <a:rPr sz="2100" i="1" spc="-104" baseline="1984" dirty="0">
                <a:latin typeface="Arial"/>
                <a:cs typeface="Arial"/>
              </a:rPr>
              <a:t>N</a:t>
            </a:r>
            <a:r>
              <a:rPr sz="2100" i="1" spc="-142" baseline="1984" dirty="0">
                <a:latin typeface="Arial"/>
                <a:cs typeface="Arial"/>
              </a:rPr>
              <a:t> </a:t>
            </a:r>
            <a:r>
              <a:rPr sz="2050" spc="-40" dirty="0">
                <a:latin typeface="Symbol"/>
                <a:cs typeface="Symbol"/>
              </a:rPr>
              <a:t>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83831" y="3779457"/>
            <a:ext cx="53086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75" spc="-60" baseline="5420" dirty="0">
                <a:latin typeface="Symbol"/>
                <a:cs typeface="Symbol"/>
              </a:rPr>
              <a:t></a:t>
            </a:r>
            <a:r>
              <a:rPr sz="3075" spc="-502" baseline="5420" dirty="0">
                <a:latin typeface="Times New Roman"/>
                <a:cs typeface="Times New Roman"/>
              </a:rPr>
              <a:t> </a:t>
            </a:r>
            <a:r>
              <a:rPr sz="2050" spc="-65" dirty="0">
                <a:latin typeface="Arial"/>
                <a:cs typeface="Arial"/>
              </a:rPr>
              <a:t>...</a:t>
            </a:r>
            <a:r>
              <a:rPr sz="2050" spc="-250" dirty="0">
                <a:latin typeface="Arial"/>
                <a:cs typeface="Arial"/>
              </a:rPr>
              <a:t> </a:t>
            </a:r>
            <a:r>
              <a:rPr sz="3075" spc="-60" baseline="5420" dirty="0">
                <a:latin typeface="Symbol"/>
                <a:cs typeface="Symbol"/>
              </a:rPr>
              <a:t></a:t>
            </a:r>
            <a:endParaRPr sz="3075" baseline="542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2658" y="3484464"/>
            <a:ext cx="6588125" cy="4584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837565" algn="l"/>
                <a:tab pos="5408295" algn="l"/>
              </a:tabLst>
            </a:pPr>
            <a:r>
              <a:rPr sz="2050" i="1" spc="-55" dirty="0">
                <a:latin typeface="Arial"/>
                <a:cs typeface="Arial"/>
              </a:rPr>
              <a:t>x</a:t>
            </a:r>
            <a:r>
              <a:rPr sz="2050" i="1" spc="45" dirty="0">
                <a:latin typeface="Arial"/>
                <a:cs typeface="Arial"/>
              </a:rPr>
              <a:t> </a:t>
            </a:r>
            <a:r>
              <a:rPr sz="2050" spc="-60" dirty="0">
                <a:latin typeface="Symbol"/>
                <a:cs typeface="Symbol"/>
              </a:rPr>
              <a:t></a:t>
            </a:r>
            <a:r>
              <a:rPr sz="2050" spc="35" dirty="0">
                <a:latin typeface="Times New Roman"/>
                <a:cs typeface="Times New Roman"/>
              </a:rPr>
              <a:t> </a:t>
            </a:r>
            <a:r>
              <a:rPr sz="3075" spc="-60" baseline="16260" dirty="0">
                <a:latin typeface="Symbol"/>
                <a:cs typeface="Symbol"/>
              </a:rPr>
              <a:t></a:t>
            </a:r>
            <a:r>
              <a:rPr sz="3075" spc="-60" baseline="16260" dirty="0">
                <a:latin typeface="Times New Roman"/>
                <a:cs typeface="Times New Roman"/>
              </a:rPr>
              <a:t>	</a:t>
            </a:r>
            <a:r>
              <a:rPr sz="3075" spc="-60" baseline="16260" dirty="0">
                <a:latin typeface="Symbol"/>
                <a:cs typeface="Symbol"/>
              </a:rPr>
              <a:t></a:t>
            </a:r>
            <a:r>
              <a:rPr sz="3075" spc="-60" baseline="16260" dirty="0">
                <a:latin typeface="Times New Roman"/>
                <a:cs typeface="Times New Roman"/>
              </a:rPr>
              <a:t> </a:t>
            </a:r>
            <a:r>
              <a:rPr sz="2050" spc="60" dirty="0">
                <a:latin typeface="Symbol"/>
                <a:cs typeface="Symbol"/>
              </a:rPr>
              <a:t></a:t>
            </a:r>
            <a:r>
              <a:rPr sz="2050" spc="60" dirty="0">
                <a:latin typeface="Times New Roman"/>
                <a:cs typeface="Times New Roman"/>
              </a:rPr>
              <a:t> </a:t>
            </a:r>
            <a:r>
              <a:rPr sz="2050" spc="-60" dirty="0">
                <a:latin typeface="Symbol"/>
                <a:cs typeface="Symbol"/>
              </a:rPr>
              <a:t>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75" dirty="0">
                <a:latin typeface="Arial"/>
                <a:cs typeface="Arial"/>
              </a:rPr>
              <a:t>reduce  </a:t>
            </a:r>
            <a:r>
              <a:rPr sz="2050" spc="-65" dirty="0">
                <a:latin typeface="Arial"/>
                <a:cs typeface="Arial"/>
              </a:rPr>
              <a:t>dimensionality </a:t>
            </a:r>
            <a:r>
              <a:rPr sz="2050" spc="-60" dirty="0">
                <a:latin typeface="Symbol"/>
                <a:cs typeface="Symbol"/>
              </a:rPr>
              <a:t>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60" dirty="0">
                <a:latin typeface="Symbol"/>
                <a:cs typeface="Symbol"/>
              </a:rPr>
              <a:t>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spc="-60" dirty="0">
                <a:latin typeface="Symbol"/>
                <a:cs typeface="Symbol"/>
              </a:rPr>
              <a:t></a:t>
            </a:r>
            <a:r>
              <a:rPr sz="2050" spc="-60" dirty="0">
                <a:latin typeface="Times New Roman"/>
                <a:cs typeface="Times New Roman"/>
              </a:rPr>
              <a:t> </a:t>
            </a:r>
            <a:r>
              <a:rPr sz="2050" i="1" spc="-55" dirty="0">
                <a:latin typeface="Arial"/>
                <a:cs typeface="Arial"/>
              </a:rPr>
              <a:t>y</a:t>
            </a:r>
            <a:r>
              <a:rPr sz="2050" i="1" spc="285" dirty="0">
                <a:latin typeface="Arial"/>
                <a:cs typeface="Arial"/>
              </a:rPr>
              <a:t> </a:t>
            </a:r>
            <a:r>
              <a:rPr sz="2050" spc="-60" dirty="0">
                <a:latin typeface="Symbol"/>
                <a:cs typeface="Symbol"/>
              </a:rPr>
              <a:t></a:t>
            </a:r>
            <a:r>
              <a:rPr sz="2050" spc="40" dirty="0">
                <a:latin typeface="Times New Roman"/>
                <a:cs typeface="Times New Roman"/>
              </a:rPr>
              <a:t> </a:t>
            </a:r>
            <a:r>
              <a:rPr sz="3075" spc="-60" baseline="16260" dirty="0">
                <a:latin typeface="Symbol"/>
                <a:cs typeface="Symbol"/>
              </a:rPr>
              <a:t></a:t>
            </a:r>
            <a:r>
              <a:rPr sz="3075" spc="-60" baseline="16260" dirty="0">
                <a:latin typeface="Times New Roman"/>
                <a:cs typeface="Times New Roman"/>
              </a:rPr>
              <a:t>	</a:t>
            </a:r>
            <a:r>
              <a:rPr sz="3075" spc="-60" baseline="16260" dirty="0">
                <a:latin typeface="Symbol"/>
                <a:cs typeface="Symbol"/>
              </a:rPr>
              <a:t></a:t>
            </a:r>
            <a:r>
              <a:rPr sz="3075" spc="-60" baseline="16260" dirty="0">
                <a:latin typeface="Times New Roman"/>
                <a:cs typeface="Times New Roman"/>
              </a:rPr>
              <a:t> </a:t>
            </a:r>
            <a:r>
              <a:rPr sz="2800" spc="-250" dirty="0">
                <a:latin typeface="Symbol"/>
                <a:cs typeface="Symbol"/>
              </a:rPr>
              <a:t></a:t>
            </a:r>
            <a:r>
              <a:rPr sz="2050" i="1" spc="-250" dirty="0">
                <a:latin typeface="Arial"/>
                <a:cs typeface="Arial"/>
              </a:rPr>
              <a:t>K </a:t>
            </a:r>
            <a:r>
              <a:rPr sz="2050" spc="-45" dirty="0">
                <a:latin typeface="Symbol"/>
                <a:cs typeface="Symbol"/>
              </a:rPr>
              <a:t></a:t>
            </a:r>
            <a:r>
              <a:rPr sz="2050" spc="-130" dirty="0">
                <a:latin typeface="Times New Roman"/>
                <a:cs typeface="Times New Roman"/>
              </a:rPr>
              <a:t> </a:t>
            </a:r>
            <a:r>
              <a:rPr sz="2050" i="1" spc="-105" dirty="0">
                <a:latin typeface="Arial"/>
                <a:cs typeface="Arial"/>
              </a:rPr>
              <a:t>N</a:t>
            </a:r>
            <a:r>
              <a:rPr sz="2800" spc="-105" dirty="0">
                <a:latin typeface="Symbol"/>
                <a:cs typeface="Symbol"/>
              </a:rPr>
              <a:t></a:t>
            </a:r>
            <a:endParaRPr sz="28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80464" y="3779457"/>
            <a:ext cx="56388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75" spc="-60" baseline="5420" dirty="0">
                <a:latin typeface="Symbol"/>
                <a:cs typeface="Symbol"/>
              </a:rPr>
              <a:t></a:t>
            </a:r>
            <a:r>
              <a:rPr sz="3075" spc="-60" baseline="5420" dirty="0">
                <a:latin typeface="Times New Roman"/>
                <a:cs typeface="Times New Roman"/>
              </a:rPr>
              <a:t> </a:t>
            </a:r>
            <a:r>
              <a:rPr sz="2050" spc="-65" dirty="0">
                <a:latin typeface="Arial"/>
                <a:cs typeface="Arial"/>
              </a:rPr>
              <a:t>...</a:t>
            </a:r>
            <a:r>
              <a:rPr sz="2050" spc="-300" dirty="0">
                <a:latin typeface="Arial"/>
                <a:cs typeface="Arial"/>
              </a:rPr>
              <a:t> </a:t>
            </a:r>
            <a:r>
              <a:rPr sz="3075" spc="-60" baseline="5420" dirty="0">
                <a:latin typeface="Symbol"/>
                <a:cs typeface="Symbol"/>
              </a:rPr>
              <a:t></a:t>
            </a:r>
            <a:endParaRPr sz="3075" baseline="542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67764" y="3270648"/>
            <a:ext cx="516001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4653915" algn="l"/>
              </a:tabLst>
            </a:pPr>
            <a:r>
              <a:rPr sz="2050" spc="-5" dirty="0">
                <a:latin typeface="Symbol"/>
                <a:cs typeface="Symbol"/>
              </a:rPr>
              <a:t></a:t>
            </a:r>
            <a:r>
              <a:rPr sz="3075" i="1" spc="-7" baseline="-27100" dirty="0">
                <a:latin typeface="Arial"/>
                <a:cs typeface="Arial"/>
              </a:rPr>
              <a:t>a</a:t>
            </a:r>
            <a:r>
              <a:rPr sz="2100" spc="-7" baseline="-59523" dirty="0">
                <a:latin typeface="Arial"/>
                <a:cs typeface="Arial"/>
              </a:rPr>
              <a:t>2</a:t>
            </a:r>
            <a:r>
              <a:rPr sz="2100" baseline="-59523" dirty="0">
                <a:latin typeface="Arial"/>
                <a:cs typeface="Arial"/>
              </a:rPr>
              <a:t> </a:t>
            </a:r>
            <a:r>
              <a:rPr sz="2050" spc="-40" dirty="0">
                <a:latin typeface="Symbol"/>
                <a:cs typeface="Symbol"/>
              </a:rPr>
              <a:t></a:t>
            </a:r>
            <a:r>
              <a:rPr sz="2050" spc="-40" dirty="0">
                <a:latin typeface="Times New Roman"/>
                <a:cs typeface="Times New Roman"/>
              </a:rPr>
              <a:t>	</a:t>
            </a:r>
            <a:r>
              <a:rPr sz="2050" spc="-50" dirty="0">
                <a:latin typeface="Symbol"/>
                <a:cs typeface="Symbol"/>
              </a:rPr>
              <a:t></a:t>
            </a:r>
            <a:r>
              <a:rPr sz="3075" i="1" spc="-75" baseline="-27100" dirty="0">
                <a:latin typeface="Arial"/>
                <a:cs typeface="Arial"/>
              </a:rPr>
              <a:t>b</a:t>
            </a:r>
            <a:r>
              <a:rPr sz="2100" spc="-75" baseline="-59523" dirty="0">
                <a:latin typeface="Arial"/>
                <a:cs typeface="Arial"/>
              </a:rPr>
              <a:t>2</a:t>
            </a:r>
            <a:r>
              <a:rPr sz="2100" spc="-247" baseline="-59523" dirty="0">
                <a:latin typeface="Arial"/>
                <a:cs typeface="Arial"/>
              </a:rPr>
              <a:t> </a:t>
            </a:r>
            <a:r>
              <a:rPr sz="2050" spc="-4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540" y="1292733"/>
            <a:ext cx="7773034" cy="2074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304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81000" algn="l"/>
                <a:tab pos="381635" algn="l"/>
                <a:tab pos="6553834" algn="l"/>
              </a:tabLst>
            </a:pPr>
            <a:r>
              <a:rPr sz="2800" spc="-5" dirty="0">
                <a:latin typeface="Arial"/>
                <a:cs typeface="Arial"/>
              </a:rPr>
              <a:t>Diberikan x </a:t>
            </a:r>
            <a:r>
              <a:rPr sz="2800" spc="-1155" dirty="0">
                <a:latin typeface="Arial"/>
                <a:cs typeface="Arial"/>
              </a:rPr>
              <a:t>ϵ</a:t>
            </a:r>
            <a:r>
              <a:rPr sz="2800" spc="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</a:t>
            </a:r>
            <a:r>
              <a:rPr sz="2775" baseline="25525" dirty="0">
                <a:latin typeface="Arial"/>
                <a:cs typeface="Arial"/>
              </a:rPr>
              <a:t>N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spc="-5" dirty="0">
                <a:latin typeface="Arial"/>
                <a:cs typeface="Arial"/>
              </a:rPr>
              <a:t>dengan </a:t>
            </a:r>
            <a:r>
              <a:rPr sz="2800" dirty="0">
                <a:latin typeface="Arial"/>
                <a:cs typeface="Arial"/>
              </a:rPr>
              <a:t>tujuan untuk </a:t>
            </a:r>
            <a:r>
              <a:rPr sz="2800" spc="-65" dirty="0">
                <a:latin typeface="Arial"/>
                <a:cs typeface="Arial"/>
              </a:rPr>
              <a:t>mencari  </a:t>
            </a:r>
            <a:r>
              <a:rPr sz="2800" dirty="0">
                <a:latin typeface="Arial"/>
                <a:cs typeface="Arial"/>
              </a:rPr>
              <a:t>transformasi linier </a:t>
            </a:r>
            <a:r>
              <a:rPr sz="2800" spc="-5" dirty="0">
                <a:latin typeface="Arial"/>
                <a:cs typeface="Arial"/>
              </a:rPr>
              <a:t>U sehingga y</a:t>
            </a:r>
            <a:r>
              <a:rPr sz="2800" spc="6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=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U</a:t>
            </a:r>
            <a:r>
              <a:rPr sz="2775" spc="22" baseline="25525" dirty="0">
                <a:latin typeface="Arial"/>
                <a:cs typeface="Arial"/>
              </a:rPr>
              <a:t>T</a:t>
            </a:r>
            <a:r>
              <a:rPr sz="2800" spc="15" dirty="0">
                <a:latin typeface="Arial"/>
                <a:cs typeface="Arial"/>
              </a:rPr>
              <a:t>x	</a:t>
            </a:r>
            <a:r>
              <a:rPr sz="2800" spc="-1155" dirty="0">
                <a:latin typeface="Arial"/>
                <a:cs typeface="Arial"/>
              </a:rPr>
              <a:t>ϵ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</a:t>
            </a:r>
            <a:r>
              <a:rPr sz="2775" baseline="25525" dirty="0">
                <a:latin typeface="Arial"/>
                <a:cs typeface="Arial"/>
              </a:rPr>
              <a:t>K </a:t>
            </a:r>
            <a:r>
              <a:rPr sz="185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dimana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K&lt;N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100">
              <a:latin typeface="Arial"/>
              <a:cs typeface="Arial"/>
            </a:endParaRPr>
          </a:p>
          <a:p>
            <a:pPr marR="290830" algn="ctr">
              <a:lnSpc>
                <a:spcPct val="100000"/>
              </a:lnSpc>
              <a:tabLst>
                <a:tab pos="4603115" algn="l"/>
              </a:tabLst>
            </a:pPr>
            <a:r>
              <a:rPr sz="2050" spc="-40" dirty="0">
                <a:latin typeface="Symbol"/>
                <a:cs typeface="Symbol"/>
              </a:rPr>
              <a:t></a:t>
            </a:r>
            <a:r>
              <a:rPr sz="2050" spc="-260" dirty="0">
                <a:latin typeface="Times New Roman"/>
                <a:cs typeface="Times New Roman"/>
              </a:rPr>
              <a:t> </a:t>
            </a:r>
            <a:r>
              <a:rPr sz="3075" i="1" spc="-150" baseline="2710" dirty="0">
                <a:latin typeface="Arial"/>
                <a:cs typeface="Arial"/>
              </a:rPr>
              <a:t>a</a:t>
            </a:r>
            <a:r>
              <a:rPr sz="2100" spc="-150" baseline="-15873" dirty="0">
                <a:latin typeface="Arial"/>
                <a:cs typeface="Arial"/>
              </a:rPr>
              <a:t>1</a:t>
            </a:r>
            <a:r>
              <a:rPr sz="2100" spc="-52" baseline="-15873" dirty="0">
                <a:latin typeface="Arial"/>
                <a:cs typeface="Arial"/>
              </a:rPr>
              <a:t> </a:t>
            </a:r>
            <a:r>
              <a:rPr sz="2050" spc="-40" dirty="0">
                <a:latin typeface="Symbol"/>
                <a:cs typeface="Symbol"/>
              </a:rPr>
              <a:t></a:t>
            </a:r>
            <a:r>
              <a:rPr sz="2050" spc="-40" dirty="0">
                <a:latin typeface="Times New Roman"/>
                <a:cs typeface="Times New Roman"/>
              </a:rPr>
              <a:t>	</a:t>
            </a:r>
            <a:r>
              <a:rPr sz="2050" spc="-40" dirty="0">
                <a:latin typeface="Symbol"/>
                <a:cs typeface="Symbol"/>
              </a:rPr>
              <a:t></a:t>
            </a:r>
            <a:r>
              <a:rPr sz="3075" i="1" spc="-60" baseline="2710" dirty="0">
                <a:latin typeface="Arial"/>
                <a:cs typeface="Arial"/>
              </a:rPr>
              <a:t>b</a:t>
            </a:r>
            <a:r>
              <a:rPr sz="2100" spc="-60" baseline="-15873" dirty="0">
                <a:latin typeface="Arial"/>
                <a:cs typeface="Arial"/>
              </a:rPr>
              <a:t>1</a:t>
            </a:r>
            <a:r>
              <a:rPr sz="2100" spc="-247" baseline="-15873" dirty="0">
                <a:latin typeface="Arial"/>
                <a:cs typeface="Arial"/>
              </a:rPr>
              <a:t> </a:t>
            </a:r>
            <a:r>
              <a:rPr sz="2050" spc="-40" dirty="0">
                <a:latin typeface="Symbol"/>
                <a:cs typeface="Symbol"/>
              </a:rPr>
              <a:t></a:t>
            </a:r>
            <a:endParaRPr sz="20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508" y="264617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Dimensionality</a:t>
            </a:r>
            <a:r>
              <a:rPr spc="-80" dirty="0"/>
              <a:t> </a:t>
            </a:r>
            <a:r>
              <a:rPr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2733"/>
            <a:ext cx="8068309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  <a:tab pos="1397635" algn="l"/>
                <a:tab pos="3652520" algn="l"/>
                <a:tab pos="4932680" algn="l"/>
                <a:tab pos="6195060" algn="l"/>
              </a:tabLst>
            </a:pPr>
            <a:r>
              <a:rPr sz="2800" spc="-5" dirty="0">
                <a:latin typeface="Arial"/>
                <a:cs typeface="Arial"/>
              </a:rPr>
              <a:t>Dua	p</a:t>
            </a:r>
            <a:r>
              <a:rPr sz="2800" spc="10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n</a:t>
            </a:r>
            <a:r>
              <a:rPr sz="2800" dirty="0">
                <a:latin typeface="Arial"/>
                <a:cs typeface="Arial"/>
              </a:rPr>
              <a:t>d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k</a:t>
            </a:r>
            <a:r>
              <a:rPr sz="2800" spc="-5" dirty="0">
                <a:latin typeface="Arial"/>
                <a:cs typeface="Arial"/>
              </a:rPr>
              <a:t>at</a:t>
            </a:r>
            <a:r>
              <a:rPr sz="2800" spc="5" dirty="0">
                <a:latin typeface="Arial"/>
                <a:cs typeface="Arial"/>
              </a:rPr>
              <a:t>a</a:t>
            </a:r>
            <a:r>
              <a:rPr sz="2800" spc="-5" dirty="0">
                <a:latin typeface="Arial"/>
                <a:cs typeface="Arial"/>
              </a:rPr>
              <a:t>n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k</a:t>
            </a:r>
            <a:r>
              <a:rPr sz="2800" dirty="0">
                <a:latin typeface="Arial"/>
                <a:cs typeface="Arial"/>
              </a:rPr>
              <a:t>l</a:t>
            </a:r>
            <a:r>
              <a:rPr sz="2800" spc="-5" dirty="0">
                <a:latin typeface="Arial"/>
                <a:cs typeface="Arial"/>
              </a:rPr>
              <a:t>a</a:t>
            </a:r>
            <a:r>
              <a:rPr sz="2800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ik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u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tuk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me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g</a:t>
            </a:r>
            <a:r>
              <a:rPr sz="2800" dirty="0">
                <a:latin typeface="Arial"/>
                <a:cs typeface="Arial"/>
              </a:rPr>
              <a:t>h</a:t>
            </a:r>
            <a:r>
              <a:rPr sz="2800" spc="5" dirty="0">
                <a:latin typeface="Arial"/>
                <a:cs typeface="Arial"/>
              </a:rPr>
              <a:t>i</a:t>
            </a:r>
            <a:r>
              <a:rPr sz="2800" spc="-5" dirty="0">
                <a:latin typeface="Arial"/>
                <a:cs typeface="Arial"/>
              </a:rPr>
              <a:t>tu</a:t>
            </a:r>
            <a:r>
              <a:rPr sz="2800" spc="5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g  </a:t>
            </a:r>
            <a:r>
              <a:rPr sz="2800" dirty="0">
                <a:latin typeface="Arial"/>
                <a:cs typeface="Arial"/>
              </a:rPr>
              <a:t>transformasi </a:t>
            </a:r>
            <a:r>
              <a:rPr sz="2800" spc="-5" dirty="0">
                <a:latin typeface="Arial"/>
                <a:cs typeface="Arial"/>
              </a:rPr>
              <a:t>linier </a:t>
            </a:r>
            <a:r>
              <a:rPr sz="2800" dirty="0">
                <a:latin typeface="Arial"/>
                <a:cs typeface="Arial"/>
              </a:rPr>
              <a:t>yang </a:t>
            </a:r>
            <a:r>
              <a:rPr sz="2800" spc="-5" dirty="0">
                <a:latin typeface="Arial"/>
                <a:cs typeface="Arial"/>
              </a:rPr>
              <a:t>optimal</a:t>
            </a:r>
            <a:r>
              <a:rPr sz="2800" spc="5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67710" y="2220848"/>
            <a:ext cx="58394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9305" algn="l"/>
                <a:tab pos="3511550" algn="l"/>
                <a:tab pos="4742180" algn="l"/>
              </a:tabLst>
            </a:pP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Components	Analysis	(PCA):	</a:t>
            </a:r>
            <a:r>
              <a:rPr sz="2400" spc="-5" dirty="0">
                <a:latin typeface="Arial"/>
                <a:cs typeface="Arial"/>
              </a:rPr>
              <a:t>mencari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9314" y="2586990"/>
            <a:ext cx="5967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6619" algn="l"/>
                <a:tab pos="3053080" algn="l"/>
                <a:tab pos="4649470" algn="l"/>
              </a:tabLst>
            </a:pPr>
            <a:r>
              <a:rPr sz="2400" spc="-5" dirty="0">
                <a:latin typeface="Arial"/>
                <a:cs typeface="Arial"/>
              </a:rPr>
              <a:t>yang	</a:t>
            </a:r>
            <a:r>
              <a:rPr sz="2400" b="1" spc="-5" dirty="0">
                <a:latin typeface="Arial"/>
                <a:cs typeface="Arial"/>
              </a:rPr>
              <a:t>menyediakan	</a:t>
            </a:r>
            <a:r>
              <a:rPr sz="2400" b="1" dirty="0">
                <a:latin typeface="Arial"/>
                <a:cs typeface="Arial"/>
              </a:rPr>
              <a:t>informasi	</a:t>
            </a:r>
            <a:r>
              <a:rPr sz="2400" spc="-5" dirty="0">
                <a:latin typeface="Arial"/>
                <a:cs typeface="Arial"/>
              </a:rPr>
              <a:t>sebanyak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96082" y="2952750"/>
            <a:ext cx="59118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6805" algn="l"/>
                <a:tab pos="1963420" algn="l"/>
                <a:tab pos="3244850" algn="l"/>
                <a:tab pos="5101590" algn="l"/>
              </a:tabLst>
            </a:pPr>
            <a:r>
              <a:rPr sz="2400" spc="-5" dirty="0">
                <a:latin typeface="Arial"/>
                <a:cs typeface="Arial"/>
              </a:rPr>
              <a:t>dalam	data	dengan	pendekatan	</a:t>
            </a:r>
            <a:r>
              <a:rPr sz="2400" b="1" spc="-5" dirty="0">
                <a:latin typeface="Arial"/>
                <a:cs typeface="Arial"/>
              </a:rPr>
              <a:t>least-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3444" y="2220848"/>
            <a:ext cx="156400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– Principal </a:t>
            </a:r>
            <a:r>
              <a:rPr sz="2400" dirty="0">
                <a:latin typeface="Arial"/>
                <a:cs typeface="Arial"/>
              </a:rPr>
              <a:t> proyeksi  mungkin  </a:t>
            </a:r>
            <a:r>
              <a:rPr sz="2400" b="1" spc="-5" dirty="0">
                <a:latin typeface="Arial"/>
                <a:cs typeface="Arial"/>
              </a:rPr>
              <a:t>sq</a:t>
            </a:r>
            <a:r>
              <a:rPr sz="2400" b="1" spc="-15" dirty="0">
                <a:latin typeface="Arial"/>
                <a:cs typeface="Arial"/>
              </a:rPr>
              <a:t>u</a:t>
            </a:r>
            <a:r>
              <a:rPr sz="2400" b="1" spc="-5" dirty="0">
                <a:latin typeface="Arial"/>
                <a:cs typeface="Arial"/>
              </a:rPr>
              <a:t>are</a:t>
            </a:r>
            <a:r>
              <a:rPr sz="2400" b="1" spc="-10" dirty="0">
                <a:latin typeface="Arial"/>
                <a:cs typeface="Arial"/>
              </a:rPr>
              <a:t>s</a:t>
            </a:r>
            <a:r>
              <a:rPr sz="2400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757371"/>
            <a:ext cx="8072755" cy="2486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56285" marR="5080" indent="-287020" algn="just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– Linear Discriminant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Analysis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(LDA): </a:t>
            </a:r>
            <a:r>
              <a:rPr sz="2400" spc="-5" dirty="0">
                <a:latin typeface="Arial"/>
                <a:cs typeface="Arial"/>
              </a:rPr>
              <a:t>mencari </a:t>
            </a:r>
            <a:r>
              <a:rPr sz="2400" dirty="0">
                <a:latin typeface="Arial"/>
                <a:cs typeface="Arial"/>
              </a:rPr>
              <a:t>proyeksi  </a:t>
            </a:r>
            <a:r>
              <a:rPr sz="2400" spc="-5" dirty="0">
                <a:latin typeface="Arial"/>
                <a:cs typeface="Arial"/>
              </a:rPr>
              <a:t>terbaik </a:t>
            </a:r>
            <a:r>
              <a:rPr sz="2400" dirty="0">
                <a:latin typeface="Arial"/>
                <a:cs typeface="Arial"/>
              </a:rPr>
              <a:t>yang </a:t>
            </a:r>
            <a:r>
              <a:rPr sz="2400" spc="-5" dirty="0">
                <a:latin typeface="Arial"/>
                <a:cs typeface="Arial"/>
              </a:rPr>
              <a:t>dapat </a:t>
            </a:r>
            <a:r>
              <a:rPr sz="2400" b="1" spc="-5" dirty="0">
                <a:latin typeface="Arial"/>
                <a:cs typeface="Arial"/>
              </a:rPr>
              <a:t>memisahkan data </a:t>
            </a:r>
            <a:r>
              <a:rPr sz="2400" dirty="0">
                <a:latin typeface="Arial"/>
                <a:cs typeface="Arial"/>
              </a:rPr>
              <a:t>dengan  </a:t>
            </a:r>
            <a:r>
              <a:rPr sz="2400" spc="-5" dirty="0">
                <a:latin typeface="Arial"/>
                <a:cs typeface="Arial"/>
              </a:rPr>
              <a:t>pendekatan</a:t>
            </a:r>
            <a:r>
              <a:rPr sz="2400" spc="2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least-squares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 marR="6985" indent="-343535" algn="just">
              <a:lnSpc>
                <a:spcPct val="100000"/>
              </a:lnSpc>
              <a:spcBef>
                <a:spcPts val="660"/>
              </a:spcBef>
              <a:buChar char="•"/>
              <a:tabLst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Tujuan </a:t>
            </a:r>
            <a:r>
              <a:rPr sz="2800" spc="-5" dirty="0">
                <a:latin typeface="Arial"/>
                <a:cs typeface="Arial"/>
              </a:rPr>
              <a:t>PCA </a:t>
            </a:r>
            <a:r>
              <a:rPr sz="2800" dirty="0">
                <a:latin typeface="Arial"/>
                <a:cs typeface="Arial"/>
              </a:rPr>
              <a:t>: mengurangi dimensi data dengan </a:t>
            </a:r>
            <a:r>
              <a:rPr sz="2800" dirty="0">
                <a:solidFill>
                  <a:srgbClr val="FF0000"/>
                </a:solidFill>
                <a:latin typeface="Arial"/>
                <a:cs typeface="Arial"/>
              </a:rPr>
              <a:t> mempertahankan </a:t>
            </a:r>
            <a:r>
              <a:rPr sz="2800" dirty="0">
                <a:latin typeface="Arial"/>
                <a:cs typeface="Arial"/>
              </a:rPr>
              <a:t>sebanyak mungkin informasi  dari dataset yang asli.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5508" y="264617"/>
            <a:ext cx="63334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Dimensionality</a:t>
            </a:r>
            <a:r>
              <a:rPr spc="-80" dirty="0"/>
              <a:t> </a:t>
            </a:r>
            <a:r>
              <a:rPr dirty="0"/>
              <a:t>Reduction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2733"/>
            <a:ext cx="7611745" cy="13195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Pendekatan vektor dengan menemukan basis  ke dalam ruang </a:t>
            </a:r>
            <a:r>
              <a:rPr sz="2800" dirty="0">
                <a:latin typeface="Arial"/>
                <a:cs typeface="Arial"/>
              </a:rPr>
              <a:t>dimensi </a:t>
            </a:r>
            <a:r>
              <a:rPr sz="2800" spc="-5" dirty="0">
                <a:latin typeface="Arial"/>
                <a:cs typeface="Arial"/>
              </a:rPr>
              <a:t>yang lebih</a:t>
            </a:r>
            <a:r>
              <a:rPr sz="2800" spc="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rendah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Representasi ruang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Dimensi-Lebih Tinggi</a:t>
            </a:r>
            <a:r>
              <a:rPr sz="2400" spc="-2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9356" y="2722733"/>
            <a:ext cx="3082925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50" i="1" spc="60" dirty="0">
                <a:latin typeface="Times New Roman"/>
                <a:cs typeface="Times New Roman"/>
              </a:rPr>
              <a:t>x</a:t>
            </a:r>
            <a:r>
              <a:rPr sz="2450" i="1" spc="-12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Symbol"/>
                <a:cs typeface="Symbol"/>
              </a:rPr>
              <a:t></a:t>
            </a:r>
            <a:r>
              <a:rPr sz="2450" spc="-170" dirty="0">
                <a:latin typeface="Times New Roman"/>
                <a:cs typeface="Times New Roman"/>
              </a:rPr>
              <a:t> </a:t>
            </a:r>
            <a:r>
              <a:rPr sz="2450" i="1" spc="-90" dirty="0">
                <a:latin typeface="Times New Roman"/>
                <a:cs typeface="Times New Roman"/>
              </a:rPr>
              <a:t>a</a:t>
            </a:r>
            <a:r>
              <a:rPr sz="2175" spc="-135" baseline="-22988" dirty="0">
                <a:latin typeface="Times New Roman"/>
                <a:cs typeface="Times New Roman"/>
              </a:rPr>
              <a:t>1</a:t>
            </a:r>
            <a:r>
              <a:rPr sz="2450" i="1" spc="-90" dirty="0">
                <a:latin typeface="Times New Roman"/>
                <a:cs typeface="Times New Roman"/>
              </a:rPr>
              <a:t>v</a:t>
            </a:r>
            <a:r>
              <a:rPr sz="2175" spc="-135" baseline="-22988" dirty="0">
                <a:latin typeface="Times New Roman"/>
                <a:cs typeface="Times New Roman"/>
              </a:rPr>
              <a:t>1</a:t>
            </a:r>
            <a:r>
              <a:rPr sz="2175" spc="157" baseline="-22988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Symbol"/>
                <a:cs typeface="Symbol"/>
              </a:rPr>
              <a:t></a:t>
            </a:r>
            <a:r>
              <a:rPr sz="2450" spc="-285" dirty="0">
                <a:latin typeface="Times New Roman"/>
                <a:cs typeface="Times New Roman"/>
              </a:rPr>
              <a:t> </a:t>
            </a:r>
            <a:r>
              <a:rPr sz="2450" i="1" spc="15" dirty="0">
                <a:latin typeface="Times New Roman"/>
                <a:cs typeface="Times New Roman"/>
              </a:rPr>
              <a:t>a</a:t>
            </a:r>
            <a:r>
              <a:rPr sz="2175" spc="22" baseline="-22988" dirty="0">
                <a:latin typeface="Times New Roman"/>
                <a:cs typeface="Times New Roman"/>
              </a:rPr>
              <a:t>2</a:t>
            </a:r>
            <a:r>
              <a:rPr sz="2450" i="1" spc="15" dirty="0">
                <a:latin typeface="Times New Roman"/>
                <a:cs typeface="Times New Roman"/>
              </a:rPr>
              <a:t>v</a:t>
            </a:r>
            <a:r>
              <a:rPr sz="2175" spc="22" baseline="-22988" dirty="0">
                <a:latin typeface="Times New Roman"/>
                <a:cs typeface="Times New Roman"/>
              </a:rPr>
              <a:t>2</a:t>
            </a:r>
            <a:r>
              <a:rPr sz="2175" spc="322" baseline="-22988" dirty="0">
                <a:latin typeface="Times New Roman"/>
                <a:cs typeface="Times New Roman"/>
              </a:rPr>
              <a:t> </a:t>
            </a:r>
            <a:r>
              <a:rPr sz="2450" spc="110" dirty="0">
                <a:latin typeface="Symbol"/>
                <a:cs typeface="Symbol"/>
              </a:rPr>
              <a:t></a:t>
            </a:r>
            <a:r>
              <a:rPr sz="2450" spc="110" dirty="0">
                <a:latin typeface="Times New Roman"/>
                <a:cs typeface="Times New Roman"/>
              </a:rPr>
              <a:t>...</a:t>
            </a:r>
            <a:r>
              <a:rPr sz="2450" spc="110" dirty="0">
                <a:latin typeface="Symbol"/>
                <a:cs typeface="Symbol"/>
              </a:rPr>
              <a:t></a:t>
            </a:r>
            <a:r>
              <a:rPr sz="2450" spc="-285" dirty="0">
                <a:latin typeface="Times New Roman"/>
                <a:cs typeface="Times New Roman"/>
              </a:rPr>
              <a:t> </a:t>
            </a:r>
            <a:r>
              <a:rPr sz="2450" i="1" spc="90" dirty="0">
                <a:latin typeface="Times New Roman"/>
                <a:cs typeface="Times New Roman"/>
              </a:rPr>
              <a:t>a</a:t>
            </a:r>
            <a:r>
              <a:rPr sz="2175" i="1" spc="135" baseline="-22988" dirty="0">
                <a:latin typeface="Times New Roman"/>
                <a:cs typeface="Times New Roman"/>
              </a:rPr>
              <a:t>N</a:t>
            </a:r>
            <a:r>
              <a:rPr sz="2450" i="1" spc="90" dirty="0">
                <a:latin typeface="Times New Roman"/>
                <a:cs typeface="Times New Roman"/>
              </a:rPr>
              <a:t>v</a:t>
            </a:r>
            <a:r>
              <a:rPr sz="2175" i="1" spc="135" baseline="-22988" dirty="0">
                <a:latin typeface="Times New Roman"/>
                <a:cs typeface="Times New Roman"/>
              </a:rPr>
              <a:t>N</a:t>
            </a:r>
            <a:endParaRPr sz="2175" baseline="-22988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60309" y="3332333"/>
            <a:ext cx="1383665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50" i="1" spc="40" dirty="0">
                <a:latin typeface="Times New Roman"/>
                <a:cs typeface="Times New Roman"/>
              </a:rPr>
              <a:t>v</a:t>
            </a:r>
            <a:r>
              <a:rPr sz="2175" spc="60" baseline="-22988" dirty="0">
                <a:latin typeface="Times New Roman"/>
                <a:cs typeface="Times New Roman"/>
              </a:rPr>
              <a:t>1</a:t>
            </a:r>
            <a:r>
              <a:rPr sz="2450" spc="40" dirty="0">
                <a:latin typeface="Times New Roman"/>
                <a:cs typeface="Times New Roman"/>
              </a:rPr>
              <a:t>,</a:t>
            </a:r>
            <a:r>
              <a:rPr sz="2450" i="1" spc="40" dirty="0">
                <a:latin typeface="Times New Roman"/>
                <a:cs typeface="Times New Roman"/>
              </a:rPr>
              <a:t>v</a:t>
            </a:r>
            <a:r>
              <a:rPr sz="2175" spc="60" baseline="-22988" dirty="0">
                <a:latin typeface="Times New Roman"/>
                <a:cs typeface="Times New Roman"/>
              </a:rPr>
              <a:t>2</a:t>
            </a:r>
            <a:r>
              <a:rPr sz="2175" spc="-330" baseline="-22988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,...,</a:t>
            </a:r>
            <a:r>
              <a:rPr sz="2450" i="1" spc="75" dirty="0">
                <a:latin typeface="Times New Roman"/>
                <a:cs typeface="Times New Roman"/>
              </a:rPr>
              <a:t>v</a:t>
            </a:r>
            <a:r>
              <a:rPr sz="2175" i="1" spc="112" baseline="-22988" dirty="0">
                <a:latin typeface="Times New Roman"/>
                <a:cs typeface="Times New Roman"/>
              </a:rPr>
              <a:t>N</a:t>
            </a:r>
            <a:endParaRPr sz="2175" baseline="-22988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60623" y="3456813"/>
            <a:ext cx="3936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merupakan basis dari ruang dimensi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8044" y="3835247"/>
            <a:ext cx="6387465" cy="1052830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1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Representasi ruang </a:t>
            </a:r>
            <a:r>
              <a:rPr sz="2400" spc="-5" dirty="0">
                <a:solidFill>
                  <a:srgbClr val="FF0000"/>
                </a:solidFill>
                <a:latin typeface="Arial"/>
                <a:cs typeface="Arial"/>
              </a:rPr>
              <a:t>Dimensi-Lebih Rendah</a:t>
            </a:r>
            <a:r>
              <a:rPr sz="2400" spc="-2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474345">
              <a:lnSpc>
                <a:spcPct val="100000"/>
              </a:lnSpc>
              <a:spcBef>
                <a:spcPts val="1150"/>
              </a:spcBef>
            </a:pPr>
            <a:r>
              <a:rPr sz="2450" i="1" spc="-430" dirty="0">
                <a:latin typeface="Times New Roman"/>
                <a:cs typeface="Times New Roman"/>
              </a:rPr>
              <a:t>x</a:t>
            </a:r>
            <a:r>
              <a:rPr sz="3675" spc="-644" baseline="2267" dirty="0">
                <a:latin typeface="Times New Roman"/>
                <a:cs typeface="Times New Roman"/>
              </a:rPr>
              <a:t>ˆ</a:t>
            </a:r>
            <a:r>
              <a:rPr sz="3675" spc="-585" baseline="2267" dirty="0">
                <a:latin typeface="Times New Roman"/>
                <a:cs typeface="Times New Roman"/>
              </a:rPr>
              <a:t> </a:t>
            </a:r>
            <a:r>
              <a:rPr sz="2450" spc="40" dirty="0">
                <a:latin typeface="Symbol"/>
                <a:cs typeface="Symbol"/>
              </a:rPr>
              <a:t></a:t>
            </a:r>
            <a:r>
              <a:rPr sz="2450" spc="-204" dirty="0">
                <a:latin typeface="Times New Roman"/>
                <a:cs typeface="Times New Roman"/>
              </a:rPr>
              <a:t> </a:t>
            </a:r>
            <a:r>
              <a:rPr sz="2450" i="1" spc="-105" dirty="0">
                <a:latin typeface="Times New Roman"/>
                <a:cs typeface="Times New Roman"/>
              </a:rPr>
              <a:t>b</a:t>
            </a:r>
            <a:r>
              <a:rPr sz="2100" spc="-157" baseline="-23809" dirty="0">
                <a:latin typeface="Times New Roman"/>
                <a:cs typeface="Times New Roman"/>
              </a:rPr>
              <a:t>1</a:t>
            </a:r>
            <a:r>
              <a:rPr sz="2450" i="1" spc="-105" dirty="0">
                <a:latin typeface="Times New Roman"/>
                <a:cs typeface="Times New Roman"/>
              </a:rPr>
              <a:t>u</a:t>
            </a:r>
            <a:r>
              <a:rPr sz="2100" spc="-157" baseline="-23809" dirty="0">
                <a:latin typeface="Times New Roman"/>
                <a:cs typeface="Times New Roman"/>
              </a:rPr>
              <a:t>1</a:t>
            </a:r>
            <a:r>
              <a:rPr sz="2100" spc="-150" baseline="-23809" dirty="0">
                <a:latin typeface="Times New Roman"/>
                <a:cs typeface="Times New Roman"/>
              </a:rPr>
              <a:t> </a:t>
            </a:r>
            <a:r>
              <a:rPr sz="2450" spc="40" dirty="0">
                <a:latin typeface="Symbol"/>
                <a:cs typeface="Symbol"/>
              </a:rPr>
              <a:t></a:t>
            </a:r>
            <a:r>
              <a:rPr sz="2450" spc="-315" dirty="0">
                <a:latin typeface="Times New Roman"/>
                <a:cs typeface="Times New Roman"/>
              </a:rPr>
              <a:t> </a:t>
            </a:r>
            <a:r>
              <a:rPr sz="2450" i="1" dirty="0">
                <a:latin typeface="Times New Roman"/>
                <a:cs typeface="Times New Roman"/>
              </a:rPr>
              <a:t>b</a:t>
            </a:r>
            <a:r>
              <a:rPr sz="2100" baseline="-23809" dirty="0">
                <a:latin typeface="Times New Roman"/>
                <a:cs typeface="Times New Roman"/>
              </a:rPr>
              <a:t>2</a:t>
            </a:r>
            <a:r>
              <a:rPr sz="2450" i="1" dirty="0">
                <a:latin typeface="Times New Roman"/>
                <a:cs typeface="Times New Roman"/>
              </a:rPr>
              <a:t>u</a:t>
            </a:r>
            <a:r>
              <a:rPr sz="2100" baseline="-23809" dirty="0">
                <a:latin typeface="Times New Roman"/>
                <a:cs typeface="Times New Roman"/>
              </a:rPr>
              <a:t>2</a:t>
            </a:r>
            <a:r>
              <a:rPr sz="2100" spc="382" baseline="-23809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Symbol"/>
                <a:cs typeface="Symbol"/>
              </a:rPr>
              <a:t></a:t>
            </a:r>
            <a:r>
              <a:rPr sz="2450" spc="100" dirty="0">
                <a:latin typeface="Times New Roman"/>
                <a:cs typeface="Times New Roman"/>
              </a:rPr>
              <a:t>...</a:t>
            </a:r>
            <a:r>
              <a:rPr sz="2450" spc="100" dirty="0">
                <a:latin typeface="Symbol"/>
                <a:cs typeface="Symbol"/>
              </a:rPr>
              <a:t></a:t>
            </a:r>
            <a:r>
              <a:rPr sz="2450" spc="-315" dirty="0">
                <a:latin typeface="Times New Roman"/>
                <a:cs typeface="Times New Roman"/>
              </a:rPr>
              <a:t> </a:t>
            </a:r>
            <a:r>
              <a:rPr sz="2450" i="1" spc="-15" dirty="0">
                <a:latin typeface="Times New Roman"/>
                <a:cs typeface="Times New Roman"/>
              </a:rPr>
              <a:t>b</a:t>
            </a:r>
            <a:r>
              <a:rPr sz="2100" i="1" spc="-22" baseline="-23809" dirty="0">
                <a:latin typeface="Times New Roman"/>
                <a:cs typeface="Times New Roman"/>
              </a:rPr>
              <a:t>K</a:t>
            </a:r>
            <a:r>
              <a:rPr sz="2100" i="1" spc="-292" baseline="-23809" dirty="0">
                <a:latin typeface="Times New Roman"/>
                <a:cs typeface="Times New Roman"/>
              </a:rPr>
              <a:t> </a:t>
            </a:r>
            <a:r>
              <a:rPr sz="2450" i="1" spc="60" dirty="0">
                <a:latin typeface="Times New Roman"/>
                <a:cs typeface="Times New Roman"/>
              </a:rPr>
              <a:t>u</a:t>
            </a:r>
            <a:r>
              <a:rPr sz="2100" i="1" spc="89" baseline="-23809" dirty="0">
                <a:latin typeface="Times New Roman"/>
                <a:cs typeface="Times New Roman"/>
              </a:rPr>
              <a:t>K</a:t>
            </a:r>
            <a:endParaRPr sz="2100" baseline="-23809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811" y="5097711"/>
            <a:ext cx="1437640" cy="4000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450" i="1" spc="55" dirty="0">
                <a:latin typeface="Times New Roman"/>
                <a:cs typeface="Times New Roman"/>
              </a:rPr>
              <a:t>u</a:t>
            </a:r>
            <a:r>
              <a:rPr sz="2100" spc="82" baseline="-23809" dirty="0">
                <a:latin typeface="Times New Roman"/>
                <a:cs typeface="Times New Roman"/>
              </a:rPr>
              <a:t>1</a:t>
            </a:r>
            <a:r>
              <a:rPr sz="2450" spc="55" dirty="0">
                <a:latin typeface="Times New Roman"/>
                <a:cs typeface="Times New Roman"/>
              </a:rPr>
              <a:t>,</a:t>
            </a:r>
            <a:r>
              <a:rPr sz="2450" i="1" spc="55" dirty="0">
                <a:latin typeface="Times New Roman"/>
                <a:cs typeface="Times New Roman"/>
              </a:rPr>
              <a:t>u</a:t>
            </a:r>
            <a:r>
              <a:rPr sz="2100" spc="82" baseline="-23809" dirty="0">
                <a:latin typeface="Times New Roman"/>
                <a:cs typeface="Times New Roman"/>
              </a:rPr>
              <a:t>2</a:t>
            </a:r>
            <a:r>
              <a:rPr sz="2100" spc="-292" baseline="-23809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,...,</a:t>
            </a:r>
            <a:r>
              <a:rPr sz="2450" i="1" spc="75" dirty="0">
                <a:latin typeface="Times New Roman"/>
                <a:cs typeface="Times New Roman"/>
              </a:rPr>
              <a:t>u</a:t>
            </a:r>
            <a:r>
              <a:rPr sz="2100" i="1" spc="112" baseline="-23809" dirty="0">
                <a:latin typeface="Times New Roman"/>
                <a:cs typeface="Times New Roman"/>
              </a:rPr>
              <a:t>K</a:t>
            </a:r>
            <a:endParaRPr sz="2100" baseline="-23809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36823" y="5209794"/>
            <a:ext cx="39236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merupakan basis dari ruang dimensi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33504" y="2954180"/>
            <a:ext cx="120014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42164" y="3435568"/>
            <a:ext cx="5111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3860" algn="l"/>
              </a:tabLst>
            </a:pPr>
            <a:r>
              <a:rPr sz="2050" spc="-50" dirty="0">
                <a:latin typeface="Symbol"/>
                <a:cs typeface="Symbol"/>
              </a:rPr>
              <a:t></a:t>
            </a:r>
            <a:r>
              <a:rPr sz="2050" spc="-50" dirty="0">
                <a:latin typeface="Times New Roman"/>
                <a:cs typeface="Times New Roman"/>
              </a:rPr>
              <a:t>	</a:t>
            </a:r>
            <a:r>
              <a:rPr sz="2050" spc="-5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42164" y="2714105"/>
            <a:ext cx="5111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03860" algn="l"/>
              </a:tabLst>
            </a:pPr>
            <a:r>
              <a:rPr sz="2050" spc="-50" dirty="0">
                <a:latin typeface="Symbol"/>
                <a:cs typeface="Symbol"/>
              </a:rPr>
              <a:t></a:t>
            </a:r>
            <a:r>
              <a:rPr sz="2050" spc="-50" dirty="0">
                <a:latin typeface="Times New Roman"/>
                <a:cs typeface="Times New Roman"/>
              </a:rPr>
              <a:t>	</a:t>
            </a:r>
            <a:r>
              <a:rPr sz="2050" spc="-5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16764" y="3671397"/>
            <a:ext cx="5619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70" dirty="0">
                <a:latin typeface="Symbol"/>
                <a:cs typeface="Symbol"/>
              </a:rPr>
              <a:t></a:t>
            </a:r>
            <a:r>
              <a:rPr sz="3075" i="1" spc="-104" baseline="14905" dirty="0">
                <a:latin typeface="Arial"/>
                <a:cs typeface="Arial"/>
              </a:rPr>
              <a:t>a</a:t>
            </a:r>
            <a:r>
              <a:rPr sz="2100" i="1" spc="-104" baseline="1984" dirty="0">
                <a:latin typeface="Arial"/>
                <a:cs typeface="Arial"/>
              </a:rPr>
              <a:t>N</a:t>
            </a:r>
            <a:r>
              <a:rPr sz="2100" i="1" spc="-142" baseline="1984" dirty="0">
                <a:latin typeface="Arial"/>
                <a:cs typeface="Arial"/>
              </a:rPr>
              <a:t> </a:t>
            </a:r>
            <a:r>
              <a:rPr sz="2050" spc="-50" dirty="0">
                <a:latin typeface="Symbol"/>
                <a:cs typeface="Symbol"/>
              </a:rPr>
              <a:t>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152717" y="2842677"/>
            <a:ext cx="16192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i="1" spc="-70" dirty="0">
                <a:latin typeface="Arial"/>
                <a:cs typeface="Arial"/>
              </a:rPr>
              <a:t>a</a:t>
            </a:r>
            <a:endParaRPr sz="2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610045" y="3028516"/>
            <a:ext cx="57721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i="1" spc="-60" dirty="0">
                <a:latin typeface="Arial"/>
                <a:cs typeface="Arial"/>
              </a:rPr>
              <a:t>x </a:t>
            </a:r>
            <a:r>
              <a:rPr sz="2050" spc="-65" dirty="0">
                <a:latin typeface="Symbol"/>
                <a:cs typeface="Symbol"/>
              </a:rPr>
              <a:t></a:t>
            </a:r>
            <a:r>
              <a:rPr sz="2050" spc="75" dirty="0">
                <a:latin typeface="Times New Roman"/>
                <a:cs typeface="Times New Roman"/>
              </a:rPr>
              <a:t> </a:t>
            </a:r>
            <a:r>
              <a:rPr sz="3075" spc="-75" baseline="16260" dirty="0">
                <a:latin typeface="Symbol"/>
                <a:cs typeface="Symbol"/>
              </a:rPr>
              <a:t></a:t>
            </a:r>
            <a:endParaRPr sz="3075" baseline="1626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16764" y="3222914"/>
            <a:ext cx="5619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075" spc="-75" baseline="5420" dirty="0">
                <a:latin typeface="Symbol"/>
                <a:cs typeface="Symbol"/>
              </a:rPr>
              <a:t></a:t>
            </a:r>
            <a:r>
              <a:rPr sz="3075" spc="-75" baseline="5420" dirty="0">
                <a:latin typeface="Times New Roman"/>
                <a:cs typeface="Times New Roman"/>
              </a:rPr>
              <a:t> </a:t>
            </a:r>
            <a:r>
              <a:rPr sz="2050" spc="-70" dirty="0">
                <a:latin typeface="Arial"/>
                <a:cs typeface="Arial"/>
              </a:rPr>
              <a:t>...</a:t>
            </a:r>
            <a:r>
              <a:rPr sz="2050" spc="-270" dirty="0">
                <a:latin typeface="Arial"/>
                <a:cs typeface="Arial"/>
              </a:rPr>
              <a:t> </a:t>
            </a:r>
            <a:r>
              <a:rPr sz="3075" spc="-75" baseline="5420" dirty="0">
                <a:latin typeface="Symbol"/>
                <a:cs typeface="Symbol"/>
              </a:rPr>
              <a:t></a:t>
            </a:r>
            <a:endParaRPr sz="3075" baseline="542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288093" y="2983523"/>
            <a:ext cx="12128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30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016764" y="2473399"/>
            <a:ext cx="56197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50" dirty="0">
                <a:latin typeface="Symbol"/>
                <a:cs typeface="Symbol"/>
              </a:rPr>
              <a:t></a:t>
            </a:r>
            <a:r>
              <a:rPr sz="2050" spc="-50" dirty="0">
                <a:latin typeface="Times New Roman"/>
                <a:cs typeface="Times New Roman"/>
              </a:rPr>
              <a:t> </a:t>
            </a:r>
            <a:r>
              <a:rPr sz="3075" i="1" spc="-157" baseline="2710" dirty="0">
                <a:latin typeface="Arial"/>
                <a:cs typeface="Arial"/>
              </a:rPr>
              <a:t>a</a:t>
            </a:r>
            <a:r>
              <a:rPr sz="2100" spc="-157" baseline="-15873" dirty="0">
                <a:latin typeface="Arial"/>
                <a:cs typeface="Arial"/>
              </a:rPr>
              <a:t>1</a:t>
            </a:r>
            <a:r>
              <a:rPr sz="2100" spc="-434" baseline="-15873" dirty="0">
                <a:latin typeface="Arial"/>
                <a:cs typeface="Arial"/>
              </a:rPr>
              <a:t> </a:t>
            </a:r>
            <a:r>
              <a:rPr sz="2050" spc="-50" dirty="0">
                <a:latin typeface="Symbol"/>
                <a:cs typeface="Symbol"/>
              </a:rPr>
              <a:t>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431959" y="5011517"/>
            <a:ext cx="11874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-55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70879" y="4771442"/>
            <a:ext cx="480059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3380" algn="l"/>
              </a:tabLst>
            </a:pPr>
            <a:r>
              <a:rPr sz="2050" spc="-55" dirty="0">
                <a:latin typeface="Symbol"/>
                <a:cs typeface="Symbol"/>
              </a:rPr>
              <a:t></a:t>
            </a:r>
            <a:r>
              <a:rPr sz="2050" spc="-55" dirty="0">
                <a:latin typeface="Times New Roman"/>
                <a:cs typeface="Times New Roman"/>
              </a:rPr>
              <a:t>	</a:t>
            </a:r>
            <a:r>
              <a:rPr sz="2050" spc="-55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70879" y="5728733"/>
            <a:ext cx="480059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38760" algn="l"/>
              </a:tabLst>
            </a:pPr>
            <a:r>
              <a:rPr sz="2050" spc="-55" dirty="0">
                <a:latin typeface="Symbol"/>
                <a:cs typeface="Symbol"/>
              </a:rPr>
              <a:t></a:t>
            </a:r>
            <a:r>
              <a:rPr sz="2050" spc="-55" dirty="0">
                <a:latin typeface="Times New Roman"/>
                <a:cs typeface="Times New Roman"/>
              </a:rPr>
              <a:t>	</a:t>
            </a:r>
            <a:r>
              <a:rPr sz="2100" i="1" spc="-44" baseline="1984" dirty="0">
                <a:latin typeface="Arial"/>
                <a:cs typeface="Arial"/>
              </a:rPr>
              <a:t>k</a:t>
            </a:r>
            <a:r>
              <a:rPr sz="2100" i="1" spc="-120" baseline="1984" dirty="0">
                <a:latin typeface="Arial"/>
                <a:cs typeface="Arial"/>
              </a:rPr>
              <a:t> </a:t>
            </a:r>
            <a:r>
              <a:rPr sz="2050" spc="-55" dirty="0">
                <a:latin typeface="Symbol"/>
                <a:cs typeface="Symbol"/>
              </a:rPr>
              <a:t>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169202" y="4900014"/>
            <a:ext cx="16065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i="1" spc="-80" dirty="0">
                <a:latin typeface="Arial"/>
                <a:cs typeface="Arial"/>
              </a:rPr>
              <a:t>b</a:t>
            </a:r>
            <a:endParaRPr sz="205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24123" y="5085852"/>
            <a:ext cx="591185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i="1" spc="-70" dirty="0">
                <a:latin typeface="Arial"/>
                <a:cs typeface="Arial"/>
              </a:rPr>
              <a:t>y </a:t>
            </a:r>
            <a:r>
              <a:rPr sz="2050" spc="-80" dirty="0">
                <a:latin typeface="Symbol"/>
                <a:cs typeface="Symbol"/>
              </a:rPr>
              <a:t></a:t>
            </a:r>
            <a:r>
              <a:rPr sz="2050" spc="-280" dirty="0">
                <a:latin typeface="Times New Roman"/>
                <a:cs typeface="Times New Roman"/>
              </a:rPr>
              <a:t> </a:t>
            </a:r>
            <a:r>
              <a:rPr sz="3075" spc="-82" baseline="16260" dirty="0">
                <a:latin typeface="Symbol"/>
                <a:cs typeface="Symbol"/>
              </a:rPr>
              <a:t></a:t>
            </a:r>
            <a:endParaRPr sz="3075" baseline="1626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45479" y="5280251"/>
            <a:ext cx="530860" cy="549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2065"/>
              </a:lnSpc>
              <a:spcBef>
                <a:spcPts val="90"/>
              </a:spcBef>
            </a:pPr>
            <a:r>
              <a:rPr sz="3075" spc="-82" baseline="5420" dirty="0">
                <a:latin typeface="Symbol"/>
                <a:cs typeface="Symbol"/>
              </a:rPr>
              <a:t></a:t>
            </a:r>
            <a:r>
              <a:rPr sz="3075" spc="-487" baseline="5420" dirty="0">
                <a:latin typeface="Times New Roman"/>
                <a:cs typeface="Times New Roman"/>
              </a:rPr>
              <a:t> </a:t>
            </a:r>
            <a:r>
              <a:rPr sz="2050" spc="-70" dirty="0">
                <a:latin typeface="Arial"/>
                <a:cs typeface="Arial"/>
              </a:rPr>
              <a:t>...</a:t>
            </a:r>
            <a:r>
              <a:rPr sz="2050" spc="-250" dirty="0">
                <a:latin typeface="Arial"/>
                <a:cs typeface="Arial"/>
              </a:rPr>
              <a:t> </a:t>
            </a:r>
            <a:r>
              <a:rPr sz="3075" spc="-82" baseline="5420" dirty="0">
                <a:latin typeface="Symbol"/>
                <a:cs typeface="Symbol"/>
              </a:rPr>
              <a:t></a:t>
            </a:r>
            <a:endParaRPr sz="3075" baseline="5420">
              <a:latin typeface="Symbol"/>
              <a:cs typeface="Symbol"/>
            </a:endParaRPr>
          </a:p>
          <a:p>
            <a:pPr marL="38100">
              <a:lnSpc>
                <a:spcPts val="2065"/>
              </a:lnSpc>
              <a:tabLst>
                <a:tab pos="398780" algn="l"/>
              </a:tabLst>
            </a:pPr>
            <a:r>
              <a:rPr sz="2050" spc="-60" dirty="0">
                <a:latin typeface="Symbol"/>
                <a:cs typeface="Symbol"/>
              </a:rPr>
              <a:t></a:t>
            </a:r>
            <a:r>
              <a:rPr sz="3075" i="1" spc="-89" baseline="-35230" dirty="0">
                <a:latin typeface="Arial"/>
                <a:cs typeface="Arial"/>
              </a:rPr>
              <a:t>b	</a:t>
            </a:r>
            <a:r>
              <a:rPr sz="2050" spc="-55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300877" y="5040860"/>
            <a:ext cx="1206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35" dirty="0">
                <a:latin typeface="Arial"/>
                <a:cs typeface="Arial"/>
              </a:rPr>
              <a:t>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45479" y="4530735"/>
            <a:ext cx="53086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050" spc="-55" dirty="0">
                <a:latin typeface="Symbol"/>
                <a:cs typeface="Symbol"/>
              </a:rPr>
              <a:t></a:t>
            </a:r>
            <a:r>
              <a:rPr sz="2050" spc="-415" dirty="0">
                <a:latin typeface="Times New Roman"/>
                <a:cs typeface="Times New Roman"/>
              </a:rPr>
              <a:t> </a:t>
            </a:r>
            <a:r>
              <a:rPr sz="3075" i="1" spc="-179" baseline="2710" dirty="0">
                <a:latin typeface="Arial"/>
                <a:cs typeface="Arial"/>
              </a:rPr>
              <a:t>b</a:t>
            </a:r>
            <a:r>
              <a:rPr sz="2100" spc="-179" baseline="-15873" dirty="0">
                <a:latin typeface="Arial"/>
                <a:cs typeface="Arial"/>
              </a:rPr>
              <a:t>1 </a:t>
            </a:r>
            <a:r>
              <a:rPr sz="2050" spc="-55" dirty="0">
                <a:latin typeface="Symbol"/>
                <a:cs typeface="Symbol"/>
              </a:rPr>
              <a:t></a:t>
            </a:r>
            <a:endParaRPr sz="20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8272" y="304800"/>
            <a:ext cx="7290054" cy="1499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/>
          <p:nvPr/>
        </p:nvSpPr>
        <p:spPr>
          <a:xfrm>
            <a:off x="3289674" y="3219803"/>
            <a:ext cx="1063625" cy="400685"/>
          </a:xfrm>
          <a:custGeom>
            <a:avLst/>
            <a:gdLst/>
            <a:ahLst/>
            <a:cxnLst/>
            <a:rect l="l" t="t" r="r" b="b"/>
            <a:pathLst>
              <a:path w="1063625" h="400685">
                <a:moveTo>
                  <a:pt x="64573" y="0"/>
                </a:moveTo>
                <a:lnTo>
                  <a:pt x="64573" y="400346"/>
                </a:lnTo>
              </a:path>
              <a:path w="1063625" h="400685">
                <a:moveTo>
                  <a:pt x="0" y="0"/>
                </a:moveTo>
                <a:lnTo>
                  <a:pt x="0" y="400346"/>
                </a:lnTo>
              </a:path>
              <a:path w="1063625" h="400685">
                <a:moveTo>
                  <a:pt x="1063110" y="0"/>
                </a:moveTo>
                <a:lnTo>
                  <a:pt x="1063110" y="400346"/>
                </a:lnTo>
              </a:path>
              <a:path w="1063625" h="400685">
                <a:moveTo>
                  <a:pt x="998545" y="0"/>
                </a:moveTo>
                <a:lnTo>
                  <a:pt x="998545" y="400346"/>
                </a:lnTo>
              </a:path>
            </a:pathLst>
          </a:custGeom>
          <a:ln w="1597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92733"/>
            <a:ext cx="7378065" cy="4836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9085" marR="835660" indent="-287020">
              <a:lnSpc>
                <a:spcPct val="100000"/>
              </a:lnSpc>
              <a:spcBef>
                <a:spcPts val="95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Arial"/>
                <a:cs typeface="Arial"/>
              </a:rPr>
              <a:t>Pengurangan dimensi berdampak pada  hilangnya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informasi</a:t>
            </a:r>
            <a:endParaRPr sz="280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675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Arial"/>
                <a:cs typeface="Arial"/>
              </a:rPr>
              <a:t>PCA mempertahankan sebanyak mungkin  </a:t>
            </a:r>
            <a:r>
              <a:rPr sz="2800" dirty="0">
                <a:latin typeface="Arial"/>
                <a:cs typeface="Arial"/>
              </a:rPr>
              <a:t>informasi, </a:t>
            </a:r>
            <a:r>
              <a:rPr sz="2800" spc="-5" dirty="0">
                <a:latin typeface="Arial"/>
                <a:cs typeface="Arial"/>
              </a:rPr>
              <a:t>dengan cara meminimalkan </a:t>
            </a:r>
            <a:r>
              <a:rPr sz="2800" dirty="0">
                <a:latin typeface="Arial"/>
                <a:cs typeface="Arial"/>
              </a:rPr>
              <a:t>error</a:t>
            </a:r>
            <a:r>
              <a:rPr sz="2800" spc="7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R="776605" algn="ctr">
              <a:lnSpc>
                <a:spcPct val="100000"/>
              </a:lnSpc>
              <a:spcBef>
                <a:spcPts val="495"/>
              </a:spcBef>
            </a:pPr>
            <a:r>
              <a:rPr sz="2700" i="1" spc="490" dirty="0">
                <a:latin typeface="Times New Roman"/>
                <a:cs typeface="Times New Roman"/>
              </a:rPr>
              <a:t>x</a:t>
            </a:r>
            <a:r>
              <a:rPr sz="2700" i="1" spc="-120" dirty="0">
                <a:latin typeface="Times New Roman"/>
                <a:cs typeface="Times New Roman"/>
              </a:rPr>
              <a:t> </a:t>
            </a:r>
            <a:r>
              <a:rPr sz="2700" spc="605" dirty="0">
                <a:latin typeface="Symbol"/>
                <a:cs typeface="Symbol"/>
              </a:rPr>
              <a:t></a:t>
            </a:r>
            <a:r>
              <a:rPr sz="2700" spc="-5" dirty="0">
                <a:latin typeface="Times New Roman"/>
                <a:cs typeface="Times New Roman"/>
              </a:rPr>
              <a:t> </a:t>
            </a:r>
            <a:r>
              <a:rPr sz="2700" i="1" spc="-260" dirty="0">
                <a:latin typeface="Times New Roman"/>
                <a:cs typeface="Times New Roman"/>
              </a:rPr>
              <a:t>x</a:t>
            </a:r>
            <a:r>
              <a:rPr sz="4050" spc="-390" baseline="2057" dirty="0">
                <a:latin typeface="Times New Roman"/>
                <a:cs typeface="Times New Roman"/>
              </a:rPr>
              <a:t>ˆ</a:t>
            </a:r>
            <a:endParaRPr sz="4050" baseline="2057">
              <a:latin typeface="Times New Roman"/>
              <a:cs typeface="Times New Roman"/>
            </a:endParaRPr>
          </a:p>
          <a:p>
            <a:pPr marL="299085" marR="135255" indent="-287020">
              <a:lnSpc>
                <a:spcPct val="100000"/>
              </a:lnSpc>
              <a:spcBef>
                <a:spcPts val="969"/>
              </a:spcBef>
              <a:buChar char="•"/>
              <a:tabLst>
                <a:tab pos="299085" algn="l"/>
                <a:tab pos="299720" algn="l"/>
              </a:tabLst>
            </a:pPr>
            <a:r>
              <a:rPr sz="2800" spc="-5" dirty="0">
                <a:latin typeface="Arial"/>
                <a:cs typeface="Arial"/>
              </a:rPr>
              <a:t>Bagaimana </a:t>
            </a:r>
            <a:r>
              <a:rPr sz="2800" dirty="0">
                <a:latin typeface="Arial"/>
                <a:cs typeface="Arial"/>
              </a:rPr>
              <a:t>caranya menentukan </a:t>
            </a:r>
            <a:r>
              <a:rPr sz="2800" spc="5" dirty="0">
                <a:latin typeface="Arial"/>
                <a:cs typeface="Arial"/>
              </a:rPr>
              <a:t>sub-ruang  </a:t>
            </a:r>
            <a:r>
              <a:rPr sz="2800" spc="-5" dirty="0">
                <a:latin typeface="Arial"/>
                <a:cs typeface="Arial"/>
              </a:rPr>
              <a:t>dimensi yang lebih </a:t>
            </a:r>
            <a:r>
              <a:rPr sz="2800" dirty="0">
                <a:latin typeface="Arial"/>
                <a:cs typeface="Arial"/>
              </a:rPr>
              <a:t>rendah </a:t>
            </a:r>
            <a:r>
              <a:rPr sz="2800" spc="-5" dirty="0">
                <a:latin typeface="Arial"/>
                <a:cs typeface="Arial"/>
              </a:rPr>
              <a:t>yang </a:t>
            </a:r>
            <a:r>
              <a:rPr sz="2800" dirty="0">
                <a:latin typeface="Arial"/>
                <a:cs typeface="Arial"/>
              </a:rPr>
              <a:t>terbaik</a:t>
            </a:r>
            <a:r>
              <a:rPr sz="2800" spc="4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?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700">
              <a:latin typeface="Arial"/>
              <a:cs typeface="Arial"/>
            </a:endParaRPr>
          </a:p>
          <a:p>
            <a:pPr marL="702945" lvl="1" indent="-343535">
              <a:lnSpc>
                <a:spcPts val="2875"/>
              </a:lnSpc>
              <a:buChar char="•"/>
              <a:tabLst>
                <a:tab pos="702945" algn="l"/>
                <a:tab pos="703580" algn="l"/>
              </a:tabLst>
            </a:pPr>
            <a:r>
              <a:rPr sz="2400" spc="-5" dirty="0">
                <a:latin typeface="Arial"/>
                <a:cs typeface="Arial"/>
              </a:rPr>
              <a:t>Eigenvektor yang terbaik dari matriks covarians</a:t>
            </a:r>
            <a:r>
              <a:rPr sz="2400" spc="114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  <a:p>
            <a:pPr marL="702945">
              <a:lnSpc>
                <a:spcPts val="2875"/>
              </a:lnSpc>
            </a:pP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Eigenvalue yang</a:t>
            </a:r>
            <a:r>
              <a:rPr sz="2400" spc="1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terbesar</a:t>
            </a:r>
            <a:endParaRPr sz="2400">
              <a:latin typeface="Arial"/>
              <a:cs typeface="Arial"/>
            </a:endParaRPr>
          </a:p>
          <a:p>
            <a:pPr marL="702945" lvl="1" indent="-343535">
              <a:lnSpc>
                <a:spcPct val="100000"/>
              </a:lnSpc>
              <a:spcBef>
                <a:spcPts val="590"/>
              </a:spcBef>
              <a:buChar char="•"/>
              <a:tabLst>
                <a:tab pos="702945" algn="l"/>
                <a:tab pos="703580" algn="l"/>
              </a:tabLst>
            </a:pPr>
            <a:r>
              <a:rPr sz="2400" spc="-5" dirty="0">
                <a:latin typeface="Arial"/>
                <a:cs typeface="Arial"/>
              </a:rPr>
              <a:t>Disebut sebagai Principal</a:t>
            </a:r>
            <a:r>
              <a:rPr sz="2400" spc="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Components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304800"/>
            <a:ext cx="7290054" cy="1499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0" y="1205025"/>
            <a:ext cx="8277859" cy="463931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785"/>
              </a:spcBef>
              <a:buChar char="•"/>
              <a:tabLst>
                <a:tab pos="381000" algn="l"/>
                <a:tab pos="381635" algn="l"/>
              </a:tabLst>
            </a:pPr>
            <a:r>
              <a:rPr sz="2800" spc="-5" dirty="0">
                <a:latin typeface="Arial"/>
                <a:cs typeface="Arial"/>
              </a:rPr>
              <a:t>Misalkan </a:t>
            </a:r>
            <a:r>
              <a:rPr sz="2800" i="1" spc="5" dirty="0">
                <a:latin typeface="Arial"/>
                <a:cs typeface="Arial"/>
              </a:rPr>
              <a:t>x</a:t>
            </a:r>
            <a:r>
              <a:rPr sz="2775" spc="7" baseline="-21021" dirty="0">
                <a:latin typeface="Arial"/>
                <a:cs typeface="Arial"/>
              </a:rPr>
              <a:t>1</a:t>
            </a:r>
            <a:r>
              <a:rPr sz="2800" spc="5" dirty="0">
                <a:latin typeface="Arial"/>
                <a:cs typeface="Arial"/>
              </a:rPr>
              <a:t>, </a:t>
            </a:r>
            <a:r>
              <a:rPr sz="2800" i="1" dirty="0">
                <a:latin typeface="Arial"/>
                <a:cs typeface="Arial"/>
              </a:rPr>
              <a:t>x</a:t>
            </a:r>
            <a:r>
              <a:rPr sz="2775" baseline="-21021" dirty="0">
                <a:latin typeface="Arial"/>
                <a:cs typeface="Arial"/>
              </a:rPr>
              <a:t>2</a:t>
            </a:r>
            <a:r>
              <a:rPr sz="2800" dirty="0">
                <a:latin typeface="Arial"/>
                <a:cs typeface="Arial"/>
              </a:rPr>
              <a:t>, </a:t>
            </a:r>
            <a:r>
              <a:rPr sz="2800" spc="-5" dirty="0">
                <a:latin typeface="Arial"/>
                <a:cs typeface="Arial"/>
              </a:rPr>
              <a:t>..., </a:t>
            </a:r>
            <a:r>
              <a:rPr sz="2800" i="1" spc="10" dirty="0">
                <a:latin typeface="Arial"/>
                <a:cs typeface="Arial"/>
              </a:rPr>
              <a:t>x</a:t>
            </a:r>
            <a:r>
              <a:rPr sz="2775" i="1" spc="15" baseline="-21021" dirty="0">
                <a:latin typeface="Arial"/>
                <a:cs typeface="Arial"/>
              </a:rPr>
              <a:t>M </a:t>
            </a:r>
            <a:r>
              <a:rPr sz="2800" dirty="0">
                <a:latin typeface="Arial"/>
                <a:cs typeface="Arial"/>
              </a:rPr>
              <a:t>terdapat </a:t>
            </a:r>
            <a:r>
              <a:rPr sz="2800" spc="-5" dirty="0">
                <a:latin typeface="Arial"/>
                <a:cs typeface="Arial"/>
              </a:rPr>
              <a:t>dalam vektor </a:t>
            </a:r>
            <a:r>
              <a:rPr sz="2800" i="1" spc="-5" dirty="0">
                <a:latin typeface="Arial"/>
                <a:cs typeface="Arial"/>
              </a:rPr>
              <a:t>N </a:t>
            </a:r>
            <a:r>
              <a:rPr sz="2800" spc="-5" dirty="0">
                <a:latin typeface="Arial"/>
                <a:cs typeface="Arial"/>
              </a:rPr>
              <a:t>x</a:t>
            </a:r>
            <a:r>
              <a:rPr sz="2800" spc="-23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  <a:p>
            <a:pPr marL="952500" lvl="1" indent="-457834">
              <a:lnSpc>
                <a:spcPct val="100000"/>
              </a:lnSpc>
              <a:spcBef>
                <a:spcPts val="590"/>
              </a:spcBef>
              <a:buAutoNum type="arabicPeriod"/>
              <a:tabLst>
                <a:tab pos="952500" algn="l"/>
                <a:tab pos="953135" algn="l"/>
              </a:tabLst>
            </a:pPr>
            <a:r>
              <a:rPr sz="2400" spc="-5" dirty="0">
                <a:latin typeface="Arial"/>
                <a:cs typeface="Arial"/>
              </a:rPr>
              <a:t>Mencari Mean (nilai </a:t>
            </a:r>
            <a:r>
              <a:rPr sz="2400" dirty="0">
                <a:latin typeface="Arial"/>
                <a:cs typeface="Arial"/>
              </a:rPr>
              <a:t>rata-rata) </a:t>
            </a:r>
            <a:r>
              <a:rPr sz="2400" spc="-5" dirty="0">
                <a:latin typeface="Arial"/>
                <a:cs typeface="Arial"/>
              </a:rPr>
              <a:t>dari</a:t>
            </a:r>
            <a:r>
              <a:rPr sz="2400" spc="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data</a:t>
            </a:r>
            <a:endParaRPr sz="2400">
              <a:latin typeface="Arial"/>
              <a:cs typeface="Arial"/>
            </a:endParaRPr>
          </a:p>
          <a:p>
            <a:pPr marL="952500" marR="24765" lvl="1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952500" algn="l"/>
                <a:tab pos="953135" algn="l"/>
              </a:tabLst>
            </a:pPr>
            <a:r>
              <a:rPr sz="2400" spc="-5" dirty="0">
                <a:latin typeface="Arial"/>
                <a:cs typeface="Arial"/>
              </a:rPr>
              <a:t>Menghitung </a:t>
            </a:r>
            <a:r>
              <a:rPr sz="2400" dirty="0">
                <a:latin typeface="Arial"/>
                <a:cs typeface="Arial"/>
              </a:rPr>
              <a:t>Zero </a:t>
            </a:r>
            <a:r>
              <a:rPr sz="2400" spc="-5" dirty="0">
                <a:latin typeface="Arial"/>
                <a:cs typeface="Arial"/>
              </a:rPr>
              <a:t>Mean </a:t>
            </a:r>
            <a:r>
              <a:rPr sz="2400" dirty="0">
                <a:latin typeface="Arial"/>
                <a:cs typeface="Arial"/>
              </a:rPr>
              <a:t>(setiap </a:t>
            </a:r>
            <a:r>
              <a:rPr sz="2400" spc="-5" dirty="0">
                <a:latin typeface="Arial"/>
                <a:cs typeface="Arial"/>
              </a:rPr>
              <a:t>nilai pada data </a:t>
            </a:r>
            <a:r>
              <a:rPr sz="2400" dirty="0">
                <a:latin typeface="Arial"/>
                <a:cs typeface="Arial"/>
              </a:rPr>
              <a:t>sampel  </a:t>
            </a:r>
            <a:r>
              <a:rPr sz="2400" spc="-5" dirty="0">
                <a:latin typeface="Arial"/>
                <a:cs typeface="Arial"/>
              </a:rPr>
              <a:t>dikurangi nilai </a:t>
            </a:r>
            <a:r>
              <a:rPr sz="2400" dirty="0">
                <a:latin typeface="Arial"/>
                <a:cs typeface="Arial"/>
              </a:rPr>
              <a:t>rata-rata </a:t>
            </a:r>
            <a:r>
              <a:rPr sz="2400" spc="-5" dirty="0">
                <a:latin typeface="Arial"/>
                <a:cs typeface="Arial"/>
              </a:rPr>
              <a:t>tiap parameter yang</a:t>
            </a:r>
            <a:r>
              <a:rPr sz="2400" spc="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terkait)</a:t>
            </a:r>
            <a:endParaRPr sz="2400">
              <a:latin typeface="Arial"/>
              <a:cs typeface="Arial"/>
            </a:endParaRPr>
          </a:p>
          <a:p>
            <a:pPr marL="952500" marR="199390" lvl="1" indent="-457200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52500" algn="l"/>
                <a:tab pos="953135" algn="l"/>
              </a:tabLst>
            </a:pPr>
            <a:r>
              <a:rPr sz="2400" spc="-5" dirty="0">
                <a:latin typeface="Arial"/>
                <a:cs typeface="Arial"/>
              </a:rPr>
              <a:t>Membangun matriks Covarians dengan mengkalikan  matriks </a:t>
            </a:r>
            <a:r>
              <a:rPr sz="2400" dirty="0">
                <a:latin typeface="Arial"/>
                <a:cs typeface="Arial"/>
              </a:rPr>
              <a:t>Zero </a:t>
            </a:r>
            <a:r>
              <a:rPr sz="2400" spc="-5" dirty="0">
                <a:latin typeface="Arial"/>
                <a:cs typeface="Arial"/>
              </a:rPr>
              <a:t>Mean dengan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transposenya</a:t>
            </a:r>
            <a:endParaRPr sz="2400">
              <a:latin typeface="Arial"/>
              <a:cs typeface="Arial"/>
            </a:endParaRPr>
          </a:p>
          <a:p>
            <a:pPr marL="952500" lvl="1" indent="-457834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952500" algn="l"/>
                <a:tab pos="953135" algn="l"/>
              </a:tabLst>
            </a:pPr>
            <a:r>
              <a:rPr sz="2400" spc="-5" dirty="0">
                <a:latin typeface="Arial"/>
                <a:cs typeface="Arial"/>
              </a:rPr>
              <a:t>Menghitung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eigenvalue</a:t>
            </a:r>
            <a:endParaRPr sz="2400">
              <a:latin typeface="Arial"/>
              <a:cs typeface="Arial"/>
            </a:endParaRPr>
          </a:p>
          <a:p>
            <a:pPr marL="952500" lvl="1" indent="-457834">
              <a:lnSpc>
                <a:spcPct val="100000"/>
              </a:lnSpc>
              <a:spcBef>
                <a:spcPts val="575"/>
              </a:spcBef>
              <a:buAutoNum type="arabicPeriod"/>
              <a:tabLst>
                <a:tab pos="952500" algn="l"/>
                <a:tab pos="953135" algn="l"/>
              </a:tabLst>
            </a:pPr>
            <a:r>
              <a:rPr sz="2400" spc="-5" dirty="0">
                <a:latin typeface="Arial"/>
                <a:cs typeface="Arial"/>
              </a:rPr>
              <a:t>Menghitung matriks</a:t>
            </a:r>
            <a:r>
              <a:rPr sz="2400" spc="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eigenvektor</a:t>
            </a:r>
            <a:endParaRPr sz="2400">
              <a:latin typeface="Arial"/>
              <a:cs typeface="Arial"/>
            </a:endParaRPr>
          </a:p>
          <a:p>
            <a:pPr marL="952500" marR="652780" lvl="1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952500" algn="l"/>
                <a:tab pos="953135" algn="l"/>
              </a:tabLst>
            </a:pPr>
            <a:r>
              <a:rPr sz="2400" spc="-5" dirty="0">
                <a:latin typeface="Arial"/>
                <a:cs typeface="Arial"/>
              </a:rPr>
              <a:t>Mengurangi dimensi N sebesar </a:t>
            </a:r>
            <a:r>
              <a:rPr sz="2400" dirty="0">
                <a:latin typeface="Arial"/>
                <a:cs typeface="Arial"/>
              </a:rPr>
              <a:t>K </a:t>
            </a:r>
            <a:r>
              <a:rPr sz="2400" spc="-5" dirty="0">
                <a:latin typeface="Arial"/>
                <a:cs typeface="Arial"/>
              </a:rPr>
              <a:t>dimensi yang  didapatkan dari eigenvalue yang terbesar sampai  sampai yang terkecil sebanyak </a:t>
            </a:r>
            <a:r>
              <a:rPr sz="2400" dirty="0">
                <a:latin typeface="Arial"/>
                <a:cs typeface="Arial"/>
              </a:rPr>
              <a:t>K</a:t>
            </a:r>
            <a:r>
              <a:rPr sz="2400" spc="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pertama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6151" y="208112"/>
            <a:ext cx="7290054" cy="1499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10702" y="2437239"/>
            <a:ext cx="457200" cy="4311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650" i="1" spc="10" dirty="0">
                <a:latin typeface="Times New Roman"/>
                <a:cs typeface="Times New Roman"/>
              </a:rPr>
              <a:t>x</a:t>
            </a:r>
            <a:r>
              <a:rPr sz="2650" i="1" spc="-10" dirty="0">
                <a:latin typeface="Times New Roman"/>
                <a:cs typeface="Times New Roman"/>
              </a:rPr>
              <a:t> </a:t>
            </a:r>
            <a:r>
              <a:rPr sz="2650" spc="10" dirty="0">
                <a:latin typeface="Symbol"/>
                <a:cs typeface="Symbol"/>
              </a:rPr>
              <a:t>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21594" y="2229130"/>
            <a:ext cx="2626360" cy="4311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36220" algn="l"/>
                <a:tab pos="549910" algn="l"/>
                <a:tab pos="850265" algn="l"/>
                <a:tab pos="1446530" algn="l"/>
                <a:tab pos="2613025" algn="l"/>
              </a:tabLst>
            </a:pPr>
            <a:r>
              <a:rPr sz="2650" i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650" i="1" spc="5" dirty="0">
                <a:latin typeface="Times New Roman"/>
                <a:cs typeface="Times New Roman"/>
              </a:rPr>
              <a:t>	</a:t>
            </a:r>
            <a:r>
              <a:rPr sz="265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</a:t>
            </a:r>
            <a:r>
              <a:rPr sz="2650" i="1" spc="10" dirty="0">
                <a:latin typeface="Times New Roman"/>
                <a:cs typeface="Times New Roman"/>
              </a:rPr>
              <a:t>	</a:t>
            </a:r>
            <a:r>
              <a:rPr sz="2650" u="heavy" spc="1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2650" u="heavy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5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	</a:t>
            </a:r>
            <a:r>
              <a:rPr sz="2650" u="heavy" spc="114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2650" u="heavy" spc="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...</a:t>
            </a:r>
            <a:r>
              <a:rPr sz="2650" u="heavy" spc="114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2650" u="heavy" spc="-1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50" i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x	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12943" y="2694019"/>
            <a:ext cx="2236470" cy="4324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944370" algn="l"/>
              </a:tabLst>
            </a:pPr>
            <a:r>
              <a:rPr sz="2650" i="1" spc="20" dirty="0">
                <a:latin typeface="Times New Roman"/>
                <a:cs typeface="Times New Roman"/>
              </a:rPr>
              <a:t>M	</a:t>
            </a:r>
            <a:r>
              <a:rPr sz="2650" i="1" spc="-20" dirty="0">
                <a:latin typeface="Times New Roman"/>
                <a:cs typeface="Times New Roman"/>
              </a:rPr>
              <a:t>M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1149336"/>
            <a:ext cx="8035290" cy="91186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22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Langkah 1: </a:t>
            </a:r>
            <a:r>
              <a:rPr sz="2800" spc="-5" dirty="0">
                <a:latin typeface="Arial"/>
                <a:cs typeface="Arial"/>
              </a:rPr>
              <a:t>Mencari Mean Global (nilai</a:t>
            </a:r>
            <a:r>
              <a:rPr sz="2800" spc="114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rata-rata)</a:t>
            </a:r>
            <a:endParaRPr sz="2800">
              <a:latin typeface="Arial"/>
              <a:cs typeface="Arial"/>
            </a:endParaRPr>
          </a:p>
          <a:p>
            <a:pPr marL="1403350" algn="ctr">
              <a:lnSpc>
                <a:spcPct val="100000"/>
              </a:lnSpc>
              <a:spcBef>
                <a:spcPts val="630"/>
              </a:spcBef>
            </a:pPr>
            <a:r>
              <a:rPr sz="1550" i="1" spc="-20" dirty="0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2202" y="1906364"/>
            <a:ext cx="694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000" spc="-45" dirty="0">
                <a:latin typeface="Symbol"/>
                <a:cs typeface="Symbol"/>
              </a:rPr>
              <a:t></a:t>
            </a:r>
            <a:r>
              <a:rPr sz="4000" spc="-575" dirty="0">
                <a:latin typeface="Times New Roman"/>
                <a:cs typeface="Times New Roman"/>
              </a:rPr>
              <a:t> </a:t>
            </a:r>
            <a:r>
              <a:rPr sz="3975" i="1" spc="-37" baseline="13626" dirty="0">
                <a:latin typeface="Times New Roman"/>
                <a:cs typeface="Times New Roman"/>
              </a:rPr>
              <a:t>x</a:t>
            </a:r>
            <a:r>
              <a:rPr sz="1550" i="1" spc="-25" dirty="0">
                <a:latin typeface="Times New Roman"/>
                <a:cs typeface="Times New Roman"/>
              </a:rPr>
              <a:t>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62584" y="2310838"/>
            <a:ext cx="3253740" cy="4324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619125" algn="l"/>
                <a:tab pos="1728470" algn="l"/>
                <a:tab pos="2240280" algn="l"/>
                <a:tab pos="3202305" algn="l"/>
              </a:tabLst>
            </a:pPr>
            <a:r>
              <a:rPr sz="1550" dirty="0">
                <a:latin typeface="Times New Roman"/>
                <a:cs typeface="Times New Roman"/>
              </a:rPr>
              <a:t>1	2	</a:t>
            </a:r>
            <a:r>
              <a:rPr sz="1550" i="1" spc="5" dirty="0">
                <a:latin typeface="Times New Roman"/>
                <a:cs typeface="Times New Roman"/>
              </a:rPr>
              <a:t>M	</a:t>
            </a:r>
            <a:r>
              <a:rPr sz="3975" spc="-22" baseline="-20964" dirty="0">
                <a:latin typeface="Symbol"/>
                <a:cs typeface="Symbol"/>
              </a:rPr>
              <a:t></a:t>
            </a:r>
            <a:r>
              <a:rPr sz="2650" u="heavy" spc="4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550" i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1550" u="heavy" spc="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sz="1550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53232" y="4379147"/>
            <a:ext cx="144780" cy="0"/>
          </a:xfrm>
          <a:custGeom>
            <a:avLst/>
            <a:gdLst/>
            <a:ahLst/>
            <a:cxnLst/>
            <a:rect l="l" t="t" r="r" b="b"/>
            <a:pathLst>
              <a:path w="144779">
                <a:moveTo>
                  <a:pt x="0" y="0"/>
                </a:moveTo>
                <a:lnTo>
                  <a:pt x="144483" y="0"/>
                </a:lnTo>
              </a:path>
            </a:pathLst>
          </a:custGeom>
          <a:ln w="131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23240" y="3341370"/>
            <a:ext cx="5939790" cy="1327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68300" algn="l"/>
                <a:tab pos="368935" algn="l"/>
              </a:tabLst>
            </a:pPr>
            <a:r>
              <a:rPr sz="2800" dirty="0">
                <a:latin typeface="Arial"/>
                <a:cs typeface="Arial"/>
              </a:rPr>
              <a:t>Langkah 2: </a:t>
            </a:r>
            <a:r>
              <a:rPr sz="2800" spc="-5" dirty="0">
                <a:latin typeface="Arial"/>
                <a:cs typeface="Arial"/>
              </a:rPr>
              <a:t>Menghitung Zero</a:t>
            </a:r>
            <a:r>
              <a:rPr sz="2800" spc="5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Mean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150">
              <a:latin typeface="Arial"/>
              <a:cs typeface="Arial"/>
            </a:endParaRPr>
          </a:p>
          <a:p>
            <a:pPr marR="393065" algn="ctr">
              <a:lnSpc>
                <a:spcPct val="100000"/>
              </a:lnSpc>
              <a:spcBef>
                <a:spcPts val="5"/>
              </a:spcBef>
            </a:pPr>
            <a:r>
              <a:rPr sz="2700" spc="45" dirty="0">
                <a:latin typeface="Symbol"/>
                <a:cs typeface="Symbol"/>
              </a:rPr>
              <a:t></a:t>
            </a:r>
            <a:r>
              <a:rPr sz="2325" i="1" spc="67" baseline="-23297" dirty="0">
                <a:latin typeface="Times New Roman"/>
                <a:cs typeface="Times New Roman"/>
              </a:rPr>
              <a:t>i  </a:t>
            </a:r>
            <a:r>
              <a:rPr sz="2700" spc="65" dirty="0">
                <a:latin typeface="Symbol"/>
                <a:cs typeface="Symbol"/>
              </a:rPr>
              <a:t></a:t>
            </a:r>
            <a:r>
              <a:rPr sz="2700" spc="65" dirty="0">
                <a:latin typeface="Times New Roman"/>
                <a:cs typeface="Times New Roman"/>
              </a:rPr>
              <a:t> </a:t>
            </a:r>
            <a:r>
              <a:rPr sz="2700" i="1" spc="-25" dirty="0">
                <a:latin typeface="Times New Roman"/>
                <a:cs typeface="Times New Roman"/>
              </a:rPr>
              <a:t>x</a:t>
            </a:r>
            <a:r>
              <a:rPr sz="2325" i="1" spc="-37" baseline="-23297" dirty="0">
                <a:latin typeface="Times New Roman"/>
                <a:cs typeface="Times New Roman"/>
              </a:rPr>
              <a:t>i</a:t>
            </a:r>
            <a:r>
              <a:rPr sz="2325" i="1" spc="502" baseline="-23297" dirty="0">
                <a:latin typeface="Times New Roman"/>
                <a:cs typeface="Times New Roman"/>
              </a:rPr>
              <a:t> </a:t>
            </a:r>
            <a:r>
              <a:rPr sz="2700" spc="65" dirty="0">
                <a:latin typeface="Symbol"/>
                <a:cs typeface="Symbol"/>
              </a:rPr>
              <a:t></a:t>
            </a:r>
            <a:r>
              <a:rPr sz="2700" spc="-380" dirty="0">
                <a:latin typeface="Times New Roman"/>
                <a:cs typeface="Times New Roman"/>
              </a:rPr>
              <a:t> </a:t>
            </a:r>
            <a:r>
              <a:rPr sz="2700" i="1" spc="50" dirty="0">
                <a:latin typeface="Times New Roman"/>
                <a:cs typeface="Times New Roman"/>
              </a:rPr>
              <a:t>x</a:t>
            </a:r>
            <a:endParaRPr sz="2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43013"/>
            <a:ext cx="7290054" cy="1499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2733"/>
            <a:ext cx="8007350" cy="1746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Langkah 3: Membangun matriks Covarians  </a:t>
            </a:r>
            <a:r>
              <a:rPr sz="2800" spc="-5" dirty="0">
                <a:latin typeface="Arial"/>
                <a:cs typeface="Arial"/>
              </a:rPr>
              <a:t>dengan mengkalikan matriks Zero Mean dengan  </a:t>
            </a:r>
            <a:r>
              <a:rPr sz="2800" dirty="0">
                <a:latin typeface="Arial"/>
                <a:cs typeface="Arial"/>
              </a:rPr>
              <a:t>transposenya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Populasi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444" y="4403852"/>
            <a:ext cx="1344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17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Sampel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7274" y="3474847"/>
            <a:ext cx="747395" cy="4324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650" spc="35" dirty="0">
                <a:latin typeface="Symbol"/>
                <a:cs typeface="Symbol"/>
              </a:rPr>
              <a:t></a:t>
            </a:r>
            <a:r>
              <a:rPr sz="2325" i="1" spc="52" baseline="41218" dirty="0">
                <a:latin typeface="Times New Roman"/>
                <a:cs typeface="Times New Roman"/>
              </a:rPr>
              <a:t>T</a:t>
            </a:r>
            <a:r>
              <a:rPr sz="2325" i="1" spc="-262" baseline="41218" dirty="0">
                <a:latin typeface="Times New Roman"/>
                <a:cs typeface="Times New Roman"/>
              </a:rPr>
              <a:t> </a:t>
            </a:r>
            <a:r>
              <a:rPr sz="2650" spc="35" dirty="0">
                <a:latin typeface="Symbol"/>
                <a:cs typeface="Symbol"/>
              </a:rPr>
              <a:t>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4084" y="3697822"/>
            <a:ext cx="49022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21640" algn="l"/>
              </a:tabLst>
            </a:pPr>
            <a:r>
              <a:rPr sz="1550" i="1" spc="5" dirty="0">
                <a:latin typeface="Times New Roman"/>
                <a:cs typeface="Times New Roman"/>
              </a:rPr>
              <a:t>i	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43969" y="3733138"/>
            <a:ext cx="254635" cy="4324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i="1" spc="30" dirty="0">
                <a:latin typeface="Times New Roman"/>
                <a:cs typeface="Times New Roman"/>
              </a:rPr>
              <a:t>N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1070" y="3931129"/>
            <a:ext cx="290830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105" dirty="0">
                <a:latin typeface="Times New Roman"/>
                <a:cs typeface="Times New Roman"/>
              </a:rPr>
              <a:t>i</a:t>
            </a:r>
            <a:r>
              <a:rPr sz="1550" spc="-95" dirty="0">
                <a:latin typeface="Symbol"/>
                <a:cs typeface="Symbol"/>
              </a:rPr>
              <a:t></a:t>
            </a:r>
            <a:r>
              <a:rPr sz="1550" spc="10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0098" y="3096069"/>
            <a:ext cx="1374775" cy="636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 marR="135255" algn="r">
              <a:lnSpc>
                <a:spcPts val="204"/>
              </a:lnSpc>
              <a:spcBef>
                <a:spcPts val="5"/>
              </a:spcBef>
            </a:pPr>
            <a:r>
              <a:rPr sz="1550" i="1" spc="20" dirty="0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  <a:p>
            <a:pPr marL="38100">
              <a:lnSpc>
                <a:spcPts val="3145"/>
              </a:lnSpc>
            </a:pPr>
            <a:r>
              <a:rPr sz="3975" i="1" spc="44" baseline="-34591" dirty="0">
                <a:latin typeface="Times New Roman"/>
                <a:cs typeface="Times New Roman"/>
              </a:rPr>
              <a:t>C </a:t>
            </a:r>
            <a:r>
              <a:rPr sz="3975" spc="37" baseline="-34591" dirty="0">
                <a:latin typeface="Symbol"/>
                <a:cs typeface="Symbol"/>
              </a:rPr>
              <a:t></a:t>
            </a:r>
            <a:r>
              <a:rPr sz="2650" u="heavy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1</a:t>
            </a:r>
            <a:r>
              <a:rPr sz="2650" spc="5" dirty="0">
                <a:latin typeface="Times New Roman"/>
                <a:cs typeface="Times New Roman"/>
              </a:rPr>
              <a:t> </a:t>
            </a:r>
            <a:r>
              <a:rPr sz="6000" spc="-3315" baseline="-31250" dirty="0">
                <a:latin typeface="Symbol"/>
                <a:cs typeface="Symbol"/>
              </a:rPr>
              <a:t></a:t>
            </a:r>
            <a:endParaRPr sz="6000" baseline="-312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1791" y="5260721"/>
            <a:ext cx="748665" cy="4324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650" spc="40" dirty="0">
                <a:latin typeface="Symbol"/>
                <a:cs typeface="Symbol"/>
              </a:rPr>
              <a:t></a:t>
            </a:r>
            <a:r>
              <a:rPr sz="2325" i="1" spc="60" baseline="41218" dirty="0">
                <a:latin typeface="Times New Roman"/>
                <a:cs typeface="Times New Roman"/>
              </a:rPr>
              <a:t>T</a:t>
            </a:r>
            <a:r>
              <a:rPr sz="2325" i="1" spc="-262" baseline="41218" dirty="0">
                <a:latin typeface="Times New Roman"/>
                <a:cs typeface="Times New Roman"/>
              </a:rPr>
              <a:t> </a:t>
            </a:r>
            <a:r>
              <a:rPr sz="2650" spc="35" dirty="0">
                <a:latin typeface="Symbol"/>
                <a:cs typeface="Symbol"/>
              </a:rPr>
              <a:t></a:t>
            </a:r>
            <a:endParaRPr sz="26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39181" y="5483697"/>
            <a:ext cx="49085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422275" algn="l"/>
              </a:tabLst>
            </a:pPr>
            <a:r>
              <a:rPr sz="1550" i="1" spc="5" dirty="0">
                <a:latin typeface="Times New Roman"/>
                <a:cs typeface="Times New Roman"/>
              </a:rPr>
              <a:t>i	i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24346" y="5717004"/>
            <a:ext cx="291465" cy="2635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110" dirty="0">
                <a:latin typeface="Times New Roman"/>
                <a:cs typeface="Times New Roman"/>
              </a:rPr>
              <a:t>i</a:t>
            </a:r>
            <a:r>
              <a:rPr sz="1550" spc="-95" dirty="0">
                <a:latin typeface="Symbol"/>
                <a:cs typeface="Symbol"/>
              </a:rPr>
              <a:t></a:t>
            </a:r>
            <a:r>
              <a:rPr sz="1550" spc="10" dirty="0">
                <a:latin typeface="Times New Roman"/>
                <a:cs typeface="Times New Roman"/>
              </a:rPr>
              <a:t>1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51408" y="5519011"/>
            <a:ext cx="711835" cy="432434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650" i="1" spc="30" dirty="0">
                <a:latin typeface="Times New Roman"/>
                <a:cs typeface="Times New Roman"/>
              </a:rPr>
              <a:t>N</a:t>
            </a:r>
            <a:r>
              <a:rPr sz="2650" i="1" spc="-95" dirty="0">
                <a:latin typeface="Times New Roman"/>
                <a:cs typeface="Times New Roman"/>
              </a:rPr>
              <a:t> </a:t>
            </a:r>
            <a:r>
              <a:rPr sz="2650" spc="80" dirty="0">
                <a:latin typeface="Symbol"/>
                <a:cs typeface="Symbol"/>
              </a:rPr>
              <a:t></a:t>
            </a:r>
            <a:r>
              <a:rPr sz="2650" spc="80" dirty="0">
                <a:latin typeface="Times New Roman"/>
                <a:cs typeface="Times New Roman"/>
              </a:rPr>
              <a:t>1</a:t>
            </a:r>
            <a:endParaRPr sz="26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06407" y="4881943"/>
            <a:ext cx="1771650" cy="636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350">
              <a:latin typeface="Times New Roman"/>
              <a:cs typeface="Times New Roman"/>
            </a:endParaRPr>
          </a:p>
          <a:p>
            <a:pPr marR="133985" algn="r">
              <a:lnSpc>
                <a:spcPts val="204"/>
              </a:lnSpc>
              <a:spcBef>
                <a:spcPts val="5"/>
              </a:spcBef>
            </a:pPr>
            <a:r>
              <a:rPr sz="1550" i="1" spc="20" dirty="0">
                <a:latin typeface="Times New Roman"/>
                <a:cs typeface="Times New Roman"/>
              </a:rPr>
              <a:t>M</a:t>
            </a:r>
            <a:endParaRPr sz="1550">
              <a:latin typeface="Times New Roman"/>
              <a:cs typeface="Times New Roman"/>
            </a:endParaRPr>
          </a:p>
          <a:p>
            <a:pPr marL="38100">
              <a:lnSpc>
                <a:spcPts val="3145"/>
              </a:lnSpc>
              <a:tabLst>
                <a:tab pos="888365" algn="l"/>
                <a:tab pos="1323975" algn="l"/>
              </a:tabLst>
            </a:pPr>
            <a:r>
              <a:rPr sz="3975" i="1" spc="44" baseline="-34591" dirty="0">
                <a:latin typeface="Times New Roman"/>
                <a:cs typeface="Times New Roman"/>
              </a:rPr>
              <a:t>C </a:t>
            </a:r>
            <a:r>
              <a:rPr sz="3975" spc="37" baseline="-34591" dirty="0">
                <a:latin typeface="Symbol"/>
                <a:cs typeface="Symbol"/>
              </a:rPr>
              <a:t></a:t>
            </a:r>
            <a:r>
              <a:rPr sz="2650" u="heavy" spc="2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sz="2650" u="heavy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6000" spc="-3300" baseline="-31250" dirty="0">
                <a:latin typeface="Symbol"/>
                <a:cs typeface="Symbol"/>
              </a:rPr>
              <a:t></a:t>
            </a:r>
            <a:endParaRPr sz="6000" baseline="-312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2733"/>
            <a:ext cx="7065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Langkah </a:t>
            </a:r>
            <a:r>
              <a:rPr sz="2800" spc="-5" dirty="0">
                <a:latin typeface="Arial"/>
                <a:cs typeface="Arial"/>
              </a:rPr>
              <a:t>4 : </a:t>
            </a:r>
            <a:r>
              <a:rPr sz="2800" dirty="0">
                <a:latin typeface="Arial"/>
                <a:cs typeface="Arial"/>
              </a:rPr>
              <a:t>Menghitung eigenvalue dari</a:t>
            </a:r>
            <a:r>
              <a:rPr sz="2800" spc="2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4823" y="1857843"/>
            <a:ext cx="1929130" cy="20275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sz="2700" i="1" spc="100" dirty="0">
                <a:latin typeface="Times New Roman"/>
                <a:cs typeface="Times New Roman"/>
              </a:rPr>
              <a:t>CU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575" dirty="0">
                <a:latin typeface="Times New Roman"/>
                <a:cs typeface="Times New Roman"/>
              </a:rPr>
              <a:t> </a:t>
            </a:r>
            <a:r>
              <a:rPr sz="2850" i="1" spc="80" dirty="0">
                <a:latin typeface="Symbol"/>
                <a:cs typeface="Symbol"/>
              </a:rPr>
              <a:t></a:t>
            </a:r>
            <a:r>
              <a:rPr sz="2700" i="1" spc="80" dirty="0">
                <a:latin typeface="Times New Roman"/>
                <a:cs typeface="Times New Roman"/>
              </a:rPr>
              <a:t>U</a:t>
            </a:r>
            <a:endParaRPr sz="2700">
              <a:latin typeface="Times New Roman"/>
              <a:cs typeface="Times New Roman"/>
            </a:endParaRPr>
          </a:p>
          <a:p>
            <a:pPr marL="33020">
              <a:lnSpc>
                <a:spcPct val="100000"/>
              </a:lnSpc>
              <a:spcBef>
                <a:spcPts val="515"/>
              </a:spcBef>
            </a:pPr>
            <a:r>
              <a:rPr sz="2700" i="1" dirty="0">
                <a:latin typeface="Times New Roman"/>
                <a:cs typeface="Times New Roman"/>
              </a:rPr>
              <a:t>I</a:t>
            </a:r>
            <a:r>
              <a:rPr sz="2700" i="1" spc="-160" dirty="0">
                <a:latin typeface="Times New Roman"/>
                <a:cs typeface="Times New Roman"/>
              </a:rPr>
              <a:t> </a:t>
            </a:r>
            <a:r>
              <a:rPr sz="2700" i="1" spc="100" dirty="0">
                <a:latin typeface="Times New Roman"/>
                <a:cs typeface="Times New Roman"/>
              </a:rPr>
              <a:t>CU</a:t>
            </a:r>
            <a:r>
              <a:rPr sz="2700" i="1" spc="-6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29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I</a:t>
            </a:r>
            <a:r>
              <a:rPr sz="2700" i="1" spc="-114" dirty="0">
                <a:latin typeface="Times New Roman"/>
                <a:cs typeface="Times New Roman"/>
              </a:rPr>
              <a:t> </a:t>
            </a:r>
            <a:r>
              <a:rPr sz="2850" i="1" spc="75" dirty="0">
                <a:latin typeface="Symbol"/>
                <a:cs typeface="Symbol"/>
              </a:rPr>
              <a:t></a:t>
            </a:r>
            <a:r>
              <a:rPr sz="2700" i="1" spc="75" dirty="0">
                <a:latin typeface="Times New Roman"/>
                <a:cs typeface="Times New Roman"/>
              </a:rPr>
              <a:t>U</a:t>
            </a:r>
            <a:endParaRPr sz="2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2700" i="1" spc="100" dirty="0">
                <a:latin typeface="Times New Roman"/>
                <a:cs typeface="Times New Roman"/>
              </a:rPr>
              <a:t>CU</a:t>
            </a:r>
            <a:r>
              <a:rPr sz="2700" i="1" spc="-7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405" dirty="0">
                <a:latin typeface="Times New Roman"/>
                <a:cs typeface="Times New Roman"/>
              </a:rPr>
              <a:t> </a:t>
            </a:r>
            <a:r>
              <a:rPr sz="2850" i="1" spc="-80" dirty="0">
                <a:latin typeface="Symbol"/>
                <a:cs typeface="Symbol"/>
              </a:rPr>
              <a:t></a:t>
            </a:r>
            <a:r>
              <a:rPr sz="2850" i="1" spc="-160" dirty="0">
                <a:latin typeface="Times New Roman"/>
                <a:cs typeface="Times New Roman"/>
              </a:rPr>
              <a:t> </a:t>
            </a:r>
            <a:r>
              <a:rPr sz="2700" i="1" spc="185" dirty="0">
                <a:latin typeface="Times New Roman"/>
                <a:cs typeface="Times New Roman"/>
              </a:rPr>
              <a:t>IU</a:t>
            </a:r>
            <a:endParaRPr sz="270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520"/>
              </a:spcBef>
            </a:pPr>
            <a:r>
              <a:rPr sz="2700" spc="-40" dirty="0">
                <a:latin typeface="Times New Roman"/>
                <a:cs typeface="Times New Roman"/>
              </a:rPr>
              <a:t>(</a:t>
            </a:r>
            <a:r>
              <a:rPr sz="2850" i="1" spc="-40" dirty="0">
                <a:latin typeface="Symbol"/>
                <a:cs typeface="Symbol"/>
              </a:rPr>
              <a:t></a:t>
            </a:r>
            <a:r>
              <a:rPr sz="2850" i="1" spc="-170" dirty="0">
                <a:latin typeface="Times New Roman"/>
                <a:cs typeface="Times New Roman"/>
              </a:rPr>
              <a:t> </a:t>
            </a:r>
            <a:r>
              <a:rPr sz="2700" i="1" dirty="0">
                <a:latin typeface="Times New Roman"/>
                <a:cs typeface="Times New Roman"/>
              </a:rPr>
              <a:t>I</a:t>
            </a:r>
            <a:r>
              <a:rPr sz="2700" i="1" spc="-1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</a:t>
            </a:r>
            <a:r>
              <a:rPr sz="2700" spc="-370" dirty="0">
                <a:latin typeface="Times New Roman"/>
                <a:cs typeface="Times New Roman"/>
              </a:rPr>
              <a:t> </a:t>
            </a:r>
            <a:r>
              <a:rPr sz="2700" i="1" spc="70" dirty="0">
                <a:latin typeface="Times New Roman"/>
                <a:cs typeface="Times New Roman"/>
              </a:rPr>
              <a:t>C</a:t>
            </a:r>
            <a:r>
              <a:rPr sz="2700" spc="70" dirty="0">
                <a:latin typeface="Times New Roman"/>
                <a:cs typeface="Times New Roman"/>
              </a:rPr>
              <a:t>)</a:t>
            </a:r>
            <a:r>
              <a:rPr sz="2700" i="1" spc="70" dirty="0">
                <a:latin typeface="Times New Roman"/>
                <a:cs typeface="Times New Roman"/>
              </a:rPr>
              <a:t>U</a:t>
            </a:r>
            <a:r>
              <a:rPr sz="2700" i="1" spc="-7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Symbol"/>
                <a:cs typeface="Symbol"/>
              </a:rPr>
              <a:t></a:t>
            </a:r>
            <a:r>
              <a:rPr sz="2700" spc="-41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0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42103" y="1934021"/>
            <a:ext cx="2025650" cy="44830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600" spc="-5" dirty="0">
                <a:latin typeface="Times New Roman"/>
                <a:cs typeface="Times New Roman"/>
              </a:rPr>
              <a:t>det(</a:t>
            </a:r>
            <a:r>
              <a:rPr sz="2750" i="1" spc="-5" dirty="0">
                <a:latin typeface="Symbol"/>
                <a:cs typeface="Symbol"/>
              </a:rPr>
              <a:t></a:t>
            </a:r>
            <a:r>
              <a:rPr sz="2750" i="1" spc="-130" dirty="0">
                <a:latin typeface="Times New Roman"/>
                <a:cs typeface="Times New Roman"/>
              </a:rPr>
              <a:t> </a:t>
            </a:r>
            <a:r>
              <a:rPr sz="2600" i="1" spc="20" dirty="0">
                <a:latin typeface="Times New Roman"/>
                <a:cs typeface="Times New Roman"/>
              </a:rPr>
              <a:t>I</a:t>
            </a:r>
            <a:r>
              <a:rPr sz="2600" i="1" spc="25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Symbol"/>
                <a:cs typeface="Symbol"/>
              </a:rPr>
              <a:t></a:t>
            </a:r>
            <a:r>
              <a:rPr sz="2600" spc="-325" dirty="0">
                <a:latin typeface="Times New Roman"/>
                <a:cs typeface="Times New Roman"/>
              </a:rPr>
              <a:t> </a:t>
            </a:r>
            <a:r>
              <a:rPr sz="2600" i="1" spc="100" dirty="0">
                <a:latin typeface="Times New Roman"/>
                <a:cs typeface="Times New Roman"/>
              </a:rPr>
              <a:t>C</a:t>
            </a:r>
            <a:r>
              <a:rPr sz="2600" spc="100" dirty="0">
                <a:latin typeface="Times New Roman"/>
                <a:cs typeface="Times New Roman"/>
              </a:rPr>
              <a:t>)</a:t>
            </a:r>
            <a:r>
              <a:rPr sz="2600" spc="-32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Symbol"/>
                <a:cs typeface="Symbol"/>
              </a:rPr>
              <a:t></a:t>
            </a:r>
            <a:r>
              <a:rPr sz="2600" spc="-37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540" y="5360813"/>
            <a:ext cx="3467100" cy="462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120"/>
              </a:spcBef>
              <a:buChar char="•"/>
              <a:tabLst>
                <a:tab pos="381000" algn="l"/>
                <a:tab pos="381635" algn="l"/>
              </a:tabLst>
            </a:pPr>
            <a:r>
              <a:rPr sz="4200" spc="-7" baseline="-2976" dirty="0">
                <a:latin typeface="Arial"/>
                <a:cs typeface="Arial"/>
              </a:rPr>
              <a:t>Hasil </a:t>
            </a:r>
            <a:r>
              <a:rPr sz="4200" spc="-89" baseline="-2976" dirty="0">
                <a:latin typeface="Arial"/>
                <a:cs typeface="Arial"/>
              </a:rPr>
              <a:t>:</a:t>
            </a:r>
            <a:r>
              <a:rPr sz="2850" i="1" spc="-60" dirty="0">
                <a:latin typeface="Symbol"/>
                <a:cs typeface="Symbol"/>
              </a:rPr>
              <a:t></a:t>
            </a:r>
            <a:r>
              <a:rPr sz="2325" spc="-89" baseline="-23297" dirty="0">
                <a:latin typeface="Times New Roman"/>
                <a:cs typeface="Times New Roman"/>
              </a:rPr>
              <a:t>1 </a:t>
            </a:r>
            <a:r>
              <a:rPr sz="2700" spc="55" dirty="0">
                <a:latin typeface="Times New Roman"/>
                <a:cs typeface="Times New Roman"/>
              </a:rPr>
              <a:t>,</a:t>
            </a:r>
            <a:r>
              <a:rPr sz="2850" i="1" spc="55" dirty="0">
                <a:latin typeface="Symbol"/>
                <a:cs typeface="Symbol"/>
              </a:rPr>
              <a:t></a:t>
            </a:r>
            <a:r>
              <a:rPr sz="2325" spc="82" baseline="-23297" dirty="0">
                <a:latin typeface="Times New Roman"/>
                <a:cs typeface="Times New Roman"/>
              </a:rPr>
              <a:t>2 </a:t>
            </a:r>
            <a:r>
              <a:rPr sz="2700" spc="40" dirty="0">
                <a:latin typeface="Times New Roman"/>
                <a:cs typeface="Times New Roman"/>
              </a:rPr>
              <a:t>,</a:t>
            </a:r>
            <a:r>
              <a:rPr sz="2850" i="1" spc="40" dirty="0">
                <a:latin typeface="Symbol"/>
                <a:cs typeface="Symbol"/>
              </a:rPr>
              <a:t></a:t>
            </a:r>
            <a:r>
              <a:rPr sz="2325" spc="60" baseline="-23297" dirty="0">
                <a:latin typeface="Times New Roman"/>
                <a:cs typeface="Times New Roman"/>
              </a:rPr>
              <a:t>3</a:t>
            </a:r>
            <a:r>
              <a:rPr sz="2325" spc="135" baseline="-23297" dirty="0">
                <a:latin typeface="Times New Roman"/>
                <a:cs typeface="Times New Roman"/>
              </a:rPr>
              <a:t> </a:t>
            </a:r>
            <a:r>
              <a:rPr sz="2700" spc="60" dirty="0">
                <a:latin typeface="Times New Roman"/>
                <a:cs typeface="Times New Roman"/>
              </a:rPr>
              <a:t>,...,</a:t>
            </a:r>
            <a:r>
              <a:rPr sz="2850" i="1" spc="60" dirty="0">
                <a:latin typeface="Symbol"/>
                <a:cs typeface="Symbol"/>
              </a:rPr>
              <a:t></a:t>
            </a:r>
            <a:r>
              <a:rPr sz="2325" i="1" spc="89" baseline="-23297" dirty="0">
                <a:latin typeface="Times New Roman"/>
                <a:cs typeface="Times New Roman"/>
              </a:rPr>
              <a:t>N</a:t>
            </a:r>
            <a:endParaRPr sz="2325" baseline="-23297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47688" y="3384443"/>
            <a:ext cx="129539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7688" y="2885280"/>
            <a:ext cx="129539" cy="574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95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1310"/>
              </a:lnSpc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1495"/>
              </a:lnSpc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47953" y="3384443"/>
            <a:ext cx="129539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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9714" y="3393307"/>
            <a:ext cx="129539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54314" y="3060387"/>
            <a:ext cx="54864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</a:t>
            </a:r>
            <a:r>
              <a:rPr sz="1400" spc="275" dirty="0">
                <a:latin typeface="Times New Roman"/>
                <a:cs typeface="Times New Roman"/>
              </a:rPr>
              <a:t> </a:t>
            </a:r>
            <a:r>
              <a:rPr sz="2100" spc="592" baseline="-15873" dirty="0">
                <a:latin typeface="Symbol"/>
                <a:cs typeface="Symbol"/>
              </a:rPr>
              <a:t></a:t>
            </a:r>
            <a:r>
              <a:rPr sz="2100" spc="-202" baseline="-15873" dirty="0">
                <a:latin typeface="Times New Roman"/>
                <a:cs typeface="Times New Roman"/>
              </a:rPr>
              <a:t> </a:t>
            </a:r>
            <a:r>
              <a:rPr sz="2100" spc="412" baseline="1984" dirty="0">
                <a:latin typeface="Symbol"/>
                <a:cs typeface="Symbol"/>
              </a:rPr>
              <a:t></a:t>
            </a:r>
            <a:endParaRPr sz="2100" baseline="1984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07098" y="3393307"/>
            <a:ext cx="129539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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7098" y="3060387"/>
            <a:ext cx="129539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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30303" y="3544370"/>
            <a:ext cx="67183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i="1" spc="434" baseline="13888" dirty="0">
                <a:latin typeface="Arial"/>
                <a:cs typeface="Arial"/>
              </a:rPr>
              <a:t>c</a:t>
            </a:r>
            <a:r>
              <a:rPr sz="1000" i="1" spc="290" dirty="0">
                <a:latin typeface="Arial"/>
                <a:cs typeface="Arial"/>
              </a:rPr>
              <a:t>m</a:t>
            </a:r>
            <a:r>
              <a:rPr sz="1000" spc="290" dirty="0">
                <a:latin typeface="Arial"/>
                <a:cs typeface="Arial"/>
              </a:rPr>
              <a:t>,</a:t>
            </a:r>
            <a:r>
              <a:rPr sz="1000" i="1" spc="290" dirty="0">
                <a:latin typeface="Arial"/>
                <a:cs typeface="Arial"/>
              </a:rPr>
              <a:t>n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2100" spc="-202" baseline="1984" dirty="0">
                <a:latin typeface="Symbol"/>
                <a:cs typeface="Symbol"/>
              </a:rPr>
              <a:t></a:t>
            </a:r>
            <a:r>
              <a:rPr sz="2100" spc="-202" baseline="-5952" dirty="0">
                <a:latin typeface="Symbol"/>
                <a:cs typeface="Symbol"/>
              </a:rPr>
              <a:t></a:t>
            </a:r>
            <a:endParaRPr sz="2100" baseline="-5952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028726" y="3072260"/>
            <a:ext cx="27495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185" dirty="0">
                <a:latin typeface="Arial"/>
                <a:cs typeface="Arial"/>
              </a:rPr>
              <a:t>2</a:t>
            </a:r>
            <a:r>
              <a:rPr sz="1000" spc="105" dirty="0">
                <a:latin typeface="Arial"/>
                <a:cs typeface="Arial"/>
              </a:rPr>
              <a:t>,</a:t>
            </a:r>
            <a:r>
              <a:rPr sz="1000" i="1" spc="270" dirty="0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22553" y="3018616"/>
            <a:ext cx="58420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spc="412" baseline="41666" dirty="0">
                <a:latin typeface="Symbol"/>
                <a:cs typeface="Symbol"/>
              </a:rPr>
              <a:t></a:t>
            </a:r>
            <a:r>
              <a:rPr sz="2100" spc="-300" baseline="41666" dirty="0">
                <a:latin typeface="Times New Roman"/>
                <a:cs typeface="Times New Roman"/>
              </a:rPr>
              <a:t> </a:t>
            </a:r>
            <a:r>
              <a:rPr sz="2100" i="1" spc="330" baseline="13888" dirty="0">
                <a:latin typeface="Arial"/>
                <a:cs typeface="Arial"/>
              </a:rPr>
              <a:t>c</a:t>
            </a:r>
            <a:r>
              <a:rPr sz="1000" spc="220" dirty="0">
                <a:latin typeface="Arial"/>
                <a:cs typeface="Arial"/>
              </a:rPr>
              <a:t>2,1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877109" y="2755738"/>
            <a:ext cx="62547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i="1" spc="262" baseline="13888" dirty="0">
                <a:latin typeface="Arial"/>
                <a:cs typeface="Arial"/>
              </a:rPr>
              <a:t>c</a:t>
            </a:r>
            <a:r>
              <a:rPr sz="1000" spc="175" dirty="0">
                <a:latin typeface="Arial"/>
                <a:cs typeface="Arial"/>
              </a:rPr>
              <a:t>1,</a:t>
            </a:r>
            <a:r>
              <a:rPr sz="1000" i="1" spc="175" dirty="0">
                <a:latin typeface="Arial"/>
                <a:cs typeface="Arial"/>
              </a:rPr>
              <a:t>n</a:t>
            </a:r>
            <a:r>
              <a:rPr sz="1000" i="1" spc="360" dirty="0">
                <a:latin typeface="Arial"/>
                <a:cs typeface="Arial"/>
              </a:rPr>
              <a:t> </a:t>
            </a:r>
            <a:r>
              <a:rPr sz="2100" spc="412" baseline="11904" dirty="0">
                <a:latin typeface="Symbol"/>
                <a:cs typeface="Symbol"/>
              </a:rPr>
              <a:t></a:t>
            </a:r>
            <a:endParaRPr sz="2100" baseline="11904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22553" y="2755738"/>
            <a:ext cx="56515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spc="412" baseline="11904" dirty="0">
                <a:latin typeface="Symbol"/>
                <a:cs typeface="Symbol"/>
              </a:rPr>
              <a:t></a:t>
            </a:r>
            <a:r>
              <a:rPr sz="2100" spc="-104" baseline="11904" dirty="0">
                <a:latin typeface="Times New Roman"/>
                <a:cs typeface="Times New Roman"/>
              </a:rPr>
              <a:t> </a:t>
            </a:r>
            <a:r>
              <a:rPr sz="2100" i="1" spc="225" baseline="13888" dirty="0">
                <a:latin typeface="Arial"/>
                <a:cs typeface="Arial"/>
              </a:rPr>
              <a:t>c</a:t>
            </a:r>
            <a:r>
              <a:rPr sz="1000" spc="150" dirty="0">
                <a:latin typeface="Arial"/>
                <a:cs typeface="Arial"/>
              </a:rPr>
              <a:t>1,1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951417" y="3237609"/>
            <a:ext cx="30480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40" dirty="0">
                <a:latin typeface="Arial"/>
                <a:cs typeface="Arial"/>
              </a:rPr>
              <a:t>.</a:t>
            </a:r>
            <a:r>
              <a:rPr sz="1400" spc="145" dirty="0">
                <a:latin typeface="Arial"/>
                <a:cs typeface="Arial"/>
              </a:rPr>
              <a:t>.</a:t>
            </a:r>
            <a:r>
              <a:rPr sz="1400" spc="140" dirty="0">
                <a:latin typeface="Arial"/>
                <a:cs typeface="Arial"/>
              </a:rPr>
              <a:t>.</a:t>
            </a:r>
            <a:r>
              <a:rPr sz="1400" spc="20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22553" y="3237609"/>
            <a:ext cx="52705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spc="412" baseline="5952" dirty="0">
                <a:latin typeface="Symbol"/>
                <a:cs typeface="Symbol"/>
              </a:rPr>
              <a:t></a:t>
            </a:r>
            <a:r>
              <a:rPr sz="2100" spc="195" baseline="5952" dirty="0">
                <a:latin typeface="Times New Roman"/>
                <a:cs typeface="Times New Roman"/>
              </a:rPr>
              <a:t> </a:t>
            </a: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34005" y="2665250"/>
            <a:ext cx="711835" cy="107632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  <a:tabLst>
                <a:tab pos="563245" algn="l"/>
              </a:tabLst>
            </a:pPr>
            <a:r>
              <a:rPr sz="1400" spc="140" dirty="0">
                <a:latin typeface="Arial"/>
                <a:cs typeface="Arial"/>
              </a:rPr>
              <a:t>.</a:t>
            </a:r>
            <a:r>
              <a:rPr sz="1400" spc="145" dirty="0">
                <a:latin typeface="Arial"/>
                <a:cs typeface="Arial"/>
              </a:rPr>
              <a:t>.</a:t>
            </a:r>
            <a:r>
              <a:rPr sz="1400" spc="140" dirty="0">
                <a:latin typeface="Arial"/>
                <a:cs typeface="Arial"/>
              </a:rPr>
              <a:t>.</a:t>
            </a:r>
            <a:r>
              <a:rPr sz="1400" spc="200" dirty="0">
                <a:latin typeface="Arial"/>
                <a:cs typeface="Arial"/>
              </a:rPr>
              <a:t>.</a:t>
            </a:r>
            <a:r>
              <a:rPr sz="1400" dirty="0">
                <a:latin typeface="Arial"/>
                <a:cs typeface="Arial"/>
              </a:rPr>
              <a:t>	</a:t>
            </a:r>
            <a:r>
              <a:rPr sz="1400" i="1" spc="360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38113" y="3246054"/>
            <a:ext cx="49657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r>
              <a:rPr sz="1400" spc="-140" dirty="0">
                <a:latin typeface="Arial"/>
                <a:cs typeface="Arial"/>
              </a:rPr>
              <a:t> </a:t>
            </a:r>
            <a:r>
              <a:rPr sz="2100" spc="412" baseline="5952" dirty="0">
                <a:latin typeface="Symbol"/>
                <a:cs typeface="Symbol"/>
              </a:rPr>
              <a:t></a:t>
            </a:r>
            <a:endParaRPr sz="2100" baseline="5952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81698" y="3246054"/>
            <a:ext cx="441959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spc="232" baseline="5952" dirty="0">
                <a:latin typeface="Symbol"/>
                <a:cs typeface="Symbol"/>
              </a:rPr>
              <a:t></a:t>
            </a: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11635" y="2893725"/>
            <a:ext cx="422909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spc="600" baseline="-27777" dirty="0">
                <a:latin typeface="Arial"/>
                <a:cs typeface="Arial"/>
              </a:rPr>
              <a:t>0</a:t>
            </a:r>
            <a:r>
              <a:rPr sz="2100" spc="405" baseline="-27777" dirty="0">
                <a:latin typeface="Arial"/>
                <a:cs typeface="Arial"/>
              </a:rPr>
              <a:t> </a:t>
            </a: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81698" y="2893725"/>
            <a:ext cx="38671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</a:t>
            </a:r>
            <a:r>
              <a:rPr sz="1400" spc="35" dirty="0">
                <a:latin typeface="Times New Roman"/>
                <a:cs typeface="Times New Roman"/>
              </a:rPr>
              <a:t> </a:t>
            </a:r>
            <a:r>
              <a:rPr sz="2100" spc="600" baseline="-27777" dirty="0">
                <a:latin typeface="Arial"/>
                <a:cs typeface="Arial"/>
              </a:rPr>
              <a:t>0</a:t>
            </a:r>
            <a:endParaRPr sz="2100" baseline="-27777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26412" y="3534894"/>
            <a:ext cx="50800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325" i="1" spc="472" baseline="12544" dirty="0">
                <a:latin typeface="Symbol"/>
                <a:cs typeface="Symbol"/>
              </a:rPr>
              <a:t></a:t>
            </a:r>
            <a:r>
              <a:rPr sz="1500" i="1" spc="472" baseline="2777" dirty="0">
                <a:latin typeface="Arial"/>
                <a:cs typeface="Arial"/>
              </a:rPr>
              <a:t>N</a:t>
            </a:r>
            <a:r>
              <a:rPr sz="1500" i="1" spc="60" baseline="2777" dirty="0">
                <a:latin typeface="Arial"/>
                <a:cs typeface="Arial"/>
              </a:rPr>
              <a:t> </a:t>
            </a:r>
            <a:r>
              <a:rPr sz="1400" spc="275" dirty="0">
                <a:latin typeface="Symbol"/>
                <a:cs typeface="Symbol"/>
              </a:rPr>
              <a:t>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43598" y="2691451"/>
            <a:ext cx="2203450" cy="105854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25400" algn="ctr">
              <a:lnSpc>
                <a:spcPct val="100000"/>
              </a:lnSpc>
              <a:spcBef>
                <a:spcPts val="245"/>
              </a:spcBef>
              <a:tabLst>
                <a:tab pos="701675" algn="l"/>
                <a:tab pos="1143635" algn="l"/>
                <a:tab pos="1755139" algn="l"/>
              </a:tabLst>
            </a:pPr>
            <a:r>
              <a:rPr sz="1400" spc="275" dirty="0">
                <a:latin typeface="Symbol"/>
                <a:cs typeface="Symbol"/>
              </a:rPr>
              <a:t></a:t>
            </a:r>
            <a:r>
              <a:rPr sz="2325" i="1" spc="412" baseline="1792" dirty="0">
                <a:latin typeface="Symbol"/>
                <a:cs typeface="Symbol"/>
              </a:rPr>
              <a:t></a:t>
            </a:r>
            <a:r>
              <a:rPr sz="1500" spc="412" baseline="-16666" dirty="0">
                <a:latin typeface="Arial"/>
                <a:cs typeface="Arial"/>
              </a:rPr>
              <a:t>1	</a:t>
            </a:r>
            <a:r>
              <a:rPr sz="2100" spc="600" baseline="1984" dirty="0">
                <a:latin typeface="Arial"/>
                <a:cs typeface="Arial"/>
              </a:rPr>
              <a:t>0	</a:t>
            </a:r>
            <a:r>
              <a:rPr sz="2100" spc="232" baseline="1984" dirty="0">
                <a:latin typeface="Arial"/>
                <a:cs typeface="Arial"/>
              </a:rPr>
              <a:t>....	</a:t>
            </a:r>
            <a:r>
              <a:rPr sz="2100" spc="600" baseline="1984" dirty="0">
                <a:latin typeface="Arial"/>
                <a:cs typeface="Arial"/>
              </a:rPr>
              <a:t>0</a:t>
            </a:r>
            <a:r>
              <a:rPr sz="2100" spc="412" baseline="1984" dirty="0">
                <a:latin typeface="Arial"/>
                <a:cs typeface="Arial"/>
              </a:rPr>
              <a:t> </a:t>
            </a:r>
            <a:r>
              <a:rPr sz="1400" spc="275" dirty="0">
                <a:latin typeface="Symbol"/>
                <a:cs typeface="Symbol"/>
              </a:rPr>
              <a:t></a:t>
            </a:r>
            <a:endParaRPr sz="1400">
              <a:latin typeface="Symbol"/>
              <a:cs typeface="Symbol"/>
            </a:endParaRPr>
          </a:p>
          <a:p>
            <a:pPr marR="33655" algn="ctr">
              <a:lnSpc>
                <a:spcPct val="100000"/>
              </a:lnSpc>
              <a:spcBef>
                <a:spcPts val="155"/>
              </a:spcBef>
              <a:tabLst>
                <a:tab pos="506095" algn="l"/>
              </a:tabLst>
            </a:pPr>
            <a:r>
              <a:rPr sz="1550" i="1" spc="285" dirty="0">
                <a:latin typeface="Symbol"/>
                <a:cs typeface="Symbol"/>
              </a:rPr>
              <a:t></a:t>
            </a:r>
            <a:r>
              <a:rPr sz="1500" spc="427" baseline="-19444" dirty="0">
                <a:latin typeface="Arial"/>
                <a:cs typeface="Arial"/>
              </a:rPr>
              <a:t>2	</a:t>
            </a: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  <a:p>
            <a:pPr marL="678180">
              <a:lnSpc>
                <a:spcPct val="100000"/>
              </a:lnSpc>
              <a:spcBef>
                <a:spcPts val="360"/>
              </a:spcBef>
              <a:tabLst>
                <a:tab pos="1194435" algn="l"/>
              </a:tabLst>
            </a:pPr>
            <a:r>
              <a:rPr sz="1400" spc="155" dirty="0">
                <a:latin typeface="Arial"/>
                <a:cs typeface="Arial"/>
              </a:rPr>
              <a:t>....	....</a:t>
            </a:r>
            <a:endParaRPr sz="14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390"/>
              </a:spcBef>
              <a:tabLst>
                <a:tab pos="752475" algn="l"/>
                <a:tab pos="1194435" algn="l"/>
              </a:tabLst>
            </a:pPr>
            <a:r>
              <a:rPr sz="2100" spc="412" baseline="-13888" dirty="0">
                <a:latin typeface="Symbol"/>
                <a:cs typeface="Symbol"/>
              </a:rPr>
              <a:t></a:t>
            </a:r>
            <a:r>
              <a:rPr sz="2100" spc="135" baseline="-13888" dirty="0">
                <a:latin typeface="Times New Roman"/>
                <a:cs typeface="Times New Roman"/>
              </a:rPr>
              <a:t> </a:t>
            </a:r>
            <a:r>
              <a:rPr sz="1400" spc="400" dirty="0">
                <a:latin typeface="Arial"/>
                <a:cs typeface="Arial"/>
              </a:rPr>
              <a:t>0	0	</a:t>
            </a: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67352" y="4586117"/>
            <a:ext cx="12890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467352" y="3920275"/>
            <a:ext cx="128905" cy="741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95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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1310"/>
              </a:lnSpc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1310"/>
              </a:lnSpc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1495"/>
              </a:lnSpc>
            </a:pPr>
            <a:r>
              <a:rPr sz="1400" spc="275" dirty="0">
                <a:latin typeface="Symbol"/>
                <a:cs typeface="Symbol"/>
              </a:rPr>
              <a:t>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510094" y="4586117"/>
            <a:ext cx="12890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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10094" y="4086954"/>
            <a:ext cx="128905" cy="5740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1495"/>
              </a:lnSpc>
              <a:spcBef>
                <a:spcPts val="110"/>
              </a:spcBef>
            </a:pPr>
            <a:r>
              <a:rPr sz="1400" spc="275" dirty="0">
                <a:latin typeface="Symbol"/>
                <a:cs typeface="Symbol"/>
              </a:rPr>
              <a:t>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1310"/>
              </a:lnSpc>
            </a:pPr>
            <a:r>
              <a:rPr sz="1400" spc="275" dirty="0">
                <a:latin typeface="Symbol"/>
                <a:cs typeface="Symbol"/>
              </a:rPr>
              <a:t>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ts val="1495"/>
              </a:lnSpc>
            </a:pPr>
            <a:r>
              <a:rPr sz="1400" spc="275" dirty="0">
                <a:latin typeface="Symbol"/>
                <a:cs typeface="Symbol"/>
              </a:rPr>
              <a:t>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84694" y="4736761"/>
            <a:ext cx="17970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400" spc="-135" dirty="0">
                <a:latin typeface="Symbol"/>
                <a:cs typeface="Symbol"/>
              </a:rPr>
              <a:t></a:t>
            </a:r>
            <a:r>
              <a:rPr sz="2100" spc="-202" baseline="-9920" dirty="0">
                <a:latin typeface="Symbol"/>
                <a:cs typeface="Symbol"/>
              </a:rPr>
              <a:t></a:t>
            </a:r>
            <a:endParaRPr sz="2100" baseline="-992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547260" y="4799688"/>
            <a:ext cx="16192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i="1" spc="350" dirty="0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836691" y="4702161"/>
            <a:ext cx="35369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5740" indent="-193675">
              <a:lnSpc>
                <a:spcPct val="100000"/>
              </a:lnSpc>
              <a:spcBef>
                <a:spcPts val="110"/>
              </a:spcBef>
              <a:buFont typeface="Symbol"/>
              <a:buChar char=""/>
              <a:tabLst>
                <a:tab pos="206375" algn="l"/>
              </a:tabLst>
            </a:pPr>
            <a:r>
              <a:rPr sz="1400" i="1" spc="355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16930" y="4702161"/>
            <a:ext cx="35306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05104" indent="-193040">
              <a:lnSpc>
                <a:spcPct val="100000"/>
              </a:lnSpc>
              <a:spcBef>
                <a:spcPts val="110"/>
              </a:spcBef>
              <a:buFont typeface="Symbol"/>
              <a:buChar char=""/>
              <a:tabLst>
                <a:tab pos="205740" algn="l"/>
              </a:tabLst>
            </a:pPr>
            <a:r>
              <a:rPr sz="1400" i="1" spc="355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92888" y="4746044"/>
            <a:ext cx="52895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1000" i="1" spc="245" dirty="0">
                <a:latin typeface="Arial"/>
                <a:cs typeface="Arial"/>
              </a:rPr>
              <a:t>m</a:t>
            </a:r>
            <a:r>
              <a:rPr sz="1000" spc="245" dirty="0">
                <a:latin typeface="Arial"/>
                <a:cs typeface="Arial"/>
              </a:rPr>
              <a:t>,</a:t>
            </a:r>
            <a:r>
              <a:rPr sz="1000" i="1" spc="245" dirty="0">
                <a:latin typeface="Arial"/>
                <a:cs typeface="Arial"/>
              </a:rPr>
              <a:t>n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2100" spc="-202" baseline="1984" dirty="0">
                <a:latin typeface="Symbol"/>
                <a:cs typeface="Symbol"/>
              </a:rPr>
              <a:t></a:t>
            </a:r>
            <a:r>
              <a:rPr sz="2100" spc="-202" baseline="-5952" dirty="0">
                <a:latin typeface="Symbol"/>
                <a:cs typeface="Symbol"/>
              </a:rPr>
              <a:t></a:t>
            </a:r>
            <a:endParaRPr sz="2100" baseline="-5952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174512" y="4799688"/>
            <a:ext cx="33337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i="1" spc="370" dirty="0">
                <a:latin typeface="Arial"/>
                <a:cs typeface="Arial"/>
              </a:rPr>
              <a:t>m</a:t>
            </a:r>
            <a:r>
              <a:rPr sz="1000" spc="105" dirty="0">
                <a:latin typeface="Arial"/>
                <a:cs typeface="Arial"/>
              </a:rPr>
              <a:t>,</a:t>
            </a:r>
            <a:r>
              <a:rPr sz="1000" spc="265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54101" y="4799688"/>
            <a:ext cx="319405" cy="176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i="1" spc="370" dirty="0">
                <a:latin typeface="Arial"/>
                <a:cs typeface="Arial"/>
              </a:rPr>
              <a:t>m</a:t>
            </a:r>
            <a:r>
              <a:rPr sz="1000" spc="-5" dirty="0">
                <a:latin typeface="Arial"/>
                <a:cs typeface="Arial"/>
              </a:rPr>
              <a:t>,</a:t>
            </a:r>
            <a:r>
              <a:rPr sz="1000" spc="265" dirty="0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05163" y="4220290"/>
            <a:ext cx="664210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spc="585" baseline="13888" dirty="0">
                <a:latin typeface="Symbol"/>
                <a:cs typeface="Symbol"/>
              </a:rPr>
              <a:t></a:t>
            </a:r>
            <a:r>
              <a:rPr sz="2100" spc="-67" baseline="13888" dirty="0">
                <a:latin typeface="Times New Roman"/>
                <a:cs typeface="Times New Roman"/>
              </a:rPr>
              <a:t> </a:t>
            </a:r>
            <a:r>
              <a:rPr sz="2100" i="1" spc="375" baseline="13888" dirty="0">
                <a:latin typeface="Arial"/>
                <a:cs typeface="Arial"/>
              </a:rPr>
              <a:t>c</a:t>
            </a:r>
            <a:r>
              <a:rPr sz="1000" spc="250" dirty="0">
                <a:latin typeface="Arial"/>
                <a:cs typeface="Arial"/>
              </a:rPr>
              <a:t>2,2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859274" y="3957412"/>
            <a:ext cx="62674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100" spc="585" baseline="13888" dirty="0">
                <a:latin typeface="Symbol"/>
                <a:cs typeface="Symbol"/>
              </a:rPr>
              <a:t></a:t>
            </a:r>
            <a:r>
              <a:rPr sz="2100" spc="-60" baseline="13888" dirty="0">
                <a:latin typeface="Times New Roman"/>
                <a:cs typeface="Times New Roman"/>
              </a:rPr>
              <a:t> </a:t>
            </a:r>
            <a:r>
              <a:rPr sz="2100" i="1" spc="262" baseline="13888" dirty="0">
                <a:latin typeface="Arial"/>
                <a:cs typeface="Arial"/>
              </a:rPr>
              <a:t>c</a:t>
            </a:r>
            <a:r>
              <a:rPr sz="1000" spc="175" dirty="0">
                <a:latin typeface="Arial"/>
                <a:cs typeface="Arial"/>
              </a:rPr>
              <a:t>1,2</a:t>
            </a:r>
            <a:endParaRPr sz="10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597595" y="2708296"/>
            <a:ext cx="662940" cy="1972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120" marR="188595" indent="18415">
              <a:lnSpc>
                <a:spcPct val="123200"/>
              </a:lnSpc>
              <a:spcBef>
                <a:spcPts val="95"/>
              </a:spcBef>
            </a:pPr>
            <a:r>
              <a:rPr sz="2100" i="1" spc="262" baseline="13888" dirty="0">
                <a:latin typeface="Arial"/>
                <a:cs typeface="Arial"/>
              </a:rPr>
              <a:t>c</a:t>
            </a:r>
            <a:r>
              <a:rPr sz="1000" spc="175" dirty="0">
                <a:latin typeface="Arial"/>
                <a:cs typeface="Arial"/>
              </a:rPr>
              <a:t>1,2  </a:t>
            </a:r>
            <a:r>
              <a:rPr sz="2100" i="1" spc="637" baseline="13888" dirty="0">
                <a:latin typeface="Arial"/>
                <a:cs typeface="Arial"/>
              </a:rPr>
              <a:t>c</a:t>
            </a:r>
            <a:r>
              <a:rPr sz="1000" spc="190" dirty="0">
                <a:latin typeface="Arial"/>
                <a:cs typeface="Arial"/>
              </a:rPr>
              <a:t>2</a:t>
            </a:r>
            <a:r>
              <a:rPr sz="1000" spc="105" dirty="0">
                <a:latin typeface="Arial"/>
                <a:cs typeface="Arial"/>
              </a:rPr>
              <a:t>,</a:t>
            </a:r>
            <a:r>
              <a:rPr sz="1000" spc="270" dirty="0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  <a:p>
            <a:pPr marL="134620">
              <a:lnSpc>
                <a:spcPct val="100000"/>
              </a:lnSpc>
              <a:spcBef>
                <a:spcPts val="45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  <a:p>
            <a:pPr marL="42545">
              <a:lnSpc>
                <a:spcPct val="100000"/>
              </a:lnSpc>
              <a:spcBef>
                <a:spcPts val="735"/>
              </a:spcBef>
            </a:pPr>
            <a:r>
              <a:rPr sz="2100" i="1" spc="434" baseline="13888" dirty="0">
                <a:latin typeface="Arial"/>
                <a:cs typeface="Arial"/>
              </a:rPr>
              <a:t>c</a:t>
            </a:r>
            <a:r>
              <a:rPr sz="1000" i="1" spc="290" dirty="0">
                <a:latin typeface="Arial"/>
                <a:cs typeface="Arial"/>
              </a:rPr>
              <a:t>m</a:t>
            </a:r>
            <a:r>
              <a:rPr sz="1000" spc="290" dirty="0">
                <a:latin typeface="Arial"/>
                <a:cs typeface="Arial"/>
              </a:rPr>
              <a:t>,2</a:t>
            </a:r>
            <a:endParaRPr sz="1000">
              <a:latin typeface="Arial"/>
              <a:cs typeface="Arial"/>
            </a:endParaRPr>
          </a:p>
          <a:p>
            <a:pPr marL="249554" indent="-194310">
              <a:lnSpc>
                <a:spcPct val="100000"/>
              </a:lnSpc>
              <a:spcBef>
                <a:spcPts val="1575"/>
              </a:spcBef>
              <a:buFont typeface="Symbol"/>
              <a:buChar char=""/>
              <a:tabLst>
                <a:tab pos="250190" algn="l"/>
              </a:tabLst>
            </a:pPr>
            <a:r>
              <a:rPr sz="2100" i="1" spc="262" baseline="13888" dirty="0">
                <a:latin typeface="Arial"/>
                <a:cs typeface="Arial"/>
              </a:rPr>
              <a:t>c</a:t>
            </a:r>
            <a:r>
              <a:rPr sz="1000" spc="175" dirty="0">
                <a:latin typeface="Arial"/>
                <a:cs typeface="Arial"/>
              </a:rPr>
              <a:t>1,</a:t>
            </a:r>
            <a:r>
              <a:rPr sz="1000" i="1" spc="175" dirty="0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  <a:p>
            <a:pPr marL="231140" indent="-193675">
              <a:lnSpc>
                <a:spcPct val="100000"/>
              </a:lnSpc>
              <a:spcBef>
                <a:spcPts val="390"/>
              </a:spcBef>
              <a:buFont typeface="Symbol"/>
              <a:buChar char=""/>
              <a:tabLst>
                <a:tab pos="231775" algn="l"/>
              </a:tabLst>
            </a:pPr>
            <a:r>
              <a:rPr sz="2100" i="1" spc="367" baseline="13888" dirty="0">
                <a:latin typeface="Arial"/>
                <a:cs typeface="Arial"/>
              </a:rPr>
              <a:t>c</a:t>
            </a:r>
            <a:r>
              <a:rPr sz="1000" spc="245" dirty="0">
                <a:latin typeface="Arial"/>
                <a:cs typeface="Arial"/>
              </a:rPr>
              <a:t>2,</a:t>
            </a:r>
            <a:r>
              <a:rPr sz="1000" i="1" spc="245" dirty="0"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  <a:p>
            <a:pPr marL="197485">
              <a:lnSpc>
                <a:spcPct val="100000"/>
              </a:lnSpc>
              <a:spcBef>
                <a:spcPts val="40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021495" y="4439283"/>
            <a:ext cx="30416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00" spc="140" dirty="0">
                <a:latin typeface="Arial"/>
                <a:cs typeface="Arial"/>
              </a:rPr>
              <a:t>..</a:t>
            </a:r>
            <a:r>
              <a:rPr sz="1400" spc="150" dirty="0">
                <a:latin typeface="Arial"/>
                <a:cs typeface="Arial"/>
              </a:rPr>
              <a:t>.</a:t>
            </a:r>
            <a:r>
              <a:rPr sz="1400" spc="200" dirty="0">
                <a:latin typeface="Arial"/>
                <a:cs typeface="Arial"/>
              </a:rPr>
              <a:t>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720047" y="4220290"/>
            <a:ext cx="650240" cy="4603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2100" spc="585" baseline="13888" dirty="0">
                <a:latin typeface="Symbol"/>
                <a:cs typeface="Symbol"/>
              </a:rPr>
              <a:t></a:t>
            </a:r>
            <a:r>
              <a:rPr sz="2100" spc="-60" baseline="13888" dirty="0">
                <a:latin typeface="Times New Roman"/>
                <a:cs typeface="Times New Roman"/>
              </a:rPr>
              <a:t> </a:t>
            </a:r>
            <a:r>
              <a:rPr sz="2100" i="1" spc="330" baseline="13888" dirty="0">
                <a:latin typeface="Arial"/>
                <a:cs typeface="Arial"/>
              </a:rPr>
              <a:t>c</a:t>
            </a:r>
            <a:r>
              <a:rPr sz="1000" spc="220" dirty="0">
                <a:latin typeface="Arial"/>
                <a:cs typeface="Arial"/>
              </a:rPr>
              <a:t>2,1</a:t>
            </a:r>
            <a:endParaRPr sz="1000">
              <a:latin typeface="Arial"/>
              <a:cs typeface="Arial"/>
            </a:endParaRPr>
          </a:p>
          <a:p>
            <a:pPr marR="13335" algn="ctr">
              <a:lnSpc>
                <a:spcPct val="100000"/>
              </a:lnSpc>
              <a:spcBef>
                <a:spcPts val="45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809853" y="3544370"/>
            <a:ext cx="1350010" cy="14033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sz="2100" spc="187" baseline="1984" dirty="0">
                <a:latin typeface="Symbol"/>
                <a:cs typeface="Symbol"/>
              </a:rPr>
              <a:t></a:t>
            </a:r>
            <a:r>
              <a:rPr sz="2100" spc="187" baseline="-5952" dirty="0">
                <a:latin typeface="Symbol"/>
                <a:cs typeface="Symbol"/>
              </a:rPr>
              <a:t></a:t>
            </a:r>
            <a:r>
              <a:rPr sz="2100" i="1" spc="187" baseline="13888" dirty="0">
                <a:latin typeface="Arial"/>
                <a:cs typeface="Arial"/>
              </a:rPr>
              <a:t>c</a:t>
            </a:r>
            <a:r>
              <a:rPr sz="1000" i="1" spc="125" dirty="0">
                <a:latin typeface="Arial"/>
                <a:cs typeface="Arial"/>
              </a:rPr>
              <a:t>m</a:t>
            </a:r>
            <a:r>
              <a:rPr sz="1000" spc="125" dirty="0">
                <a:latin typeface="Arial"/>
                <a:cs typeface="Arial"/>
              </a:rPr>
              <a:t>,1</a:t>
            </a:r>
            <a:endParaRPr sz="1000">
              <a:latin typeface="Arial"/>
              <a:cs typeface="Arial"/>
            </a:endParaRPr>
          </a:p>
          <a:p>
            <a:pPr marL="77470">
              <a:lnSpc>
                <a:spcPct val="100000"/>
              </a:lnSpc>
              <a:spcBef>
                <a:spcPts val="1230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  <a:p>
            <a:pPr marL="77470">
              <a:lnSpc>
                <a:spcPct val="100000"/>
              </a:lnSpc>
              <a:spcBef>
                <a:spcPts val="390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  <a:p>
            <a:pPr marL="77470">
              <a:lnSpc>
                <a:spcPct val="100000"/>
              </a:lnSpc>
              <a:spcBef>
                <a:spcPts val="390"/>
              </a:spcBef>
            </a:pPr>
            <a:r>
              <a:rPr sz="1400" spc="155" dirty="0">
                <a:latin typeface="Arial"/>
                <a:cs typeface="Arial"/>
              </a:rPr>
              <a:t>....</a:t>
            </a:r>
            <a:endParaRPr sz="1400">
              <a:latin typeface="Arial"/>
              <a:cs typeface="Arial"/>
            </a:endParaRPr>
          </a:p>
          <a:p>
            <a:pPr marL="77470">
              <a:lnSpc>
                <a:spcPct val="100000"/>
              </a:lnSpc>
              <a:spcBef>
                <a:spcPts val="240"/>
              </a:spcBef>
              <a:tabLst>
                <a:tab pos="605155" algn="l"/>
                <a:tab pos="982980" algn="l"/>
              </a:tabLst>
            </a:pPr>
            <a:r>
              <a:rPr sz="1400" spc="155" dirty="0">
                <a:latin typeface="Arial"/>
                <a:cs typeface="Arial"/>
              </a:rPr>
              <a:t>....	</a:t>
            </a:r>
            <a:r>
              <a:rPr sz="1550" i="1" spc="310" dirty="0">
                <a:latin typeface="Symbol"/>
                <a:cs typeface="Symbol"/>
              </a:rPr>
              <a:t></a:t>
            </a:r>
            <a:r>
              <a:rPr sz="1550" spc="310" dirty="0">
                <a:latin typeface="Times New Roman"/>
                <a:cs typeface="Times New Roman"/>
              </a:rPr>
              <a:t>	</a:t>
            </a:r>
            <a:r>
              <a:rPr sz="1400" spc="390" dirty="0">
                <a:latin typeface="Symbol"/>
                <a:cs typeface="Symbol"/>
              </a:rPr>
              <a:t>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i="1" spc="355" dirty="0"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671246" y="4155249"/>
            <a:ext cx="32893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550" i="1" spc="285" dirty="0">
                <a:latin typeface="Symbol"/>
                <a:cs typeface="Symbol"/>
              </a:rPr>
              <a:t></a:t>
            </a:r>
            <a:r>
              <a:rPr sz="1500" spc="427" baseline="-19444" dirty="0">
                <a:latin typeface="Arial"/>
                <a:cs typeface="Arial"/>
              </a:rPr>
              <a:t>2</a:t>
            </a:r>
            <a:endParaRPr sz="1500" baseline="-19444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484694" y="3936257"/>
            <a:ext cx="101346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2100" spc="359" baseline="11904" dirty="0">
                <a:latin typeface="Symbol"/>
                <a:cs typeface="Symbol"/>
              </a:rPr>
              <a:t></a:t>
            </a:r>
            <a:r>
              <a:rPr sz="2325" i="1" spc="359" baseline="12544" dirty="0">
                <a:latin typeface="Symbol"/>
                <a:cs typeface="Symbol"/>
              </a:rPr>
              <a:t></a:t>
            </a:r>
            <a:r>
              <a:rPr sz="1000" spc="240" dirty="0">
                <a:latin typeface="Arial"/>
                <a:cs typeface="Arial"/>
              </a:rPr>
              <a:t>1 </a:t>
            </a:r>
            <a:r>
              <a:rPr sz="2100" spc="585" baseline="13888" dirty="0">
                <a:latin typeface="Symbol"/>
                <a:cs typeface="Symbol"/>
              </a:rPr>
              <a:t></a:t>
            </a:r>
            <a:r>
              <a:rPr sz="2100" spc="-150" baseline="13888" dirty="0">
                <a:latin typeface="Times New Roman"/>
                <a:cs typeface="Times New Roman"/>
              </a:rPr>
              <a:t> </a:t>
            </a:r>
            <a:r>
              <a:rPr sz="2100" i="1" spc="225" baseline="13888" dirty="0">
                <a:latin typeface="Arial"/>
                <a:cs typeface="Arial"/>
              </a:rPr>
              <a:t>c</a:t>
            </a:r>
            <a:r>
              <a:rPr sz="1000" spc="150" dirty="0">
                <a:latin typeface="Arial"/>
                <a:cs typeface="Arial"/>
              </a:rPr>
              <a:t>1,1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0" y="294512"/>
            <a:ext cx="7290054" cy="1499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2733"/>
            <a:ext cx="61347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Langkah </a:t>
            </a:r>
            <a:r>
              <a:rPr sz="2800" spc="-5" dirty="0">
                <a:latin typeface="Arial"/>
                <a:cs typeface="Arial"/>
              </a:rPr>
              <a:t>5 : </a:t>
            </a:r>
            <a:r>
              <a:rPr sz="2800" dirty="0">
                <a:latin typeface="Arial"/>
                <a:cs typeface="Arial"/>
              </a:rPr>
              <a:t>Menghitung eigenvektor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93444" y="1794128"/>
            <a:ext cx="2603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14425" algn="l"/>
              </a:tabLst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5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D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spc="10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i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eig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-5" dirty="0">
                <a:latin typeface="Arial"/>
                <a:cs typeface="Arial"/>
              </a:rPr>
              <a:t>nvalue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28415" y="1794128"/>
            <a:ext cx="4779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28369" algn="l"/>
                <a:tab pos="2254250" algn="l"/>
                <a:tab pos="3187700" algn="l"/>
                <a:tab pos="4512310" algn="l"/>
              </a:tabLst>
            </a:pPr>
            <a:r>
              <a:rPr sz="2400" spc="-5" dirty="0">
                <a:latin typeface="Arial"/>
                <a:cs typeface="Arial"/>
              </a:rPr>
              <a:t>yang	di</a:t>
            </a:r>
            <a:r>
              <a:rPr sz="2400" spc="5" dirty="0">
                <a:latin typeface="Arial"/>
                <a:cs typeface="Arial"/>
              </a:rPr>
              <a:t>h</a:t>
            </a:r>
            <a:r>
              <a:rPr sz="2400" spc="-5" dirty="0">
                <a:latin typeface="Arial"/>
                <a:cs typeface="Arial"/>
              </a:rPr>
              <a:t>itung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pad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5" dirty="0">
                <a:latin typeface="Arial"/>
                <a:cs typeface="Arial"/>
              </a:rPr>
              <a:t>lan</a:t>
            </a:r>
            <a:r>
              <a:rPr sz="2400" spc="-15" dirty="0">
                <a:latin typeface="Arial"/>
                <a:cs typeface="Arial"/>
              </a:rPr>
              <a:t>g</a:t>
            </a:r>
            <a:r>
              <a:rPr sz="2400" spc="5" dirty="0">
                <a:latin typeface="Arial"/>
                <a:cs typeface="Arial"/>
              </a:rPr>
              <a:t>k</a:t>
            </a:r>
            <a:r>
              <a:rPr sz="2400" spc="-5" dirty="0">
                <a:latin typeface="Arial"/>
                <a:cs typeface="Arial"/>
              </a:rPr>
              <a:t>ah</a:t>
            </a:r>
            <a:r>
              <a:rPr sz="2400" dirty="0">
                <a:latin typeface="Arial"/>
                <a:cs typeface="Arial"/>
              </a:rPr>
              <a:t>	</a:t>
            </a:r>
            <a:r>
              <a:rPr sz="2400" spc="-10" dirty="0">
                <a:latin typeface="Arial"/>
                <a:cs typeface="Arial"/>
              </a:rPr>
              <a:t>4</a:t>
            </a:r>
            <a:r>
              <a:rPr sz="2400" dirty="0">
                <a:latin typeface="Arial"/>
                <a:cs typeface="Arial"/>
              </a:rPr>
              <a:t>,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79905" y="2004157"/>
            <a:ext cx="3535679" cy="1149985"/>
          </a:xfrm>
          <a:prstGeom prst="rect">
            <a:avLst/>
          </a:prstGeom>
        </p:spPr>
        <p:txBody>
          <a:bodyPr vert="horz" wrap="square" lIns="0" tIns="168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sz="2400" spc="-5" dirty="0">
                <a:latin typeface="Arial"/>
                <a:cs typeface="Arial"/>
              </a:rPr>
              <a:t>disubstitusikan ke rumus</a:t>
            </a:r>
            <a:r>
              <a:rPr sz="2400" spc="3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64769">
              <a:lnSpc>
                <a:spcPct val="100000"/>
              </a:lnSpc>
              <a:spcBef>
                <a:spcPts val="1440"/>
              </a:spcBef>
            </a:pPr>
            <a:r>
              <a:rPr sz="2600" spc="-10" dirty="0">
                <a:latin typeface="Times New Roman"/>
                <a:cs typeface="Times New Roman"/>
              </a:rPr>
              <a:t>(</a:t>
            </a:r>
            <a:r>
              <a:rPr sz="2750" i="1" spc="-10" dirty="0">
                <a:latin typeface="Symbol"/>
                <a:cs typeface="Symbol"/>
              </a:rPr>
              <a:t></a:t>
            </a:r>
            <a:r>
              <a:rPr sz="2750" i="1" spc="-105" dirty="0">
                <a:latin typeface="Times New Roman"/>
                <a:cs typeface="Times New Roman"/>
              </a:rPr>
              <a:t> </a:t>
            </a:r>
            <a:r>
              <a:rPr sz="2600" i="1" spc="15" dirty="0">
                <a:latin typeface="Times New Roman"/>
                <a:cs typeface="Times New Roman"/>
              </a:rPr>
              <a:t>I</a:t>
            </a:r>
            <a:r>
              <a:rPr sz="2600" i="1" spc="5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Symbol"/>
                <a:cs typeface="Symbol"/>
              </a:rPr>
              <a:t></a:t>
            </a:r>
            <a:r>
              <a:rPr sz="2600" spc="-310" dirty="0">
                <a:latin typeface="Times New Roman"/>
                <a:cs typeface="Times New Roman"/>
              </a:rPr>
              <a:t> </a:t>
            </a:r>
            <a:r>
              <a:rPr sz="2600" i="1" spc="110" dirty="0">
                <a:latin typeface="Times New Roman"/>
                <a:cs typeface="Times New Roman"/>
              </a:rPr>
              <a:t>C</a:t>
            </a:r>
            <a:r>
              <a:rPr sz="2600" spc="110" dirty="0">
                <a:latin typeface="Times New Roman"/>
                <a:cs typeface="Times New Roman"/>
              </a:rPr>
              <a:t>)</a:t>
            </a:r>
            <a:r>
              <a:rPr sz="2600" i="1" spc="110" dirty="0">
                <a:latin typeface="Times New Roman"/>
                <a:cs typeface="Times New Roman"/>
              </a:rPr>
              <a:t>U</a:t>
            </a:r>
            <a:r>
              <a:rPr sz="2600" i="1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Symbol"/>
                <a:cs typeface="Symbol"/>
              </a:rPr>
              <a:t></a:t>
            </a:r>
            <a:r>
              <a:rPr sz="2600" spc="-350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0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7840" y="3477259"/>
            <a:ext cx="6115050" cy="144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5" dirty="0">
                <a:latin typeface="Arial"/>
                <a:cs typeface="Arial"/>
              </a:rPr>
              <a:t>Selesaikan dengan menemukan nilai</a:t>
            </a:r>
            <a:r>
              <a:rPr sz="2400" spc="-31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U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700">
              <a:latin typeface="Arial"/>
              <a:cs typeface="Arial"/>
            </a:endParaRPr>
          </a:p>
          <a:p>
            <a:pPr marL="393700" indent="-343535">
              <a:lnSpc>
                <a:spcPct val="100000"/>
              </a:lnSpc>
              <a:spcBef>
                <a:spcPts val="1810"/>
              </a:spcBef>
              <a:buChar char="•"/>
              <a:tabLst>
                <a:tab pos="393700" algn="l"/>
                <a:tab pos="394335" algn="l"/>
                <a:tab pos="1583055" algn="l"/>
              </a:tabLst>
            </a:pPr>
            <a:r>
              <a:rPr sz="4200" spc="-7" baseline="-6944" dirty="0">
                <a:latin typeface="Arial"/>
                <a:cs typeface="Arial"/>
              </a:rPr>
              <a:t>Hasil</a:t>
            </a:r>
            <a:r>
              <a:rPr sz="4200" spc="37" baseline="-6944" dirty="0">
                <a:latin typeface="Arial"/>
                <a:cs typeface="Arial"/>
              </a:rPr>
              <a:t> </a:t>
            </a:r>
            <a:r>
              <a:rPr sz="4200" spc="-7" baseline="-6944" dirty="0">
                <a:latin typeface="Arial"/>
                <a:cs typeface="Arial"/>
              </a:rPr>
              <a:t>:	</a:t>
            </a:r>
            <a:r>
              <a:rPr sz="2700" i="1" spc="-45" dirty="0">
                <a:latin typeface="Times New Roman"/>
                <a:cs typeface="Times New Roman"/>
              </a:rPr>
              <a:t>u</a:t>
            </a:r>
            <a:r>
              <a:rPr sz="2325" spc="-67" baseline="-23297" dirty="0">
                <a:latin typeface="Times New Roman"/>
                <a:cs typeface="Times New Roman"/>
              </a:rPr>
              <a:t>1 </a:t>
            </a:r>
            <a:r>
              <a:rPr sz="2700" spc="95" dirty="0">
                <a:latin typeface="Times New Roman"/>
                <a:cs typeface="Times New Roman"/>
              </a:rPr>
              <a:t>,</a:t>
            </a:r>
            <a:r>
              <a:rPr sz="2700" i="1" spc="95" dirty="0">
                <a:latin typeface="Times New Roman"/>
                <a:cs typeface="Times New Roman"/>
              </a:rPr>
              <a:t>u</a:t>
            </a:r>
            <a:r>
              <a:rPr sz="2325" spc="142" baseline="-23297" dirty="0">
                <a:latin typeface="Times New Roman"/>
                <a:cs typeface="Times New Roman"/>
              </a:rPr>
              <a:t>2 </a:t>
            </a:r>
            <a:r>
              <a:rPr sz="2700" spc="80" dirty="0">
                <a:latin typeface="Times New Roman"/>
                <a:cs typeface="Times New Roman"/>
              </a:rPr>
              <a:t>,</a:t>
            </a:r>
            <a:r>
              <a:rPr sz="2700" i="1" spc="80" dirty="0">
                <a:latin typeface="Times New Roman"/>
                <a:cs typeface="Times New Roman"/>
              </a:rPr>
              <a:t>u</a:t>
            </a:r>
            <a:r>
              <a:rPr sz="2325" spc="120" baseline="-23297" dirty="0">
                <a:latin typeface="Times New Roman"/>
                <a:cs typeface="Times New Roman"/>
              </a:rPr>
              <a:t>3</a:t>
            </a:r>
            <a:r>
              <a:rPr sz="2325" spc="52" baseline="-23297" dirty="0">
                <a:latin typeface="Times New Roman"/>
                <a:cs typeface="Times New Roman"/>
              </a:rPr>
              <a:t> </a:t>
            </a:r>
            <a:r>
              <a:rPr sz="2700" spc="80" dirty="0">
                <a:latin typeface="Times New Roman"/>
                <a:cs typeface="Times New Roman"/>
              </a:rPr>
              <a:t>,...,</a:t>
            </a:r>
            <a:r>
              <a:rPr sz="2700" i="1" spc="80" dirty="0">
                <a:latin typeface="Times New Roman"/>
                <a:cs typeface="Times New Roman"/>
              </a:rPr>
              <a:t>u</a:t>
            </a:r>
            <a:r>
              <a:rPr sz="2325" i="1" spc="120" baseline="-23297" dirty="0">
                <a:latin typeface="Times New Roman"/>
                <a:cs typeface="Times New Roman"/>
              </a:rPr>
              <a:t>N</a:t>
            </a:r>
            <a:endParaRPr sz="2325" baseline="-23297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219149"/>
            <a:ext cx="7290054" cy="1499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2733"/>
            <a:ext cx="8070215" cy="1685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831215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latin typeface="Arial"/>
                <a:cs typeface="Arial"/>
              </a:rPr>
              <a:t>Langkah </a:t>
            </a:r>
            <a:r>
              <a:rPr sz="2800" spc="-5" dirty="0">
                <a:latin typeface="Arial"/>
                <a:cs typeface="Arial"/>
              </a:rPr>
              <a:t>6 : </a:t>
            </a:r>
            <a:r>
              <a:rPr sz="2800" dirty="0">
                <a:latin typeface="Arial"/>
                <a:cs typeface="Arial"/>
              </a:rPr>
              <a:t>Mengurangi dimensi sebesar </a:t>
            </a:r>
            <a:r>
              <a:rPr sz="2800" spc="-5" dirty="0">
                <a:latin typeface="Arial"/>
                <a:cs typeface="Arial"/>
              </a:rPr>
              <a:t>K  dimensi</a:t>
            </a:r>
            <a:endParaRPr sz="2800">
              <a:latin typeface="Arial"/>
              <a:cs typeface="Arial"/>
            </a:endParaRPr>
          </a:p>
          <a:p>
            <a:pPr marL="756285" marR="5080" indent="-28702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Arial"/>
                <a:cs typeface="Arial"/>
              </a:rPr>
              <a:t>– Pilihlah fitur </a:t>
            </a:r>
            <a:r>
              <a:rPr sz="2400" spc="-5" dirty="0">
                <a:latin typeface="Arial"/>
                <a:cs typeface="Arial"/>
              </a:rPr>
              <a:t>sebanyak </a:t>
            </a:r>
            <a:r>
              <a:rPr sz="2400" dirty="0">
                <a:latin typeface="Arial"/>
                <a:cs typeface="Arial"/>
              </a:rPr>
              <a:t>K berdasarkan nilai eigenvalue  </a:t>
            </a:r>
            <a:r>
              <a:rPr sz="2400" spc="-5" dirty="0">
                <a:latin typeface="Arial"/>
                <a:cs typeface="Arial"/>
              </a:rPr>
              <a:t>terbesar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00529" y="4782057"/>
            <a:ext cx="4859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"/>
                <a:cs typeface="Arial"/>
              </a:rPr>
              <a:t>merupakan hasil </a:t>
            </a:r>
            <a:r>
              <a:rPr sz="2400" dirty="0">
                <a:latin typeface="Arial"/>
                <a:cs typeface="Arial"/>
              </a:rPr>
              <a:t>transformasi </a:t>
            </a:r>
            <a:r>
              <a:rPr sz="2400" spc="-5" dirty="0">
                <a:latin typeface="Arial"/>
                <a:cs typeface="Arial"/>
              </a:rPr>
              <a:t>dari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x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8044" y="4726695"/>
            <a:ext cx="543560" cy="3968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79730" algn="l"/>
              </a:tabLst>
            </a:pPr>
            <a:r>
              <a:rPr sz="3600" baseline="-9259" dirty="0">
                <a:latin typeface="Arial"/>
                <a:cs typeface="Arial"/>
              </a:rPr>
              <a:t>–	</a:t>
            </a:r>
            <a:r>
              <a:rPr sz="3600" i="1" spc="-667" baseline="-2314" dirty="0">
                <a:latin typeface="Times New Roman"/>
                <a:cs typeface="Times New Roman"/>
              </a:rPr>
              <a:t>x</a:t>
            </a:r>
            <a:r>
              <a:rPr sz="2400" spc="-445" dirty="0">
                <a:latin typeface="Times New Roman"/>
                <a:cs typeface="Times New Roman"/>
              </a:rPr>
              <a:t>ˆ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448113" y="3719323"/>
            <a:ext cx="139700" cy="0"/>
          </a:xfrm>
          <a:custGeom>
            <a:avLst/>
            <a:gdLst/>
            <a:ahLst/>
            <a:cxnLst/>
            <a:rect l="l" t="t" r="r" b="b"/>
            <a:pathLst>
              <a:path w="139700">
                <a:moveTo>
                  <a:pt x="0" y="0"/>
                </a:moveTo>
                <a:lnTo>
                  <a:pt x="139095" y="0"/>
                </a:lnTo>
              </a:path>
            </a:pathLst>
          </a:custGeom>
          <a:ln w="1345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991741" y="3388826"/>
            <a:ext cx="15938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15" dirty="0">
                <a:latin typeface="Arial"/>
                <a:cs typeface="Arial"/>
              </a:rPr>
              <a:t>K</a:t>
            </a:r>
            <a:endParaRPr sz="15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83493" y="3626210"/>
            <a:ext cx="1740535" cy="36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i="1" spc="-55" dirty="0">
                <a:latin typeface="Arial"/>
                <a:cs typeface="Arial"/>
              </a:rPr>
              <a:t>where </a:t>
            </a:r>
            <a:r>
              <a:rPr sz="2200" i="1" spc="30" dirty="0">
                <a:latin typeface="Arial"/>
                <a:cs typeface="Arial"/>
              </a:rPr>
              <a:t>K </a:t>
            </a:r>
            <a:r>
              <a:rPr sz="2200" spc="35" dirty="0">
                <a:latin typeface="Symbol"/>
                <a:cs typeface="Symbol"/>
              </a:rPr>
              <a:t></a:t>
            </a:r>
            <a:r>
              <a:rPr sz="2200" spc="-245" dirty="0">
                <a:latin typeface="Times New Roman"/>
                <a:cs typeface="Times New Roman"/>
              </a:rPr>
              <a:t> </a:t>
            </a:r>
            <a:r>
              <a:rPr sz="2200" i="1" spc="35" dirty="0">
                <a:latin typeface="Arial"/>
                <a:cs typeface="Arial"/>
              </a:rPr>
              <a:t>N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63470" y="3324771"/>
            <a:ext cx="1795145" cy="97726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2200" i="1" spc="-780" dirty="0">
                <a:latin typeface="Arial"/>
                <a:cs typeface="Arial"/>
              </a:rPr>
              <a:t>x</a:t>
            </a:r>
            <a:r>
              <a:rPr sz="3300" spc="22" baseline="6313" dirty="0">
                <a:latin typeface="Arial"/>
                <a:cs typeface="Arial"/>
              </a:rPr>
              <a:t>ˆ</a:t>
            </a:r>
            <a:r>
              <a:rPr sz="3300" spc="-37" baseline="6313" dirty="0">
                <a:latin typeface="Arial"/>
                <a:cs typeface="Arial"/>
              </a:rPr>
              <a:t> </a:t>
            </a:r>
            <a:r>
              <a:rPr sz="2200" spc="25" dirty="0">
                <a:latin typeface="Symbol"/>
                <a:cs typeface="Symbol"/>
              </a:rPr>
              <a:t>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i="1" spc="20" dirty="0">
                <a:latin typeface="Arial"/>
                <a:cs typeface="Arial"/>
              </a:rPr>
              <a:t>x</a:t>
            </a:r>
            <a:r>
              <a:rPr sz="2200" i="1" spc="180" dirty="0">
                <a:latin typeface="Arial"/>
                <a:cs typeface="Arial"/>
              </a:rPr>
              <a:t> </a:t>
            </a:r>
            <a:r>
              <a:rPr sz="2200" spc="25" dirty="0">
                <a:latin typeface="Symbol"/>
                <a:cs typeface="Symbol"/>
              </a:rPr>
              <a:t>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6000" spc="277" baseline="-9722" dirty="0">
                <a:latin typeface="Symbol"/>
                <a:cs typeface="Symbol"/>
              </a:rPr>
              <a:t></a:t>
            </a:r>
            <a:r>
              <a:rPr sz="2200" i="1" spc="-40" dirty="0">
                <a:latin typeface="Arial"/>
                <a:cs typeface="Arial"/>
              </a:rPr>
              <a:t>b</a:t>
            </a:r>
            <a:r>
              <a:rPr sz="2325" i="1" spc="292" baseline="-19713" dirty="0">
                <a:latin typeface="Arial"/>
                <a:cs typeface="Arial"/>
              </a:rPr>
              <a:t>i</a:t>
            </a:r>
            <a:r>
              <a:rPr sz="2200" i="1" spc="70" dirty="0">
                <a:latin typeface="Arial"/>
                <a:cs typeface="Arial"/>
              </a:rPr>
              <a:t>u</a:t>
            </a:r>
            <a:r>
              <a:rPr sz="2325" i="1" spc="7" baseline="-19713" dirty="0">
                <a:latin typeface="Arial"/>
                <a:cs typeface="Arial"/>
              </a:rPr>
              <a:t>i</a:t>
            </a:r>
            <a:endParaRPr sz="2325" baseline="-19713">
              <a:latin typeface="Arial"/>
              <a:cs typeface="Arial"/>
            </a:endParaRPr>
          </a:p>
          <a:p>
            <a:pPr marL="990600">
              <a:lnSpc>
                <a:spcPct val="100000"/>
              </a:lnSpc>
              <a:spcBef>
                <a:spcPts val="240"/>
              </a:spcBef>
            </a:pPr>
            <a:r>
              <a:rPr sz="1550" i="1" spc="5" dirty="0">
                <a:latin typeface="Arial"/>
                <a:cs typeface="Arial"/>
              </a:rPr>
              <a:t>i</a:t>
            </a:r>
            <a:r>
              <a:rPr sz="1550" i="1" spc="-220" dirty="0">
                <a:latin typeface="Arial"/>
                <a:cs typeface="Arial"/>
              </a:rPr>
              <a:t> </a:t>
            </a:r>
            <a:r>
              <a:rPr sz="1550" spc="-25" dirty="0">
                <a:latin typeface="Symbol"/>
                <a:cs typeface="Symbol"/>
              </a:rPr>
              <a:t></a:t>
            </a:r>
            <a:r>
              <a:rPr sz="1550" spc="-25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4759" y="1670115"/>
            <a:ext cx="7891145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80073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Arial"/>
                <a:cs typeface="Arial"/>
              </a:rPr>
              <a:t>PCA memproyeksikan data sepanjang suatu arah  dimana data tersebut memiliki varians yang</a:t>
            </a:r>
            <a:r>
              <a:rPr sz="2400" spc="1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tinggi</a:t>
            </a:r>
            <a:endParaRPr sz="2400" dirty="0">
              <a:latin typeface="Arial"/>
              <a:cs typeface="Arial"/>
            </a:endParaRPr>
          </a:p>
          <a:p>
            <a:pPr marL="299085" marR="125730" indent="-287020">
              <a:lnSpc>
                <a:spcPct val="100000"/>
              </a:lnSpc>
              <a:spcBef>
                <a:spcPts val="575"/>
              </a:spcBef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Arial"/>
                <a:cs typeface="Arial"/>
              </a:rPr>
              <a:t>Arah tersebut ditentukan oleh eigenvectors dari matriks  covariance yang memiliki nilai eigenvalues</a:t>
            </a:r>
            <a:r>
              <a:rPr sz="2400" spc="185" dirty="0">
                <a:latin typeface="Arial"/>
                <a:cs typeface="Arial"/>
              </a:rPr>
              <a:t> </a:t>
            </a:r>
            <a:r>
              <a:rPr sz="2400" b="1" spc="-5" dirty="0">
                <a:latin typeface="Arial"/>
                <a:cs typeface="Arial"/>
              </a:rPr>
              <a:t>terbesar</a:t>
            </a:r>
            <a:r>
              <a:rPr sz="2400" spc="-5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299085" marR="5080" indent="-287020">
              <a:lnSpc>
                <a:spcPct val="100000"/>
              </a:lnSpc>
              <a:spcBef>
                <a:spcPts val="580"/>
              </a:spcBef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Arial"/>
                <a:cs typeface="Arial"/>
              </a:rPr>
              <a:t>Nilai besaran dari eigenvalues merupakan nilai </a:t>
            </a:r>
            <a:r>
              <a:rPr sz="2400" b="1" spc="-5" dirty="0">
                <a:latin typeface="Arial"/>
                <a:cs typeface="Arial"/>
              </a:rPr>
              <a:t>varians  </a:t>
            </a:r>
            <a:r>
              <a:rPr sz="2400" spc="-5" dirty="0">
                <a:latin typeface="Arial"/>
                <a:cs typeface="Arial"/>
              </a:rPr>
              <a:t>data sepanjang arah dari eigenvector (garis lurus merah  dan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biru)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33800" y="4025266"/>
            <a:ext cx="3105150" cy="2889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233" y="226318"/>
            <a:ext cx="7290054" cy="14996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2626" y="2629347"/>
            <a:ext cx="17081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20" dirty="0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93991" y="1740814"/>
            <a:ext cx="159385" cy="2641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i="1" spc="15" dirty="0">
                <a:latin typeface="Arial"/>
                <a:cs typeface="Arial"/>
              </a:rPr>
              <a:t>K</a:t>
            </a:r>
            <a:endParaRPr sz="15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9173" y="2420401"/>
            <a:ext cx="470217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711835" algn="l"/>
                <a:tab pos="2445385" algn="l"/>
              </a:tabLst>
            </a:pPr>
            <a:r>
              <a:rPr sz="2325" i="1" u="heavy" spc="165" baseline="304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25" i="1" u="heavy" spc="7" baseline="304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</a:t>
            </a:r>
            <a:r>
              <a:rPr sz="2325" i="1" u="heavy" spc="-322" baseline="304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2325" u="heavy" spc="-44" baseline="3046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</a:t>
            </a:r>
            <a:r>
              <a:rPr sz="2325" u="heavy" spc="-44" baseline="304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	</a:t>
            </a:r>
            <a:r>
              <a:rPr sz="2200" spc="30" dirty="0">
                <a:latin typeface="Symbol"/>
                <a:cs typeface="Symbol"/>
              </a:rPr>
              <a:t></a:t>
            </a:r>
            <a:r>
              <a:rPr sz="2200" spc="-195" dirty="0">
                <a:latin typeface="Times New Roman"/>
                <a:cs typeface="Times New Roman"/>
              </a:rPr>
              <a:t> </a:t>
            </a:r>
            <a:r>
              <a:rPr sz="2200" i="1" spc="30" dirty="0">
                <a:latin typeface="Arial"/>
                <a:cs typeface="Arial"/>
              </a:rPr>
              <a:t>Threshold	</a:t>
            </a:r>
            <a:r>
              <a:rPr sz="2200" spc="-35" dirty="0">
                <a:latin typeface="Arial"/>
                <a:cs typeface="Arial"/>
              </a:rPr>
              <a:t>(</a:t>
            </a:r>
            <a:r>
              <a:rPr sz="2200" i="1" spc="-35" dirty="0">
                <a:latin typeface="Arial"/>
                <a:cs typeface="Arial"/>
              </a:rPr>
              <a:t>e</a:t>
            </a:r>
            <a:r>
              <a:rPr sz="2200" spc="-35" dirty="0">
                <a:latin typeface="Arial"/>
                <a:cs typeface="Arial"/>
              </a:rPr>
              <a:t>.</a:t>
            </a:r>
            <a:r>
              <a:rPr sz="2200" i="1" spc="-35" dirty="0">
                <a:latin typeface="Arial"/>
                <a:cs typeface="Arial"/>
              </a:rPr>
              <a:t>g</a:t>
            </a:r>
            <a:r>
              <a:rPr sz="2200" spc="-35" dirty="0">
                <a:latin typeface="Arial"/>
                <a:cs typeface="Arial"/>
              </a:rPr>
              <a:t>., </a:t>
            </a:r>
            <a:r>
              <a:rPr sz="2200" spc="10" dirty="0">
                <a:latin typeface="Arial"/>
                <a:cs typeface="Arial"/>
              </a:rPr>
              <a:t>0.9 </a:t>
            </a:r>
            <a:r>
              <a:rPr sz="2200" i="1" spc="25" dirty="0">
                <a:latin typeface="Arial"/>
                <a:cs typeface="Arial"/>
              </a:rPr>
              <a:t>or</a:t>
            </a:r>
            <a:r>
              <a:rPr sz="2200" i="1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0.95)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0540" y="2561905"/>
            <a:ext cx="8047990" cy="285559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596390">
              <a:lnSpc>
                <a:spcPct val="100000"/>
              </a:lnSpc>
              <a:spcBef>
                <a:spcPts val="740"/>
              </a:spcBef>
            </a:pPr>
            <a:r>
              <a:rPr sz="6000" spc="284" baseline="-9722" dirty="0">
                <a:latin typeface="Symbol"/>
                <a:cs typeface="Symbol"/>
              </a:rPr>
              <a:t></a:t>
            </a:r>
            <a:r>
              <a:rPr sz="2350" i="1" spc="-80" dirty="0">
                <a:latin typeface="Symbol"/>
                <a:cs typeface="Symbol"/>
              </a:rPr>
              <a:t></a:t>
            </a:r>
            <a:r>
              <a:rPr sz="2325" i="1" spc="7" baseline="-19713" dirty="0">
                <a:latin typeface="Arial"/>
                <a:cs typeface="Arial"/>
              </a:rPr>
              <a:t>i</a:t>
            </a:r>
            <a:endParaRPr sz="2325" baseline="-19713">
              <a:latin typeface="Arial"/>
              <a:cs typeface="Arial"/>
            </a:endParaRPr>
          </a:p>
          <a:p>
            <a:pPr marL="1645920">
              <a:lnSpc>
                <a:spcPts val="1730"/>
              </a:lnSpc>
              <a:spcBef>
                <a:spcPts val="259"/>
              </a:spcBef>
            </a:pPr>
            <a:r>
              <a:rPr sz="1550" i="1" spc="5" dirty="0">
                <a:latin typeface="Arial"/>
                <a:cs typeface="Arial"/>
              </a:rPr>
              <a:t>i</a:t>
            </a:r>
            <a:r>
              <a:rPr sz="1550" i="1" spc="-220" dirty="0">
                <a:latin typeface="Arial"/>
                <a:cs typeface="Arial"/>
              </a:rPr>
              <a:t> </a:t>
            </a:r>
            <a:r>
              <a:rPr sz="1550" spc="-30" dirty="0">
                <a:latin typeface="Symbol"/>
                <a:cs typeface="Symbol"/>
              </a:rPr>
              <a:t></a:t>
            </a:r>
            <a:r>
              <a:rPr sz="1550" spc="-3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 marL="324485" indent="-287020">
              <a:lnSpc>
                <a:spcPts val="2750"/>
              </a:lnSpc>
              <a:buChar char="•"/>
              <a:tabLst>
                <a:tab pos="324485" algn="l"/>
                <a:tab pos="325120" algn="l"/>
              </a:tabLst>
            </a:pPr>
            <a:r>
              <a:rPr sz="2400" spc="-5" dirty="0">
                <a:latin typeface="Arial"/>
                <a:cs typeface="Arial"/>
              </a:rPr>
              <a:t>Pada contoh kasus diatas, dapat dikatakan bahwa</a:t>
            </a:r>
            <a:r>
              <a:rPr sz="2400" spc="11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kita</a:t>
            </a:r>
            <a:endParaRPr sz="2400">
              <a:latin typeface="Arial"/>
              <a:cs typeface="Arial"/>
            </a:endParaRPr>
          </a:p>
          <a:p>
            <a:pPr marL="324485" marR="290195">
              <a:lnSpc>
                <a:spcPct val="100000"/>
              </a:lnSpc>
            </a:pPr>
            <a:r>
              <a:rPr sz="2400" spc="-5" dirty="0">
                <a:latin typeface="Arial"/>
                <a:cs typeface="Arial"/>
              </a:rPr>
              <a:t>“menyediakan” 90% atau 95% informasi dari data </a:t>
            </a:r>
            <a:r>
              <a:rPr sz="2400" dirty="0">
                <a:latin typeface="Arial"/>
                <a:cs typeface="Arial"/>
              </a:rPr>
              <a:t>yang  </a:t>
            </a:r>
            <a:r>
              <a:rPr sz="2400" spc="-5" dirty="0">
                <a:latin typeface="Arial"/>
                <a:cs typeface="Arial"/>
              </a:rPr>
              <a:t>tersedia</a:t>
            </a:r>
            <a:endParaRPr sz="2400">
              <a:latin typeface="Arial"/>
              <a:cs typeface="Arial"/>
            </a:endParaRPr>
          </a:p>
          <a:p>
            <a:pPr marL="324485" marR="30480" indent="-287020">
              <a:lnSpc>
                <a:spcPct val="100000"/>
              </a:lnSpc>
              <a:spcBef>
                <a:spcPts val="575"/>
              </a:spcBef>
              <a:buChar char="•"/>
              <a:tabLst>
                <a:tab pos="324485" algn="l"/>
                <a:tab pos="325120" algn="l"/>
              </a:tabLst>
            </a:pPr>
            <a:r>
              <a:rPr sz="2400" dirty="0">
                <a:latin typeface="Arial"/>
                <a:cs typeface="Arial"/>
              </a:rPr>
              <a:t>Jika K=N, maka kita </a:t>
            </a:r>
            <a:r>
              <a:rPr sz="2400" spc="-5" dirty="0">
                <a:latin typeface="Arial"/>
                <a:cs typeface="Arial"/>
              </a:rPr>
              <a:t>“menyediakan” 100% dari data </a:t>
            </a:r>
            <a:r>
              <a:rPr sz="2400" dirty="0">
                <a:latin typeface="Arial"/>
                <a:cs typeface="Arial"/>
              </a:rPr>
              <a:t>yang  </a:t>
            </a:r>
            <a:r>
              <a:rPr sz="2400" spc="-5" dirty="0">
                <a:latin typeface="Arial"/>
                <a:cs typeface="Arial"/>
              </a:rPr>
              <a:t>tersedia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3240" y="1239593"/>
            <a:ext cx="6783070" cy="1149985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11785" indent="-287020">
              <a:lnSpc>
                <a:spcPct val="100000"/>
              </a:lnSpc>
              <a:spcBef>
                <a:spcPts val="530"/>
              </a:spcBef>
              <a:buChar char="•"/>
              <a:tabLst>
                <a:tab pos="311785" algn="l"/>
                <a:tab pos="312420" algn="l"/>
              </a:tabLst>
            </a:pPr>
            <a:r>
              <a:rPr sz="2400" spc="-5" dirty="0">
                <a:latin typeface="Arial"/>
                <a:cs typeface="Arial"/>
              </a:rPr>
              <a:t>Pemilihan nilai </a:t>
            </a:r>
            <a:r>
              <a:rPr sz="2400" i="1" dirty="0">
                <a:latin typeface="Arial"/>
                <a:cs typeface="Arial"/>
              </a:rPr>
              <a:t>K </a:t>
            </a:r>
            <a:r>
              <a:rPr sz="2400" spc="-5" dirty="0">
                <a:latin typeface="Arial"/>
                <a:cs typeface="Arial"/>
              </a:rPr>
              <a:t>menggunakan kriteria berikut</a:t>
            </a:r>
            <a:r>
              <a:rPr sz="2400" spc="1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1583690">
              <a:lnSpc>
                <a:spcPct val="100000"/>
              </a:lnSpc>
              <a:spcBef>
                <a:spcPts val="740"/>
              </a:spcBef>
            </a:pPr>
            <a:r>
              <a:rPr sz="6000" spc="284" baseline="-9722" dirty="0">
                <a:latin typeface="Symbol"/>
                <a:cs typeface="Symbol"/>
              </a:rPr>
              <a:t></a:t>
            </a:r>
            <a:r>
              <a:rPr sz="2350" i="1" spc="-80" dirty="0">
                <a:latin typeface="Symbol"/>
                <a:cs typeface="Symbol"/>
              </a:rPr>
              <a:t></a:t>
            </a:r>
            <a:r>
              <a:rPr sz="2325" i="1" spc="7" baseline="-19713" dirty="0">
                <a:latin typeface="Arial"/>
                <a:cs typeface="Arial"/>
              </a:rPr>
              <a:t>i</a:t>
            </a:r>
            <a:endParaRPr sz="2325" baseline="-19713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Feature Selection Using</a:t>
            </a:r>
            <a:r>
              <a:rPr spc="-60" dirty="0"/>
              <a:t> </a:t>
            </a:r>
            <a:r>
              <a:rPr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741425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Arial"/>
                <a:cs typeface="Arial"/>
              </a:rPr>
              <a:t>Vektor asal </a:t>
            </a:r>
            <a:r>
              <a:rPr sz="2400" i="1" dirty="0">
                <a:latin typeface="Arial"/>
                <a:cs typeface="Arial"/>
              </a:rPr>
              <a:t>x </a:t>
            </a:r>
            <a:r>
              <a:rPr sz="2400" spc="-5" dirty="0">
                <a:latin typeface="Arial"/>
                <a:cs typeface="Arial"/>
              </a:rPr>
              <a:t>dapat dibangun kembali menggunakan  komponen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prinsipal-nya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47252" y="2554098"/>
            <a:ext cx="3608704" cy="0"/>
          </a:xfrm>
          <a:custGeom>
            <a:avLst/>
            <a:gdLst/>
            <a:ahLst/>
            <a:cxnLst/>
            <a:rect l="l" t="t" r="r" b="b"/>
            <a:pathLst>
              <a:path w="3608704">
                <a:moveTo>
                  <a:pt x="0" y="0"/>
                </a:moveTo>
                <a:lnTo>
                  <a:pt x="138400" y="0"/>
                </a:lnTo>
              </a:path>
              <a:path w="3608704">
                <a:moveTo>
                  <a:pt x="3470118" y="0"/>
                </a:moveTo>
                <a:lnTo>
                  <a:pt x="3608435" y="0"/>
                </a:lnTo>
              </a:path>
            </a:pathLst>
          </a:custGeom>
          <a:ln w="1354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490853" y="2223601"/>
            <a:ext cx="200660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859914" algn="l"/>
              </a:tabLst>
            </a:pPr>
            <a:r>
              <a:rPr sz="1550" i="1" spc="15" dirty="0">
                <a:latin typeface="Arial"/>
                <a:cs typeface="Arial"/>
              </a:rPr>
              <a:t>K	K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9242" y="2234997"/>
            <a:ext cx="41465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954530" algn="l"/>
                <a:tab pos="2340610" algn="l"/>
              </a:tabLst>
            </a:pPr>
            <a:r>
              <a:rPr sz="2200" i="1" spc="-780" dirty="0">
                <a:latin typeface="Arial"/>
                <a:cs typeface="Arial"/>
              </a:rPr>
              <a:t>x</a:t>
            </a:r>
            <a:r>
              <a:rPr sz="3300" spc="22" baseline="6313" dirty="0">
                <a:latin typeface="Arial"/>
                <a:cs typeface="Arial"/>
              </a:rPr>
              <a:t>ˆ</a:t>
            </a:r>
            <a:r>
              <a:rPr sz="3300" spc="-37" baseline="6313" dirty="0">
                <a:latin typeface="Arial"/>
                <a:cs typeface="Arial"/>
              </a:rPr>
              <a:t> </a:t>
            </a:r>
            <a:r>
              <a:rPr sz="2200" spc="25" dirty="0">
                <a:latin typeface="Symbol"/>
                <a:cs typeface="Symbol"/>
              </a:rPr>
              <a:t>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i="1" spc="20" dirty="0">
                <a:latin typeface="Arial"/>
                <a:cs typeface="Arial"/>
              </a:rPr>
              <a:t>x</a:t>
            </a:r>
            <a:r>
              <a:rPr sz="2200" i="1" spc="180" dirty="0">
                <a:latin typeface="Arial"/>
                <a:cs typeface="Arial"/>
              </a:rPr>
              <a:t> </a:t>
            </a:r>
            <a:r>
              <a:rPr sz="2200" spc="25" dirty="0">
                <a:latin typeface="Symbol"/>
                <a:cs typeface="Symbol"/>
              </a:rPr>
              <a:t>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6000" spc="277" baseline="-9722" dirty="0">
                <a:latin typeface="Symbol"/>
                <a:cs typeface="Symbol"/>
              </a:rPr>
              <a:t></a:t>
            </a:r>
            <a:r>
              <a:rPr sz="2200" i="1" spc="-40" dirty="0">
                <a:latin typeface="Arial"/>
                <a:cs typeface="Arial"/>
              </a:rPr>
              <a:t>b</a:t>
            </a:r>
            <a:r>
              <a:rPr sz="2325" i="1" spc="292" baseline="-19713" dirty="0">
                <a:latin typeface="Arial"/>
                <a:cs typeface="Arial"/>
              </a:rPr>
              <a:t>i</a:t>
            </a:r>
            <a:r>
              <a:rPr sz="2200" i="1" spc="75" dirty="0">
                <a:latin typeface="Arial"/>
                <a:cs typeface="Arial"/>
              </a:rPr>
              <a:t>u</a:t>
            </a:r>
            <a:r>
              <a:rPr sz="2325" i="1" spc="7" baseline="-19713" dirty="0">
                <a:latin typeface="Arial"/>
                <a:cs typeface="Arial"/>
              </a:rPr>
              <a:t>i</a:t>
            </a:r>
            <a:r>
              <a:rPr sz="2325" i="1" baseline="-19713" dirty="0">
                <a:latin typeface="Arial"/>
                <a:cs typeface="Arial"/>
              </a:rPr>
              <a:t>	</a:t>
            </a:r>
            <a:r>
              <a:rPr sz="2200" i="1" spc="35" dirty="0">
                <a:latin typeface="Arial"/>
                <a:cs typeface="Arial"/>
              </a:rPr>
              <a:t>o</a:t>
            </a:r>
            <a:r>
              <a:rPr sz="2200" i="1" spc="15" dirty="0">
                <a:latin typeface="Arial"/>
                <a:cs typeface="Arial"/>
              </a:rPr>
              <a:t>r</a:t>
            </a:r>
            <a:r>
              <a:rPr sz="2200" i="1" dirty="0">
                <a:latin typeface="Arial"/>
                <a:cs typeface="Arial"/>
              </a:rPr>
              <a:t>	</a:t>
            </a:r>
            <a:r>
              <a:rPr sz="2200" i="1" spc="-780" dirty="0">
                <a:latin typeface="Arial"/>
                <a:cs typeface="Arial"/>
              </a:rPr>
              <a:t>x</a:t>
            </a:r>
            <a:r>
              <a:rPr sz="3300" spc="22" baseline="6313" dirty="0">
                <a:latin typeface="Arial"/>
                <a:cs typeface="Arial"/>
              </a:rPr>
              <a:t>ˆ</a:t>
            </a:r>
            <a:r>
              <a:rPr sz="3300" spc="209" baseline="6313" dirty="0">
                <a:latin typeface="Arial"/>
                <a:cs typeface="Arial"/>
              </a:rPr>
              <a:t> </a:t>
            </a:r>
            <a:r>
              <a:rPr sz="2200" spc="25" dirty="0">
                <a:latin typeface="Symbol"/>
                <a:cs typeface="Symbol"/>
              </a:rPr>
              <a:t>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6000" spc="277" baseline="-9722" dirty="0">
                <a:latin typeface="Symbol"/>
                <a:cs typeface="Symbol"/>
              </a:rPr>
              <a:t></a:t>
            </a:r>
            <a:r>
              <a:rPr sz="2200" i="1" spc="-45" dirty="0">
                <a:latin typeface="Arial"/>
                <a:cs typeface="Arial"/>
              </a:rPr>
              <a:t>b</a:t>
            </a:r>
            <a:r>
              <a:rPr sz="2325" i="1" spc="284" baseline="-19713" dirty="0">
                <a:latin typeface="Arial"/>
                <a:cs typeface="Arial"/>
              </a:rPr>
              <a:t>i</a:t>
            </a:r>
            <a:r>
              <a:rPr sz="2200" i="1" spc="75" dirty="0">
                <a:latin typeface="Arial"/>
                <a:cs typeface="Arial"/>
              </a:rPr>
              <a:t>u</a:t>
            </a:r>
            <a:r>
              <a:rPr sz="2325" i="1" spc="7" baseline="-19713" dirty="0">
                <a:latin typeface="Arial"/>
                <a:cs typeface="Arial"/>
              </a:rPr>
              <a:t>i</a:t>
            </a:r>
            <a:r>
              <a:rPr sz="2325" i="1" baseline="-19713" dirty="0">
                <a:latin typeface="Arial"/>
                <a:cs typeface="Arial"/>
              </a:rPr>
              <a:t> </a:t>
            </a:r>
            <a:r>
              <a:rPr sz="2325" i="1" spc="7" baseline="-19713" dirty="0">
                <a:latin typeface="Arial"/>
                <a:cs typeface="Arial"/>
              </a:rPr>
              <a:t> </a:t>
            </a:r>
            <a:r>
              <a:rPr sz="2200" spc="25" dirty="0">
                <a:latin typeface="Symbol"/>
                <a:cs typeface="Symbol"/>
              </a:rPr>
              <a:t>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i="1" spc="20" dirty="0">
                <a:latin typeface="Arial"/>
                <a:cs typeface="Arial"/>
              </a:rPr>
              <a:t>x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61379" y="4120980"/>
            <a:ext cx="734060" cy="368300"/>
          </a:xfrm>
          <a:custGeom>
            <a:avLst/>
            <a:gdLst/>
            <a:ahLst/>
            <a:cxnLst/>
            <a:rect l="l" t="t" r="r" b="b"/>
            <a:pathLst>
              <a:path w="734060" h="368300">
                <a:moveTo>
                  <a:pt x="90773" y="52007"/>
                </a:moveTo>
                <a:lnTo>
                  <a:pt x="229978" y="52007"/>
                </a:lnTo>
              </a:path>
              <a:path w="734060" h="368300">
                <a:moveTo>
                  <a:pt x="41690" y="0"/>
                </a:moveTo>
                <a:lnTo>
                  <a:pt x="41690" y="367896"/>
                </a:lnTo>
              </a:path>
              <a:path w="734060" h="368300">
                <a:moveTo>
                  <a:pt x="0" y="0"/>
                </a:moveTo>
                <a:lnTo>
                  <a:pt x="0" y="367896"/>
                </a:lnTo>
              </a:path>
              <a:path w="734060" h="368300">
                <a:moveTo>
                  <a:pt x="733609" y="0"/>
                </a:moveTo>
                <a:lnTo>
                  <a:pt x="733609" y="367896"/>
                </a:lnTo>
              </a:path>
              <a:path w="734060" h="368300">
                <a:moveTo>
                  <a:pt x="691918" y="0"/>
                </a:moveTo>
                <a:lnTo>
                  <a:pt x="691918" y="367896"/>
                </a:lnTo>
              </a:path>
            </a:pathLst>
          </a:custGeom>
          <a:ln w="1405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5940" y="2873755"/>
            <a:ext cx="7467600" cy="2177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16555">
              <a:lnSpc>
                <a:spcPct val="100000"/>
              </a:lnSpc>
              <a:spcBef>
                <a:spcPts val="105"/>
              </a:spcBef>
              <a:tabLst>
                <a:tab pos="4764405" algn="l"/>
              </a:tabLst>
            </a:pPr>
            <a:r>
              <a:rPr sz="1550" i="1" spc="5" dirty="0">
                <a:latin typeface="Arial"/>
                <a:cs typeface="Arial"/>
              </a:rPr>
              <a:t>i</a:t>
            </a:r>
            <a:r>
              <a:rPr sz="1550" i="1" spc="-210" dirty="0">
                <a:latin typeface="Arial"/>
                <a:cs typeface="Arial"/>
              </a:rPr>
              <a:t> </a:t>
            </a:r>
            <a:r>
              <a:rPr sz="1550" spc="-30" dirty="0">
                <a:latin typeface="Symbol"/>
                <a:cs typeface="Symbol"/>
              </a:rPr>
              <a:t></a:t>
            </a:r>
            <a:r>
              <a:rPr sz="1550" spc="-30" dirty="0">
                <a:latin typeface="Arial"/>
                <a:cs typeface="Arial"/>
              </a:rPr>
              <a:t>1	</a:t>
            </a:r>
            <a:r>
              <a:rPr sz="1550" i="1" spc="5" dirty="0">
                <a:latin typeface="Arial"/>
                <a:cs typeface="Arial"/>
              </a:rPr>
              <a:t>i</a:t>
            </a:r>
            <a:r>
              <a:rPr sz="1550" i="1" spc="-210" dirty="0">
                <a:latin typeface="Arial"/>
                <a:cs typeface="Arial"/>
              </a:rPr>
              <a:t> </a:t>
            </a:r>
            <a:r>
              <a:rPr sz="1550" spc="-30" dirty="0">
                <a:latin typeface="Symbol"/>
                <a:cs typeface="Symbol"/>
              </a:rPr>
              <a:t></a:t>
            </a:r>
            <a:r>
              <a:rPr sz="1550" spc="-3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50">
              <a:latin typeface="Arial"/>
              <a:cs typeface="Arial"/>
            </a:endParaRPr>
          </a:p>
          <a:p>
            <a:pPr marL="299085" marR="21272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Arial"/>
                <a:cs typeface="Arial"/>
              </a:rPr>
              <a:t>PCA meminimalkan error dari </a:t>
            </a:r>
            <a:r>
              <a:rPr sz="2400" dirty="0">
                <a:latin typeface="Arial"/>
                <a:cs typeface="Arial"/>
              </a:rPr>
              <a:t>rekonstruksi </a:t>
            </a:r>
            <a:r>
              <a:rPr sz="2400" spc="-5" dirty="0">
                <a:latin typeface="Arial"/>
                <a:cs typeface="Arial"/>
              </a:rPr>
              <a:t>prinsipal  </a:t>
            </a:r>
            <a:r>
              <a:rPr sz="2400" dirty="0">
                <a:latin typeface="Arial"/>
                <a:cs typeface="Arial"/>
              </a:rPr>
              <a:t>tersebut:</a:t>
            </a:r>
            <a:endParaRPr sz="2400">
              <a:latin typeface="Arial"/>
              <a:cs typeface="Arial"/>
            </a:endParaRPr>
          </a:p>
          <a:p>
            <a:pPr marL="1943100">
              <a:lnSpc>
                <a:spcPts val="2115"/>
              </a:lnSpc>
              <a:tabLst>
                <a:tab pos="2500630" algn="l"/>
              </a:tabLst>
            </a:pPr>
            <a:r>
              <a:rPr sz="2200" i="1" spc="15" dirty="0">
                <a:latin typeface="Arial"/>
                <a:cs typeface="Arial"/>
              </a:rPr>
              <a:t>e</a:t>
            </a:r>
            <a:r>
              <a:rPr sz="2200" i="1" spc="20" dirty="0">
                <a:latin typeface="Arial"/>
                <a:cs typeface="Arial"/>
              </a:rPr>
              <a:t> </a:t>
            </a:r>
            <a:r>
              <a:rPr sz="2200" spc="15" dirty="0">
                <a:latin typeface="Symbol"/>
                <a:cs typeface="Symbol"/>
              </a:rPr>
              <a:t></a:t>
            </a:r>
            <a:r>
              <a:rPr sz="2200" spc="15" dirty="0">
                <a:latin typeface="Times New Roman"/>
                <a:cs typeface="Times New Roman"/>
              </a:rPr>
              <a:t>	</a:t>
            </a:r>
            <a:r>
              <a:rPr sz="2200" i="1" spc="10" dirty="0">
                <a:latin typeface="Arial"/>
                <a:cs typeface="Arial"/>
              </a:rPr>
              <a:t>x </a:t>
            </a:r>
            <a:r>
              <a:rPr sz="2200" spc="15" dirty="0">
                <a:latin typeface="Symbol"/>
                <a:cs typeface="Symbol"/>
              </a:rPr>
              <a:t>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i="1" spc="-385" dirty="0">
                <a:latin typeface="Arial"/>
                <a:cs typeface="Arial"/>
              </a:rPr>
              <a:t>x</a:t>
            </a:r>
            <a:r>
              <a:rPr sz="3300" spc="-577" baseline="5050" dirty="0">
                <a:latin typeface="Arial"/>
                <a:cs typeface="Arial"/>
              </a:rPr>
              <a:t>ˆ</a:t>
            </a:r>
            <a:endParaRPr sz="3300" baseline="505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1920"/>
              </a:spcBef>
              <a:buChar char="•"/>
              <a:tabLst>
                <a:tab pos="299085" algn="l"/>
                <a:tab pos="299720" algn="l"/>
              </a:tabLst>
            </a:pPr>
            <a:r>
              <a:rPr sz="2400" spc="-5" dirty="0">
                <a:latin typeface="Arial"/>
                <a:cs typeface="Arial"/>
              </a:rPr>
              <a:t>Hal itu dapat ditunjukkan bahwa error sama dengan</a:t>
            </a:r>
            <a:r>
              <a:rPr sz="2400" spc="13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932984" y="5722681"/>
            <a:ext cx="184150" cy="0"/>
          </a:xfrm>
          <a:custGeom>
            <a:avLst/>
            <a:gdLst/>
            <a:ahLst/>
            <a:cxnLst/>
            <a:rect l="l" t="t" r="r" b="b"/>
            <a:pathLst>
              <a:path w="184150">
                <a:moveTo>
                  <a:pt x="0" y="0"/>
                </a:moveTo>
                <a:lnTo>
                  <a:pt x="183814" y="0"/>
                </a:lnTo>
              </a:path>
            </a:pathLst>
          </a:custGeom>
          <a:ln w="1342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237556" y="5362184"/>
            <a:ext cx="392430" cy="634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000" spc="30" dirty="0">
                <a:latin typeface="Symbol"/>
                <a:cs typeface="Symbol"/>
              </a:rPr>
              <a:t></a:t>
            </a:r>
            <a:endParaRPr sz="40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4911" y="5260404"/>
            <a:ext cx="17018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15" dirty="0">
                <a:latin typeface="Arial"/>
                <a:cs typeface="Arial"/>
              </a:rPr>
              <a:t>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774717" y="5650105"/>
            <a:ext cx="69850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5" dirty="0">
                <a:latin typeface="Arial"/>
                <a:cs typeface="Arial"/>
              </a:rPr>
              <a:t>i</a:t>
            </a:r>
            <a:endParaRPr sz="15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0512" y="5496716"/>
            <a:ext cx="417830" cy="3638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200" i="1" spc="25" dirty="0">
                <a:latin typeface="Arial"/>
                <a:cs typeface="Arial"/>
              </a:rPr>
              <a:t>e</a:t>
            </a:r>
            <a:r>
              <a:rPr sz="2200" i="1" spc="-95" dirty="0">
                <a:latin typeface="Arial"/>
                <a:cs typeface="Arial"/>
              </a:rPr>
              <a:t> </a:t>
            </a:r>
            <a:r>
              <a:rPr sz="2200" spc="25" dirty="0">
                <a:latin typeface="Symbol"/>
                <a:cs typeface="Symbol"/>
              </a:rPr>
              <a:t></a:t>
            </a:r>
            <a:endParaRPr sz="22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49721" y="5910792"/>
            <a:ext cx="582295" cy="262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i="1" spc="5" dirty="0">
                <a:latin typeface="Arial"/>
                <a:cs typeface="Arial"/>
              </a:rPr>
              <a:t>i</a:t>
            </a:r>
            <a:r>
              <a:rPr sz="1550" i="1" spc="-250" dirty="0">
                <a:latin typeface="Arial"/>
                <a:cs typeface="Arial"/>
              </a:rPr>
              <a:t> </a:t>
            </a:r>
            <a:r>
              <a:rPr sz="1550" spc="15" dirty="0">
                <a:latin typeface="Symbol"/>
                <a:cs typeface="Symbol"/>
              </a:rPr>
              <a:t></a:t>
            </a:r>
            <a:r>
              <a:rPr sz="1550" i="1" spc="15" dirty="0">
                <a:latin typeface="Arial"/>
                <a:cs typeface="Arial"/>
              </a:rPr>
              <a:t>K</a:t>
            </a:r>
            <a:r>
              <a:rPr sz="1550" i="1" spc="-260" dirty="0">
                <a:latin typeface="Arial"/>
                <a:cs typeface="Arial"/>
              </a:rPr>
              <a:t> </a:t>
            </a:r>
            <a:r>
              <a:rPr sz="1550" spc="-20" dirty="0">
                <a:latin typeface="Symbol"/>
                <a:cs typeface="Symbol"/>
              </a:rPr>
              <a:t></a:t>
            </a:r>
            <a:r>
              <a:rPr sz="1550" spc="-20" dirty="0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39353" y="5268633"/>
            <a:ext cx="191770" cy="80899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540"/>
              </a:spcBef>
            </a:pPr>
            <a:r>
              <a:rPr sz="2200" spc="25" dirty="0"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2200" spc="25" dirty="0"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21530" y="5481048"/>
            <a:ext cx="182880" cy="382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50" i="1" spc="-55" dirty="0">
                <a:latin typeface="Symbol"/>
                <a:cs typeface="Symbol"/>
              </a:rPr>
              <a:t></a:t>
            </a:r>
            <a:endParaRPr sz="23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692" y="259207"/>
            <a:ext cx="77355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PCA : Menghitung Eigen</a:t>
            </a:r>
            <a:r>
              <a:rPr spc="-60" dirty="0"/>
              <a:t> </a:t>
            </a:r>
            <a:r>
              <a:rPr dirty="0"/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32356"/>
            <a:ext cx="41916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Misal </a:t>
            </a:r>
            <a:r>
              <a:rPr sz="2800" dirty="0">
                <a:latin typeface="Arial"/>
                <a:cs typeface="Arial"/>
              </a:rPr>
              <a:t>diketahui dataset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075838"/>
            <a:ext cx="230886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Mean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global</a:t>
            </a:r>
            <a:endParaRPr sz="28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Zero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Mean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1550" y="1916112"/>
            <a:ext cx="2894076" cy="105886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62025" y="1906523"/>
          <a:ext cx="2887979" cy="1051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9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13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53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130">
                <a:tc>
                  <a:txBody>
                    <a:bodyPr/>
                    <a:lstStyle/>
                    <a:p>
                      <a:pPr marL="2476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35" dirty="0">
                          <a:latin typeface="Carlito"/>
                          <a:cs typeface="Carlito"/>
                        </a:rPr>
                        <a:t>No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30" dirty="0">
                          <a:latin typeface="Carlito"/>
                          <a:cs typeface="Carlito"/>
                        </a:rPr>
                        <a:t>Fitur</a:t>
                      </a:r>
                      <a:r>
                        <a:rPr sz="2050" spc="-1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50" spc="-55" dirty="0">
                          <a:latin typeface="Carlito"/>
                          <a:cs typeface="Carlito"/>
                        </a:rPr>
                        <a:t>1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30" dirty="0">
                          <a:latin typeface="Carlito"/>
                          <a:cs typeface="Carlito"/>
                        </a:rPr>
                        <a:t>Fitur</a:t>
                      </a:r>
                      <a:r>
                        <a:rPr sz="2050" spc="-15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50" spc="-55" dirty="0">
                          <a:latin typeface="Carlito"/>
                          <a:cs typeface="Carlito"/>
                        </a:rPr>
                        <a:t>2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2050" spc="-25" dirty="0">
                          <a:latin typeface="Carlito"/>
                          <a:cs typeface="Carlito"/>
                        </a:rPr>
                        <a:t>Kelas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335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1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0" dirty="0">
                          <a:latin typeface="Carlito"/>
                          <a:cs typeface="Carlito"/>
                        </a:rPr>
                        <a:t>P11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0" dirty="0">
                          <a:latin typeface="Carlito"/>
                          <a:cs typeface="Carlito"/>
                        </a:rPr>
                        <a:t>P12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65" dirty="0">
                          <a:latin typeface="Carlito"/>
                          <a:cs typeface="Carlito"/>
                        </a:rPr>
                        <a:t>Mobil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953"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dirty="0">
                          <a:latin typeface="Carlito"/>
                          <a:cs typeface="Carlito"/>
                        </a:rPr>
                        <a:t>2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0" dirty="0">
                          <a:latin typeface="Carlito"/>
                          <a:cs typeface="Carlito"/>
                        </a:rPr>
                        <a:t>P21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0" dirty="0">
                          <a:latin typeface="Carlito"/>
                          <a:cs typeface="Carlito"/>
                        </a:rPr>
                        <a:t>P22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2050" spc="-80" dirty="0">
                          <a:latin typeface="Carlito"/>
                          <a:cs typeface="Carlito"/>
                        </a:rPr>
                        <a:t>Rumah</a:t>
                      </a:r>
                      <a:endParaRPr sz="2050">
                        <a:latin typeface="Carlito"/>
                        <a:cs typeface="Carlito"/>
                      </a:endParaRPr>
                    </a:p>
                  </a:txBody>
                  <a:tcPr marL="0" marR="0" marT="88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219702" y="2161159"/>
            <a:ext cx="387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D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=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55906" y="2415097"/>
            <a:ext cx="130810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910" algn="l"/>
                <a:tab pos="949960" algn="l"/>
              </a:tabLst>
            </a:pPr>
            <a:r>
              <a:rPr sz="2500" spc="5" dirty="0">
                <a:latin typeface="Symbol"/>
                <a:cs typeface="Symbol"/>
              </a:rPr>
              <a:t></a:t>
            </a:r>
            <a:r>
              <a:rPr sz="2500" spc="5" dirty="0">
                <a:latin typeface="Times New Roman"/>
                <a:cs typeface="Times New Roman"/>
              </a:rPr>
              <a:t>	</a:t>
            </a:r>
            <a:r>
              <a:rPr sz="1450" spc="35" dirty="0">
                <a:latin typeface="Times New Roman"/>
                <a:cs typeface="Times New Roman"/>
              </a:rPr>
              <a:t>21	22</a:t>
            </a:r>
            <a:r>
              <a:rPr sz="1450" spc="-204" dirty="0">
                <a:latin typeface="Times New Roman"/>
                <a:cs typeface="Times New Roman"/>
              </a:rPr>
              <a:t> </a:t>
            </a:r>
            <a:r>
              <a:rPr sz="2500" spc="5" dirty="0">
                <a:latin typeface="Symbol"/>
                <a:cs typeface="Symbol"/>
              </a:rPr>
              <a:t>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17806" y="2190602"/>
            <a:ext cx="138430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41375" algn="l"/>
                <a:tab pos="1210310" algn="l"/>
              </a:tabLst>
            </a:pPr>
            <a:r>
              <a:rPr sz="2500" spc="60" dirty="0">
                <a:latin typeface="Symbol"/>
                <a:cs typeface="Symbol"/>
              </a:rPr>
              <a:t></a:t>
            </a:r>
            <a:r>
              <a:rPr sz="3750" i="1" spc="89" baseline="-25555" dirty="0">
                <a:latin typeface="Times New Roman"/>
                <a:cs typeface="Times New Roman"/>
              </a:rPr>
              <a:t>P	</a:t>
            </a:r>
            <a:r>
              <a:rPr sz="3750" i="1" spc="7" baseline="-25555" dirty="0">
                <a:latin typeface="Times New Roman"/>
                <a:cs typeface="Times New Roman"/>
              </a:rPr>
              <a:t>P	</a:t>
            </a:r>
            <a:r>
              <a:rPr sz="2500" spc="5" dirty="0">
                <a:latin typeface="Symbol"/>
                <a:cs typeface="Symbol"/>
              </a:rPr>
              <a:t>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17806" y="1948667"/>
            <a:ext cx="1384300" cy="407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850900" algn="l"/>
              </a:tabLst>
            </a:pPr>
            <a:r>
              <a:rPr sz="3750" spc="-97" baseline="10000" dirty="0">
                <a:latin typeface="Symbol"/>
                <a:cs typeface="Symbol"/>
              </a:rPr>
              <a:t></a:t>
            </a:r>
            <a:r>
              <a:rPr sz="3750" i="1" spc="-97" baseline="13333" dirty="0">
                <a:latin typeface="Times New Roman"/>
                <a:cs typeface="Times New Roman"/>
              </a:rPr>
              <a:t>P</a:t>
            </a:r>
            <a:r>
              <a:rPr sz="1450" spc="-65" dirty="0">
                <a:latin typeface="Times New Roman"/>
                <a:cs typeface="Times New Roman"/>
              </a:rPr>
              <a:t>11	</a:t>
            </a:r>
            <a:r>
              <a:rPr sz="3750" i="1" spc="-232" baseline="13333" dirty="0">
                <a:latin typeface="Times New Roman"/>
                <a:cs typeface="Times New Roman"/>
              </a:rPr>
              <a:t>P</a:t>
            </a:r>
            <a:r>
              <a:rPr sz="1450" spc="-155" dirty="0">
                <a:latin typeface="Times New Roman"/>
                <a:cs typeface="Times New Roman"/>
              </a:rPr>
              <a:t>12</a:t>
            </a:r>
            <a:r>
              <a:rPr sz="1450" spc="-95" dirty="0">
                <a:latin typeface="Times New Roman"/>
                <a:cs typeface="Times New Roman"/>
              </a:rPr>
              <a:t> </a:t>
            </a:r>
            <a:r>
              <a:rPr sz="3750" spc="7" baseline="10000" dirty="0">
                <a:latin typeface="Symbol"/>
                <a:cs typeface="Symbol"/>
              </a:rPr>
              <a:t></a:t>
            </a:r>
            <a:endParaRPr sz="3750" baseline="10000">
              <a:latin typeface="Symbol"/>
              <a:cs typeface="Symbo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53020" y="3278101"/>
            <a:ext cx="2421255" cy="219710"/>
          </a:xfrm>
          <a:custGeom>
            <a:avLst/>
            <a:gdLst/>
            <a:ahLst/>
            <a:cxnLst/>
            <a:rect l="l" t="t" r="r" b="b"/>
            <a:pathLst>
              <a:path w="2421254" h="219710">
                <a:moveTo>
                  <a:pt x="0" y="0"/>
                </a:moveTo>
                <a:lnTo>
                  <a:pt x="216614" y="0"/>
                </a:lnTo>
              </a:path>
              <a:path w="2421254" h="219710">
                <a:moveTo>
                  <a:pt x="602880" y="219456"/>
                </a:moveTo>
                <a:lnTo>
                  <a:pt x="2420664" y="219456"/>
                </a:lnTo>
              </a:path>
            </a:pathLst>
          </a:custGeom>
          <a:ln w="125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872500" y="3486752"/>
            <a:ext cx="18192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i="1" spc="-45" dirty="0">
                <a:latin typeface="Times New Roman"/>
                <a:cs typeface="Times New Roman"/>
              </a:rPr>
              <a:t>Banyak</a:t>
            </a:r>
            <a:r>
              <a:rPr sz="2600" spc="-45" dirty="0">
                <a:latin typeface="Times New Roman"/>
                <a:cs typeface="Times New Roman"/>
              </a:rPr>
              <a:t>_</a:t>
            </a:r>
            <a:r>
              <a:rPr sz="2600" spc="-285" dirty="0">
                <a:latin typeface="Times New Roman"/>
                <a:cs typeface="Times New Roman"/>
              </a:rPr>
              <a:t> </a:t>
            </a:r>
            <a:r>
              <a:rPr sz="2600" i="1" spc="-85" dirty="0">
                <a:latin typeface="Times New Roman"/>
                <a:cs typeface="Times New Roman"/>
              </a:rPr>
              <a:t>Data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63582" y="3453258"/>
            <a:ext cx="11747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spc="-30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76674" y="3112844"/>
            <a:ext cx="99441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900" i="1" spc="-337" baseline="13888" dirty="0">
                <a:latin typeface="Times New Roman"/>
                <a:cs typeface="Times New Roman"/>
              </a:rPr>
              <a:t>P</a:t>
            </a:r>
            <a:r>
              <a:rPr sz="1500" spc="-225" dirty="0">
                <a:latin typeface="Times New Roman"/>
                <a:cs typeface="Times New Roman"/>
              </a:rPr>
              <a:t>11 </a:t>
            </a:r>
            <a:r>
              <a:rPr sz="3900" spc="-104" baseline="13888" dirty="0">
                <a:latin typeface="Symbol"/>
                <a:cs typeface="Symbol"/>
              </a:rPr>
              <a:t></a:t>
            </a:r>
            <a:r>
              <a:rPr sz="3900" spc="-502" baseline="13888" dirty="0">
                <a:latin typeface="Times New Roman"/>
                <a:cs typeface="Times New Roman"/>
              </a:rPr>
              <a:t> </a:t>
            </a:r>
            <a:r>
              <a:rPr sz="3900" i="1" spc="-247" baseline="13888" dirty="0">
                <a:latin typeface="Times New Roman"/>
                <a:cs typeface="Times New Roman"/>
              </a:rPr>
              <a:t>P</a:t>
            </a:r>
            <a:r>
              <a:rPr sz="1500" spc="-165" dirty="0">
                <a:latin typeface="Times New Roman"/>
                <a:cs typeface="Times New Roman"/>
              </a:rPr>
              <a:t>21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60995" y="2993710"/>
            <a:ext cx="64389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430" dirty="0">
                <a:latin typeface="Symbol"/>
                <a:cs typeface="Symbol"/>
              </a:rPr>
              <a:t></a:t>
            </a:r>
            <a:r>
              <a:rPr sz="2600" i="1" spc="-430" dirty="0">
                <a:latin typeface="Times New Roman"/>
                <a:cs typeface="Times New Roman"/>
              </a:rPr>
              <a:t>x</a:t>
            </a:r>
            <a:r>
              <a:rPr sz="2600" i="1" spc="-240" dirty="0">
                <a:latin typeface="Times New Roman"/>
                <a:cs typeface="Times New Roman"/>
              </a:rPr>
              <a:t> </a:t>
            </a:r>
            <a:r>
              <a:rPr sz="4500" spc="-290" dirty="0">
                <a:latin typeface="Symbol"/>
                <a:cs typeface="Symbol"/>
              </a:rPr>
              <a:t></a:t>
            </a:r>
            <a:r>
              <a:rPr sz="2600" spc="-290" dirty="0">
                <a:latin typeface="Symbol"/>
                <a:cs typeface="Symbol"/>
              </a:rPr>
              <a:t></a:t>
            </a:r>
            <a:endParaRPr sz="26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325987" y="4341347"/>
            <a:ext cx="3404235" cy="475615"/>
          </a:xfrm>
          <a:custGeom>
            <a:avLst/>
            <a:gdLst/>
            <a:ahLst/>
            <a:cxnLst/>
            <a:rect l="l" t="t" r="r" b="b"/>
            <a:pathLst>
              <a:path w="3404235" h="475614">
                <a:moveTo>
                  <a:pt x="0" y="2462"/>
                </a:moveTo>
                <a:lnTo>
                  <a:pt x="140656" y="2462"/>
                </a:lnTo>
              </a:path>
              <a:path w="3404235" h="475614">
                <a:moveTo>
                  <a:pt x="555621" y="2462"/>
                </a:moveTo>
                <a:lnTo>
                  <a:pt x="696923" y="2462"/>
                </a:lnTo>
              </a:path>
              <a:path w="3404235" h="475614">
                <a:moveTo>
                  <a:pt x="0" y="475422"/>
                </a:moveTo>
                <a:lnTo>
                  <a:pt x="140656" y="475422"/>
                </a:lnTo>
              </a:path>
              <a:path w="3404235" h="475614">
                <a:moveTo>
                  <a:pt x="555621" y="475422"/>
                </a:moveTo>
                <a:lnTo>
                  <a:pt x="696923" y="475422"/>
                </a:lnTo>
              </a:path>
              <a:path w="3404235" h="475614">
                <a:moveTo>
                  <a:pt x="2052962" y="0"/>
                </a:moveTo>
                <a:lnTo>
                  <a:pt x="2194316" y="0"/>
                </a:lnTo>
              </a:path>
              <a:path w="3404235" h="475614">
                <a:moveTo>
                  <a:pt x="3252531" y="0"/>
                </a:moveTo>
                <a:lnTo>
                  <a:pt x="3393110" y="0"/>
                </a:lnTo>
              </a:path>
              <a:path w="3404235" h="475614">
                <a:moveTo>
                  <a:pt x="2062524" y="472960"/>
                </a:moveTo>
                <a:lnTo>
                  <a:pt x="2203878" y="472960"/>
                </a:lnTo>
              </a:path>
              <a:path w="3404235" h="475614">
                <a:moveTo>
                  <a:pt x="3262609" y="472960"/>
                </a:moveTo>
                <a:lnTo>
                  <a:pt x="3403963" y="472960"/>
                </a:lnTo>
              </a:path>
            </a:pathLst>
          </a:custGeom>
          <a:ln w="1274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527457" y="4820256"/>
            <a:ext cx="15049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latin typeface="Symbol"/>
                <a:cs typeface="Symbol"/>
              </a:rPr>
              <a:t>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874626" y="4565204"/>
            <a:ext cx="15049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latin typeface="Symbol"/>
                <a:cs typeface="Symbol"/>
              </a:rPr>
              <a:t>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74626" y="4852446"/>
            <a:ext cx="15049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latin typeface="Symbol"/>
                <a:cs typeface="Symbol"/>
              </a:rPr>
              <a:t>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81572" y="4567692"/>
            <a:ext cx="15049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latin typeface="Symbol"/>
                <a:cs typeface="Symbol"/>
              </a:rPr>
              <a:t>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940" y="4741687"/>
            <a:ext cx="1796414" cy="1066800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44"/>
              </a:spcBef>
            </a:pPr>
            <a:r>
              <a:rPr sz="2550" dirty="0">
                <a:latin typeface="Symbol"/>
                <a:cs typeface="Symbol"/>
              </a:rPr>
              <a:t></a:t>
            </a:r>
            <a:endParaRPr sz="2550">
              <a:latin typeface="Symbol"/>
              <a:cs typeface="Symbol"/>
            </a:endParaRPr>
          </a:p>
          <a:p>
            <a:pPr marL="355600" indent="-343535">
              <a:lnSpc>
                <a:spcPct val="100000"/>
              </a:lnSpc>
              <a:spcBef>
                <a:spcPts val="93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Arial"/>
                <a:cs typeface="Arial"/>
              </a:rPr>
              <a:t>Kovarian</a:t>
            </a:r>
            <a:endParaRPr sz="2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489357" y="4744730"/>
            <a:ext cx="133540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789305" algn="l"/>
              </a:tabLst>
            </a:pPr>
            <a:r>
              <a:rPr sz="3825" spc="52" baseline="25054" dirty="0">
                <a:latin typeface="Symbol"/>
                <a:cs typeface="Symbol"/>
              </a:rPr>
              <a:t></a:t>
            </a:r>
            <a:r>
              <a:rPr sz="2550" spc="35" dirty="0">
                <a:latin typeface="Symbol"/>
                <a:cs typeface="Symbol"/>
              </a:rPr>
              <a:t></a:t>
            </a:r>
            <a:r>
              <a:rPr sz="2550" spc="35" dirty="0">
                <a:latin typeface="Times New Roman"/>
                <a:cs typeface="Times New Roman"/>
              </a:rPr>
              <a:t>1	</a:t>
            </a:r>
            <a:r>
              <a:rPr sz="2550" spc="5" dirty="0">
                <a:latin typeface="Symbol"/>
                <a:cs typeface="Symbol"/>
              </a:rPr>
              <a:t></a:t>
            </a:r>
            <a:r>
              <a:rPr sz="2550" spc="-400" dirty="0">
                <a:latin typeface="Times New Roman"/>
                <a:cs typeface="Times New Roman"/>
              </a:rPr>
              <a:t> </a:t>
            </a:r>
            <a:r>
              <a:rPr sz="2550" spc="-25" dirty="0">
                <a:latin typeface="Times New Roman"/>
                <a:cs typeface="Times New Roman"/>
              </a:rPr>
              <a:t>5</a:t>
            </a:r>
            <a:r>
              <a:rPr sz="3825" spc="-37" baseline="25054" dirty="0">
                <a:latin typeface="Symbol"/>
                <a:cs typeface="Symbol"/>
              </a:rPr>
              <a:t></a:t>
            </a:r>
            <a:endParaRPr sz="3825" baseline="25054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71445" y="4272393"/>
            <a:ext cx="41529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5" dirty="0">
                <a:latin typeface="Times New Roman"/>
                <a:cs typeface="Times New Roman"/>
              </a:rPr>
              <a:t>2</a:t>
            </a:r>
            <a:r>
              <a:rPr sz="2550" spc="75" dirty="0">
                <a:latin typeface="Times New Roman"/>
                <a:cs typeface="Times New Roman"/>
              </a:rPr>
              <a:t> </a:t>
            </a:r>
            <a:r>
              <a:rPr sz="3825" baseline="-4357" dirty="0">
                <a:latin typeface="Symbol"/>
                <a:cs typeface="Symbol"/>
              </a:rPr>
              <a:t></a:t>
            </a:r>
            <a:endParaRPr sz="3825" baseline="-4357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44126" y="4926337"/>
            <a:ext cx="12065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083097" y="4985145"/>
            <a:ext cx="225425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55" dirty="0">
                <a:latin typeface="Times New Roman"/>
                <a:cs typeface="Times New Roman"/>
              </a:rPr>
              <a:t>22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166862" y="4852446"/>
            <a:ext cx="95504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59740" algn="l"/>
                <a:tab pos="741680" algn="l"/>
              </a:tabLst>
            </a:pPr>
            <a:r>
              <a:rPr sz="2550" dirty="0">
                <a:latin typeface="Symbol"/>
                <a:cs typeface="Symbol"/>
              </a:rPr>
              <a:t>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dirty="0">
                <a:latin typeface="Symbol"/>
                <a:cs typeface="Symbol"/>
              </a:rPr>
              <a:t>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1450" spc="55" dirty="0">
                <a:latin typeface="Times New Roman"/>
                <a:cs typeface="Times New Roman"/>
              </a:rPr>
              <a:t>21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36413" y="4928812"/>
            <a:ext cx="12065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460351" y="4928812"/>
            <a:ext cx="120650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20" dirty="0">
                <a:latin typeface="Times New Roman"/>
                <a:cs typeface="Times New Roman"/>
              </a:rPr>
              <a:t>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09529" y="4771969"/>
            <a:ext cx="167195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8925" indent="-238760">
              <a:lnSpc>
                <a:spcPct val="100000"/>
              </a:lnSpc>
              <a:spcBef>
                <a:spcPts val="90"/>
              </a:spcBef>
              <a:buFont typeface="Symbol"/>
              <a:buChar char=""/>
              <a:tabLst>
                <a:tab pos="289560" algn="l"/>
                <a:tab pos="839469" algn="l"/>
                <a:tab pos="1250315" algn="l"/>
              </a:tabLst>
            </a:pPr>
            <a:r>
              <a:rPr sz="2550" i="1" spc="-15" dirty="0">
                <a:latin typeface="Times New Roman"/>
                <a:cs typeface="Times New Roman"/>
              </a:rPr>
              <a:t>x</a:t>
            </a:r>
            <a:r>
              <a:rPr sz="2175" spc="-22" baseline="-5747" dirty="0">
                <a:latin typeface="Times New Roman"/>
                <a:cs typeface="Times New Roman"/>
              </a:rPr>
              <a:t>1	</a:t>
            </a:r>
            <a:r>
              <a:rPr sz="2550" i="1" spc="5" dirty="0">
                <a:latin typeface="Times New Roman"/>
                <a:cs typeface="Times New Roman"/>
              </a:rPr>
              <a:t>P	</a:t>
            </a:r>
            <a:r>
              <a:rPr sz="2550" spc="5" dirty="0">
                <a:latin typeface="Symbol"/>
                <a:cs typeface="Symbol"/>
              </a:rPr>
              <a:t></a:t>
            </a:r>
            <a:r>
              <a:rPr sz="2550" spc="-229" dirty="0">
                <a:latin typeface="Times New Roman"/>
                <a:cs typeface="Times New Roman"/>
              </a:rPr>
              <a:t> </a:t>
            </a:r>
            <a:r>
              <a:rPr sz="2550" i="1" spc="5" dirty="0">
                <a:latin typeface="Times New Roman"/>
                <a:cs typeface="Times New Roman"/>
              </a:rPr>
              <a:t>x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41462" y="4567692"/>
            <a:ext cx="87185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85140" algn="l"/>
              </a:tabLst>
            </a:pPr>
            <a:r>
              <a:rPr sz="2550" dirty="0">
                <a:latin typeface="Symbol"/>
                <a:cs typeface="Symbol"/>
              </a:rPr>
              <a:t>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45" dirty="0">
                <a:latin typeface="Symbol"/>
                <a:cs typeface="Symbol"/>
              </a:rPr>
              <a:t></a:t>
            </a:r>
            <a:r>
              <a:rPr sz="3825" i="1" spc="67" baseline="-34858" dirty="0">
                <a:latin typeface="Times New Roman"/>
                <a:cs typeface="Times New Roman"/>
              </a:rPr>
              <a:t>P</a:t>
            </a:r>
            <a:endParaRPr sz="3825" baseline="-34858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21511" y="4503923"/>
            <a:ext cx="302895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3825" i="1" spc="-247" baseline="34858" dirty="0">
                <a:latin typeface="Times New Roman"/>
                <a:cs typeface="Times New Roman"/>
              </a:rPr>
              <a:t>P</a:t>
            </a:r>
            <a:r>
              <a:rPr sz="2175" spc="-247" baseline="38314" dirty="0">
                <a:latin typeface="Times New Roman"/>
                <a:cs typeface="Times New Roman"/>
              </a:rPr>
              <a:t>12 </a:t>
            </a:r>
            <a:r>
              <a:rPr sz="3825" spc="7" baseline="34858" dirty="0">
                <a:latin typeface="Symbol"/>
                <a:cs typeface="Symbol"/>
              </a:rPr>
              <a:t></a:t>
            </a:r>
            <a:r>
              <a:rPr sz="3825" spc="7" baseline="34858" dirty="0">
                <a:latin typeface="Times New Roman"/>
                <a:cs typeface="Times New Roman"/>
              </a:rPr>
              <a:t> </a:t>
            </a:r>
            <a:r>
              <a:rPr sz="3825" i="1" spc="97" baseline="34858" dirty="0">
                <a:latin typeface="Times New Roman"/>
                <a:cs typeface="Times New Roman"/>
              </a:rPr>
              <a:t>x</a:t>
            </a:r>
            <a:r>
              <a:rPr sz="2175" spc="97" baseline="55555" dirty="0">
                <a:latin typeface="Times New Roman"/>
                <a:cs typeface="Times New Roman"/>
              </a:rPr>
              <a:t>2 </a:t>
            </a:r>
            <a:r>
              <a:rPr sz="3825" spc="7" baseline="41394" dirty="0">
                <a:latin typeface="Symbol"/>
                <a:cs typeface="Symbol"/>
              </a:rPr>
              <a:t></a:t>
            </a:r>
            <a:r>
              <a:rPr sz="2550" spc="5" dirty="0">
                <a:latin typeface="Times New Roman"/>
                <a:cs typeface="Times New Roman"/>
              </a:rPr>
              <a:t>, </a:t>
            </a:r>
            <a:r>
              <a:rPr sz="2550" i="1" spc="-20" dirty="0">
                <a:latin typeface="Times New Roman"/>
                <a:cs typeface="Times New Roman"/>
              </a:rPr>
              <a:t>misal </a:t>
            </a:r>
            <a:r>
              <a:rPr sz="2550" spc="5" dirty="0">
                <a:latin typeface="Symbol"/>
                <a:cs typeface="Symbol"/>
              </a:rPr>
              <a:t>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Symbol"/>
                <a:cs typeface="Symbol"/>
              </a:rPr>
              <a:t>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3825" baseline="35947" dirty="0">
                <a:latin typeface="Symbol"/>
                <a:cs typeface="Symbol"/>
              </a:rPr>
              <a:t></a:t>
            </a:r>
            <a:r>
              <a:rPr sz="3825" spc="-442" baseline="35947" dirty="0">
                <a:latin typeface="Times New Roman"/>
                <a:cs typeface="Times New Roman"/>
              </a:rPr>
              <a:t> </a:t>
            </a:r>
            <a:r>
              <a:rPr sz="3825" spc="7" baseline="39215" dirty="0">
                <a:latin typeface="Times New Roman"/>
                <a:cs typeface="Times New Roman"/>
              </a:rPr>
              <a:t>4</a:t>
            </a:r>
            <a:endParaRPr sz="3825" baseline="39215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322874" y="4774445"/>
            <a:ext cx="72580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67690" algn="l"/>
              </a:tabLst>
            </a:pPr>
            <a:r>
              <a:rPr sz="2550" i="1" spc="5" dirty="0">
                <a:latin typeface="Times New Roman"/>
                <a:cs typeface="Times New Roman"/>
              </a:rPr>
              <a:t>x	x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53095" y="4302123"/>
            <a:ext cx="180721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550" i="1" spc="65" dirty="0">
                <a:latin typeface="Times New Roman"/>
                <a:cs typeface="Times New Roman"/>
              </a:rPr>
              <a:t>x</a:t>
            </a:r>
            <a:r>
              <a:rPr sz="2175" spc="97" baseline="-5747" dirty="0">
                <a:latin typeface="Times New Roman"/>
                <a:cs typeface="Times New Roman"/>
              </a:rPr>
              <a:t>2 </a:t>
            </a:r>
            <a:r>
              <a:rPr sz="3825" baseline="6535" dirty="0">
                <a:latin typeface="Symbol"/>
                <a:cs typeface="Symbol"/>
              </a:rPr>
              <a:t></a:t>
            </a:r>
            <a:r>
              <a:rPr sz="3825" baseline="6535" dirty="0">
                <a:latin typeface="Times New Roman"/>
                <a:cs typeface="Times New Roman"/>
              </a:rPr>
              <a:t> </a:t>
            </a:r>
            <a:r>
              <a:rPr sz="3825" spc="7" baseline="-34858" dirty="0">
                <a:latin typeface="Symbol"/>
                <a:cs typeface="Symbol"/>
              </a:rPr>
              <a:t></a:t>
            </a:r>
            <a:r>
              <a:rPr sz="3825" spc="7" baseline="-34858" dirty="0">
                <a:latin typeface="Times New Roman"/>
                <a:cs typeface="Times New Roman"/>
              </a:rPr>
              <a:t> </a:t>
            </a:r>
            <a:r>
              <a:rPr sz="3825" spc="-120" baseline="6535" dirty="0">
                <a:latin typeface="Symbol"/>
                <a:cs typeface="Symbol"/>
              </a:rPr>
              <a:t></a:t>
            </a:r>
            <a:r>
              <a:rPr sz="2550" i="1" spc="-80" dirty="0">
                <a:latin typeface="Times New Roman"/>
                <a:cs typeface="Times New Roman"/>
              </a:rPr>
              <a:t>P</a:t>
            </a:r>
            <a:r>
              <a:rPr sz="2175" spc="-120" baseline="-22988" dirty="0">
                <a:latin typeface="Times New Roman"/>
                <a:cs typeface="Times New Roman"/>
              </a:rPr>
              <a:t>11 </a:t>
            </a:r>
            <a:r>
              <a:rPr sz="2550" spc="5" dirty="0">
                <a:latin typeface="Symbol"/>
                <a:cs typeface="Symbol"/>
              </a:rPr>
              <a:t></a:t>
            </a:r>
            <a:r>
              <a:rPr sz="2550" spc="-385" dirty="0">
                <a:latin typeface="Times New Roman"/>
                <a:cs typeface="Times New Roman"/>
              </a:rPr>
              <a:t> </a:t>
            </a:r>
            <a:r>
              <a:rPr sz="2550" i="1" spc="-15" dirty="0">
                <a:latin typeface="Times New Roman"/>
                <a:cs typeface="Times New Roman"/>
              </a:rPr>
              <a:t>x</a:t>
            </a:r>
            <a:r>
              <a:rPr sz="2175" spc="-22" baseline="-5747" dirty="0">
                <a:latin typeface="Times New Roman"/>
                <a:cs typeface="Times New Roman"/>
              </a:rPr>
              <a:t>1</a:t>
            </a:r>
            <a:endParaRPr sz="2175" baseline="-5747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4046" y="4400471"/>
            <a:ext cx="1712595" cy="537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350" spc="-200" dirty="0">
                <a:latin typeface="Symbol"/>
                <a:cs typeface="Symbol"/>
              </a:rPr>
              <a:t></a:t>
            </a:r>
            <a:r>
              <a:rPr sz="2550" spc="-200" dirty="0">
                <a:latin typeface="Symbol"/>
                <a:cs typeface="Symbol"/>
              </a:rPr>
              <a:t></a:t>
            </a:r>
            <a:r>
              <a:rPr sz="3350" spc="-200" dirty="0">
                <a:latin typeface="Symbol"/>
                <a:cs typeface="Symbol"/>
              </a:rPr>
              <a:t></a:t>
            </a:r>
            <a:r>
              <a:rPr sz="3350" spc="-525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Symbol"/>
                <a:cs typeface="Symbol"/>
              </a:rPr>
              <a:t></a:t>
            </a:r>
            <a:r>
              <a:rPr sz="2550" spc="-75" dirty="0">
                <a:latin typeface="Times New Roman"/>
                <a:cs typeface="Times New Roman"/>
              </a:rPr>
              <a:t> </a:t>
            </a:r>
            <a:r>
              <a:rPr sz="2550" i="1" spc="5" dirty="0">
                <a:latin typeface="Times New Roman"/>
                <a:cs typeface="Times New Roman"/>
              </a:rPr>
              <a:t>D</a:t>
            </a:r>
            <a:r>
              <a:rPr sz="2550" i="1" spc="-280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Symbol"/>
                <a:cs typeface="Symbol"/>
              </a:rPr>
              <a:t></a:t>
            </a:r>
            <a:r>
              <a:rPr sz="2550" spc="-265" dirty="0">
                <a:latin typeface="Times New Roman"/>
                <a:cs typeface="Times New Roman"/>
              </a:rPr>
              <a:t> </a:t>
            </a:r>
            <a:r>
              <a:rPr sz="3825" spc="44" baseline="41394" dirty="0">
                <a:latin typeface="Symbol"/>
                <a:cs typeface="Symbol"/>
              </a:rPr>
              <a:t></a:t>
            </a:r>
            <a:r>
              <a:rPr sz="3825" i="1" spc="44" baseline="34858" dirty="0">
                <a:latin typeface="Times New Roman"/>
                <a:cs typeface="Times New Roman"/>
              </a:rPr>
              <a:t>x</a:t>
            </a:r>
            <a:r>
              <a:rPr sz="2175" spc="44" baseline="55555" dirty="0">
                <a:latin typeface="Times New Roman"/>
                <a:cs typeface="Times New Roman"/>
              </a:rPr>
              <a:t>1</a:t>
            </a:r>
            <a:endParaRPr sz="2175" baseline="55555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76408" y="5633235"/>
            <a:ext cx="375920" cy="5346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76860" algn="l"/>
              </a:tabLst>
            </a:pPr>
            <a:r>
              <a:rPr sz="3350" spc="-445" dirty="0">
                <a:latin typeface="Symbol"/>
                <a:cs typeface="Symbol"/>
              </a:rPr>
              <a:t></a:t>
            </a:r>
            <a:r>
              <a:rPr sz="3350" spc="-445" dirty="0">
                <a:latin typeface="Times New Roman"/>
                <a:cs typeface="Times New Roman"/>
              </a:rPr>
              <a:t>	</a:t>
            </a:r>
            <a:r>
              <a:rPr sz="3350" spc="-445" dirty="0">
                <a:latin typeface="Symbol"/>
                <a:cs typeface="Symbol"/>
              </a:rPr>
              <a:t>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655871" y="6053313"/>
            <a:ext cx="12573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spc="-175" dirty="0">
                <a:latin typeface="Symbol"/>
                <a:cs typeface="Symbol"/>
              </a:rPr>
              <a:t>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469891" y="6053313"/>
            <a:ext cx="48831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74650" algn="l"/>
              </a:tabLst>
            </a:pPr>
            <a:r>
              <a:rPr sz="2500" spc="-175" dirty="0">
                <a:latin typeface="Symbol"/>
                <a:cs typeface="Symbol"/>
              </a:rPr>
              <a:t></a:t>
            </a:r>
            <a:r>
              <a:rPr sz="2500" spc="-175" dirty="0">
                <a:latin typeface="Times New Roman"/>
                <a:cs typeface="Times New Roman"/>
              </a:rPr>
              <a:t>	</a:t>
            </a:r>
            <a:r>
              <a:rPr sz="2500" spc="-175" dirty="0">
                <a:latin typeface="Symbol"/>
                <a:cs typeface="Symbol"/>
              </a:rPr>
              <a:t>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642512" y="6053313"/>
            <a:ext cx="37020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56540" algn="l"/>
              </a:tabLst>
            </a:pPr>
            <a:r>
              <a:rPr sz="2500" spc="-175" dirty="0">
                <a:latin typeface="Symbol"/>
                <a:cs typeface="Symbol"/>
              </a:rPr>
              <a:t></a:t>
            </a:r>
            <a:r>
              <a:rPr sz="2500" spc="-175" dirty="0">
                <a:latin typeface="Times New Roman"/>
                <a:cs typeface="Times New Roman"/>
              </a:rPr>
              <a:t>	</a:t>
            </a:r>
            <a:r>
              <a:rPr sz="2500" spc="-175" dirty="0">
                <a:latin typeface="Symbol"/>
                <a:cs typeface="Symbol"/>
              </a:rPr>
              <a:t>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44223" y="6053313"/>
            <a:ext cx="12573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spc="-175" dirty="0">
                <a:latin typeface="Symbol"/>
                <a:cs typeface="Symbol"/>
              </a:rPr>
              <a:t>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75958" y="5977910"/>
            <a:ext cx="1644014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1235710" algn="l"/>
              </a:tabLst>
            </a:pPr>
            <a:r>
              <a:rPr sz="2500" spc="-225" dirty="0">
                <a:latin typeface="Times New Roman"/>
                <a:cs typeface="Times New Roman"/>
              </a:rPr>
              <a:t>29</a:t>
            </a:r>
            <a:r>
              <a:rPr sz="3750" spc="-337" baseline="25555" dirty="0">
                <a:latin typeface="Symbol"/>
                <a:cs typeface="Symbol"/>
              </a:rPr>
              <a:t></a:t>
            </a:r>
            <a:r>
              <a:rPr sz="3750" spc="-217" baseline="25555" dirty="0">
                <a:latin typeface="Times New Roman"/>
                <a:cs typeface="Times New Roman"/>
              </a:rPr>
              <a:t> </a:t>
            </a:r>
            <a:r>
              <a:rPr sz="3750" spc="-367" baseline="42222" dirty="0">
                <a:latin typeface="Symbol"/>
                <a:cs typeface="Symbol"/>
              </a:rPr>
              <a:t></a:t>
            </a:r>
            <a:r>
              <a:rPr sz="3750" spc="-254" baseline="42222" dirty="0">
                <a:latin typeface="Times New Roman"/>
                <a:cs typeface="Times New Roman"/>
              </a:rPr>
              <a:t> </a:t>
            </a:r>
            <a:r>
              <a:rPr sz="3750" spc="-427" baseline="25555" dirty="0">
                <a:latin typeface="Symbol"/>
                <a:cs typeface="Symbol"/>
              </a:rPr>
              <a:t></a:t>
            </a:r>
            <a:r>
              <a:rPr sz="2500" spc="-285" dirty="0">
                <a:latin typeface="Times New Roman"/>
                <a:cs typeface="Times New Roman"/>
              </a:rPr>
              <a:t>13	</a:t>
            </a:r>
            <a:r>
              <a:rPr sz="2500" spc="-220" dirty="0">
                <a:latin typeface="Times New Roman"/>
                <a:cs typeface="Times New Roman"/>
              </a:rPr>
              <a:t>29</a:t>
            </a:r>
            <a:r>
              <a:rPr sz="3750" spc="-330" baseline="25555" dirty="0">
                <a:latin typeface="Symbol"/>
                <a:cs typeface="Symbol"/>
              </a:rPr>
              <a:t></a:t>
            </a:r>
            <a:endParaRPr sz="3750" baseline="25555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04195" y="4820256"/>
            <a:ext cx="1582420" cy="10991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2550" dirty="0">
                <a:latin typeface="Symbol"/>
                <a:cs typeface="Symbol"/>
              </a:rPr>
              <a:t></a:t>
            </a:r>
            <a:endParaRPr sz="255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2395"/>
              </a:spcBef>
              <a:tabLst>
                <a:tab pos="640715" algn="l"/>
                <a:tab pos="1197610" algn="l"/>
              </a:tabLst>
            </a:pPr>
            <a:r>
              <a:rPr sz="2500" spc="-195" dirty="0">
                <a:latin typeface="Times New Roman"/>
                <a:cs typeface="Times New Roman"/>
              </a:rPr>
              <a:t>13</a:t>
            </a:r>
            <a:r>
              <a:rPr sz="3750" spc="-292" baseline="-4444" dirty="0">
                <a:latin typeface="Symbol"/>
                <a:cs typeface="Symbol"/>
              </a:rPr>
              <a:t></a:t>
            </a:r>
            <a:r>
              <a:rPr sz="3750" spc="-292" baseline="-4444" dirty="0">
                <a:latin typeface="Times New Roman"/>
                <a:cs typeface="Times New Roman"/>
              </a:rPr>
              <a:t>	</a:t>
            </a:r>
            <a:r>
              <a:rPr sz="3750" spc="-450" baseline="-4444" dirty="0">
                <a:latin typeface="Symbol"/>
                <a:cs typeface="Symbol"/>
              </a:rPr>
              <a:t></a:t>
            </a:r>
            <a:r>
              <a:rPr sz="2500" spc="-300" dirty="0">
                <a:latin typeface="Times New Roman"/>
                <a:cs typeface="Times New Roman"/>
              </a:rPr>
              <a:t>17	</a:t>
            </a:r>
            <a:r>
              <a:rPr sz="2500" spc="-195" dirty="0">
                <a:latin typeface="Times New Roman"/>
                <a:cs typeface="Times New Roman"/>
              </a:rPr>
              <a:t>13</a:t>
            </a:r>
            <a:r>
              <a:rPr sz="3750" spc="-292" baseline="-4444" dirty="0">
                <a:latin typeface="Symbol"/>
                <a:cs typeface="Symbol"/>
              </a:rPr>
              <a:t></a:t>
            </a:r>
            <a:endParaRPr sz="3750" baseline="-4444">
              <a:latin typeface="Symbol"/>
              <a:cs typeface="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21885" y="5540457"/>
            <a:ext cx="893444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89584" algn="l"/>
              </a:tabLst>
            </a:pPr>
            <a:r>
              <a:rPr sz="2500" u="heavy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500" u="heavy" spc="-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3750" spc="-487" baseline="2222" dirty="0">
                <a:latin typeface="Symbol"/>
                <a:cs typeface="Symbol"/>
              </a:rPr>
              <a:t></a:t>
            </a:r>
            <a:r>
              <a:rPr sz="3750" spc="-487" baseline="5555" dirty="0">
                <a:latin typeface="Times New Roman"/>
                <a:cs typeface="Times New Roman"/>
              </a:rPr>
              <a:t>17</a:t>
            </a:r>
            <a:endParaRPr sz="3750" baseline="5555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47253" y="5982896"/>
            <a:ext cx="1586865" cy="4819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1775"/>
              </a:lnSpc>
              <a:spcBef>
                <a:spcPts val="130"/>
              </a:spcBef>
            </a:pPr>
            <a:r>
              <a:rPr sz="3750" spc="-367" baseline="1111" dirty="0">
                <a:latin typeface="Symbol"/>
                <a:cs typeface="Symbol"/>
              </a:rPr>
              <a:t></a:t>
            </a:r>
            <a:r>
              <a:rPr sz="3750" spc="-367" baseline="1111" dirty="0">
                <a:latin typeface="Times New Roman"/>
                <a:cs typeface="Times New Roman"/>
              </a:rPr>
              <a:t> </a:t>
            </a:r>
            <a:r>
              <a:rPr sz="3750" spc="-330" baseline="1111" dirty="0">
                <a:latin typeface="Times New Roman"/>
                <a:cs typeface="Times New Roman"/>
              </a:rPr>
              <a:t>5</a:t>
            </a:r>
            <a:r>
              <a:rPr sz="3750" spc="-330" baseline="26666" dirty="0">
                <a:latin typeface="Symbol"/>
                <a:cs typeface="Symbol"/>
              </a:rPr>
              <a:t></a:t>
            </a:r>
            <a:r>
              <a:rPr sz="3750" spc="-330" baseline="26666" dirty="0">
                <a:latin typeface="Times New Roman"/>
                <a:cs typeface="Times New Roman"/>
              </a:rPr>
              <a:t> </a:t>
            </a:r>
            <a:r>
              <a:rPr sz="3750" spc="-367" baseline="43333" dirty="0">
                <a:latin typeface="Symbol"/>
                <a:cs typeface="Symbol"/>
              </a:rPr>
              <a:t></a:t>
            </a:r>
            <a:r>
              <a:rPr sz="3750" spc="-367" baseline="43333" dirty="0">
                <a:latin typeface="Times New Roman"/>
                <a:cs typeface="Times New Roman"/>
              </a:rPr>
              <a:t> </a:t>
            </a:r>
            <a:r>
              <a:rPr sz="2500" spc="-225" dirty="0">
                <a:latin typeface="Times New Roman"/>
                <a:cs typeface="Times New Roman"/>
              </a:rPr>
              <a:t>2 </a:t>
            </a:r>
            <a:r>
              <a:rPr sz="2500" spc="-195" dirty="0">
                <a:latin typeface="Symbol"/>
                <a:cs typeface="Symbol"/>
              </a:rPr>
              <a:t></a:t>
            </a:r>
            <a:r>
              <a:rPr sz="2500" spc="-195" dirty="0">
                <a:latin typeface="Times New Roman"/>
                <a:cs typeface="Times New Roman"/>
              </a:rPr>
              <a:t>1</a:t>
            </a:r>
            <a:r>
              <a:rPr sz="2500" spc="-425" dirty="0">
                <a:latin typeface="Times New Roman"/>
                <a:cs typeface="Times New Roman"/>
              </a:rPr>
              <a:t> </a:t>
            </a:r>
            <a:r>
              <a:rPr sz="3750" spc="-465" baseline="26666" dirty="0">
                <a:latin typeface="Symbol"/>
                <a:cs typeface="Symbol"/>
              </a:rPr>
              <a:t></a:t>
            </a:r>
            <a:r>
              <a:rPr sz="3750" spc="-465" baseline="1111" dirty="0">
                <a:latin typeface="Times New Roman"/>
                <a:cs typeface="Times New Roman"/>
              </a:rPr>
              <a:t>13</a:t>
            </a:r>
            <a:endParaRPr sz="3750" baseline="1111">
              <a:latin typeface="Times New Roman"/>
              <a:cs typeface="Times New Roman"/>
            </a:endParaRPr>
          </a:p>
          <a:p>
            <a:pPr marL="75565" algn="ctr">
              <a:lnSpc>
                <a:spcPts val="1775"/>
              </a:lnSpc>
              <a:tabLst>
                <a:tab pos="936625" algn="l"/>
              </a:tabLst>
            </a:pPr>
            <a:r>
              <a:rPr sz="2500" spc="-175" dirty="0">
                <a:latin typeface="Symbol"/>
                <a:cs typeface="Symbol"/>
              </a:rPr>
              <a:t></a:t>
            </a:r>
            <a:r>
              <a:rPr sz="2500" spc="-175" dirty="0">
                <a:latin typeface="Times New Roman"/>
                <a:cs typeface="Times New Roman"/>
              </a:rPr>
              <a:t>	</a:t>
            </a:r>
            <a:r>
              <a:rPr sz="2500" spc="-175" dirty="0">
                <a:latin typeface="Symbol"/>
                <a:cs typeface="Symbol"/>
              </a:rPr>
              <a:t>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317543" y="5977910"/>
            <a:ext cx="100711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81660" algn="l"/>
              </a:tabLst>
            </a:pPr>
            <a:r>
              <a:rPr sz="2500" spc="-245" dirty="0">
                <a:latin typeface="Symbol"/>
                <a:cs typeface="Symbol"/>
              </a:rPr>
              <a:t></a:t>
            </a:r>
            <a:r>
              <a:rPr sz="2500" spc="-390" dirty="0">
                <a:latin typeface="Times New Roman"/>
                <a:cs typeface="Times New Roman"/>
              </a:rPr>
              <a:t> </a:t>
            </a:r>
            <a:r>
              <a:rPr sz="2500" spc="-220" dirty="0">
                <a:latin typeface="Times New Roman"/>
                <a:cs typeface="Times New Roman"/>
              </a:rPr>
              <a:t>5</a:t>
            </a:r>
            <a:r>
              <a:rPr sz="3750" spc="-330" baseline="25555" dirty="0">
                <a:latin typeface="Symbol"/>
                <a:cs typeface="Symbol"/>
              </a:rPr>
              <a:t></a:t>
            </a:r>
            <a:r>
              <a:rPr sz="3750" spc="-330" baseline="25555" dirty="0">
                <a:latin typeface="Times New Roman"/>
                <a:cs typeface="Times New Roman"/>
              </a:rPr>
              <a:t>	</a:t>
            </a:r>
            <a:r>
              <a:rPr sz="3750" spc="-277" baseline="25555" dirty="0">
                <a:latin typeface="Symbol"/>
                <a:cs typeface="Symbol"/>
              </a:rPr>
              <a:t></a:t>
            </a:r>
            <a:r>
              <a:rPr sz="2500" spc="-185" dirty="0">
                <a:latin typeface="Symbol"/>
                <a:cs typeface="Symbol"/>
              </a:rPr>
              <a:t></a:t>
            </a:r>
            <a:r>
              <a:rPr sz="2500" spc="-185" dirty="0">
                <a:latin typeface="Times New Roman"/>
                <a:cs typeface="Times New Roman"/>
              </a:rPr>
              <a:t>1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36746" y="5540457"/>
            <a:ext cx="958215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242570" algn="l"/>
                <a:tab pos="572770" algn="l"/>
              </a:tabLst>
            </a:pPr>
            <a:r>
              <a:rPr sz="2500" u="heavy" spc="-11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2500" u="heavy" spc="-2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	</a:t>
            </a:r>
            <a:r>
              <a:rPr sz="3750" spc="-262" baseline="2222" dirty="0">
                <a:latin typeface="Symbol"/>
                <a:cs typeface="Symbol"/>
              </a:rPr>
              <a:t></a:t>
            </a:r>
            <a:r>
              <a:rPr sz="3750" spc="-217" baseline="2222" dirty="0">
                <a:latin typeface="Times New Roman"/>
                <a:cs typeface="Times New Roman"/>
              </a:rPr>
              <a:t> </a:t>
            </a:r>
            <a:r>
              <a:rPr sz="3750" spc="-337" baseline="5555" dirty="0">
                <a:latin typeface="Times New Roman"/>
                <a:cs typeface="Times New Roman"/>
              </a:rPr>
              <a:t>4</a:t>
            </a:r>
            <a:endParaRPr sz="3750" baseline="5555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89483" y="5508050"/>
            <a:ext cx="1546860" cy="411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1193165" algn="l"/>
              </a:tabLst>
            </a:pPr>
            <a:r>
              <a:rPr sz="2500" spc="-225" dirty="0">
                <a:latin typeface="Times New Roman"/>
                <a:cs typeface="Times New Roman"/>
              </a:rPr>
              <a:t>2  </a:t>
            </a:r>
            <a:r>
              <a:rPr sz="3750" spc="-202" baseline="-4444" dirty="0">
                <a:latin typeface="Symbol"/>
                <a:cs typeface="Symbol"/>
              </a:rPr>
              <a:t></a:t>
            </a:r>
            <a:r>
              <a:rPr sz="2175" i="1" spc="-202" baseline="57471" dirty="0">
                <a:latin typeface="Times New Roman"/>
                <a:cs typeface="Times New Roman"/>
              </a:rPr>
              <a:t>T</a:t>
            </a:r>
            <a:r>
              <a:rPr sz="2175" i="1" spc="-127" baseline="57471" dirty="0">
                <a:latin typeface="Times New Roman"/>
                <a:cs typeface="Times New Roman"/>
              </a:rPr>
              <a:t> </a:t>
            </a:r>
            <a:r>
              <a:rPr sz="3750" spc="-262" baseline="-4444" dirty="0">
                <a:latin typeface="Symbol"/>
                <a:cs typeface="Symbol"/>
              </a:rPr>
              <a:t></a:t>
            </a:r>
            <a:r>
              <a:rPr sz="3750" spc="-127" baseline="-4444" dirty="0">
                <a:latin typeface="Times New Roman"/>
                <a:cs typeface="Times New Roman"/>
              </a:rPr>
              <a:t> </a:t>
            </a:r>
            <a:r>
              <a:rPr sz="2500" spc="-225" dirty="0">
                <a:latin typeface="Times New Roman"/>
                <a:cs typeface="Times New Roman"/>
              </a:rPr>
              <a:t>4	2</a:t>
            </a:r>
            <a:r>
              <a:rPr sz="2500" spc="-30" dirty="0">
                <a:latin typeface="Times New Roman"/>
                <a:cs typeface="Times New Roman"/>
              </a:rPr>
              <a:t> </a:t>
            </a:r>
            <a:r>
              <a:rPr sz="3750" spc="-262" baseline="-4444" dirty="0">
                <a:latin typeface="Symbol"/>
                <a:cs typeface="Symbol"/>
              </a:rPr>
              <a:t></a:t>
            </a:r>
            <a:endParaRPr sz="3750" baseline="-4444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22147" y="5737995"/>
            <a:ext cx="1559560" cy="655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2465"/>
              </a:lnSpc>
              <a:spcBef>
                <a:spcPts val="130"/>
              </a:spcBef>
              <a:tabLst>
                <a:tab pos="351790" algn="l"/>
                <a:tab pos="1134110" algn="l"/>
              </a:tabLst>
            </a:pPr>
            <a:r>
              <a:rPr sz="2500" i="1" spc="-300" dirty="0">
                <a:latin typeface="Times New Roman"/>
                <a:cs typeface="Times New Roman"/>
              </a:rPr>
              <a:t>C	</a:t>
            </a:r>
            <a:r>
              <a:rPr sz="2500" spc="-245" dirty="0">
                <a:latin typeface="Symbol"/>
                <a:cs typeface="Symbol"/>
              </a:rPr>
              <a:t></a:t>
            </a:r>
            <a:r>
              <a:rPr sz="2500" spc="-245" dirty="0">
                <a:latin typeface="Times New Roman"/>
                <a:cs typeface="Times New Roman"/>
              </a:rPr>
              <a:t>	</a:t>
            </a:r>
            <a:r>
              <a:rPr sz="3750" spc="-262" baseline="-16666" dirty="0">
                <a:latin typeface="Symbol"/>
                <a:cs typeface="Symbol"/>
              </a:rPr>
              <a:t></a:t>
            </a:r>
            <a:endParaRPr sz="3750" baseline="-16666">
              <a:latin typeface="Symbol"/>
              <a:cs typeface="Symbol"/>
            </a:endParaRPr>
          </a:p>
          <a:p>
            <a:pPr marL="581660">
              <a:lnSpc>
                <a:spcPts val="2465"/>
              </a:lnSpc>
              <a:tabLst>
                <a:tab pos="1236980" algn="l"/>
              </a:tabLst>
            </a:pPr>
            <a:r>
              <a:rPr sz="2500" i="1" spc="-300" dirty="0">
                <a:latin typeface="Times New Roman"/>
                <a:cs typeface="Times New Roman"/>
              </a:rPr>
              <a:t>N</a:t>
            </a:r>
            <a:r>
              <a:rPr sz="2500" i="1" spc="-140" dirty="0">
                <a:latin typeface="Times New Roman"/>
                <a:cs typeface="Times New Roman"/>
              </a:rPr>
              <a:t> </a:t>
            </a:r>
            <a:r>
              <a:rPr sz="2500" spc="-195" dirty="0">
                <a:latin typeface="Symbol"/>
                <a:cs typeface="Symbol"/>
              </a:rPr>
              <a:t></a:t>
            </a:r>
            <a:r>
              <a:rPr sz="2500" spc="-195" dirty="0">
                <a:latin typeface="Times New Roman"/>
                <a:cs typeface="Times New Roman"/>
              </a:rPr>
              <a:t>1	</a:t>
            </a:r>
            <a:r>
              <a:rPr sz="3750" spc="-292" baseline="1111" dirty="0">
                <a:latin typeface="Symbol"/>
                <a:cs typeface="Symbol"/>
              </a:rPr>
              <a:t></a:t>
            </a:r>
            <a:r>
              <a:rPr sz="3750" spc="-292" baseline="1111" dirty="0">
                <a:latin typeface="Times New Roman"/>
                <a:cs typeface="Times New Roman"/>
              </a:rPr>
              <a:t>1</a:t>
            </a:r>
            <a:endParaRPr sz="3750" baseline="1111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063905" y="3351126"/>
            <a:ext cx="2508250" cy="219710"/>
          </a:xfrm>
          <a:custGeom>
            <a:avLst/>
            <a:gdLst/>
            <a:ahLst/>
            <a:cxnLst/>
            <a:rect l="l" t="t" r="r" b="b"/>
            <a:pathLst>
              <a:path w="2508250" h="219710">
                <a:moveTo>
                  <a:pt x="0" y="0"/>
                </a:moveTo>
                <a:lnTo>
                  <a:pt x="254407" y="0"/>
                </a:lnTo>
              </a:path>
              <a:path w="2508250" h="219710">
                <a:moveTo>
                  <a:pt x="649675" y="219456"/>
                </a:moveTo>
                <a:lnTo>
                  <a:pt x="2508044" y="219456"/>
                </a:lnTo>
              </a:path>
            </a:pathLst>
          </a:custGeom>
          <a:ln w="126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/>
          <p:nvPr/>
        </p:nvSpPr>
        <p:spPr>
          <a:xfrm>
            <a:off x="6731276" y="3559777"/>
            <a:ext cx="18561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i="1" spc="-20" dirty="0">
                <a:latin typeface="Times New Roman"/>
                <a:cs typeface="Times New Roman"/>
              </a:rPr>
              <a:t>Banyak</a:t>
            </a:r>
            <a:r>
              <a:rPr sz="2600" spc="-20" dirty="0">
                <a:latin typeface="Times New Roman"/>
                <a:cs typeface="Times New Roman"/>
              </a:rPr>
              <a:t>_</a:t>
            </a:r>
            <a:r>
              <a:rPr sz="2600" spc="-240" dirty="0">
                <a:latin typeface="Times New Roman"/>
                <a:cs typeface="Times New Roman"/>
              </a:rPr>
              <a:t> </a:t>
            </a:r>
            <a:r>
              <a:rPr sz="2600" i="1" spc="-65" dirty="0">
                <a:latin typeface="Times New Roman"/>
                <a:cs typeface="Times New Roman"/>
              </a:rPr>
              <a:t>Data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197648" y="3526283"/>
            <a:ext cx="11874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spc="-20" dirty="0"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30913" y="3185869"/>
            <a:ext cx="10274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900" i="1" spc="-315" baseline="13888" dirty="0">
                <a:latin typeface="Times New Roman"/>
                <a:cs typeface="Times New Roman"/>
              </a:rPr>
              <a:t>P</a:t>
            </a:r>
            <a:r>
              <a:rPr sz="1500" spc="-210" dirty="0">
                <a:latin typeface="Times New Roman"/>
                <a:cs typeface="Times New Roman"/>
              </a:rPr>
              <a:t>12</a:t>
            </a:r>
            <a:r>
              <a:rPr sz="1500" spc="-45" dirty="0">
                <a:latin typeface="Times New Roman"/>
                <a:cs typeface="Times New Roman"/>
              </a:rPr>
              <a:t> </a:t>
            </a:r>
            <a:r>
              <a:rPr sz="3900" spc="-75" baseline="13888" dirty="0">
                <a:latin typeface="Symbol"/>
                <a:cs typeface="Symbol"/>
              </a:rPr>
              <a:t></a:t>
            </a:r>
            <a:r>
              <a:rPr sz="3900" spc="-345" baseline="13888" dirty="0">
                <a:latin typeface="Times New Roman"/>
                <a:cs typeface="Times New Roman"/>
              </a:rPr>
              <a:t> </a:t>
            </a:r>
            <a:r>
              <a:rPr sz="3900" i="1" spc="-225" baseline="13888" dirty="0">
                <a:latin typeface="Times New Roman"/>
                <a:cs typeface="Times New Roman"/>
              </a:rPr>
              <a:t>P</a:t>
            </a:r>
            <a:r>
              <a:rPr sz="1500" spc="-150" dirty="0">
                <a:latin typeface="Times New Roman"/>
                <a:cs typeface="Times New Roman"/>
              </a:rPr>
              <a:t>22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970539" y="3066735"/>
            <a:ext cx="689610" cy="711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spc="-420" dirty="0">
                <a:latin typeface="Symbol"/>
                <a:cs typeface="Symbol"/>
              </a:rPr>
              <a:t></a:t>
            </a:r>
            <a:r>
              <a:rPr sz="2600" i="1" spc="-420" dirty="0">
                <a:latin typeface="Times New Roman"/>
                <a:cs typeface="Times New Roman"/>
              </a:rPr>
              <a:t>x</a:t>
            </a:r>
            <a:r>
              <a:rPr sz="2600" i="1" spc="-195" dirty="0">
                <a:latin typeface="Times New Roman"/>
                <a:cs typeface="Times New Roman"/>
              </a:rPr>
              <a:t> </a:t>
            </a:r>
            <a:r>
              <a:rPr sz="4500" spc="-265" dirty="0">
                <a:latin typeface="Symbol"/>
                <a:cs typeface="Symbol"/>
              </a:rPr>
              <a:t></a:t>
            </a:r>
            <a:r>
              <a:rPr sz="2600" spc="-265" dirty="0">
                <a:latin typeface="Symbol"/>
                <a:cs typeface="Symbol"/>
              </a:rPr>
              <a:t></a:t>
            </a:r>
            <a:endParaRPr sz="26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4865751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3960749" y="0"/>
                  </a:moveTo>
                  <a:lnTo>
                    <a:pt x="0" y="0"/>
                  </a:lnTo>
                  <a:lnTo>
                    <a:pt x="0" y="4464050"/>
                  </a:lnTo>
                  <a:lnTo>
                    <a:pt x="3960749" y="4464050"/>
                  </a:lnTo>
                  <a:lnTo>
                    <a:pt x="396074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65751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0" y="4464050"/>
                  </a:moveTo>
                  <a:lnTo>
                    <a:pt x="3960749" y="4464050"/>
                  </a:lnTo>
                  <a:lnTo>
                    <a:pt x="3960749" y="0"/>
                  </a:lnTo>
                  <a:lnTo>
                    <a:pt x="0" y="0"/>
                  </a:lnTo>
                  <a:lnTo>
                    <a:pt x="0" y="446405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087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3960749" y="0"/>
                  </a:moveTo>
                  <a:lnTo>
                    <a:pt x="0" y="0"/>
                  </a:lnTo>
                  <a:lnTo>
                    <a:pt x="0" y="4464050"/>
                  </a:lnTo>
                  <a:lnTo>
                    <a:pt x="3960749" y="4464050"/>
                  </a:lnTo>
                  <a:lnTo>
                    <a:pt x="396074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7087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0" y="4464050"/>
                  </a:moveTo>
                  <a:lnTo>
                    <a:pt x="3960749" y="4464050"/>
                  </a:lnTo>
                  <a:lnTo>
                    <a:pt x="3960749" y="0"/>
                  </a:lnTo>
                  <a:lnTo>
                    <a:pt x="0" y="0"/>
                  </a:lnTo>
                  <a:lnTo>
                    <a:pt x="0" y="446405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1692" y="259207"/>
            <a:ext cx="773557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PCA : Menghitung Eigen</a:t>
            </a:r>
            <a:r>
              <a:rPr spc="-60" dirty="0"/>
              <a:t> </a:t>
            </a:r>
            <a:r>
              <a:rPr dirty="0"/>
              <a:t>Value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5940" y="1329309"/>
            <a:ext cx="3087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</a:tabLst>
            </a:pPr>
            <a:r>
              <a:rPr sz="3600" spc="-5" dirty="0">
                <a:latin typeface="Arial"/>
                <a:cs typeface="Arial"/>
              </a:rPr>
              <a:t>Eigen Value</a:t>
            </a:r>
            <a:r>
              <a:rPr sz="3600" spc="-6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9739" y="1980737"/>
            <a:ext cx="1717039" cy="4203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900" spc="95" dirty="0">
                <a:latin typeface="Times New Roman"/>
                <a:cs typeface="Times New Roman"/>
              </a:rPr>
              <a:t>det</a:t>
            </a:r>
            <a:r>
              <a:rPr sz="2600" spc="95" dirty="0">
                <a:latin typeface="Symbol"/>
                <a:cs typeface="Symbol"/>
              </a:rPr>
              <a:t></a:t>
            </a:r>
            <a:r>
              <a:rPr sz="2050" i="1" spc="95" dirty="0">
                <a:latin typeface="Symbol"/>
                <a:cs typeface="Symbol"/>
              </a:rPr>
              <a:t></a:t>
            </a:r>
            <a:r>
              <a:rPr sz="1900" i="1" spc="95" dirty="0">
                <a:latin typeface="Times New Roman"/>
                <a:cs typeface="Times New Roman"/>
              </a:rPr>
              <a:t>I</a:t>
            </a:r>
            <a:r>
              <a:rPr sz="1900" i="1" spc="80" dirty="0">
                <a:latin typeface="Times New Roman"/>
                <a:cs typeface="Times New Roman"/>
              </a:rPr>
              <a:t> </a:t>
            </a:r>
            <a:r>
              <a:rPr sz="1900" spc="285" dirty="0">
                <a:latin typeface="Symbol"/>
                <a:cs typeface="Symbol"/>
              </a:rPr>
              <a:t></a:t>
            </a:r>
            <a:r>
              <a:rPr sz="1900" spc="-245" dirty="0">
                <a:latin typeface="Times New Roman"/>
                <a:cs typeface="Times New Roman"/>
              </a:rPr>
              <a:t> </a:t>
            </a:r>
            <a:r>
              <a:rPr sz="1900" i="1" spc="295" dirty="0">
                <a:latin typeface="Times New Roman"/>
                <a:cs typeface="Times New Roman"/>
              </a:rPr>
              <a:t>C</a:t>
            </a:r>
            <a:r>
              <a:rPr sz="2600" spc="295" dirty="0">
                <a:latin typeface="Symbol"/>
                <a:cs typeface="Symbol"/>
              </a:rPr>
              <a:t></a:t>
            </a:r>
            <a:r>
              <a:rPr sz="1900" spc="295" dirty="0">
                <a:latin typeface="Symbol"/>
                <a:cs typeface="Symbol"/>
              </a:rPr>
              <a:t></a:t>
            </a:r>
            <a:r>
              <a:rPr sz="1900" spc="-80" dirty="0">
                <a:latin typeface="Times New Roman"/>
                <a:cs typeface="Times New Roman"/>
              </a:rPr>
              <a:t> </a:t>
            </a:r>
            <a:r>
              <a:rPr sz="1900" spc="260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90473" y="3243308"/>
            <a:ext cx="612775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2400" spc="412" baseline="36458" dirty="0">
                <a:latin typeface="Symbol"/>
                <a:cs typeface="Symbol"/>
              </a:rPr>
              <a:t></a:t>
            </a:r>
            <a:r>
              <a:rPr sz="2400" spc="412" baseline="36458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</a:t>
            </a:r>
            <a:r>
              <a:rPr sz="1600" spc="-150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1043" y="3446876"/>
            <a:ext cx="1910714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1784350" algn="l"/>
              </a:tabLst>
            </a:pPr>
            <a:r>
              <a:rPr sz="1600" spc="275" dirty="0">
                <a:latin typeface="Symbol"/>
                <a:cs typeface="Symbol"/>
              </a:rPr>
              <a:t></a:t>
            </a:r>
            <a:r>
              <a:rPr sz="1600" spc="275" dirty="0">
                <a:latin typeface="Times New Roman"/>
                <a:cs typeface="Times New Roman"/>
              </a:rPr>
              <a:t>	</a:t>
            </a:r>
            <a:r>
              <a:rPr sz="1600" spc="275" dirty="0">
                <a:latin typeface="Symbol"/>
                <a:cs typeface="Symbol"/>
              </a:rPr>
              <a:t>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05643" y="3398310"/>
            <a:ext cx="746125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2400" spc="412" baseline="26041" dirty="0">
                <a:latin typeface="Symbol"/>
                <a:cs typeface="Symbol"/>
              </a:rPr>
              <a:t></a:t>
            </a:r>
            <a:r>
              <a:rPr sz="2400" spc="705" baseline="26041" dirty="0">
                <a:latin typeface="Times New Roman"/>
                <a:cs typeface="Times New Roman"/>
              </a:rPr>
              <a:t> </a:t>
            </a:r>
            <a:r>
              <a:rPr sz="1600" spc="350" dirty="0">
                <a:latin typeface="Symbol"/>
                <a:cs typeface="Symbol"/>
              </a:rPr>
              <a:t></a:t>
            </a:r>
            <a:r>
              <a:rPr sz="1600" spc="350" dirty="0">
                <a:latin typeface="Times New Roman"/>
                <a:cs typeface="Times New Roman"/>
              </a:rPr>
              <a:t>13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1043" y="2805787"/>
            <a:ext cx="12573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spc="275" dirty="0">
                <a:latin typeface="Symbol"/>
                <a:cs typeface="Symbol"/>
              </a:rPr>
              <a:t>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04581" y="2788850"/>
            <a:ext cx="25146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spc="370" dirty="0">
                <a:latin typeface="Symbol"/>
                <a:cs typeface="Symbol"/>
              </a:rPr>
              <a:t></a:t>
            </a:r>
            <a:r>
              <a:rPr sz="2400" spc="412" baseline="-5208" dirty="0">
                <a:latin typeface="Symbol"/>
                <a:cs typeface="Symbol"/>
              </a:rPr>
              <a:t></a:t>
            </a:r>
            <a:endParaRPr sz="2400" baseline="-5208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77260" y="2436687"/>
            <a:ext cx="104013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sz="1600" spc="350" dirty="0">
                <a:latin typeface="Times New Roman"/>
                <a:cs typeface="Times New Roman"/>
              </a:rPr>
              <a:t>13</a:t>
            </a:r>
            <a:r>
              <a:rPr sz="2400" spc="525" baseline="-3472" dirty="0">
                <a:latin typeface="Symbol"/>
                <a:cs typeface="Symbol"/>
              </a:rPr>
              <a:t></a:t>
            </a:r>
            <a:r>
              <a:rPr sz="1600" spc="350" dirty="0">
                <a:latin typeface="Symbol"/>
                <a:cs typeface="Symbol"/>
              </a:rPr>
              <a:t></a:t>
            </a:r>
            <a:r>
              <a:rPr sz="1600" spc="350" dirty="0">
                <a:latin typeface="Times New Roman"/>
                <a:cs typeface="Times New Roman"/>
              </a:rPr>
              <a:t> </a:t>
            </a:r>
            <a:r>
              <a:rPr sz="2400" spc="585" baseline="-39930" dirty="0">
                <a:latin typeface="Symbol"/>
                <a:cs typeface="Symbol"/>
              </a:rPr>
              <a:t></a:t>
            </a:r>
            <a:r>
              <a:rPr sz="2400" spc="-315" baseline="-39930" dirty="0">
                <a:latin typeface="Times New Roman"/>
                <a:cs typeface="Times New Roman"/>
              </a:rPr>
              <a:t> </a:t>
            </a:r>
            <a:r>
              <a:rPr sz="2400" spc="532" baseline="-39930" dirty="0">
                <a:latin typeface="Times New Roman"/>
                <a:cs typeface="Times New Roman"/>
              </a:rPr>
              <a:t>0</a:t>
            </a:r>
            <a:endParaRPr sz="2400" baseline="-3993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31716" y="2740721"/>
            <a:ext cx="126238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681990" algn="l"/>
              </a:tabLst>
            </a:pPr>
            <a:r>
              <a:rPr sz="2400" spc="367" baseline="26041" dirty="0">
                <a:latin typeface="Symbol"/>
                <a:cs typeface="Symbol"/>
              </a:rPr>
              <a:t></a:t>
            </a:r>
            <a:r>
              <a:rPr sz="1600" spc="245" dirty="0">
                <a:latin typeface="Times New Roman"/>
                <a:cs typeface="Times New Roman"/>
              </a:rPr>
              <a:t>13	</a:t>
            </a:r>
            <a:r>
              <a:rPr sz="1600" spc="330" dirty="0">
                <a:latin typeface="Times New Roman"/>
                <a:cs typeface="Times New Roman"/>
              </a:rPr>
              <a:t>29</a:t>
            </a:r>
            <a:r>
              <a:rPr sz="2400" spc="494" baseline="26041" dirty="0">
                <a:latin typeface="Symbol"/>
                <a:cs typeface="Symbol"/>
              </a:rPr>
              <a:t></a:t>
            </a:r>
            <a:r>
              <a:rPr sz="2400" spc="494" baseline="31250" dirty="0">
                <a:latin typeface="Symbol"/>
                <a:cs typeface="Symbol"/>
              </a:rPr>
              <a:t></a:t>
            </a:r>
            <a:endParaRPr sz="2400" baseline="3125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93664" y="2788850"/>
            <a:ext cx="502284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375920" algn="l"/>
              </a:tabLst>
            </a:pPr>
            <a:r>
              <a:rPr sz="1600" spc="275" dirty="0">
                <a:latin typeface="Symbol"/>
                <a:cs typeface="Symbol"/>
              </a:rPr>
              <a:t></a:t>
            </a:r>
            <a:r>
              <a:rPr sz="1600" spc="275" dirty="0">
                <a:latin typeface="Times New Roman"/>
                <a:cs typeface="Times New Roman"/>
              </a:rPr>
              <a:t>	</a:t>
            </a:r>
            <a:r>
              <a:rPr sz="1600" spc="275" dirty="0">
                <a:latin typeface="Symbol"/>
                <a:cs typeface="Symbol"/>
              </a:rPr>
              <a:t>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9197" y="2645637"/>
            <a:ext cx="86868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54355" algn="l"/>
              </a:tabLst>
            </a:pPr>
            <a:r>
              <a:rPr sz="1600" spc="310" dirty="0">
                <a:latin typeface="Symbol"/>
                <a:cs typeface="Symbol"/>
              </a:rPr>
              <a:t></a:t>
            </a:r>
            <a:r>
              <a:rPr sz="2400" spc="465" baseline="-26041" dirty="0">
                <a:latin typeface="Times New Roman"/>
                <a:cs typeface="Times New Roman"/>
              </a:rPr>
              <a:t>0	</a:t>
            </a:r>
            <a:r>
              <a:rPr sz="2400" spc="480" baseline="-26041" dirty="0">
                <a:latin typeface="Times New Roman"/>
                <a:cs typeface="Times New Roman"/>
              </a:rPr>
              <a:t>1</a:t>
            </a:r>
            <a:r>
              <a:rPr sz="1600" spc="320" dirty="0">
                <a:latin typeface="Symbol"/>
                <a:cs typeface="Symbol"/>
              </a:rPr>
              <a:t>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27297" y="2788850"/>
            <a:ext cx="125730" cy="2749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spc="275" dirty="0">
                <a:latin typeface="Symbol"/>
                <a:cs typeface="Symbol"/>
              </a:rPr>
              <a:t>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33612" y="3652438"/>
            <a:ext cx="3767454" cy="1611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ts val="2485"/>
              </a:lnSpc>
              <a:spcBef>
                <a:spcPts val="105"/>
              </a:spcBef>
            </a:pPr>
            <a:r>
              <a:rPr sz="2150" spc="114" dirty="0">
                <a:latin typeface="Symbol"/>
                <a:cs typeface="Symbol"/>
              </a:rPr>
              <a:t></a:t>
            </a:r>
            <a:r>
              <a:rPr sz="1800" i="1" spc="114" dirty="0">
                <a:latin typeface="Symbol"/>
                <a:cs typeface="Symbol"/>
              </a:rPr>
              <a:t></a:t>
            </a:r>
            <a:r>
              <a:rPr sz="1800" i="1" spc="25" dirty="0">
                <a:latin typeface="Times New Roman"/>
                <a:cs typeface="Times New Roman"/>
              </a:rPr>
              <a:t> </a:t>
            </a:r>
            <a:r>
              <a:rPr sz="1600" spc="270" dirty="0">
                <a:latin typeface="Symbol"/>
                <a:cs typeface="Symbol"/>
              </a:rPr>
              <a:t></a:t>
            </a:r>
            <a:r>
              <a:rPr sz="1600" spc="270" dirty="0">
                <a:latin typeface="Times New Roman"/>
                <a:cs typeface="Times New Roman"/>
              </a:rPr>
              <a:t>17</a:t>
            </a:r>
            <a:r>
              <a:rPr sz="2150" spc="270" dirty="0">
                <a:latin typeface="Symbol"/>
                <a:cs typeface="Symbol"/>
              </a:rPr>
              <a:t></a:t>
            </a:r>
            <a:r>
              <a:rPr sz="1600" spc="270" dirty="0">
                <a:latin typeface="Times New Roman"/>
                <a:cs typeface="Times New Roman"/>
              </a:rPr>
              <a:t>(</a:t>
            </a:r>
            <a:r>
              <a:rPr sz="1800" i="1" spc="270" dirty="0">
                <a:latin typeface="Symbol"/>
                <a:cs typeface="Symbol"/>
              </a:rPr>
              <a:t>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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295" dirty="0">
                <a:latin typeface="Times New Roman"/>
                <a:cs typeface="Times New Roman"/>
              </a:rPr>
              <a:t>29)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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2150" spc="325" dirty="0">
                <a:latin typeface="Symbol"/>
                <a:cs typeface="Symbol"/>
              </a:rPr>
              <a:t></a:t>
            </a:r>
            <a:r>
              <a:rPr sz="1600" spc="325" dirty="0">
                <a:latin typeface="Symbol"/>
                <a:cs typeface="Symbol"/>
              </a:rPr>
              <a:t></a:t>
            </a:r>
            <a:r>
              <a:rPr sz="1600" spc="325" dirty="0">
                <a:latin typeface="Times New Roman"/>
                <a:cs typeface="Times New Roman"/>
              </a:rPr>
              <a:t>13*</a:t>
            </a:r>
            <a:r>
              <a:rPr sz="1600" spc="-195" dirty="0">
                <a:latin typeface="Times New Roman"/>
                <a:cs typeface="Times New Roman"/>
              </a:rPr>
              <a:t> </a:t>
            </a:r>
            <a:r>
              <a:rPr sz="1600" spc="260" dirty="0">
                <a:latin typeface="Symbol"/>
                <a:cs typeface="Symbol"/>
              </a:rPr>
              <a:t></a:t>
            </a:r>
            <a:r>
              <a:rPr sz="1600" spc="260" dirty="0">
                <a:latin typeface="Times New Roman"/>
                <a:cs typeface="Times New Roman"/>
              </a:rPr>
              <a:t>13</a:t>
            </a:r>
            <a:r>
              <a:rPr sz="2150" spc="260" dirty="0">
                <a:latin typeface="Symbol"/>
                <a:cs typeface="Symbol"/>
              </a:rPr>
              <a:t></a:t>
            </a:r>
            <a:r>
              <a:rPr sz="2150" spc="-220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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ts val="2390"/>
              </a:lnSpc>
            </a:pPr>
            <a:r>
              <a:rPr sz="2150" spc="114" dirty="0">
                <a:latin typeface="Symbol"/>
                <a:cs typeface="Symbol"/>
              </a:rPr>
              <a:t></a:t>
            </a:r>
            <a:r>
              <a:rPr sz="1800" i="1" spc="114" dirty="0">
                <a:latin typeface="Symbol"/>
                <a:cs typeface="Symbol"/>
              </a:rPr>
              <a:t>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600" spc="270" dirty="0">
                <a:latin typeface="Symbol"/>
                <a:cs typeface="Symbol"/>
              </a:rPr>
              <a:t></a:t>
            </a:r>
            <a:r>
              <a:rPr sz="1600" spc="270" dirty="0">
                <a:latin typeface="Times New Roman"/>
                <a:cs typeface="Times New Roman"/>
              </a:rPr>
              <a:t>17</a:t>
            </a:r>
            <a:r>
              <a:rPr sz="2150" spc="270" dirty="0">
                <a:latin typeface="Symbol"/>
                <a:cs typeface="Symbol"/>
              </a:rPr>
              <a:t></a:t>
            </a:r>
            <a:r>
              <a:rPr sz="1600" spc="270" dirty="0">
                <a:latin typeface="Times New Roman"/>
                <a:cs typeface="Times New Roman"/>
              </a:rPr>
              <a:t>(</a:t>
            </a:r>
            <a:r>
              <a:rPr sz="1800" i="1" spc="270" dirty="0">
                <a:latin typeface="Symbol"/>
                <a:cs typeface="Symbol"/>
              </a:rPr>
              <a:t></a:t>
            </a:r>
            <a:r>
              <a:rPr sz="1800" i="1" spc="3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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295" dirty="0">
                <a:latin typeface="Times New Roman"/>
                <a:cs typeface="Times New Roman"/>
              </a:rPr>
              <a:t>29)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Symbol"/>
                <a:cs typeface="Symbol"/>
              </a:rPr>
              <a:t></a:t>
            </a:r>
            <a:r>
              <a:rPr sz="1600" spc="355" dirty="0">
                <a:latin typeface="Times New Roman"/>
                <a:cs typeface="Times New Roman"/>
              </a:rPr>
              <a:t>169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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ts val="2485"/>
              </a:lnSpc>
            </a:pPr>
            <a:r>
              <a:rPr sz="1800" i="1" spc="215" dirty="0">
                <a:latin typeface="Symbol"/>
                <a:cs typeface="Symbol"/>
              </a:rPr>
              <a:t></a:t>
            </a:r>
            <a:r>
              <a:rPr sz="2150" spc="215" dirty="0">
                <a:latin typeface="Symbol"/>
                <a:cs typeface="Symbol"/>
              </a:rPr>
              <a:t></a:t>
            </a:r>
            <a:r>
              <a:rPr sz="1800" i="1" spc="215" dirty="0">
                <a:latin typeface="Symbol"/>
                <a:cs typeface="Symbol"/>
              </a:rPr>
              <a:t></a:t>
            </a:r>
            <a:r>
              <a:rPr sz="1800" i="1" spc="2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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330" dirty="0">
                <a:latin typeface="Times New Roman"/>
                <a:cs typeface="Times New Roman"/>
              </a:rPr>
              <a:t>29</a:t>
            </a:r>
            <a:r>
              <a:rPr sz="2150" spc="330" dirty="0">
                <a:latin typeface="Symbol"/>
                <a:cs typeface="Symbol"/>
              </a:rPr>
              <a:t></a:t>
            </a:r>
            <a:r>
              <a:rPr sz="1600" spc="330" dirty="0">
                <a:latin typeface="Symbol"/>
                <a:cs typeface="Symbol"/>
              </a:rPr>
              <a:t></a:t>
            </a:r>
            <a:r>
              <a:rPr sz="1600" spc="330" dirty="0">
                <a:latin typeface="Times New Roman"/>
                <a:cs typeface="Times New Roman"/>
              </a:rPr>
              <a:t>17(</a:t>
            </a:r>
            <a:r>
              <a:rPr sz="1800" i="1" spc="330" dirty="0">
                <a:latin typeface="Symbol"/>
                <a:cs typeface="Symbol"/>
              </a:rPr>
              <a:t>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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295" dirty="0">
                <a:latin typeface="Times New Roman"/>
                <a:cs typeface="Times New Roman"/>
              </a:rPr>
              <a:t>29)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Symbol"/>
                <a:cs typeface="Symbol"/>
              </a:rPr>
              <a:t></a:t>
            </a:r>
            <a:r>
              <a:rPr sz="1600" spc="355" dirty="0">
                <a:latin typeface="Times New Roman"/>
                <a:cs typeface="Times New Roman"/>
              </a:rPr>
              <a:t>169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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65"/>
              </a:spcBef>
            </a:pPr>
            <a:r>
              <a:rPr sz="1800" i="1" spc="210" dirty="0">
                <a:latin typeface="Symbol"/>
                <a:cs typeface="Symbol"/>
              </a:rPr>
              <a:t></a:t>
            </a:r>
            <a:r>
              <a:rPr sz="1425" spc="315" baseline="40935" dirty="0">
                <a:latin typeface="Times New Roman"/>
                <a:cs typeface="Times New Roman"/>
              </a:rPr>
              <a:t>2</a:t>
            </a:r>
            <a:r>
              <a:rPr sz="1425" spc="502" baseline="4093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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310" dirty="0">
                <a:latin typeface="Times New Roman"/>
                <a:cs typeface="Times New Roman"/>
              </a:rPr>
              <a:t>29</a:t>
            </a:r>
            <a:r>
              <a:rPr sz="1800" i="1" spc="310" dirty="0">
                <a:latin typeface="Symbol"/>
                <a:cs typeface="Symbol"/>
              </a:rPr>
              <a:t>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600" spc="365" dirty="0">
                <a:latin typeface="Symbol"/>
                <a:cs typeface="Symbol"/>
              </a:rPr>
              <a:t></a:t>
            </a:r>
            <a:r>
              <a:rPr sz="1600" spc="365" dirty="0">
                <a:latin typeface="Times New Roman"/>
                <a:cs typeface="Times New Roman"/>
              </a:rPr>
              <a:t>17</a:t>
            </a:r>
            <a:r>
              <a:rPr sz="1800" i="1" spc="365" dirty="0">
                <a:latin typeface="Symbol"/>
                <a:cs typeface="Symbol"/>
              </a:rPr>
              <a:t>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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310" dirty="0">
                <a:latin typeface="Times New Roman"/>
                <a:cs typeface="Times New Roman"/>
              </a:rPr>
              <a:t>493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Symbol"/>
                <a:cs typeface="Symbol"/>
              </a:rPr>
              <a:t></a:t>
            </a:r>
            <a:r>
              <a:rPr sz="1600" spc="355" dirty="0">
                <a:latin typeface="Times New Roman"/>
                <a:cs typeface="Times New Roman"/>
              </a:rPr>
              <a:t>169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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434"/>
              </a:spcBef>
            </a:pPr>
            <a:r>
              <a:rPr sz="1800" i="1" spc="210" dirty="0">
                <a:latin typeface="Symbol"/>
                <a:cs typeface="Symbol"/>
              </a:rPr>
              <a:t></a:t>
            </a:r>
            <a:r>
              <a:rPr sz="1425" spc="315" baseline="40935" dirty="0">
                <a:latin typeface="Times New Roman"/>
                <a:cs typeface="Times New Roman"/>
              </a:rPr>
              <a:t>2</a:t>
            </a:r>
            <a:r>
              <a:rPr sz="1425" spc="502" baseline="4093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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310" dirty="0">
                <a:latin typeface="Times New Roman"/>
                <a:cs typeface="Times New Roman"/>
              </a:rPr>
              <a:t>46</a:t>
            </a:r>
            <a:r>
              <a:rPr sz="1800" i="1" spc="310" dirty="0">
                <a:latin typeface="Symbol"/>
                <a:cs typeface="Symbol"/>
              </a:rPr>
              <a:t></a:t>
            </a:r>
            <a:r>
              <a:rPr sz="1800" i="1" spc="3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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310" dirty="0">
                <a:latin typeface="Times New Roman"/>
                <a:cs typeface="Times New Roman"/>
              </a:rPr>
              <a:t>324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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69955" y="3376285"/>
            <a:ext cx="89725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1800" i="1" spc="280" dirty="0">
                <a:latin typeface="Symbol"/>
                <a:cs typeface="Symbol"/>
              </a:rPr>
              <a:t></a:t>
            </a:r>
            <a:r>
              <a:rPr sz="1800" i="1" spc="-5" dirty="0">
                <a:latin typeface="Times New Roman"/>
                <a:cs typeface="Times New Roman"/>
              </a:rPr>
              <a:t> </a:t>
            </a:r>
            <a:r>
              <a:rPr sz="1600" spc="390" dirty="0">
                <a:latin typeface="Symbol"/>
                <a:cs typeface="Symbol"/>
              </a:rPr>
              <a:t>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320" dirty="0">
                <a:latin typeface="Times New Roman"/>
                <a:cs typeface="Times New Roman"/>
              </a:rPr>
              <a:t>29</a:t>
            </a:r>
            <a:r>
              <a:rPr sz="2400" spc="480" baseline="26041" dirty="0">
                <a:latin typeface="Symbol"/>
                <a:cs typeface="Symbol"/>
              </a:rPr>
              <a:t></a:t>
            </a:r>
            <a:endParaRPr sz="2400" baseline="26041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1502" y="3072704"/>
            <a:ext cx="2096135" cy="3009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607820" algn="l"/>
              </a:tabLst>
            </a:pPr>
            <a:r>
              <a:rPr sz="2400" spc="450" baseline="-39930" dirty="0">
                <a:latin typeface="Times New Roman"/>
                <a:cs typeface="Times New Roman"/>
              </a:rPr>
              <a:t>det</a:t>
            </a:r>
            <a:r>
              <a:rPr sz="2400" spc="450" baseline="-3472" dirty="0">
                <a:latin typeface="Symbol"/>
                <a:cs typeface="Symbol"/>
              </a:rPr>
              <a:t></a:t>
            </a:r>
            <a:r>
              <a:rPr sz="1800" i="1" spc="300" dirty="0">
                <a:latin typeface="Symbol"/>
                <a:cs typeface="Symbol"/>
              </a:rPr>
              <a:t></a:t>
            </a:r>
            <a:r>
              <a:rPr sz="1800" i="1" spc="30" dirty="0">
                <a:latin typeface="Times New Roman"/>
                <a:cs typeface="Times New Roman"/>
              </a:rPr>
              <a:t> </a:t>
            </a:r>
            <a:r>
              <a:rPr sz="1600" spc="375" dirty="0">
                <a:latin typeface="Symbol"/>
                <a:cs typeface="Symbol"/>
              </a:rPr>
              <a:t></a:t>
            </a:r>
            <a:r>
              <a:rPr sz="1600" spc="375" dirty="0">
                <a:latin typeface="Times New Roman"/>
                <a:cs typeface="Times New Roman"/>
              </a:rPr>
              <a:t>17	</a:t>
            </a:r>
            <a:r>
              <a:rPr sz="1600" spc="350" dirty="0">
                <a:latin typeface="Symbol"/>
                <a:cs typeface="Symbol"/>
              </a:rPr>
              <a:t></a:t>
            </a:r>
            <a:r>
              <a:rPr sz="1600" spc="350" dirty="0">
                <a:latin typeface="Times New Roman"/>
                <a:cs typeface="Times New Roman"/>
              </a:rPr>
              <a:t>13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34202" y="2436687"/>
            <a:ext cx="2346960" cy="427990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25400" marR="43180" indent="370840">
              <a:lnSpc>
                <a:spcPct val="55300"/>
              </a:lnSpc>
              <a:spcBef>
                <a:spcPts val="990"/>
              </a:spcBef>
              <a:tabLst>
                <a:tab pos="892810" algn="l"/>
                <a:tab pos="1411605" algn="l"/>
                <a:tab pos="1724660" algn="l"/>
                <a:tab pos="1935480" algn="l"/>
              </a:tabLst>
            </a:pPr>
            <a:r>
              <a:rPr sz="1600" spc="275" dirty="0">
                <a:latin typeface="Symbol"/>
                <a:cs typeface="Symbol"/>
              </a:rPr>
              <a:t></a:t>
            </a:r>
            <a:r>
              <a:rPr sz="1600" spc="275" dirty="0">
                <a:latin typeface="Times New Roman"/>
                <a:cs typeface="Times New Roman"/>
              </a:rPr>
              <a:t>	</a:t>
            </a:r>
            <a:r>
              <a:rPr sz="2400" spc="367" baseline="-3472" dirty="0">
                <a:latin typeface="Symbol"/>
                <a:cs typeface="Symbol"/>
              </a:rPr>
              <a:t></a:t>
            </a:r>
            <a:r>
              <a:rPr sz="1600" spc="355" dirty="0">
                <a:latin typeface="Times New Roman"/>
                <a:cs typeface="Times New Roman"/>
              </a:rPr>
              <a:t>1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355" dirty="0">
                <a:latin typeface="Times New Roman"/>
                <a:cs typeface="Times New Roman"/>
              </a:rPr>
              <a:t>0</a:t>
            </a:r>
            <a:r>
              <a:rPr sz="2400" spc="412" baseline="-3472" dirty="0">
                <a:latin typeface="Symbol"/>
                <a:cs typeface="Symbol"/>
              </a:rPr>
              <a:t></a:t>
            </a:r>
            <a:r>
              <a:rPr sz="2400" baseline="-3472" dirty="0">
                <a:latin typeface="Times New Roman"/>
                <a:cs typeface="Times New Roman"/>
              </a:rPr>
              <a:t>		</a:t>
            </a:r>
            <a:r>
              <a:rPr sz="2400" spc="75" baseline="-3472" dirty="0">
                <a:latin typeface="Symbol"/>
                <a:cs typeface="Symbol"/>
              </a:rPr>
              <a:t></a:t>
            </a:r>
            <a:r>
              <a:rPr sz="1600" spc="190" dirty="0">
                <a:latin typeface="Times New Roman"/>
                <a:cs typeface="Times New Roman"/>
              </a:rPr>
              <a:t>17  </a:t>
            </a:r>
            <a:r>
              <a:rPr sz="1600" spc="300" dirty="0">
                <a:latin typeface="Times New Roman"/>
                <a:cs typeface="Times New Roman"/>
              </a:rPr>
              <a:t>det</a:t>
            </a:r>
            <a:r>
              <a:rPr sz="2400" spc="450" baseline="-12152" dirty="0">
                <a:latin typeface="Symbol"/>
                <a:cs typeface="Symbol"/>
              </a:rPr>
              <a:t></a:t>
            </a:r>
            <a:r>
              <a:rPr sz="1800" i="1" spc="300" dirty="0">
                <a:latin typeface="Symbol"/>
                <a:cs typeface="Symbol"/>
              </a:rPr>
              <a:t></a:t>
            </a:r>
            <a:r>
              <a:rPr sz="1800" i="1" spc="-100" dirty="0">
                <a:latin typeface="Times New Roman"/>
                <a:cs typeface="Times New Roman"/>
              </a:rPr>
              <a:t> </a:t>
            </a:r>
            <a:r>
              <a:rPr sz="1600" spc="355" dirty="0">
                <a:latin typeface="Times New Roman"/>
                <a:cs typeface="Times New Roman"/>
              </a:rPr>
              <a:t>*			</a:t>
            </a:r>
            <a:r>
              <a:rPr sz="1600" spc="390" dirty="0">
                <a:latin typeface="Symbol"/>
                <a:cs typeface="Symbol"/>
              </a:rPr>
              <a:t></a:t>
            </a:r>
            <a:endParaRPr sz="1600">
              <a:latin typeface="Symbol"/>
              <a:cs typeface="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499786" y="2088466"/>
            <a:ext cx="3210560" cy="2348230"/>
            <a:chOff x="5499786" y="2088466"/>
            <a:chExt cx="3210560" cy="2348230"/>
          </a:xfrm>
        </p:grpSpPr>
        <p:sp>
          <p:nvSpPr>
            <p:cNvPr id="25" name="object 25"/>
            <p:cNvSpPr/>
            <p:nvPr/>
          </p:nvSpPr>
          <p:spPr>
            <a:xfrm>
              <a:off x="6273031" y="2225879"/>
              <a:ext cx="36830" cy="13335"/>
            </a:xfrm>
            <a:custGeom>
              <a:avLst/>
              <a:gdLst/>
              <a:ahLst/>
              <a:cxnLst/>
              <a:rect l="l" t="t" r="r" b="b"/>
              <a:pathLst>
                <a:path w="36829" h="13335">
                  <a:moveTo>
                    <a:pt x="0" y="13071"/>
                  </a:moveTo>
                  <a:lnTo>
                    <a:pt x="36512" y="0"/>
                  </a:lnTo>
                </a:path>
              </a:pathLst>
            </a:custGeom>
            <a:ln w="792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09543" y="2229485"/>
              <a:ext cx="52705" cy="71120"/>
            </a:xfrm>
            <a:custGeom>
              <a:avLst/>
              <a:gdLst/>
              <a:ahLst/>
              <a:cxnLst/>
              <a:rect l="l" t="t" r="r" b="b"/>
              <a:pathLst>
                <a:path w="52704" h="71119">
                  <a:moveTo>
                    <a:pt x="0" y="0"/>
                  </a:moveTo>
                  <a:lnTo>
                    <a:pt x="52436" y="70767"/>
                  </a:lnTo>
                </a:path>
              </a:pathLst>
            </a:custGeom>
            <a:ln w="2047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644076" y="2094260"/>
              <a:ext cx="1786889" cy="692785"/>
            </a:xfrm>
            <a:custGeom>
              <a:avLst/>
              <a:gdLst/>
              <a:ahLst/>
              <a:cxnLst/>
              <a:rect l="l" t="t" r="r" b="b"/>
              <a:pathLst>
                <a:path w="1786890" h="692785">
                  <a:moveTo>
                    <a:pt x="724378" y="205993"/>
                  </a:moveTo>
                  <a:lnTo>
                    <a:pt x="794452" y="0"/>
                  </a:lnTo>
                </a:path>
                <a:path w="1786890" h="692785">
                  <a:moveTo>
                    <a:pt x="794452" y="0"/>
                  </a:moveTo>
                  <a:lnTo>
                    <a:pt x="1763114" y="0"/>
                  </a:lnTo>
                </a:path>
                <a:path w="1786890" h="692785">
                  <a:moveTo>
                    <a:pt x="0" y="264440"/>
                  </a:moveTo>
                  <a:lnTo>
                    <a:pt x="1786679" y="264440"/>
                  </a:lnTo>
                </a:path>
                <a:path w="1786890" h="692785">
                  <a:moveTo>
                    <a:pt x="1129542" y="692203"/>
                  </a:moveTo>
                  <a:lnTo>
                    <a:pt x="1166055" y="678831"/>
                  </a:lnTo>
                </a:path>
              </a:pathLst>
            </a:custGeom>
            <a:ln w="96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810132" y="2776997"/>
              <a:ext cx="53340" cy="70485"/>
            </a:xfrm>
            <a:custGeom>
              <a:avLst/>
              <a:gdLst/>
              <a:ahLst/>
              <a:cxnLst/>
              <a:rect l="l" t="t" r="r" b="b"/>
              <a:pathLst>
                <a:path w="53340" h="70485">
                  <a:moveTo>
                    <a:pt x="0" y="0"/>
                  </a:moveTo>
                  <a:lnTo>
                    <a:pt x="53007" y="70467"/>
                  </a:lnTo>
                </a:path>
              </a:pathLst>
            </a:custGeom>
            <a:ln w="204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44076" y="2641772"/>
              <a:ext cx="3066415" cy="675640"/>
            </a:xfrm>
            <a:custGeom>
              <a:avLst/>
              <a:gdLst/>
              <a:ahLst/>
              <a:cxnLst/>
              <a:rect l="l" t="t" r="r" b="b"/>
              <a:pathLst>
                <a:path w="3066415" h="675639">
                  <a:moveTo>
                    <a:pt x="1224942" y="205692"/>
                  </a:moveTo>
                  <a:lnTo>
                    <a:pt x="1295040" y="0"/>
                  </a:lnTo>
                </a:path>
                <a:path w="3066415" h="675639">
                  <a:moveTo>
                    <a:pt x="0" y="263989"/>
                  </a:moveTo>
                  <a:lnTo>
                    <a:pt x="3065819" y="263989"/>
                  </a:lnTo>
                </a:path>
                <a:path w="3066415" h="675639">
                  <a:moveTo>
                    <a:pt x="570662" y="675525"/>
                  </a:moveTo>
                  <a:lnTo>
                    <a:pt x="607175" y="662153"/>
                  </a:lnTo>
                </a:path>
              </a:pathLst>
            </a:custGeom>
            <a:ln w="96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51251" y="3307982"/>
              <a:ext cx="53340" cy="61594"/>
            </a:xfrm>
            <a:custGeom>
              <a:avLst/>
              <a:gdLst/>
              <a:ahLst/>
              <a:cxnLst/>
              <a:rect l="l" t="t" r="r" b="b"/>
              <a:pathLst>
                <a:path w="53339" h="61595">
                  <a:moveTo>
                    <a:pt x="0" y="0"/>
                  </a:moveTo>
                  <a:lnTo>
                    <a:pt x="53007" y="61151"/>
                  </a:lnTo>
                </a:path>
              </a:pathLst>
            </a:custGeom>
            <a:ln w="1982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14738" y="3186430"/>
              <a:ext cx="1557655" cy="652780"/>
            </a:xfrm>
            <a:custGeom>
              <a:avLst/>
              <a:gdLst/>
              <a:ahLst/>
              <a:cxnLst/>
              <a:rect l="l" t="t" r="r" b="b"/>
              <a:pathLst>
                <a:path w="1557654" h="652779">
                  <a:moveTo>
                    <a:pt x="95400" y="182704"/>
                  </a:moveTo>
                  <a:lnTo>
                    <a:pt x="165498" y="0"/>
                  </a:lnTo>
                </a:path>
                <a:path w="1557654" h="652779">
                  <a:moveTo>
                    <a:pt x="165498" y="0"/>
                  </a:moveTo>
                  <a:lnTo>
                    <a:pt x="1557581" y="0"/>
                  </a:lnTo>
                </a:path>
                <a:path w="1557654" h="652779">
                  <a:moveTo>
                    <a:pt x="0" y="652341"/>
                  </a:moveTo>
                  <a:lnTo>
                    <a:pt x="36512" y="639285"/>
                  </a:lnTo>
                </a:path>
              </a:pathLst>
            </a:custGeom>
            <a:ln w="96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51251" y="3829336"/>
              <a:ext cx="53340" cy="61594"/>
            </a:xfrm>
            <a:custGeom>
              <a:avLst/>
              <a:gdLst/>
              <a:ahLst/>
              <a:cxnLst/>
              <a:rect l="l" t="t" r="r" b="b"/>
              <a:pathLst>
                <a:path w="53339" h="61595">
                  <a:moveTo>
                    <a:pt x="0" y="0"/>
                  </a:moveTo>
                  <a:lnTo>
                    <a:pt x="53007" y="61287"/>
                  </a:lnTo>
                </a:path>
              </a:pathLst>
            </a:custGeom>
            <a:ln w="1983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499786" y="3707858"/>
              <a:ext cx="1639570" cy="725170"/>
            </a:xfrm>
            <a:custGeom>
              <a:avLst/>
              <a:gdLst/>
              <a:ahLst/>
              <a:cxnLst/>
              <a:rect l="l" t="t" r="r" b="b"/>
              <a:pathLst>
                <a:path w="1639570" h="725170">
                  <a:moveTo>
                    <a:pt x="810352" y="182764"/>
                  </a:moveTo>
                  <a:lnTo>
                    <a:pt x="880450" y="0"/>
                  </a:lnTo>
                </a:path>
                <a:path w="1639570" h="725170">
                  <a:moveTo>
                    <a:pt x="880450" y="0"/>
                  </a:moveTo>
                  <a:lnTo>
                    <a:pt x="1324484" y="0"/>
                  </a:lnTo>
                </a:path>
                <a:path w="1639570" h="725170">
                  <a:moveTo>
                    <a:pt x="0" y="724852"/>
                  </a:moveTo>
                  <a:lnTo>
                    <a:pt x="1639556" y="724852"/>
                  </a:lnTo>
                </a:path>
              </a:pathLst>
            </a:custGeom>
            <a:ln w="960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6286003" y="4905315"/>
            <a:ext cx="1593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50" spc="42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52417" y="4421243"/>
            <a:ext cx="1593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50" spc="42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178821" y="3937527"/>
            <a:ext cx="1593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50" spc="42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652893" y="3416053"/>
            <a:ext cx="1593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50" spc="425" dirty="0"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25234" y="4886185"/>
            <a:ext cx="984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spc="245" dirty="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106389" y="4402118"/>
            <a:ext cx="98425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spc="245" dirty="0">
                <a:latin typeface="Times New Roman"/>
                <a:cs typeface="Times New Roman"/>
              </a:rPr>
              <a:t>1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106389" y="3918402"/>
            <a:ext cx="2298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spc="180" dirty="0">
                <a:latin typeface="Times New Roman"/>
                <a:cs typeface="Times New Roman"/>
              </a:rPr>
              <a:t>1</a:t>
            </a:r>
            <a:r>
              <a:rPr sz="850" spc="200" dirty="0">
                <a:latin typeface="Times New Roman"/>
                <a:cs typeface="Times New Roman"/>
              </a:rPr>
              <a:t>,</a:t>
            </a:r>
            <a:r>
              <a:rPr sz="850" spc="245" dirty="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06389" y="3397003"/>
            <a:ext cx="2298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spc="180" dirty="0">
                <a:latin typeface="Times New Roman"/>
                <a:cs typeface="Times New Roman"/>
              </a:rPr>
              <a:t>1</a:t>
            </a:r>
            <a:r>
              <a:rPr sz="850" spc="200" dirty="0">
                <a:latin typeface="Times New Roman"/>
                <a:cs typeface="Times New Roman"/>
              </a:rPr>
              <a:t>,</a:t>
            </a:r>
            <a:r>
              <a:rPr sz="850" spc="245" dirty="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5106389" y="2875634"/>
            <a:ext cx="2298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spc="180" dirty="0">
                <a:latin typeface="Times New Roman"/>
                <a:cs typeface="Times New Roman"/>
              </a:rPr>
              <a:t>1</a:t>
            </a:r>
            <a:r>
              <a:rPr sz="850" spc="200" dirty="0">
                <a:latin typeface="Times New Roman"/>
                <a:cs typeface="Times New Roman"/>
              </a:rPr>
              <a:t>,</a:t>
            </a:r>
            <a:r>
              <a:rPr sz="850" spc="245" dirty="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06389" y="2327972"/>
            <a:ext cx="229870" cy="155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850" spc="180" dirty="0">
                <a:latin typeface="Times New Roman"/>
                <a:cs typeface="Times New Roman"/>
              </a:rPr>
              <a:t>1</a:t>
            </a:r>
            <a:r>
              <a:rPr sz="850" spc="200" dirty="0">
                <a:latin typeface="Times New Roman"/>
                <a:cs typeface="Times New Roman"/>
              </a:rPr>
              <a:t>,</a:t>
            </a:r>
            <a:r>
              <a:rPr sz="850" spc="245" dirty="0">
                <a:latin typeface="Times New Roman"/>
                <a:cs typeface="Times New Roman"/>
              </a:rPr>
              <a:t>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77683" y="4650044"/>
            <a:ext cx="328358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175" spc="705" baseline="-34482" dirty="0">
                <a:latin typeface="Symbol"/>
                <a:cs typeface="Symbol"/>
              </a:rPr>
              <a:t></a:t>
            </a:r>
            <a:r>
              <a:rPr sz="2175" spc="465" baseline="-34482" dirty="0">
                <a:latin typeface="Times New Roman"/>
                <a:cs typeface="Times New Roman"/>
              </a:rPr>
              <a:t> </a:t>
            </a:r>
            <a:r>
              <a:rPr sz="1450" u="sng" spc="3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46</a:t>
            </a:r>
            <a:r>
              <a:rPr sz="14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sng" spc="47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</a:t>
            </a:r>
            <a:r>
              <a:rPr sz="1450" u="sng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sng" spc="3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28.63564</a:t>
            </a:r>
            <a:r>
              <a:rPr sz="1450" spc="434" dirty="0">
                <a:latin typeface="Times New Roman"/>
                <a:cs typeface="Times New Roman"/>
              </a:rPr>
              <a:t> </a:t>
            </a:r>
            <a:r>
              <a:rPr sz="2175" spc="705" baseline="-34482" dirty="0">
                <a:latin typeface="Symbol"/>
                <a:cs typeface="Symbol"/>
              </a:rPr>
              <a:t></a:t>
            </a:r>
            <a:r>
              <a:rPr sz="2175" spc="89" baseline="-34482" dirty="0">
                <a:latin typeface="Times New Roman"/>
                <a:cs typeface="Times New Roman"/>
              </a:rPr>
              <a:t> </a:t>
            </a:r>
            <a:r>
              <a:rPr sz="2175" spc="532" baseline="-34482" dirty="0">
                <a:latin typeface="Times New Roman"/>
                <a:cs typeface="Times New Roman"/>
              </a:rPr>
              <a:t>37.31782</a:t>
            </a:r>
            <a:endParaRPr sz="2175" baseline="-34482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246478" y="4166329"/>
            <a:ext cx="31318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175" spc="705" baseline="-34482" dirty="0">
                <a:latin typeface="Symbol"/>
                <a:cs typeface="Symbol"/>
              </a:rPr>
              <a:t></a:t>
            </a:r>
            <a:r>
              <a:rPr sz="2175" spc="465" baseline="-34482" dirty="0">
                <a:latin typeface="Times New Roman"/>
                <a:cs typeface="Times New Roman"/>
              </a:rPr>
              <a:t> </a:t>
            </a:r>
            <a:r>
              <a:rPr sz="1450" spc="390" dirty="0">
                <a:latin typeface="Times New Roman"/>
                <a:cs typeface="Times New Roman"/>
              </a:rPr>
              <a:t>46</a:t>
            </a:r>
            <a:r>
              <a:rPr sz="1450" dirty="0">
                <a:latin typeface="Times New Roman"/>
                <a:cs typeface="Times New Roman"/>
              </a:rPr>
              <a:t> </a:t>
            </a:r>
            <a:r>
              <a:rPr sz="1450" spc="470" dirty="0">
                <a:latin typeface="Symbol"/>
                <a:cs typeface="Symbol"/>
              </a:rPr>
              <a:t></a:t>
            </a:r>
            <a:r>
              <a:rPr sz="1450" spc="-20" dirty="0">
                <a:latin typeface="Times New Roman"/>
                <a:cs typeface="Times New Roman"/>
              </a:rPr>
              <a:t> </a:t>
            </a:r>
            <a:r>
              <a:rPr sz="1450" spc="355" dirty="0">
                <a:latin typeface="Times New Roman"/>
                <a:cs typeface="Times New Roman"/>
              </a:rPr>
              <a:t>28.63564</a:t>
            </a:r>
            <a:r>
              <a:rPr sz="1450" spc="440" dirty="0">
                <a:latin typeface="Times New Roman"/>
                <a:cs typeface="Times New Roman"/>
              </a:rPr>
              <a:t> </a:t>
            </a:r>
            <a:r>
              <a:rPr sz="2175" spc="705" baseline="-34482" dirty="0">
                <a:latin typeface="Symbol"/>
                <a:cs typeface="Symbol"/>
              </a:rPr>
              <a:t></a:t>
            </a:r>
            <a:r>
              <a:rPr sz="2175" spc="30" baseline="-34482" dirty="0">
                <a:latin typeface="Times New Roman"/>
                <a:cs typeface="Times New Roman"/>
              </a:rPr>
              <a:t> </a:t>
            </a:r>
            <a:r>
              <a:rPr sz="2175" spc="525" baseline="-34482" dirty="0">
                <a:latin typeface="Times New Roman"/>
                <a:cs typeface="Times New Roman"/>
              </a:rPr>
              <a:t>8.68218</a:t>
            </a:r>
            <a:endParaRPr sz="2175" baseline="-34482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390173" y="3682267"/>
            <a:ext cx="145542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993775" algn="l"/>
              </a:tabLst>
            </a:pPr>
            <a:r>
              <a:rPr sz="2175" spc="705" baseline="-34482" dirty="0">
                <a:latin typeface="Symbol"/>
                <a:cs typeface="Symbol"/>
              </a:rPr>
              <a:t></a:t>
            </a:r>
            <a:r>
              <a:rPr sz="2175" spc="480" baseline="-34482" dirty="0">
                <a:latin typeface="Times New Roman"/>
                <a:cs typeface="Times New Roman"/>
              </a:rPr>
              <a:t> </a:t>
            </a:r>
            <a:r>
              <a:rPr sz="1450" u="sng" spc="3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46</a:t>
            </a:r>
            <a:r>
              <a:rPr sz="14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sng" spc="47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</a:t>
            </a:r>
            <a:r>
              <a:rPr sz="1450" u="sng" spc="4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50" u="sng" spc="3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820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390173" y="3160778"/>
            <a:ext cx="239839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  <a:tabLst>
                <a:tab pos="1007110" algn="l"/>
              </a:tabLst>
            </a:pPr>
            <a:r>
              <a:rPr sz="2175" spc="705" baseline="-34482" dirty="0">
                <a:latin typeface="Symbol"/>
                <a:cs typeface="Symbol"/>
              </a:rPr>
              <a:t></a:t>
            </a:r>
            <a:r>
              <a:rPr sz="2175" spc="480" baseline="-34482" dirty="0">
                <a:latin typeface="Times New Roman"/>
                <a:cs typeface="Times New Roman"/>
              </a:rPr>
              <a:t> </a:t>
            </a:r>
            <a:r>
              <a:rPr sz="1450" u="sng" spc="39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46</a:t>
            </a:r>
            <a:r>
              <a:rPr sz="145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sng" spc="470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</a:t>
            </a:r>
            <a:r>
              <a:rPr sz="1450" u="sng" spc="4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50" u="sng" spc="3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2116</a:t>
            </a:r>
            <a:r>
              <a:rPr sz="1450" u="sng" spc="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u="sng" spc="41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1450" u="sng" spc="4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1296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967993" y="4739681"/>
            <a:ext cx="17399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50" i="1" spc="360" dirty="0">
                <a:latin typeface="Symbol"/>
                <a:cs typeface="Symbol"/>
              </a:rPr>
              <a:t>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967993" y="4255965"/>
            <a:ext cx="17399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50" i="1" spc="360" dirty="0">
                <a:latin typeface="Symbol"/>
                <a:cs typeface="Symbol"/>
              </a:rPr>
              <a:t>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967993" y="3771903"/>
            <a:ext cx="17399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50" i="1" spc="360" dirty="0">
                <a:latin typeface="Symbol"/>
                <a:cs typeface="Symbol"/>
              </a:rPr>
              <a:t>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967993" y="3250445"/>
            <a:ext cx="17399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50" i="1" spc="360" dirty="0">
                <a:latin typeface="Symbol"/>
                <a:cs typeface="Symbol"/>
              </a:rPr>
              <a:t>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967993" y="2729076"/>
            <a:ext cx="17399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50" i="1" spc="360" dirty="0">
                <a:latin typeface="Symbol"/>
                <a:cs typeface="Symbol"/>
              </a:rPr>
              <a:t>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967993" y="2181564"/>
            <a:ext cx="17399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50" i="1" spc="360" dirty="0">
                <a:latin typeface="Symbol"/>
                <a:cs typeface="Symbol"/>
              </a:rPr>
              <a:t></a:t>
            </a:r>
            <a:endParaRPr sz="1650">
              <a:latin typeface="Symbol"/>
              <a:cs typeface="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377473" y="2277102"/>
            <a:ext cx="3427095" cy="86486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014094">
              <a:lnSpc>
                <a:spcPct val="100000"/>
              </a:lnSpc>
              <a:spcBef>
                <a:spcPts val="660"/>
              </a:spcBef>
              <a:tabLst>
                <a:tab pos="1561465" algn="l"/>
                <a:tab pos="3375660" algn="l"/>
              </a:tabLst>
            </a:pPr>
            <a:r>
              <a:rPr sz="1450" spc="430" dirty="0">
                <a:latin typeface="Times New Roman"/>
                <a:cs typeface="Times New Roman"/>
              </a:rPr>
              <a:t>2</a:t>
            </a:r>
            <a:r>
              <a:rPr sz="1450" i="1" spc="430" dirty="0">
                <a:latin typeface="Times New Roman"/>
                <a:cs typeface="Times New Roman"/>
              </a:rPr>
              <a:t>a	</a:t>
            </a:r>
            <a:r>
              <a:rPr sz="1450" i="1" u="sng" spc="6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50" i="1" u="sng" spc="4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4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60"/>
              </a:spcBef>
              <a:tabLst>
                <a:tab pos="1579245" algn="l"/>
              </a:tabLst>
            </a:pPr>
            <a:r>
              <a:rPr sz="2175" spc="705" baseline="-34482" dirty="0">
                <a:latin typeface="Symbol"/>
                <a:cs typeface="Symbol"/>
              </a:rPr>
              <a:t></a:t>
            </a:r>
            <a:r>
              <a:rPr sz="2175" spc="705" baseline="-34482" dirty="0">
                <a:latin typeface="Times New Roman"/>
                <a:cs typeface="Times New Roman"/>
              </a:rPr>
              <a:t> </a:t>
            </a:r>
            <a:r>
              <a:rPr sz="1450" spc="470" dirty="0">
                <a:latin typeface="Symbol"/>
                <a:cs typeface="Symbol"/>
              </a:rPr>
              <a:t></a:t>
            </a:r>
            <a:r>
              <a:rPr sz="1450" spc="-190" dirty="0">
                <a:latin typeface="Times New Roman"/>
                <a:cs typeface="Times New Roman"/>
              </a:rPr>
              <a:t> </a:t>
            </a:r>
            <a:r>
              <a:rPr sz="1450" spc="365" dirty="0">
                <a:latin typeface="Times New Roman"/>
                <a:cs typeface="Times New Roman"/>
              </a:rPr>
              <a:t>(</a:t>
            </a:r>
            <a:r>
              <a:rPr sz="1450" spc="365" dirty="0">
                <a:latin typeface="Symbol"/>
                <a:cs typeface="Symbol"/>
              </a:rPr>
              <a:t></a:t>
            </a:r>
            <a:r>
              <a:rPr sz="1450" spc="365" dirty="0">
                <a:latin typeface="Times New Roman"/>
                <a:cs typeface="Times New Roman"/>
              </a:rPr>
              <a:t>46)</a:t>
            </a:r>
            <a:r>
              <a:rPr sz="1450" spc="-5" dirty="0">
                <a:latin typeface="Times New Roman"/>
                <a:cs typeface="Times New Roman"/>
              </a:rPr>
              <a:t> </a:t>
            </a:r>
            <a:r>
              <a:rPr sz="1450" spc="470" dirty="0">
                <a:latin typeface="Symbol"/>
                <a:cs typeface="Symbol"/>
              </a:rPr>
              <a:t></a:t>
            </a:r>
            <a:r>
              <a:rPr sz="1450" spc="470" dirty="0">
                <a:latin typeface="Times New Roman"/>
                <a:cs typeface="Times New Roman"/>
              </a:rPr>
              <a:t>	</a:t>
            </a:r>
            <a:r>
              <a:rPr sz="1450" spc="375" dirty="0">
                <a:latin typeface="Times New Roman"/>
                <a:cs typeface="Times New Roman"/>
              </a:rPr>
              <a:t>46</a:t>
            </a:r>
            <a:r>
              <a:rPr sz="1275" spc="562" baseline="42483" dirty="0">
                <a:latin typeface="Times New Roman"/>
                <a:cs typeface="Times New Roman"/>
              </a:rPr>
              <a:t>2</a:t>
            </a:r>
            <a:r>
              <a:rPr sz="1275" spc="532" baseline="42483" dirty="0">
                <a:latin typeface="Times New Roman"/>
                <a:cs typeface="Times New Roman"/>
              </a:rPr>
              <a:t> </a:t>
            </a:r>
            <a:r>
              <a:rPr sz="1450" spc="470" dirty="0">
                <a:latin typeface="Symbol"/>
                <a:cs typeface="Symbol"/>
              </a:rPr>
              <a:t></a:t>
            </a:r>
            <a:r>
              <a:rPr sz="1450" spc="-20" dirty="0">
                <a:latin typeface="Times New Roman"/>
                <a:cs typeface="Times New Roman"/>
              </a:rPr>
              <a:t> </a:t>
            </a:r>
            <a:r>
              <a:rPr sz="1450" spc="425" dirty="0">
                <a:latin typeface="Times New Roman"/>
                <a:cs typeface="Times New Roman"/>
              </a:rPr>
              <a:t>4</a:t>
            </a:r>
            <a:r>
              <a:rPr sz="1450" spc="-190" dirty="0">
                <a:latin typeface="Times New Roman"/>
                <a:cs typeface="Times New Roman"/>
              </a:rPr>
              <a:t> </a:t>
            </a:r>
            <a:r>
              <a:rPr sz="1450" spc="425" dirty="0">
                <a:latin typeface="Times New Roman"/>
                <a:cs typeface="Times New Roman"/>
              </a:rPr>
              <a:t>*1*324</a:t>
            </a:r>
            <a:endParaRPr sz="1450">
              <a:latin typeface="Times New Roman"/>
              <a:cs typeface="Times New Roman"/>
            </a:endParaRPr>
          </a:p>
          <a:p>
            <a:pPr marL="206375" algn="ctr">
              <a:lnSpc>
                <a:spcPct val="100000"/>
              </a:lnSpc>
              <a:spcBef>
                <a:spcPts val="265"/>
              </a:spcBef>
            </a:pPr>
            <a:r>
              <a:rPr sz="1450" spc="425" dirty="0">
                <a:latin typeface="Times New Roman"/>
                <a:cs typeface="Times New Roman"/>
              </a:rPr>
              <a:t>2</a:t>
            </a:r>
            <a:r>
              <a:rPr sz="1450" spc="-185" dirty="0">
                <a:latin typeface="Times New Roman"/>
                <a:cs typeface="Times New Roman"/>
              </a:rPr>
              <a:t> </a:t>
            </a:r>
            <a:r>
              <a:rPr sz="1450" spc="409" dirty="0">
                <a:latin typeface="Times New Roman"/>
                <a:cs typeface="Times New Roman"/>
              </a:rPr>
              <a:t>*1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377473" y="2091897"/>
            <a:ext cx="208407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1069340" algn="l"/>
              </a:tabLst>
            </a:pPr>
            <a:r>
              <a:rPr sz="2175" spc="705" baseline="-34482" dirty="0">
                <a:latin typeface="Symbol"/>
                <a:cs typeface="Symbol"/>
              </a:rPr>
              <a:t></a:t>
            </a:r>
            <a:r>
              <a:rPr sz="2175" spc="705" baseline="-34482" dirty="0">
                <a:latin typeface="Times New Roman"/>
                <a:cs typeface="Times New Roman"/>
              </a:rPr>
              <a:t> </a:t>
            </a:r>
            <a:r>
              <a:rPr sz="1450" spc="470" dirty="0">
                <a:latin typeface="Symbol"/>
                <a:cs typeface="Symbol"/>
              </a:rPr>
              <a:t></a:t>
            </a:r>
            <a:r>
              <a:rPr sz="1450" spc="-229" dirty="0">
                <a:latin typeface="Times New Roman"/>
                <a:cs typeface="Times New Roman"/>
              </a:rPr>
              <a:t> </a:t>
            </a:r>
            <a:r>
              <a:rPr sz="1450" i="1" spc="425" dirty="0">
                <a:latin typeface="Times New Roman"/>
                <a:cs typeface="Times New Roman"/>
              </a:rPr>
              <a:t>b</a:t>
            </a:r>
            <a:r>
              <a:rPr sz="1450" i="1" spc="-10" dirty="0">
                <a:latin typeface="Times New Roman"/>
                <a:cs typeface="Times New Roman"/>
              </a:rPr>
              <a:t> </a:t>
            </a:r>
            <a:r>
              <a:rPr sz="1450" spc="470" dirty="0">
                <a:latin typeface="Symbol"/>
                <a:cs typeface="Symbol"/>
              </a:rPr>
              <a:t></a:t>
            </a:r>
            <a:r>
              <a:rPr sz="1450" spc="470" dirty="0">
                <a:latin typeface="Times New Roman"/>
                <a:cs typeface="Times New Roman"/>
              </a:rPr>
              <a:t>	</a:t>
            </a:r>
            <a:r>
              <a:rPr sz="1450" i="1" spc="380" dirty="0">
                <a:latin typeface="Times New Roman"/>
                <a:cs typeface="Times New Roman"/>
              </a:rPr>
              <a:t>b</a:t>
            </a:r>
            <a:r>
              <a:rPr sz="1275" spc="569" baseline="42483" dirty="0">
                <a:latin typeface="Times New Roman"/>
                <a:cs typeface="Times New Roman"/>
              </a:rPr>
              <a:t>2 </a:t>
            </a:r>
            <a:r>
              <a:rPr sz="1450" spc="470" dirty="0">
                <a:latin typeface="Symbol"/>
                <a:cs typeface="Symbol"/>
              </a:rPr>
              <a:t></a:t>
            </a:r>
            <a:r>
              <a:rPr sz="1450" spc="-80" dirty="0">
                <a:latin typeface="Times New Roman"/>
                <a:cs typeface="Times New Roman"/>
              </a:rPr>
              <a:t> </a:t>
            </a:r>
            <a:r>
              <a:rPr sz="1450" spc="450" dirty="0">
                <a:latin typeface="Times New Roman"/>
                <a:cs typeface="Times New Roman"/>
              </a:rPr>
              <a:t>4</a:t>
            </a:r>
            <a:r>
              <a:rPr sz="1450" i="1" spc="450" dirty="0">
                <a:latin typeface="Times New Roman"/>
                <a:cs typeface="Times New Roman"/>
              </a:rPr>
              <a:t>ac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8480902" y="5564145"/>
            <a:ext cx="946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25" dirty="0">
                <a:latin typeface="Symbol"/>
                <a:cs typeface="Symbol"/>
              </a:rPr>
              <a:t>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480902" y="5229576"/>
            <a:ext cx="946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25" dirty="0">
                <a:latin typeface="Symbol"/>
                <a:cs typeface="Symbol"/>
              </a:rPr>
              <a:t>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769067" y="5421785"/>
            <a:ext cx="946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25" dirty="0">
                <a:latin typeface="Symbol"/>
                <a:cs typeface="Symbol"/>
              </a:rPr>
              <a:t>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769067" y="5564145"/>
            <a:ext cx="946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25" dirty="0">
                <a:latin typeface="Symbol"/>
                <a:cs typeface="Symbol"/>
              </a:rPr>
              <a:t>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675502" y="5515890"/>
            <a:ext cx="925194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1600" spc="15" dirty="0">
                <a:latin typeface="Times New Roman"/>
                <a:cs typeface="Times New Roman"/>
              </a:rPr>
              <a:t>37.31782</a:t>
            </a:r>
            <a:r>
              <a:rPr sz="2400" spc="22" baseline="26041" dirty="0">
                <a:latin typeface="Symbol"/>
                <a:cs typeface="Symbol"/>
              </a:rPr>
              <a:t></a:t>
            </a:r>
            <a:endParaRPr sz="2400" baseline="26041">
              <a:latin typeface="Symbol"/>
              <a:cs typeface="Symbo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129716" y="5515890"/>
            <a:ext cx="11938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3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039172" y="5214696"/>
            <a:ext cx="11938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3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4941525" y="5362281"/>
            <a:ext cx="260096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1600" i="1" spc="20" dirty="0">
                <a:latin typeface="Times New Roman"/>
                <a:cs typeface="Times New Roman"/>
              </a:rPr>
              <a:t>Matrik</a:t>
            </a:r>
            <a:r>
              <a:rPr sz="1600" i="1" spc="-75" dirty="0">
                <a:latin typeface="Times New Roman"/>
                <a:cs typeface="Times New Roman"/>
              </a:rPr>
              <a:t> </a:t>
            </a:r>
            <a:r>
              <a:rPr sz="1600" i="1" spc="35" dirty="0">
                <a:latin typeface="Times New Roman"/>
                <a:cs typeface="Times New Roman"/>
              </a:rPr>
              <a:t>EigenValue</a:t>
            </a:r>
            <a:r>
              <a:rPr sz="1600" i="1" spc="-204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Symbol"/>
                <a:cs typeface="Symbol"/>
              </a:rPr>
              <a:t>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2400" spc="-15" baseline="36458" dirty="0">
                <a:latin typeface="Symbol"/>
                <a:cs typeface="Symbol"/>
              </a:rPr>
              <a:t></a:t>
            </a:r>
            <a:r>
              <a:rPr sz="2400" spc="-15" baseline="39930" dirty="0">
                <a:latin typeface="Times New Roman"/>
                <a:cs typeface="Times New Roman"/>
              </a:rPr>
              <a:t>8.68218</a:t>
            </a:r>
            <a:endParaRPr sz="2400" baseline="3993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4865751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3960749" y="0"/>
                  </a:moveTo>
                  <a:lnTo>
                    <a:pt x="0" y="0"/>
                  </a:lnTo>
                  <a:lnTo>
                    <a:pt x="0" y="4464050"/>
                  </a:lnTo>
                  <a:lnTo>
                    <a:pt x="3960749" y="4464050"/>
                  </a:lnTo>
                  <a:lnTo>
                    <a:pt x="396074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65751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0" y="4464050"/>
                  </a:moveTo>
                  <a:lnTo>
                    <a:pt x="3960749" y="4464050"/>
                  </a:lnTo>
                  <a:lnTo>
                    <a:pt x="3960749" y="0"/>
                  </a:lnTo>
                  <a:lnTo>
                    <a:pt x="0" y="0"/>
                  </a:lnTo>
                  <a:lnTo>
                    <a:pt x="0" y="446405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087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3960749" y="0"/>
                  </a:moveTo>
                  <a:lnTo>
                    <a:pt x="0" y="0"/>
                  </a:lnTo>
                  <a:lnTo>
                    <a:pt x="0" y="4464050"/>
                  </a:lnTo>
                  <a:lnTo>
                    <a:pt x="3960749" y="4464050"/>
                  </a:lnTo>
                  <a:lnTo>
                    <a:pt x="396074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7087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0" y="4464050"/>
                  </a:moveTo>
                  <a:lnTo>
                    <a:pt x="3960749" y="4464050"/>
                  </a:lnTo>
                  <a:lnTo>
                    <a:pt x="3960749" y="0"/>
                  </a:lnTo>
                  <a:lnTo>
                    <a:pt x="0" y="0"/>
                  </a:lnTo>
                  <a:lnTo>
                    <a:pt x="0" y="446405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8728" y="259207"/>
            <a:ext cx="79222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PCA : Menghitung Eigen</a:t>
            </a:r>
            <a:r>
              <a:rPr spc="-55" dirty="0"/>
              <a:t> </a:t>
            </a:r>
            <a:r>
              <a:rPr dirty="0"/>
              <a:t>Vector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5940" y="1329309"/>
            <a:ext cx="323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</a:tabLst>
            </a:pPr>
            <a:r>
              <a:rPr sz="3600" spc="-5" dirty="0">
                <a:latin typeface="Arial"/>
                <a:cs typeface="Arial"/>
              </a:rPr>
              <a:t>Eigen </a:t>
            </a:r>
            <a:r>
              <a:rPr sz="3600" dirty="0">
                <a:latin typeface="Arial"/>
                <a:cs typeface="Arial"/>
              </a:rPr>
              <a:t>Vector</a:t>
            </a:r>
            <a:r>
              <a:rPr sz="3600" spc="-8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43826" y="2436770"/>
            <a:ext cx="946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25" dirty="0">
                <a:latin typeface="Symbol"/>
                <a:cs typeface="Symbol"/>
              </a:rPr>
              <a:t>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43826" y="2102201"/>
            <a:ext cx="946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25" dirty="0">
                <a:latin typeface="Symbol"/>
                <a:cs typeface="Symbol"/>
              </a:rPr>
              <a:t>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31991" y="2294410"/>
            <a:ext cx="946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25" dirty="0">
                <a:latin typeface="Symbol"/>
                <a:cs typeface="Symbol"/>
              </a:rPr>
              <a:t>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31991" y="2436770"/>
            <a:ext cx="9461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25" dirty="0">
                <a:latin typeface="Symbol"/>
                <a:cs typeface="Symbol"/>
              </a:rPr>
              <a:t>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38425" y="2388515"/>
            <a:ext cx="925194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1600" spc="15" dirty="0">
                <a:latin typeface="Times New Roman"/>
                <a:cs typeface="Times New Roman"/>
              </a:rPr>
              <a:t>37.31782</a:t>
            </a:r>
            <a:r>
              <a:rPr sz="2400" spc="22" baseline="26041" dirty="0">
                <a:latin typeface="Symbol"/>
                <a:cs typeface="Symbol"/>
              </a:rPr>
              <a:t></a:t>
            </a:r>
            <a:endParaRPr sz="2400" baseline="26041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92640" y="2388515"/>
            <a:ext cx="11938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3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002095" y="2087321"/>
            <a:ext cx="11938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600" spc="35" dirty="0">
                <a:latin typeface="Times New Roman"/>
                <a:cs typeface="Times New Roman"/>
              </a:rPr>
              <a:t>0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4450" y="2234906"/>
            <a:ext cx="260096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1600" i="1" spc="20" dirty="0">
                <a:latin typeface="Times New Roman"/>
                <a:cs typeface="Times New Roman"/>
              </a:rPr>
              <a:t>Matrik</a:t>
            </a:r>
            <a:r>
              <a:rPr sz="1600" i="1" spc="-75" dirty="0">
                <a:latin typeface="Times New Roman"/>
                <a:cs typeface="Times New Roman"/>
              </a:rPr>
              <a:t> </a:t>
            </a:r>
            <a:r>
              <a:rPr sz="1600" i="1" spc="35" dirty="0">
                <a:latin typeface="Times New Roman"/>
                <a:cs typeface="Times New Roman"/>
              </a:rPr>
              <a:t>EigenValue</a:t>
            </a:r>
            <a:r>
              <a:rPr sz="1600" i="1" spc="-204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Symbol"/>
                <a:cs typeface="Symbol"/>
              </a:rPr>
              <a:t>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2400" spc="-15" baseline="36458" dirty="0">
                <a:latin typeface="Symbol"/>
                <a:cs typeface="Symbol"/>
              </a:rPr>
              <a:t></a:t>
            </a:r>
            <a:r>
              <a:rPr sz="2400" spc="-15" baseline="39930" dirty="0">
                <a:latin typeface="Times New Roman"/>
                <a:cs typeface="Times New Roman"/>
              </a:rPr>
              <a:t>8.68218</a:t>
            </a:r>
            <a:endParaRPr sz="2400" baseline="3993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4192" y="2662063"/>
            <a:ext cx="788670" cy="2908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650" i="1" spc="5" dirty="0">
                <a:latin typeface="Times New Roman"/>
                <a:cs typeface="Times New Roman"/>
              </a:rPr>
              <a:t>CU </a:t>
            </a:r>
            <a:r>
              <a:rPr sz="1650" dirty="0">
                <a:latin typeface="Symbol"/>
                <a:cs typeface="Symbol"/>
              </a:rPr>
              <a:t></a:t>
            </a:r>
            <a:r>
              <a:rPr sz="1650" spc="-114" dirty="0">
                <a:latin typeface="Times New Roman"/>
                <a:cs typeface="Times New Roman"/>
              </a:rPr>
              <a:t> </a:t>
            </a:r>
            <a:r>
              <a:rPr sz="1700" i="1" spc="-20" dirty="0">
                <a:latin typeface="Symbol"/>
                <a:cs typeface="Symbol"/>
              </a:rPr>
              <a:t></a:t>
            </a:r>
            <a:r>
              <a:rPr sz="1650" i="1" spc="-20" dirty="0">
                <a:latin typeface="Times New Roman"/>
                <a:cs typeface="Times New Roman"/>
              </a:rPr>
              <a:t>U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9613" y="5770066"/>
            <a:ext cx="11239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latin typeface="Symbol"/>
                <a:cs typeface="Symbol"/>
              </a:rPr>
              <a:t>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9613" y="5955206"/>
            <a:ext cx="219202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90525" algn="l"/>
                <a:tab pos="1078865" algn="l"/>
                <a:tab pos="1631950" algn="l"/>
                <a:tab pos="1973580" algn="l"/>
              </a:tabLst>
            </a:pPr>
            <a:r>
              <a:rPr sz="2050" spc="-10" dirty="0">
                <a:latin typeface="Symbol"/>
                <a:cs typeface="Symbol"/>
              </a:rPr>
              <a:t>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1200" spc="15" dirty="0">
                <a:latin typeface="Times New Roman"/>
                <a:cs typeface="Times New Roman"/>
              </a:rPr>
              <a:t>21	22	</a:t>
            </a:r>
            <a:r>
              <a:rPr sz="2050" spc="50" dirty="0">
                <a:latin typeface="Symbol"/>
                <a:cs typeface="Symbol"/>
              </a:rPr>
              <a:t></a:t>
            </a:r>
            <a:r>
              <a:rPr sz="2050" spc="5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2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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59613" y="5141852"/>
            <a:ext cx="301434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721360" algn="l"/>
                <a:tab pos="1242695" algn="l"/>
                <a:tab pos="1867535" algn="l"/>
                <a:tab pos="2454275" algn="l"/>
                <a:tab pos="2795905" algn="l"/>
              </a:tabLst>
            </a:pPr>
            <a:r>
              <a:rPr sz="2050" spc="-10" dirty="0">
                <a:latin typeface="Symbol"/>
                <a:cs typeface="Symbol"/>
              </a:rPr>
              <a:t></a:t>
            </a:r>
            <a:r>
              <a:rPr sz="2050" spc="37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21	22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2050" spc="50" dirty="0">
                <a:latin typeface="Symbol"/>
                <a:cs typeface="Symbol"/>
              </a:rPr>
              <a:t></a:t>
            </a:r>
            <a:r>
              <a:rPr sz="2050" spc="5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2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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Symbol"/>
                <a:cs typeface="Symbol"/>
              </a:rPr>
              <a:t>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50" dirty="0">
                <a:latin typeface="Symbol"/>
                <a:cs typeface="Symbol"/>
              </a:rPr>
              <a:t></a:t>
            </a:r>
            <a:r>
              <a:rPr sz="2050" spc="5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2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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82165" y="4328507"/>
            <a:ext cx="229235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520700" algn="l"/>
                <a:tab pos="988694" algn="l"/>
                <a:tab pos="1575435" algn="l"/>
                <a:tab pos="1846580" algn="l"/>
                <a:tab pos="2074545" algn="l"/>
              </a:tabLst>
            </a:pPr>
            <a:r>
              <a:rPr sz="1200" spc="15" dirty="0">
                <a:latin typeface="Times New Roman"/>
                <a:cs typeface="Times New Roman"/>
              </a:rPr>
              <a:t>22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2050" spc="50" dirty="0">
                <a:latin typeface="Symbol"/>
                <a:cs typeface="Symbol"/>
              </a:rPr>
              <a:t></a:t>
            </a:r>
            <a:r>
              <a:rPr sz="2050" spc="5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2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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Symbol"/>
                <a:cs typeface="Symbol"/>
              </a:rPr>
              <a:t>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Symbol"/>
                <a:cs typeface="Symbol"/>
              </a:rPr>
              <a:t>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Symbol"/>
                <a:cs typeface="Symbol"/>
              </a:rPr>
              <a:t>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2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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59613" y="3463067"/>
            <a:ext cx="2313940" cy="75946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25"/>
              </a:spcBef>
              <a:tabLst>
                <a:tab pos="721360" algn="l"/>
                <a:tab pos="1242695" algn="l"/>
                <a:tab pos="1867535" algn="l"/>
                <a:tab pos="2095500" algn="l"/>
              </a:tabLst>
            </a:pPr>
            <a:r>
              <a:rPr sz="2050" spc="-10" dirty="0">
                <a:latin typeface="Symbol"/>
                <a:cs typeface="Symbol"/>
              </a:rPr>
              <a:t></a:t>
            </a:r>
            <a:r>
              <a:rPr sz="2050" spc="37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Times New Roman"/>
                <a:cs typeface="Times New Roman"/>
              </a:rPr>
              <a:t>21	22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2050" spc="50" dirty="0">
                <a:latin typeface="Symbol"/>
                <a:cs typeface="Symbol"/>
              </a:rPr>
              <a:t></a:t>
            </a:r>
            <a:r>
              <a:rPr sz="2050" spc="5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2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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Symbol"/>
                <a:cs typeface="Symbol"/>
              </a:rPr>
              <a:t>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1200" spc="-10" dirty="0">
                <a:latin typeface="Times New Roman"/>
                <a:cs typeface="Times New Roman"/>
              </a:rPr>
              <a:t>2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</a:t>
            </a:r>
            <a:endParaRPr sz="205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r>
              <a:rPr sz="3075" spc="-30" baseline="-4065" dirty="0">
                <a:latin typeface="Symbol"/>
                <a:cs typeface="Symbol"/>
              </a:rPr>
              <a:t></a:t>
            </a:r>
            <a:r>
              <a:rPr sz="2050" spc="-20" dirty="0">
                <a:latin typeface="Times New Roman"/>
                <a:cs typeface="Times New Roman"/>
              </a:rPr>
              <a:t>1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66441" y="5525457"/>
            <a:ext cx="995044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050" spc="15" dirty="0">
                <a:latin typeface="Symbol"/>
                <a:cs typeface="Symbol"/>
              </a:rPr>
              <a:t></a:t>
            </a:r>
            <a:r>
              <a:rPr sz="3075" i="1" spc="22" baseline="4065" dirty="0">
                <a:latin typeface="Times New Roman"/>
                <a:cs typeface="Times New Roman"/>
              </a:rPr>
              <a:t>u</a:t>
            </a:r>
            <a:r>
              <a:rPr sz="1800" spc="22" baseline="-16203" dirty="0">
                <a:latin typeface="Times New Roman"/>
                <a:cs typeface="Times New Roman"/>
              </a:rPr>
              <a:t>1 </a:t>
            </a:r>
            <a:r>
              <a:rPr sz="2050" spc="-10" dirty="0">
                <a:latin typeface="Symbol"/>
                <a:cs typeface="Symbol"/>
              </a:rPr>
              <a:t>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3075" spc="-15" baseline="-36585" dirty="0">
                <a:latin typeface="Symbol"/>
                <a:cs typeface="Symbol"/>
              </a:rPr>
              <a:t></a:t>
            </a:r>
            <a:r>
              <a:rPr sz="3075" spc="-397" baseline="-36585" dirty="0">
                <a:latin typeface="Times New Roman"/>
                <a:cs typeface="Times New Roman"/>
              </a:rPr>
              <a:t> </a:t>
            </a:r>
            <a:r>
              <a:rPr sz="3075" spc="-15" baseline="-36585" dirty="0">
                <a:latin typeface="Times New Roman"/>
                <a:cs typeface="Times New Roman"/>
              </a:rPr>
              <a:t>0</a:t>
            </a:r>
            <a:endParaRPr sz="3075" baseline="-3658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25453" y="5890077"/>
            <a:ext cx="12763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050" i="1" spc="-10" dirty="0">
                <a:latin typeface="Times New Roman"/>
                <a:cs typeface="Times New Roman"/>
              </a:rPr>
              <a:t>c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37271" y="5890077"/>
            <a:ext cx="12763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050" i="1" spc="-10" dirty="0">
                <a:latin typeface="Times New Roman"/>
                <a:cs typeface="Times New Roman"/>
              </a:rPr>
              <a:t>c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095718" y="5570592"/>
            <a:ext cx="32385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075" i="1" spc="-37" baseline="13550" dirty="0">
                <a:latin typeface="Times New Roman"/>
                <a:cs typeface="Times New Roman"/>
              </a:rPr>
              <a:t>c</a:t>
            </a:r>
            <a:r>
              <a:rPr sz="1200" spc="-25" dirty="0">
                <a:latin typeface="Times New Roman"/>
                <a:cs typeface="Times New Roman"/>
              </a:rPr>
              <a:t>12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258693" y="4714153"/>
            <a:ext cx="74041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075" spc="15" baseline="4065" dirty="0">
                <a:latin typeface="Times New Roman"/>
                <a:cs typeface="Times New Roman"/>
              </a:rPr>
              <a:t>0</a:t>
            </a:r>
            <a:r>
              <a:rPr sz="2050" spc="10" dirty="0">
                <a:latin typeface="Symbol"/>
                <a:cs typeface="Symbol"/>
              </a:rPr>
              <a:t></a:t>
            </a:r>
            <a:r>
              <a:rPr sz="3075" i="1" spc="15" baseline="4065" dirty="0">
                <a:latin typeface="Times New Roman"/>
                <a:cs typeface="Times New Roman"/>
              </a:rPr>
              <a:t>u</a:t>
            </a:r>
            <a:r>
              <a:rPr sz="1800" spc="15" baseline="-16203" dirty="0">
                <a:latin typeface="Times New Roman"/>
                <a:cs typeface="Times New Roman"/>
              </a:rPr>
              <a:t>1</a:t>
            </a:r>
            <a:r>
              <a:rPr sz="1800" spc="-135" baseline="-16203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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809774" y="4958783"/>
            <a:ext cx="220218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1017269" algn="l"/>
                <a:tab pos="1472565" algn="l"/>
              </a:tabLst>
            </a:pPr>
            <a:r>
              <a:rPr sz="2050" spc="15" dirty="0">
                <a:latin typeface="Symbol"/>
                <a:cs typeface="Symbol"/>
              </a:rPr>
              <a:t></a:t>
            </a:r>
            <a:r>
              <a:rPr sz="3075" i="1" spc="22" baseline="-25745" dirty="0">
                <a:latin typeface="Times New Roman"/>
                <a:cs typeface="Times New Roman"/>
              </a:rPr>
              <a:t>u</a:t>
            </a:r>
            <a:r>
              <a:rPr sz="3075" i="1" spc="525" baseline="-257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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Symbol"/>
                <a:cs typeface="Symbol"/>
              </a:rPr>
              <a:t></a:t>
            </a:r>
            <a:r>
              <a:rPr sz="3075" spc="-15" baseline="-25745" dirty="0">
                <a:latin typeface="Times New Roman"/>
                <a:cs typeface="Times New Roman"/>
              </a:rPr>
              <a:t>0	</a:t>
            </a:r>
            <a:r>
              <a:rPr sz="3075" spc="22" baseline="-25745" dirty="0">
                <a:latin typeface="Times New Roman"/>
                <a:cs typeface="Times New Roman"/>
              </a:rPr>
              <a:t>1</a:t>
            </a:r>
            <a:r>
              <a:rPr sz="2050" spc="15" dirty="0">
                <a:latin typeface="Symbol"/>
                <a:cs typeface="Symbol"/>
              </a:rPr>
              <a:t></a:t>
            </a:r>
            <a:r>
              <a:rPr sz="3075" i="1" spc="22" baseline="-25745" dirty="0">
                <a:latin typeface="Times New Roman"/>
                <a:cs typeface="Times New Roman"/>
              </a:rPr>
              <a:t>u</a:t>
            </a:r>
            <a:r>
              <a:rPr sz="3075" i="1" spc="427" baseline="-257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67874" y="5076720"/>
            <a:ext cx="12763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050" i="1" spc="-10" dirty="0">
                <a:latin typeface="Times New Roman"/>
                <a:cs typeface="Times New Roman"/>
              </a:rPr>
              <a:t>c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4213" y="4956721"/>
            <a:ext cx="27686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latin typeface="Symbol"/>
                <a:cs typeface="Symbol"/>
              </a:rPr>
              <a:t></a:t>
            </a:r>
            <a:r>
              <a:rPr sz="3075" i="1" spc="-15" baseline="-25745" dirty="0">
                <a:latin typeface="Times New Roman"/>
                <a:cs typeface="Times New Roman"/>
              </a:rPr>
              <a:t>c</a:t>
            </a:r>
            <a:endParaRPr sz="3075" baseline="-25745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21513" y="4213978"/>
            <a:ext cx="1152525" cy="883285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10"/>
              </a:spcBef>
              <a:tabLst>
                <a:tab pos="624205" algn="l"/>
              </a:tabLst>
            </a:pPr>
            <a:r>
              <a:rPr sz="2050" spc="-10" dirty="0">
                <a:latin typeface="Symbol"/>
                <a:cs typeface="Symbol"/>
              </a:rPr>
              <a:t>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50" dirty="0">
                <a:latin typeface="Symbol"/>
                <a:cs typeface="Symbol"/>
              </a:rPr>
              <a:t></a:t>
            </a:r>
            <a:r>
              <a:rPr sz="2050" spc="310" dirty="0">
                <a:latin typeface="Times New Roman"/>
                <a:cs typeface="Times New Roman"/>
              </a:rPr>
              <a:t> </a:t>
            </a:r>
            <a:r>
              <a:rPr sz="1200" spc="35" dirty="0">
                <a:latin typeface="Times New Roman"/>
                <a:cs typeface="Times New Roman"/>
              </a:rPr>
              <a:t>21</a:t>
            </a:r>
            <a:endParaRPr sz="1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20"/>
              </a:spcBef>
            </a:pPr>
            <a:r>
              <a:rPr sz="3075" spc="-7" baseline="9485" dirty="0">
                <a:latin typeface="Symbol"/>
                <a:cs typeface="Symbol"/>
              </a:rPr>
              <a:t></a:t>
            </a:r>
            <a:r>
              <a:rPr sz="3075" i="1" spc="-7" baseline="1355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523116" y="4145949"/>
            <a:ext cx="218948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847725" algn="l"/>
                <a:tab pos="1301750" algn="l"/>
                <a:tab pos="1705610" algn="l"/>
              </a:tabLst>
            </a:pPr>
            <a:r>
              <a:rPr sz="2050" spc="15" dirty="0">
                <a:latin typeface="Symbol"/>
                <a:cs typeface="Symbol"/>
              </a:rPr>
              <a:t></a:t>
            </a:r>
            <a:r>
              <a:rPr sz="3075" i="1" spc="22" baseline="-24390" dirty="0">
                <a:latin typeface="Times New Roman"/>
                <a:cs typeface="Times New Roman"/>
              </a:rPr>
              <a:t>u</a:t>
            </a:r>
            <a:r>
              <a:rPr sz="3075" i="1" spc="525" baseline="-2439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</a:t>
            </a:r>
            <a:r>
              <a:rPr sz="2050" spc="-10" dirty="0">
                <a:latin typeface="Times New Roman"/>
                <a:cs typeface="Times New Roman"/>
              </a:rPr>
              <a:t>	</a:t>
            </a:r>
            <a:r>
              <a:rPr sz="2050" spc="-10" dirty="0">
                <a:latin typeface="Symbol"/>
                <a:cs typeface="Symbol"/>
              </a:rPr>
              <a:t></a:t>
            </a:r>
            <a:r>
              <a:rPr sz="3075" spc="-15" baseline="-25745" dirty="0">
                <a:latin typeface="Times New Roman"/>
                <a:cs typeface="Times New Roman"/>
              </a:rPr>
              <a:t>0	</a:t>
            </a:r>
            <a:r>
              <a:rPr sz="3075" baseline="-25745" dirty="0">
                <a:latin typeface="Times New Roman"/>
                <a:cs typeface="Times New Roman"/>
              </a:rPr>
              <a:t>1</a:t>
            </a:r>
            <a:r>
              <a:rPr sz="2050" dirty="0">
                <a:latin typeface="Symbol"/>
                <a:cs typeface="Symbol"/>
              </a:rPr>
              <a:t></a:t>
            </a:r>
            <a:r>
              <a:rPr sz="2050" dirty="0">
                <a:latin typeface="Times New Roman"/>
                <a:cs typeface="Times New Roman"/>
              </a:rPr>
              <a:t>	</a:t>
            </a:r>
            <a:r>
              <a:rPr sz="2050" spc="-30" dirty="0">
                <a:latin typeface="Symbol"/>
                <a:cs typeface="Symbol"/>
              </a:rPr>
              <a:t></a:t>
            </a:r>
            <a:r>
              <a:rPr sz="3075" i="1" spc="-44" baseline="-24390" dirty="0">
                <a:latin typeface="Times New Roman"/>
                <a:cs typeface="Times New Roman"/>
              </a:rPr>
              <a:t>u</a:t>
            </a:r>
            <a:r>
              <a:rPr sz="3075" i="1" spc="434" baseline="-24390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68516" y="4263376"/>
            <a:ext cx="12763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050" i="1" spc="-10" dirty="0">
                <a:latin typeface="Times New Roman"/>
                <a:cs typeface="Times New Roman"/>
              </a:rPr>
              <a:t>c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1513" y="4145949"/>
            <a:ext cx="100330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492125" algn="l"/>
              </a:tabLst>
            </a:pPr>
            <a:r>
              <a:rPr sz="2050" spc="-10" dirty="0">
                <a:latin typeface="Symbol"/>
                <a:cs typeface="Symbol"/>
              </a:rPr>
              <a:t></a:t>
            </a:r>
            <a:r>
              <a:rPr sz="3075" spc="-15" baseline="-25745" dirty="0">
                <a:latin typeface="Times New Roman"/>
                <a:cs typeface="Times New Roman"/>
              </a:rPr>
              <a:t>0	</a:t>
            </a:r>
            <a:r>
              <a:rPr sz="3075" spc="37" baseline="-25745" dirty="0">
                <a:latin typeface="Times New Roman"/>
                <a:cs typeface="Times New Roman"/>
              </a:rPr>
              <a:t>1</a:t>
            </a:r>
            <a:r>
              <a:rPr sz="2050" spc="25" dirty="0">
                <a:latin typeface="Symbol"/>
                <a:cs typeface="Symbol"/>
              </a:rPr>
              <a:t></a:t>
            </a:r>
            <a:r>
              <a:rPr sz="3075" i="1" spc="37" baseline="-24390" dirty="0">
                <a:latin typeface="Times New Roman"/>
                <a:cs typeface="Times New Roman"/>
              </a:rPr>
              <a:t>c</a:t>
            </a:r>
            <a:endParaRPr sz="3075" baseline="-2439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51926" y="3900894"/>
            <a:ext cx="138303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075" i="1" spc="-60" baseline="4065" dirty="0">
                <a:latin typeface="Times New Roman"/>
                <a:cs typeface="Times New Roman"/>
              </a:rPr>
              <a:t>c</a:t>
            </a:r>
            <a:r>
              <a:rPr sz="1800" spc="-60" baseline="-16203" dirty="0">
                <a:latin typeface="Times New Roman"/>
                <a:cs typeface="Times New Roman"/>
              </a:rPr>
              <a:t>12 </a:t>
            </a:r>
            <a:r>
              <a:rPr sz="2050" spc="15" dirty="0">
                <a:latin typeface="Symbol"/>
                <a:cs typeface="Symbol"/>
              </a:rPr>
              <a:t></a:t>
            </a:r>
            <a:r>
              <a:rPr sz="3075" i="1" spc="22" baseline="4065" dirty="0">
                <a:latin typeface="Times New Roman"/>
                <a:cs typeface="Times New Roman"/>
              </a:rPr>
              <a:t>u</a:t>
            </a:r>
            <a:r>
              <a:rPr sz="1800" spc="22" baseline="-16203" dirty="0">
                <a:latin typeface="Times New Roman"/>
                <a:cs typeface="Times New Roman"/>
              </a:rPr>
              <a:t>1 </a:t>
            </a:r>
            <a:r>
              <a:rPr sz="2050" spc="-10" dirty="0">
                <a:latin typeface="Symbol"/>
                <a:cs typeface="Symbol"/>
              </a:rPr>
              <a:t>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3075" spc="-15" baseline="-36585" dirty="0">
                <a:latin typeface="Symbol"/>
                <a:cs typeface="Symbol"/>
              </a:rPr>
              <a:t></a:t>
            </a:r>
            <a:r>
              <a:rPr sz="3075" spc="-337" baseline="-36585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Symbol"/>
                <a:cs typeface="Symbol"/>
              </a:rPr>
              <a:t></a:t>
            </a:r>
            <a:r>
              <a:rPr sz="3075" spc="-30" baseline="4065" dirty="0">
                <a:latin typeface="Times New Roman"/>
                <a:cs typeface="Times New Roman"/>
              </a:rPr>
              <a:t>1</a:t>
            </a:r>
            <a:endParaRPr sz="3075" baseline="4065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90922" y="3943882"/>
            <a:ext cx="67437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075" spc="15" baseline="13550" dirty="0">
                <a:latin typeface="Times New Roman"/>
                <a:cs typeface="Times New Roman"/>
              </a:rPr>
              <a:t>0</a:t>
            </a:r>
            <a:r>
              <a:rPr sz="3075" spc="15" baseline="9485" dirty="0">
                <a:latin typeface="Symbol"/>
                <a:cs typeface="Symbol"/>
              </a:rPr>
              <a:t></a:t>
            </a:r>
            <a:r>
              <a:rPr sz="3075" i="1" spc="15" baseline="13550" dirty="0">
                <a:latin typeface="Times New Roman"/>
                <a:cs typeface="Times New Roman"/>
              </a:rPr>
              <a:t>c</a:t>
            </a:r>
            <a:r>
              <a:rPr sz="1200" spc="10" dirty="0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02065" y="3085319"/>
            <a:ext cx="49657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050" spc="-20" dirty="0">
                <a:latin typeface="Symbol"/>
                <a:cs typeface="Symbol"/>
              </a:rPr>
              <a:t></a:t>
            </a:r>
            <a:r>
              <a:rPr sz="3075" i="1" spc="-30" baseline="4065" dirty="0">
                <a:latin typeface="Times New Roman"/>
                <a:cs typeface="Times New Roman"/>
              </a:rPr>
              <a:t>u</a:t>
            </a:r>
            <a:r>
              <a:rPr sz="1800" spc="-30" baseline="-16203" dirty="0">
                <a:latin typeface="Times New Roman"/>
                <a:cs typeface="Times New Roman"/>
              </a:rPr>
              <a:t>1</a:t>
            </a:r>
            <a:r>
              <a:rPr sz="1800" spc="-127" baseline="-16203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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67874" y="3449968"/>
            <a:ext cx="12763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050" i="1" spc="-10" dirty="0">
                <a:latin typeface="Times New Roman"/>
                <a:cs typeface="Times New Roman"/>
              </a:rPr>
              <a:t>c</a:t>
            </a:r>
            <a:endParaRPr sz="205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34213" y="3330543"/>
            <a:ext cx="27686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2050" spc="-10" dirty="0">
                <a:latin typeface="Symbol"/>
                <a:cs typeface="Symbol"/>
              </a:rPr>
              <a:t></a:t>
            </a:r>
            <a:r>
              <a:rPr sz="3075" i="1" spc="-15" baseline="-25745" dirty="0">
                <a:latin typeface="Times New Roman"/>
                <a:cs typeface="Times New Roman"/>
              </a:rPr>
              <a:t>c</a:t>
            </a:r>
            <a:endParaRPr sz="3075" baseline="-25745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50781" y="3085319"/>
            <a:ext cx="894715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075" i="1" spc="-60" baseline="4065" dirty="0">
                <a:latin typeface="Times New Roman"/>
                <a:cs typeface="Times New Roman"/>
              </a:rPr>
              <a:t>c</a:t>
            </a:r>
            <a:r>
              <a:rPr sz="1800" spc="-60" baseline="-16203" dirty="0">
                <a:latin typeface="Times New Roman"/>
                <a:cs typeface="Times New Roman"/>
              </a:rPr>
              <a:t>12 </a:t>
            </a:r>
            <a:r>
              <a:rPr sz="2050" spc="10" dirty="0">
                <a:latin typeface="Symbol"/>
                <a:cs typeface="Symbol"/>
              </a:rPr>
              <a:t></a:t>
            </a:r>
            <a:r>
              <a:rPr sz="3075" i="1" spc="15" baseline="4065" dirty="0">
                <a:latin typeface="Times New Roman"/>
                <a:cs typeface="Times New Roman"/>
              </a:rPr>
              <a:t>u</a:t>
            </a:r>
            <a:r>
              <a:rPr sz="1800" spc="15" baseline="-16203" dirty="0">
                <a:latin typeface="Times New Roman"/>
                <a:cs typeface="Times New Roman"/>
              </a:rPr>
              <a:t>1</a:t>
            </a:r>
            <a:r>
              <a:rPr sz="1800" spc="-172" baseline="-16203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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4213" y="3131006"/>
            <a:ext cx="430530" cy="339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0"/>
              </a:spcBef>
            </a:pPr>
            <a:r>
              <a:rPr sz="3075" spc="-7" baseline="9485" dirty="0">
                <a:latin typeface="Symbol"/>
                <a:cs typeface="Symbol"/>
              </a:rPr>
              <a:t></a:t>
            </a:r>
            <a:r>
              <a:rPr sz="3075" i="1" spc="-7" baseline="13550" dirty="0">
                <a:latin typeface="Times New Roman"/>
                <a:cs typeface="Times New Roman"/>
              </a:rPr>
              <a:t>c</a:t>
            </a:r>
            <a:r>
              <a:rPr sz="1200" spc="-5" dirty="0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228056" y="5756258"/>
            <a:ext cx="949325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3075" spc="-15" baseline="-25745" dirty="0">
                <a:latin typeface="Symbol"/>
                <a:cs typeface="Symbol"/>
              </a:rPr>
              <a:t></a:t>
            </a:r>
            <a:r>
              <a:rPr sz="3075" spc="-15" baseline="-25745" dirty="0">
                <a:latin typeface="Times New Roman"/>
                <a:cs typeface="Times New Roman"/>
              </a:rPr>
              <a:t> </a:t>
            </a:r>
            <a:r>
              <a:rPr sz="3225" i="1" spc="52" baseline="-24547" dirty="0">
                <a:latin typeface="Symbol"/>
                <a:cs typeface="Symbol"/>
              </a:rPr>
              <a:t></a:t>
            </a:r>
            <a:r>
              <a:rPr sz="2050" spc="35" dirty="0">
                <a:latin typeface="Symbol"/>
                <a:cs typeface="Symbol"/>
              </a:rPr>
              <a:t></a:t>
            </a:r>
            <a:r>
              <a:rPr sz="3075" i="1" spc="52" baseline="-25745" dirty="0">
                <a:latin typeface="Times New Roman"/>
                <a:cs typeface="Times New Roman"/>
              </a:rPr>
              <a:t>u</a:t>
            </a:r>
            <a:r>
              <a:rPr sz="3075" i="1" spc="75" baseline="-257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34213" y="5492673"/>
            <a:ext cx="781685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3075" spc="-52" baseline="-4065" dirty="0">
                <a:latin typeface="Symbol"/>
                <a:cs typeface="Symbol"/>
              </a:rPr>
              <a:t></a:t>
            </a:r>
            <a:r>
              <a:rPr sz="2050" i="1" spc="-35" dirty="0">
                <a:latin typeface="Times New Roman"/>
                <a:cs typeface="Times New Roman"/>
              </a:rPr>
              <a:t>c</a:t>
            </a:r>
            <a:r>
              <a:rPr sz="1800" spc="-52" baseline="-23148" dirty="0">
                <a:latin typeface="Times New Roman"/>
                <a:cs typeface="Times New Roman"/>
              </a:rPr>
              <a:t>11 </a:t>
            </a:r>
            <a:r>
              <a:rPr sz="2050" spc="-10" dirty="0">
                <a:latin typeface="Symbol"/>
                <a:cs typeface="Symbol"/>
              </a:rPr>
              <a:t></a:t>
            </a:r>
            <a:r>
              <a:rPr sz="2050" spc="-195" dirty="0">
                <a:latin typeface="Times New Roman"/>
                <a:cs typeface="Times New Roman"/>
              </a:rPr>
              <a:t> </a:t>
            </a:r>
            <a:r>
              <a:rPr sz="2150" i="1" spc="-65" dirty="0">
                <a:latin typeface="Symbol"/>
                <a:cs typeface="Symbol"/>
              </a:rPr>
              <a:t></a:t>
            </a:r>
            <a:endParaRPr sz="2150">
              <a:latin typeface="Symbol"/>
              <a:cs typeface="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550781" y="4700346"/>
            <a:ext cx="1541145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3075" i="1" spc="-60" baseline="4065" dirty="0">
                <a:latin typeface="Times New Roman"/>
                <a:cs typeface="Times New Roman"/>
              </a:rPr>
              <a:t>c</a:t>
            </a:r>
            <a:r>
              <a:rPr sz="1800" spc="-60" baseline="-16203" dirty="0">
                <a:latin typeface="Times New Roman"/>
                <a:cs typeface="Times New Roman"/>
              </a:rPr>
              <a:t>12 </a:t>
            </a:r>
            <a:r>
              <a:rPr sz="2050" spc="10" dirty="0">
                <a:latin typeface="Symbol"/>
                <a:cs typeface="Symbol"/>
              </a:rPr>
              <a:t></a:t>
            </a:r>
            <a:r>
              <a:rPr sz="3075" i="1" spc="15" baseline="4065" dirty="0">
                <a:latin typeface="Times New Roman"/>
                <a:cs typeface="Times New Roman"/>
              </a:rPr>
              <a:t>u</a:t>
            </a:r>
            <a:r>
              <a:rPr sz="1800" spc="15" baseline="-16203" dirty="0">
                <a:latin typeface="Times New Roman"/>
                <a:cs typeface="Times New Roman"/>
              </a:rPr>
              <a:t>1 </a:t>
            </a:r>
            <a:r>
              <a:rPr sz="2050" spc="-10" dirty="0">
                <a:latin typeface="Symbol"/>
                <a:cs typeface="Symbol"/>
              </a:rPr>
              <a:t>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3075" spc="-15" baseline="-36585" dirty="0">
                <a:latin typeface="Symbol"/>
                <a:cs typeface="Symbol"/>
              </a:rPr>
              <a:t></a:t>
            </a:r>
            <a:r>
              <a:rPr sz="3075" spc="-390" baseline="-36585" dirty="0">
                <a:latin typeface="Times New Roman"/>
                <a:cs typeface="Times New Roman"/>
              </a:rPr>
              <a:t> </a:t>
            </a:r>
            <a:r>
              <a:rPr sz="3225" i="1" spc="37" baseline="-34883" dirty="0">
                <a:latin typeface="Symbol"/>
                <a:cs typeface="Symbol"/>
              </a:rPr>
              <a:t></a:t>
            </a:r>
            <a:r>
              <a:rPr sz="2050" spc="25" dirty="0">
                <a:latin typeface="Symbol"/>
                <a:cs typeface="Symbol"/>
              </a:rPr>
              <a:t></a:t>
            </a:r>
            <a:r>
              <a:rPr sz="3075" spc="37" baseline="4065" dirty="0">
                <a:latin typeface="Times New Roman"/>
                <a:cs typeface="Times New Roman"/>
              </a:rPr>
              <a:t>1</a:t>
            </a:r>
            <a:endParaRPr sz="3075" baseline="4065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802183" y="3887086"/>
            <a:ext cx="897890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3075" spc="-15" baseline="4065" dirty="0">
                <a:latin typeface="Times New Roman"/>
                <a:cs typeface="Times New Roman"/>
              </a:rPr>
              <a:t>0</a:t>
            </a:r>
            <a:r>
              <a:rPr sz="2050" spc="-10" dirty="0">
                <a:latin typeface="Symbol"/>
                <a:cs typeface="Symbol"/>
              </a:rPr>
              <a:t></a:t>
            </a:r>
            <a:r>
              <a:rPr sz="3225" i="1" spc="-15" baseline="-34883" dirty="0">
                <a:latin typeface="Symbol"/>
                <a:cs typeface="Symbol"/>
              </a:rPr>
              <a:t></a:t>
            </a:r>
            <a:r>
              <a:rPr sz="3225" i="1" spc="-644" baseline="-34883" dirty="0">
                <a:latin typeface="Times New Roman"/>
                <a:cs typeface="Times New Roman"/>
              </a:rPr>
              <a:t> </a:t>
            </a:r>
            <a:r>
              <a:rPr sz="2050" spc="-20" dirty="0">
                <a:latin typeface="Symbol"/>
                <a:cs typeface="Symbol"/>
              </a:rPr>
              <a:t></a:t>
            </a:r>
            <a:r>
              <a:rPr sz="3075" i="1" spc="-30" baseline="4065" dirty="0">
                <a:latin typeface="Times New Roman"/>
                <a:cs typeface="Times New Roman"/>
              </a:rPr>
              <a:t>u</a:t>
            </a:r>
            <a:r>
              <a:rPr sz="1800" spc="-30" baseline="-16203" dirty="0">
                <a:latin typeface="Times New Roman"/>
                <a:cs typeface="Times New Roman"/>
              </a:rPr>
              <a:t>1 </a:t>
            </a:r>
            <a:r>
              <a:rPr sz="2050" spc="-10" dirty="0">
                <a:latin typeface="Symbol"/>
                <a:cs typeface="Symbol"/>
              </a:rPr>
              <a:t>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835174" y="3316736"/>
            <a:ext cx="1463675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050" spc="15" dirty="0">
                <a:latin typeface="Symbol"/>
                <a:cs typeface="Symbol"/>
              </a:rPr>
              <a:t></a:t>
            </a:r>
            <a:r>
              <a:rPr sz="3075" i="1" spc="22" baseline="-25745" dirty="0">
                <a:latin typeface="Times New Roman"/>
                <a:cs typeface="Times New Roman"/>
              </a:rPr>
              <a:t>u </a:t>
            </a:r>
            <a:r>
              <a:rPr sz="2050" spc="-10" dirty="0">
                <a:latin typeface="Symbol"/>
                <a:cs typeface="Symbol"/>
              </a:rPr>
              <a:t></a:t>
            </a:r>
            <a:r>
              <a:rPr sz="2050" spc="-10" dirty="0">
                <a:latin typeface="Times New Roman"/>
                <a:cs typeface="Times New Roman"/>
              </a:rPr>
              <a:t> </a:t>
            </a:r>
            <a:r>
              <a:rPr sz="3075" spc="-15" baseline="16260" dirty="0">
                <a:latin typeface="Symbol"/>
                <a:cs typeface="Symbol"/>
              </a:rPr>
              <a:t></a:t>
            </a:r>
            <a:r>
              <a:rPr sz="3075" spc="-15" baseline="16260" dirty="0">
                <a:latin typeface="Times New Roman"/>
                <a:cs typeface="Times New Roman"/>
              </a:rPr>
              <a:t> </a:t>
            </a:r>
            <a:r>
              <a:rPr sz="3225" i="1" spc="30" baseline="15503" dirty="0">
                <a:latin typeface="Symbol"/>
                <a:cs typeface="Symbol"/>
              </a:rPr>
              <a:t></a:t>
            </a:r>
            <a:r>
              <a:rPr sz="2050" spc="20" dirty="0">
                <a:latin typeface="Symbol"/>
                <a:cs typeface="Symbol"/>
              </a:rPr>
              <a:t></a:t>
            </a:r>
            <a:r>
              <a:rPr sz="3075" i="1" spc="30" baseline="-25745" dirty="0">
                <a:latin typeface="Times New Roman"/>
                <a:cs typeface="Times New Roman"/>
              </a:rPr>
              <a:t>u</a:t>
            </a:r>
            <a:r>
              <a:rPr sz="3075" i="1" spc="-37" baseline="-25745" dirty="0">
                <a:latin typeface="Times New Roman"/>
                <a:cs typeface="Times New Roman"/>
              </a:rPr>
              <a:t> </a:t>
            </a:r>
            <a:r>
              <a:rPr sz="2050" spc="-10" dirty="0">
                <a:latin typeface="Symbol"/>
                <a:cs typeface="Symbol"/>
              </a:rPr>
              <a:t></a:t>
            </a:r>
            <a:endParaRPr sz="2050">
              <a:latin typeface="Symbol"/>
              <a:cs typeface="Symbo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940395" y="3093497"/>
            <a:ext cx="74295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50" spc="-240" dirty="0">
                <a:latin typeface="Symbol"/>
                <a:cs typeface="Symbol"/>
              </a:rPr>
              <a:t>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940395" y="3259336"/>
            <a:ext cx="702310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614680" algn="l"/>
              </a:tabLst>
            </a:pPr>
            <a:r>
              <a:rPr sz="1850" spc="-130" dirty="0">
                <a:latin typeface="Symbol"/>
                <a:cs typeface="Symbol"/>
              </a:rPr>
              <a:t></a:t>
            </a:r>
            <a:r>
              <a:rPr sz="1850" spc="-130" dirty="0">
                <a:latin typeface="Times New Roman"/>
                <a:cs typeface="Times New Roman"/>
              </a:rPr>
              <a:t>	</a:t>
            </a:r>
            <a:r>
              <a:rPr sz="1850" spc="-130" dirty="0">
                <a:latin typeface="Symbol"/>
                <a:cs typeface="Symbol"/>
              </a:rPr>
              <a:t>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975322" y="3203123"/>
            <a:ext cx="705485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  <a:tabLst>
                <a:tab pos="388620" algn="l"/>
              </a:tabLst>
            </a:pPr>
            <a:r>
              <a:rPr sz="1850" spc="-190" dirty="0">
                <a:latin typeface="Times New Roman"/>
                <a:cs typeface="Times New Roman"/>
              </a:rPr>
              <a:t>13	</a:t>
            </a:r>
            <a:r>
              <a:rPr sz="1850" spc="-160" dirty="0">
                <a:latin typeface="Times New Roman"/>
                <a:cs typeface="Times New Roman"/>
              </a:rPr>
              <a:t>29</a:t>
            </a:r>
            <a:r>
              <a:rPr sz="2775" spc="-240" baseline="25525" dirty="0">
                <a:latin typeface="Symbol"/>
                <a:cs typeface="Symbol"/>
              </a:rPr>
              <a:t></a:t>
            </a:r>
            <a:endParaRPr sz="2775" baseline="25525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002878" y="1975381"/>
            <a:ext cx="2665095" cy="118999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55244">
              <a:lnSpc>
                <a:spcPct val="100000"/>
              </a:lnSpc>
              <a:spcBef>
                <a:spcPts val="550"/>
              </a:spcBef>
            </a:pPr>
            <a:r>
              <a:rPr sz="2100" spc="-15" dirty="0">
                <a:latin typeface="Times New Roman"/>
                <a:cs typeface="Times New Roman"/>
              </a:rPr>
              <a:t>(</a:t>
            </a:r>
            <a:r>
              <a:rPr sz="2100" i="1" spc="-15" dirty="0">
                <a:latin typeface="Times New Roman"/>
                <a:cs typeface="Times New Roman"/>
              </a:rPr>
              <a:t>c</a:t>
            </a:r>
            <a:r>
              <a:rPr sz="1800" spc="-22" baseline="-23148" dirty="0">
                <a:latin typeface="Times New Roman"/>
                <a:cs typeface="Times New Roman"/>
              </a:rPr>
              <a:t>11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Symbol"/>
                <a:cs typeface="Symbol"/>
              </a:rPr>
              <a:t></a:t>
            </a:r>
            <a:r>
              <a:rPr sz="2100" spc="-5" dirty="0">
                <a:latin typeface="Times New Roman"/>
                <a:cs typeface="Times New Roman"/>
              </a:rPr>
              <a:t>)</a:t>
            </a:r>
            <a:r>
              <a:rPr sz="2100" i="1" spc="-5" dirty="0">
                <a:latin typeface="Times New Roman"/>
                <a:cs typeface="Times New Roman"/>
              </a:rPr>
              <a:t>u</a:t>
            </a:r>
            <a:r>
              <a:rPr sz="1800" spc="-7" baseline="-23148" dirty="0">
                <a:latin typeface="Times New Roman"/>
                <a:cs typeface="Times New Roman"/>
              </a:rPr>
              <a:t>1 </a:t>
            </a:r>
            <a:r>
              <a:rPr sz="2100" spc="10" dirty="0">
                <a:latin typeface="Symbol"/>
                <a:cs typeface="Symbol"/>
              </a:rPr>
              <a:t>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i="1" spc="-10" dirty="0">
                <a:latin typeface="Times New Roman"/>
                <a:cs typeface="Times New Roman"/>
              </a:rPr>
              <a:t>c</a:t>
            </a:r>
            <a:r>
              <a:rPr sz="1800" spc="-15" baseline="-23148" dirty="0">
                <a:latin typeface="Times New Roman"/>
                <a:cs typeface="Times New Roman"/>
              </a:rPr>
              <a:t>12</a:t>
            </a:r>
            <a:r>
              <a:rPr sz="2100" i="1" spc="-10" dirty="0">
                <a:latin typeface="Times New Roman"/>
                <a:cs typeface="Times New Roman"/>
              </a:rPr>
              <a:t>u</a:t>
            </a:r>
            <a:r>
              <a:rPr sz="1800" spc="-15" baseline="-23148" dirty="0">
                <a:latin typeface="Times New Roman"/>
                <a:cs typeface="Times New Roman"/>
              </a:rPr>
              <a:t>2  </a:t>
            </a:r>
            <a:r>
              <a:rPr sz="2100" spc="10" dirty="0">
                <a:latin typeface="Symbol"/>
                <a:cs typeface="Symbol"/>
              </a:rPr>
              <a:t></a:t>
            </a:r>
            <a:r>
              <a:rPr sz="2100" spc="-30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2100" i="1" spc="-30" dirty="0">
                <a:latin typeface="Times New Roman"/>
                <a:cs typeface="Times New Roman"/>
              </a:rPr>
              <a:t>c</a:t>
            </a:r>
            <a:r>
              <a:rPr sz="1800" spc="-44" baseline="-23148" dirty="0">
                <a:latin typeface="Times New Roman"/>
                <a:cs typeface="Times New Roman"/>
              </a:rPr>
              <a:t>21</a:t>
            </a:r>
            <a:r>
              <a:rPr sz="2100" i="1" spc="-30" dirty="0">
                <a:latin typeface="Times New Roman"/>
                <a:cs typeface="Times New Roman"/>
              </a:rPr>
              <a:t>u</a:t>
            </a:r>
            <a:r>
              <a:rPr sz="1800" spc="-44" baseline="-23148" dirty="0">
                <a:latin typeface="Times New Roman"/>
                <a:cs typeface="Times New Roman"/>
              </a:rPr>
              <a:t>1 </a:t>
            </a:r>
            <a:r>
              <a:rPr sz="2100" spc="10" dirty="0">
                <a:latin typeface="Symbol"/>
                <a:cs typeface="Symbol"/>
              </a:rPr>
              <a:t>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(</a:t>
            </a:r>
            <a:r>
              <a:rPr sz="2100" i="1" spc="20" dirty="0">
                <a:latin typeface="Times New Roman"/>
                <a:cs typeface="Times New Roman"/>
              </a:rPr>
              <a:t>c</a:t>
            </a:r>
            <a:r>
              <a:rPr sz="1800" spc="30" baseline="-23148" dirty="0">
                <a:latin typeface="Times New Roman"/>
                <a:cs typeface="Times New Roman"/>
              </a:rPr>
              <a:t>22 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200" i="1" spc="30" dirty="0">
                <a:latin typeface="Symbol"/>
                <a:cs typeface="Symbol"/>
              </a:rPr>
              <a:t></a:t>
            </a:r>
            <a:r>
              <a:rPr sz="2100" spc="30" dirty="0">
                <a:latin typeface="Times New Roman"/>
                <a:cs typeface="Times New Roman"/>
              </a:rPr>
              <a:t>)</a:t>
            </a:r>
            <a:r>
              <a:rPr sz="2100" i="1" spc="30" dirty="0">
                <a:latin typeface="Times New Roman"/>
                <a:cs typeface="Times New Roman"/>
              </a:rPr>
              <a:t>u</a:t>
            </a:r>
            <a:r>
              <a:rPr sz="1800" spc="44" baseline="-23148" dirty="0">
                <a:latin typeface="Times New Roman"/>
                <a:cs typeface="Times New Roman"/>
              </a:rPr>
              <a:t>2  </a:t>
            </a:r>
            <a:r>
              <a:rPr sz="2100" spc="10" dirty="0">
                <a:latin typeface="Symbol"/>
                <a:cs typeface="Symbol"/>
              </a:rPr>
              <a:t></a:t>
            </a:r>
            <a:r>
              <a:rPr sz="2100" spc="-305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750"/>
              </a:spcBef>
              <a:tabLst>
                <a:tab pos="415925" algn="l"/>
              </a:tabLst>
            </a:pPr>
            <a:r>
              <a:rPr sz="2775" spc="-412" baseline="-4504" dirty="0">
                <a:latin typeface="Symbol"/>
                <a:cs typeface="Symbol"/>
              </a:rPr>
              <a:t></a:t>
            </a:r>
            <a:r>
              <a:rPr sz="1850" spc="-215" dirty="0">
                <a:latin typeface="Times New Roman"/>
                <a:cs typeface="Times New Roman"/>
              </a:rPr>
              <a:t>1</a:t>
            </a:r>
            <a:r>
              <a:rPr sz="1850" spc="-170" dirty="0">
                <a:latin typeface="Times New Roman"/>
                <a:cs typeface="Times New Roman"/>
              </a:rPr>
              <a:t>7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15" dirty="0">
                <a:latin typeface="Times New Roman"/>
                <a:cs typeface="Times New Roman"/>
              </a:rPr>
              <a:t>1</a:t>
            </a:r>
            <a:r>
              <a:rPr sz="1850" spc="-85" dirty="0">
                <a:latin typeface="Times New Roman"/>
                <a:cs typeface="Times New Roman"/>
              </a:rPr>
              <a:t>3</a:t>
            </a:r>
            <a:r>
              <a:rPr sz="2775" spc="-195" baseline="-4504" dirty="0">
                <a:latin typeface="Symbol"/>
                <a:cs typeface="Symbol"/>
              </a:rPr>
              <a:t></a:t>
            </a:r>
            <a:endParaRPr sz="2775" baseline="-4504">
              <a:latin typeface="Symbol"/>
              <a:cs typeface="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610552" y="3024180"/>
            <a:ext cx="298450" cy="3130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850" i="1" spc="-225" dirty="0">
                <a:latin typeface="Times New Roman"/>
                <a:cs typeface="Times New Roman"/>
              </a:rPr>
              <a:t>C</a:t>
            </a:r>
            <a:r>
              <a:rPr sz="1850" i="1" spc="-140" dirty="0">
                <a:latin typeface="Times New Roman"/>
                <a:cs typeface="Times New Roman"/>
              </a:rPr>
              <a:t> </a:t>
            </a:r>
            <a:r>
              <a:rPr sz="1850" spc="-185" dirty="0">
                <a:latin typeface="Symbol"/>
                <a:cs typeface="Symbol"/>
              </a:rPr>
              <a:t>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024628" y="3047237"/>
            <a:ext cx="15036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Matrik kovarian</a:t>
            </a:r>
            <a:r>
              <a:rPr sz="1600" spc="-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999228" y="3666235"/>
            <a:ext cx="3103245" cy="2574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325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Vektor </a:t>
            </a:r>
            <a:r>
              <a:rPr sz="1600" spc="-5" dirty="0">
                <a:latin typeface="Arial"/>
                <a:cs typeface="Arial"/>
              </a:rPr>
              <a:t>eigen didapatkan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dengan</a:t>
            </a:r>
            <a:endParaRPr sz="1600">
              <a:latin typeface="Arial"/>
              <a:cs typeface="Arial"/>
            </a:endParaRPr>
          </a:p>
          <a:p>
            <a:pPr marL="60325">
              <a:lnSpc>
                <a:spcPct val="100000"/>
              </a:lnSpc>
            </a:pPr>
            <a:r>
              <a:rPr sz="1600" spc="-5" dirty="0">
                <a:latin typeface="Arial"/>
                <a:cs typeface="Arial"/>
              </a:rPr>
              <a:t>persamaan</a:t>
            </a:r>
            <a:r>
              <a:rPr sz="160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537210" marR="386080" indent="36830">
              <a:lnSpc>
                <a:spcPct val="117400"/>
              </a:lnSpc>
              <a:spcBef>
                <a:spcPts val="415"/>
              </a:spcBef>
            </a:pPr>
            <a:r>
              <a:rPr sz="2100" spc="-80" dirty="0">
                <a:latin typeface="Times New Roman"/>
                <a:cs typeface="Times New Roman"/>
              </a:rPr>
              <a:t>(17 </a:t>
            </a:r>
            <a:r>
              <a:rPr sz="2100" spc="5" dirty="0">
                <a:latin typeface="Symbol"/>
                <a:cs typeface="Symbol"/>
              </a:rPr>
              <a:t>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Symbol"/>
                <a:cs typeface="Symbol"/>
              </a:rPr>
              <a:t></a:t>
            </a:r>
            <a:r>
              <a:rPr sz="2100" spc="-5" dirty="0">
                <a:latin typeface="Times New Roman"/>
                <a:cs typeface="Times New Roman"/>
              </a:rPr>
              <a:t>)</a:t>
            </a:r>
            <a:r>
              <a:rPr sz="2100" i="1" spc="-5" dirty="0">
                <a:latin typeface="Times New Roman"/>
                <a:cs typeface="Times New Roman"/>
              </a:rPr>
              <a:t>u</a:t>
            </a:r>
            <a:r>
              <a:rPr sz="1800" spc="-7" baseline="-23148" dirty="0">
                <a:latin typeface="Times New Roman"/>
                <a:cs typeface="Times New Roman"/>
              </a:rPr>
              <a:t>1 </a:t>
            </a:r>
            <a:r>
              <a:rPr sz="2100" spc="10" dirty="0">
                <a:latin typeface="Symbol"/>
                <a:cs typeface="Symbol"/>
              </a:rPr>
              <a:t></a:t>
            </a:r>
            <a:r>
              <a:rPr sz="2100" spc="10" dirty="0">
                <a:latin typeface="Times New Roman"/>
                <a:cs typeface="Times New Roman"/>
              </a:rPr>
              <a:t>13</a:t>
            </a:r>
            <a:r>
              <a:rPr sz="2100" i="1" spc="10" dirty="0">
                <a:latin typeface="Times New Roman"/>
                <a:cs typeface="Times New Roman"/>
              </a:rPr>
              <a:t>u</a:t>
            </a:r>
            <a:r>
              <a:rPr sz="1800" spc="15" baseline="-23148" dirty="0">
                <a:latin typeface="Times New Roman"/>
                <a:cs typeface="Times New Roman"/>
              </a:rPr>
              <a:t>2 </a:t>
            </a:r>
            <a:r>
              <a:rPr sz="2100" spc="5" dirty="0">
                <a:latin typeface="Symbol"/>
                <a:cs typeface="Symbol"/>
              </a:rPr>
              <a:t></a:t>
            </a:r>
            <a:r>
              <a:rPr sz="2100" spc="-265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0  </a:t>
            </a:r>
            <a:r>
              <a:rPr sz="2100" spc="-55" dirty="0">
                <a:latin typeface="Times New Roman"/>
                <a:cs typeface="Times New Roman"/>
              </a:rPr>
              <a:t>13</a:t>
            </a:r>
            <a:r>
              <a:rPr sz="2100" i="1" spc="-55" dirty="0">
                <a:latin typeface="Times New Roman"/>
                <a:cs typeface="Times New Roman"/>
              </a:rPr>
              <a:t>u</a:t>
            </a:r>
            <a:r>
              <a:rPr sz="1800" spc="-82" baseline="-23148" dirty="0">
                <a:latin typeface="Times New Roman"/>
                <a:cs typeface="Times New Roman"/>
              </a:rPr>
              <a:t>1</a:t>
            </a:r>
            <a:r>
              <a:rPr sz="1800" spc="202" baseline="-23148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Symbol"/>
                <a:cs typeface="Symbol"/>
              </a:rPr>
              <a:t></a:t>
            </a:r>
            <a:r>
              <a:rPr sz="2100" spc="-204" dirty="0">
                <a:latin typeface="Times New Roman"/>
                <a:cs typeface="Times New Roman"/>
              </a:rPr>
              <a:t> </a:t>
            </a:r>
            <a:r>
              <a:rPr sz="2100" spc="-5" dirty="0">
                <a:latin typeface="Times New Roman"/>
                <a:cs typeface="Times New Roman"/>
              </a:rPr>
              <a:t>(29</a:t>
            </a:r>
            <a:r>
              <a:rPr sz="2100" spc="-195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Symbol"/>
                <a:cs typeface="Symbol"/>
              </a:rPr>
              <a:t></a:t>
            </a:r>
            <a:r>
              <a:rPr sz="2100" spc="-240" dirty="0">
                <a:latin typeface="Times New Roman"/>
                <a:cs typeface="Times New Roman"/>
              </a:rPr>
              <a:t> </a:t>
            </a:r>
            <a:r>
              <a:rPr sz="2200" i="1" spc="30" dirty="0">
                <a:latin typeface="Symbol"/>
                <a:cs typeface="Symbol"/>
              </a:rPr>
              <a:t></a:t>
            </a:r>
            <a:r>
              <a:rPr sz="2100" spc="30" dirty="0">
                <a:latin typeface="Times New Roman"/>
                <a:cs typeface="Times New Roman"/>
              </a:rPr>
              <a:t>)</a:t>
            </a:r>
            <a:r>
              <a:rPr sz="2100" i="1" spc="30" dirty="0">
                <a:latin typeface="Times New Roman"/>
                <a:cs typeface="Times New Roman"/>
              </a:rPr>
              <a:t>u</a:t>
            </a:r>
            <a:r>
              <a:rPr sz="1800" spc="44" baseline="-23148" dirty="0">
                <a:latin typeface="Times New Roman"/>
                <a:cs typeface="Times New Roman"/>
              </a:rPr>
              <a:t>2</a:t>
            </a:r>
            <a:r>
              <a:rPr sz="1800" spc="532" baseline="-23148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Symbol"/>
                <a:cs typeface="Symbol"/>
              </a:rPr>
              <a:t>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890"/>
              </a:spcBef>
            </a:pPr>
            <a:r>
              <a:rPr sz="1600" spc="-5" dirty="0">
                <a:latin typeface="Arial"/>
                <a:cs typeface="Arial"/>
              </a:rPr>
              <a:t>Untuk </a:t>
            </a:r>
            <a:r>
              <a:rPr sz="1600" dirty="0">
                <a:latin typeface="Arial"/>
                <a:cs typeface="Arial"/>
              </a:rPr>
              <a:t>λ</a:t>
            </a:r>
            <a:r>
              <a:rPr sz="1575" baseline="-21164" dirty="0">
                <a:latin typeface="Arial"/>
                <a:cs typeface="Arial"/>
              </a:rPr>
              <a:t>1 </a:t>
            </a:r>
            <a:r>
              <a:rPr sz="1600" spc="-5" dirty="0">
                <a:latin typeface="Arial"/>
                <a:cs typeface="Arial"/>
              </a:rPr>
              <a:t>= 8.68218 maka</a:t>
            </a:r>
            <a:r>
              <a:rPr sz="1600" spc="-1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681990">
              <a:lnSpc>
                <a:spcPct val="100000"/>
              </a:lnSpc>
              <a:spcBef>
                <a:spcPts val="1190"/>
              </a:spcBef>
            </a:pPr>
            <a:r>
              <a:rPr sz="2100" spc="90" dirty="0">
                <a:latin typeface="Times New Roman"/>
                <a:cs typeface="Times New Roman"/>
              </a:rPr>
              <a:t>8.3178</a:t>
            </a:r>
            <a:r>
              <a:rPr sz="2100" i="1" spc="90" dirty="0">
                <a:latin typeface="Times New Roman"/>
                <a:cs typeface="Times New Roman"/>
              </a:rPr>
              <a:t>u</a:t>
            </a:r>
            <a:r>
              <a:rPr sz="1800" spc="135" baseline="-23148" dirty="0">
                <a:latin typeface="Times New Roman"/>
                <a:cs typeface="Times New Roman"/>
              </a:rPr>
              <a:t>1 </a:t>
            </a:r>
            <a:r>
              <a:rPr sz="2100" spc="145" dirty="0">
                <a:latin typeface="Symbol"/>
                <a:cs typeface="Symbol"/>
              </a:rPr>
              <a:t></a:t>
            </a:r>
            <a:r>
              <a:rPr sz="2100" spc="145" dirty="0">
                <a:latin typeface="Times New Roman"/>
                <a:cs typeface="Times New Roman"/>
              </a:rPr>
              <a:t>13</a:t>
            </a:r>
            <a:r>
              <a:rPr sz="2100" i="1" spc="145" dirty="0">
                <a:latin typeface="Times New Roman"/>
                <a:cs typeface="Times New Roman"/>
              </a:rPr>
              <a:t>u</a:t>
            </a:r>
            <a:r>
              <a:rPr sz="1800" spc="217" baseline="-23148" dirty="0">
                <a:latin typeface="Times New Roman"/>
                <a:cs typeface="Times New Roman"/>
              </a:rPr>
              <a:t>2 </a:t>
            </a:r>
            <a:r>
              <a:rPr sz="2100" spc="160" dirty="0">
                <a:latin typeface="Symbol"/>
                <a:cs typeface="Symbol"/>
              </a:rPr>
              <a:t>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145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  <a:p>
            <a:pPr marL="581660">
              <a:lnSpc>
                <a:spcPct val="100000"/>
              </a:lnSpc>
              <a:spcBef>
                <a:spcPts val="580"/>
              </a:spcBef>
            </a:pPr>
            <a:r>
              <a:rPr sz="2100" spc="65" dirty="0">
                <a:latin typeface="Times New Roman"/>
                <a:cs typeface="Times New Roman"/>
              </a:rPr>
              <a:t>13</a:t>
            </a:r>
            <a:r>
              <a:rPr sz="2100" i="1" spc="65" dirty="0">
                <a:latin typeface="Times New Roman"/>
                <a:cs typeface="Times New Roman"/>
              </a:rPr>
              <a:t>u</a:t>
            </a:r>
            <a:r>
              <a:rPr sz="1800" spc="97" baseline="-23148" dirty="0">
                <a:latin typeface="Times New Roman"/>
                <a:cs typeface="Times New Roman"/>
              </a:rPr>
              <a:t>1 </a:t>
            </a:r>
            <a:r>
              <a:rPr sz="2100" spc="160" dirty="0">
                <a:latin typeface="Symbol"/>
                <a:cs typeface="Symbol"/>
              </a:rPr>
              <a:t></a:t>
            </a:r>
            <a:r>
              <a:rPr sz="2100" spc="160" dirty="0">
                <a:latin typeface="Times New Roman"/>
                <a:cs typeface="Times New Roman"/>
              </a:rPr>
              <a:t> </a:t>
            </a:r>
            <a:r>
              <a:rPr sz="2100" spc="110" dirty="0">
                <a:latin typeface="Times New Roman"/>
                <a:cs typeface="Times New Roman"/>
              </a:rPr>
              <a:t>20.3178</a:t>
            </a:r>
            <a:r>
              <a:rPr sz="2100" i="1" spc="110" dirty="0">
                <a:latin typeface="Times New Roman"/>
                <a:cs typeface="Times New Roman"/>
              </a:rPr>
              <a:t>u</a:t>
            </a:r>
            <a:r>
              <a:rPr sz="1800" spc="165" baseline="-23148" dirty="0">
                <a:latin typeface="Times New Roman"/>
                <a:cs typeface="Times New Roman"/>
              </a:rPr>
              <a:t>2 </a:t>
            </a:r>
            <a:r>
              <a:rPr sz="2100" spc="160" dirty="0">
                <a:latin typeface="Symbol"/>
                <a:cs typeface="Symbol"/>
              </a:rPr>
              <a:t></a:t>
            </a:r>
            <a:r>
              <a:rPr sz="2100" spc="-260" dirty="0">
                <a:latin typeface="Times New Roman"/>
                <a:cs typeface="Times New Roman"/>
              </a:rPr>
              <a:t> </a:t>
            </a:r>
            <a:r>
              <a:rPr sz="2100" spc="145" dirty="0">
                <a:latin typeface="Times New Roman"/>
                <a:cs typeface="Times New Roman"/>
              </a:rPr>
              <a:t>0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4865751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3960749" y="0"/>
                  </a:moveTo>
                  <a:lnTo>
                    <a:pt x="0" y="0"/>
                  </a:lnTo>
                  <a:lnTo>
                    <a:pt x="0" y="4464050"/>
                  </a:lnTo>
                  <a:lnTo>
                    <a:pt x="3960749" y="4464050"/>
                  </a:lnTo>
                  <a:lnTo>
                    <a:pt x="396074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65751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0" y="4464050"/>
                  </a:moveTo>
                  <a:lnTo>
                    <a:pt x="3960749" y="4464050"/>
                  </a:lnTo>
                  <a:lnTo>
                    <a:pt x="3960749" y="0"/>
                  </a:lnTo>
                  <a:lnTo>
                    <a:pt x="0" y="0"/>
                  </a:lnTo>
                  <a:lnTo>
                    <a:pt x="0" y="446405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087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3960749" y="0"/>
                  </a:moveTo>
                  <a:lnTo>
                    <a:pt x="0" y="0"/>
                  </a:lnTo>
                  <a:lnTo>
                    <a:pt x="0" y="4464050"/>
                  </a:lnTo>
                  <a:lnTo>
                    <a:pt x="3960749" y="4464050"/>
                  </a:lnTo>
                  <a:lnTo>
                    <a:pt x="396074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7087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0" y="4464050"/>
                  </a:moveTo>
                  <a:lnTo>
                    <a:pt x="3960749" y="4464050"/>
                  </a:lnTo>
                  <a:lnTo>
                    <a:pt x="3960749" y="0"/>
                  </a:lnTo>
                  <a:lnTo>
                    <a:pt x="0" y="0"/>
                  </a:lnTo>
                  <a:lnTo>
                    <a:pt x="0" y="446405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8728" y="259207"/>
            <a:ext cx="79222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PCA : Menghitung Eigen</a:t>
            </a:r>
            <a:r>
              <a:rPr spc="-55" dirty="0"/>
              <a:t> </a:t>
            </a:r>
            <a:r>
              <a:rPr dirty="0"/>
              <a:t>Vector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5940" y="1329309"/>
            <a:ext cx="323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</a:tabLst>
            </a:pPr>
            <a:r>
              <a:rPr sz="3600" spc="-5" dirty="0">
                <a:latin typeface="Arial"/>
                <a:cs typeface="Arial"/>
              </a:rPr>
              <a:t>Eigen </a:t>
            </a:r>
            <a:r>
              <a:rPr sz="3600" dirty="0">
                <a:latin typeface="Arial"/>
                <a:cs typeface="Arial"/>
              </a:rPr>
              <a:t>Vector</a:t>
            </a:r>
            <a:r>
              <a:rPr sz="3600" spc="-8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95845" y="4153263"/>
            <a:ext cx="650240" cy="0"/>
          </a:xfrm>
          <a:custGeom>
            <a:avLst/>
            <a:gdLst/>
            <a:ahLst/>
            <a:cxnLst/>
            <a:rect l="l" t="t" r="r" b="b"/>
            <a:pathLst>
              <a:path w="650239">
                <a:moveTo>
                  <a:pt x="0" y="0"/>
                </a:moveTo>
                <a:lnTo>
                  <a:pt x="649817" y="0"/>
                </a:lnTo>
              </a:path>
            </a:pathLst>
          </a:custGeom>
          <a:ln w="91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00577" y="4141534"/>
            <a:ext cx="64452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00" spc="-20" dirty="0">
                <a:latin typeface="Times New Roman"/>
                <a:cs typeface="Times New Roman"/>
              </a:rPr>
              <a:t>8</a:t>
            </a:r>
            <a:r>
              <a:rPr sz="1800" spc="35" dirty="0">
                <a:latin typeface="Times New Roman"/>
                <a:cs typeface="Times New Roman"/>
              </a:rPr>
              <a:t>.</a:t>
            </a:r>
            <a:r>
              <a:rPr sz="1800" spc="-30" dirty="0">
                <a:latin typeface="Times New Roman"/>
                <a:cs typeface="Times New Roman"/>
              </a:rPr>
              <a:t>3</a:t>
            </a:r>
            <a:r>
              <a:rPr sz="1800" spc="-20" dirty="0">
                <a:latin typeface="Times New Roman"/>
                <a:cs typeface="Times New Roman"/>
              </a:rPr>
              <a:t>17</a:t>
            </a:r>
            <a:r>
              <a:rPr sz="1800" spc="45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21009" y="3975803"/>
            <a:ext cx="8318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050" spc="25" dirty="0">
                <a:latin typeface="Times New Roman"/>
                <a:cs typeface="Times New Roman"/>
              </a:rPr>
              <a:t>2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5907" y="4118119"/>
            <a:ext cx="8318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050" spc="2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67840" y="3964981"/>
            <a:ext cx="38798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00" i="1" spc="45" dirty="0">
                <a:latin typeface="Times New Roman"/>
                <a:cs typeface="Times New Roman"/>
              </a:rPr>
              <a:t>u</a:t>
            </a:r>
            <a:r>
              <a:rPr sz="1800" i="1" spc="425" dirty="0">
                <a:latin typeface="Times New Roman"/>
                <a:cs typeface="Times New Roman"/>
              </a:rPr>
              <a:t> </a:t>
            </a:r>
            <a:r>
              <a:rPr sz="1800" spc="50" dirty="0">
                <a:latin typeface="Symbol"/>
                <a:cs typeface="Symbol"/>
              </a:rPr>
              <a:t>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93267" y="2018156"/>
            <a:ext cx="3254375" cy="2108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1914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Untuk </a:t>
            </a:r>
            <a:r>
              <a:rPr sz="1600" spc="5" dirty="0">
                <a:latin typeface="Arial"/>
                <a:cs typeface="Arial"/>
              </a:rPr>
              <a:t>λ</a:t>
            </a:r>
            <a:r>
              <a:rPr sz="1575" spc="7" baseline="-21164" dirty="0">
                <a:latin typeface="Arial"/>
                <a:cs typeface="Arial"/>
              </a:rPr>
              <a:t>1 </a:t>
            </a:r>
            <a:r>
              <a:rPr sz="1600" spc="-5" dirty="0">
                <a:latin typeface="Arial"/>
                <a:cs typeface="Arial"/>
              </a:rPr>
              <a:t>= 8.68218 maka</a:t>
            </a:r>
            <a:r>
              <a:rPr sz="1600" spc="-14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682625">
              <a:lnSpc>
                <a:spcPts val="2275"/>
              </a:lnSpc>
            </a:pPr>
            <a:r>
              <a:rPr sz="1900" spc="180" dirty="0">
                <a:latin typeface="Times New Roman"/>
                <a:cs typeface="Times New Roman"/>
              </a:rPr>
              <a:t>8.3178</a:t>
            </a:r>
            <a:r>
              <a:rPr sz="1900" i="1" spc="180" dirty="0">
                <a:latin typeface="Times New Roman"/>
                <a:cs typeface="Times New Roman"/>
              </a:rPr>
              <a:t>u</a:t>
            </a:r>
            <a:r>
              <a:rPr sz="1650" spc="270" baseline="-22727" dirty="0">
                <a:latin typeface="Times New Roman"/>
                <a:cs typeface="Times New Roman"/>
              </a:rPr>
              <a:t>1 </a:t>
            </a:r>
            <a:r>
              <a:rPr sz="1900" spc="240" dirty="0">
                <a:latin typeface="Symbol"/>
                <a:cs typeface="Symbol"/>
              </a:rPr>
              <a:t></a:t>
            </a:r>
            <a:r>
              <a:rPr sz="1900" spc="240" dirty="0">
                <a:latin typeface="Times New Roman"/>
                <a:cs typeface="Times New Roman"/>
              </a:rPr>
              <a:t>13</a:t>
            </a:r>
            <a:r>
              <a:rPr sz="1900" i="1" spc="240" dirty="0">
                <a:latin typeface="Times New Roman"/>
                <a:cs typeface="Times New Roman"/>
              </a:rPr>
              <a:t>u</a:t>
            </a:r>
            <a:r>
              <a:rPr sz="1650" spc="359" baseline="-22727" dirty="0">
                <a:latin typeface="Times New Roman"/>
                <a:cs typeface="Times New Roman"/>
              </a:rPr>
              <a:t>2 </a:t>
            </a:r>
            <a:r>
              <a:rPr sz="1900" spc="265" dirty="0">
                <a:latin typeface="Symbol"/>
                <a:cs typeface="Symbol"/>
              </a:rPr>
              <a:t></a:t>
            </a:r>
            <a:r>
              <a:rPr sz="1900" spc="-235" dirty="0">
                <a:latin typeface="Times New Roman"/>
                <a:cs typeface="Times New Roman"/>
              </a:rPr>
              <a:t> </a:t>
            </a:r>
            <a:r>
              <a:rPr sz="1900" spc="245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582295">
              <a:lnSpc>
                <a:spcPct val="100000"/>
              </a:lnSpc>
              <a:spcBef>
                <a:spcPts val="505"/>
              </a:spcBef>
            </a:pPr>
            <a:r>
              <a:rPr sz="1900" spc="155" dirty="0">
                <a:latin typeface="Times New Roman"/>
                <a:cs typeface="Times New Roman"/>
              </a:rPr>
              <a:t>13</a:t>
            </a:r>
            <a:r>
              <a:rPr sz="1900" i="1" spc="155" dirty="0">
                <a:latin typeface="Times New Roman"/>
                <a:cs typeface="Times New Roman"/>
              </a:rPr>
              <a:t>u</a:t>
            </a:r>
            <a:r>
              <a:rPr sz="1650" spc="232" baseline="-22727" dirty="0">
                <a:latin typeface="Times New Roman"/>
                <a:cs typeface="Times New Roman"/>
              </a:rPr>
              <a:t>1 </a:t>
            </a:r>
            <a:r>
              <a:rPr sz="1900" spc="265" dirty="0">
                <a:latin typeface="Symbol"/>
                <a:cs typeface="Symbol"/>
              </a:rPr>
              <a:t></a:t>
            </a:r>
            <a:r>
              <a:rPr sz="1900" spc="265" dirty="0">
                <a:latin typeface="Times New Roman"/>
                <a:cs typeface="Times New Roman"/>
              </a:rPr>
              <a:t> </a:t>
            </a:r>
            <a:r>
              <a:rPr sz="1900" spc="200" dirty="0">
                <a:latin typeface="Times New Roman"/>
                <a:cs typeface="Times New Roman"/>
              </a:rPr>
              <a:t>20.3178</a:t>
            </a:r>
            <a:r>
              <a:rPr sz="1900" i="1" spc="200" dirty="0">
                <a:latin typeface="Times New Roman"/>
                <a:cs typeface="Times New Roman"/>
              </a:rPr>
              <a:t>u</a:t>
            </a:r>
            <a:r>
              <a:rPr sz="1650" spc="300" baseline="-22727" dirty="0">
                <a:latin typeface="Times New Roman"/>
                <a:cs typeface="Times New Roman"/>
              </a:rPr>
              <a:t>2 </a:t>
            </a:r>
            <a:r>
              <a:rPr sz="1900" spc="265" dirty="0">
                <a:latin typeface="Symbol"/>
                <a:cs typeface="Symbol"/>
              </a:rPr>
              <a:t>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245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latin typeface="Arial"/>
                <a:cs typeface="Arial"/>
              </a:rPr>
              <a:t>Solusi non trivial sistem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persamaan</a:t>
            </a:r>
            <a:endParaRPr sz="16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"/>
                <a:cs typeface="Arial"/>
              </a:rPr>
              <a:t>ini adalah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670560">
              <a:lnSpc>
                <a:spcPct val="100000"/>
              </a:lnSpc>
              <a:spcBef>
                <a:spcPts val="340"/>
              </a:spcBef>
            </a:pPr>
            <a:r>
              <a:rPr sz="1800" spc="-5" dirty="0">
                <a:latin typeface="Times New Roman"/>
                <a:cs typeface="Times New Roman"/>
              </a:rPr>
              <a:t>8.3178</a:t>
            </a:r>
            <a:r>
              <a:rPr sz="1800" i="1" spc="-5" dirty="0">
                <a:latin typeface="Times New Roman"/>
                <a:cs typeface="Times New Roman"/>
              </a:rPr>
              <a:t>u</a:t>
            </a:r>
            <a:r>
              <a:rPr sz="1575" spc="-7" baseline="-23809" dirty="0">
                <a:latin typeface="Times New Roman"/>
                <a:cs typeface="Times New Roman"/>
              </a:rPr>
              <a:t>1 </a:t>
            </a:r>
            <a:r>
              <a:rPr sz="1800" spc="50" dirty="0">
                <a:latin typeface="Symbol"/>
                <a:cs typeface="Symbol"/>
              </a:rPr>
              <a:t>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Symbol"/>
                <a:cs typeface="Symbol"/>
              </a:rPr>
              <a:t></a:t>
            </a:r>
            <a:r>
              <a:rPr sz="1800" spc="5" dirty="0">
                <a:latin typeface="Times New Roman"/>
                <a:cs typeface="Times New Roman"/>
              </a:rPr>
              <a:t>13</a:t>
            </a:r>
            <a:r>
              <a:rPr sz="1800" i="1" spc="5" dirty="0">
                <a:latin typeface="Times New Roman"/>
                <a:cs typeface="Times New Roman"/>
              </a:rPr>
              <a:t>u</a:t>
            </a:r>
            <a:r>
              <a:rPr sz="1575" spc="7" baseline="-23809" dirty="0">
                <a:latin typeface="Times New Roman"/>
                <a:cs typeface="Times New Roman"/>
              </a:rPr>
              <a:t>2</a:t>
            </a:r>
            <a:endParaRPr sz="1575" baseline="-23809">
              <a:latin typeface="Times New Roman"/>
              <a:cs typeface="Times New Roman"/>
            </a:endParaRPr>
          </a:p>
          <a:p>
            <a:pPr marR="480695" algn="ctr">
              <a:lnSpc>
                <a:spcPct val="100000"/>
              </a:lnSpc>
              <a:spcBef>
                <a:spcPts val="535"/>
              </a:spcBef>
            </a:pPr>
            <a:r>
              <a:rPr sz="1800" spc="25" dirty="0">
                <a:latin typeface="Symbol"/>
                <a:cs typeface="Symbol"/>
              </a:rPr>
              <a:t></a:t>
            </a:r>
            <a:r>
              <a:rPr sz="1800" spc="25" dirty="0">
                <a:latin typeface="Times New Roman"/>
                <a:cs typeface="Times New Roman"/>
              </a:rPr>
              <a:t>13</a:t>
            </a:r>
            <a:r>
              <a:rPr sz="1800" i="1" spc="25" dirty="0">
                <a:latin typeface="Times New Roman"/>
                <a:cs typeface="Times New Roman"/>
              </a:rPr>
              <a:t>u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49509" y="4600340"/>
            <a:ext cx="27559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00" spc="80" dirty="0">
                <a:latin typeface="Times New Roman"/>
                <a:cs typeface="Times New Roman"/>
              </a:rPr>
              <a:t>13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846662" y="4262847"/>
            <a:ext cx="863600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00" u="sng" spc="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8.3178a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23442" y="4406607"/>
            <a:ext cx="291592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1623060" algn="l"/>
              </a:tabLst>
            </a:pPr>
            <a:r>
              <a:rPr sz="1600" spc="-5" dirty="0">
                <a:latin typeface="Arial"/>
                <a:cs typeface="Arial"/>
              </a:rPr>
              <a:t>Misalkan  </a:t>
            </a:r>
            <a:r>
              <a:rPr sz="3150" i="1" spc="-172" baseline="2645" dirty="0">
                <a:latin typeface="Times New Roman"/>
                <a:cs typeface="Times New Roman"/>
              </a:rPr>
              <a:t>u</a:t>
            </a:r>
            <a:r>
              <a:rPr sz="1875" spc="-172" baseline="-17777" dirty="0">
                <a:latin typeface="Times New Roman"/>
                <a:cs typeface="Times New Roman"/>
              </a:rPr>
              <a:t>1</a:t>
            </a:r>
            <a:r>
              <a:rPr sz="1875" spc="-44" baseline="-17777" dirty="0">
                <a:latin typeface="Times New Roman"/>
                <a:cs typeface="Times New Roman"/>
              </a:rPr>
              <a:t> </a:t>
            </a:r>
            <a:r>
              <a:rPr sz="3150" spc="-127" baseline="2645" dirty="0">
                <a:latin typeface="Symbol"/>
                <a:cs typeface="Symbol"/>
              </a:rPr>
              <a:t></a:t>
            </a:r>
            <a:r>
              <a:rPr sz="3150" spc="-157" baseline="2645" dirty="0">
                <a:latin typeface="Times New Roman"/>
                <a:cs typeface="Times New Roman"/>
              </a:rPr>
              <a:t> </a:t>
            </a:r>
            <a:r>
              <a:rPr sz="3150" i="1" spc="-120" baseline="2645" dirty="0">
                <a:latin typeface="Times New Roman"/>
                <a:cs typeface="Times New Roman"/>
              </a:rPr>
              <a:t>a	</a:t>
            </a:r>
            <a:r>
              <a:rPr sz="1600" spc="-5" dirty="0">
                <a:latin typeface="Arial"/>
                <a:cs typeface="Arial"/>
              </a:rPr>
              <a:t>maka </a:t>
            </a:r>
            <a:r>
              <a:rPr sz="2850" i="1" spc="202" baseline="4385" dirty="0">
                <a:latin typeface="Times New Roman"/>
                <a:cs typeface="Times New Roman"/>
              </a:rPr>
              <a:t>u</a:t>
            </a:r>
            <a:r>
              <a:rPr sz="1650" spc="202" baseline="-15151" dirty="0">
                <a:latin typeface="Times New Roman"/>
                <a:cs typeface="Times New Roman"/>
              </a:rPr>
              <a:t>2 </a:t>
            </a:r>
            <a:r>
              <a:rPr sz="2850" spc="225" baseline="4385" dirty="0">
                <a:latin typeface="Symbol"/>
                <a:cs typeface="Symbol"/>
              </a:rPr>
              <a:t></a:t>
            </a:r>
            <a:r>
              <a:rPr sz="2850" spc="-15" baseline="4385" dirty="0">
                <a:latin typeface="Times New Roman"/>
                <a:cs typeface="Times New Roman"/>
              </a:rPr>
              <a:t> </a:t>
            </a:r>
            <a:r>
              <a:rPr sz="2850" spc="225" baseline="4385" dirty="0">
                <a:latin typeface="Symbol"/>
                <a:cs typeface="Symbol"/>
              </a:rPr>
              <a:t></a:t>
            </a:r>
            <a:endParaRPr sz="2850" baseline="4385">
              <a:latin typeface="Symbol"/>
              <a:cs typeface="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32891" y="4827270"/>
            <a:ext cx="3352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Jadi vektor eigen untuk </a:t>
            </a:r>
            <a:r>
              <a:rPr sz="1600" spc="5" dirty="0">
                <a:latin typeface="Arial"/>
                <a:cs typeface="Arial"/>
              </a:rPr>
              <a:t>λ</a:t>
            </a:r>
            <a:r>
              <a:rPr sz="1575" spc="7" baseline="-21164" dirty="0">
                <a:latin typeface="Arial"/>
                <a:cs typeface="Arial"/>
              </a:rPr>
              <a:t>1 </a:t>
            </a:r>
            <a:r>
              <a:rPr sz="1600" spc="-5" dirty="0">
                <a:latin typeface="Arial"/>
                <a:cs typeface="Arial"/>
              </a:rPr>
              <a:t>=</a:t>
            </a:r>
            <a:r>
              <a:rPr sz="1600" spc="-1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8.68218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8291" y="5071109"/>
            <a:ext cx="7334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adalah</a:t>
            </a:r>
            <a:r>
              <a:rPr sz="1600" spc="-7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265632" y="5672414"/>
            <a:ext cx="780415" cy="0"/>
          </a:xfrm>
          <a:custGeom>
            <a:avLst/>
            <a:gdLst/>
            <a:ahLst/>
            <a:cxnLst/>
            <a:rect l="l" t="t" r="r" b="b"/>
            <a:pathLst>
              <a:path w="780414">
                <a:moveTo>
                  <a:pt x="0" y="0"/>
                </a:moveTo>
                <a:lnTo>
                  <a:pt x="780014" y="0"/>
                </a:lnTo>
              </a:path>
            </a:pathLst>
          </a:custGeom>
          <a:ln w="76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999415" y="5231629"/>
            <a:ext cx="116586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1060450" algn="l"/>
              </a:tabLst>
            </a:pPr>
            <a:r>
              <a:rPr sz="1500" spc="150" dirty="0">
                <a:latin typeface="Symbol"/>
                <a:cs typeface="Symbol"/>
              </a:rPr>
              <a:t></a:t>
            </a:r>
            <a:r>
              <a:rPr sz="1500" spc="150" dirty="0">
                <a:latin typeface="Times New Roman"/>
                <a:cs typeface="Times New Roman"/>
              </a:rPr>
              <a:t>	</a:t>
            </a:r>
            <a:r>
              <a:rPr sz="1500" spc="150" dirty="0">
                <a:latin typeface="Symbol"/>
                <a:cs typeface="Symbol"/>
              </a:rPr>
              <a:t>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13193" y="5218143"/>
            <a:ext cx="13335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500" i="1" spc="195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35883" y="5394734"/>
            <a:ext cx="165481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250" i="1" spc="427" baseline="-5555" dirty="0">
                <a:latin typeface="Times New Roman"/>
                <a:cs typeface="Times New Roman"/>
              </a:rPr>
              <a:t>U</a:t>
            </a:r>
            <a:r>
              <a:rPr sz="2250" i="1" spc="307" baseline="-5555" dirty="0">
                <a:latin typeface="Times New Roman"/>
                <a:cs typeface="Times New Roman"/>
              </a:rPr>
              <a:t> </a:t>
            </a:r>
            <a:r>
              <a:rPr sz="2250" spc="322" baseline="-5555" dirty="0">
                <a:latin typeface="Symbol"/>
                <a:cs typeface="Symbol"/>
              </a:rPr>
              <a:t></a:t>
            </a:r>
            <a:r>
              <a:rPr sz="2250" spc="44" baseline="-5555" dirty="0">
                <a:latin typeface="Times New Roman"/>
                <a:cs typeface="Times New Roman"/>
              </a:rPr>
              <a:t> </a:t>
            </a:r>
            <a:r>
              <a:rPr sz="2250" spc="284" baseline="-5555" dirty="0">
                <a:latin typeface="Symbol"/>
                <a:cs typeface="Symbol"/>
              </a:rPr>
              <a:t></a:t>
            </a:r>
            <a:r>
              <a:rPr sz="2250" spc="284" baseline="-35185" dirty="0">
                <a:latin typeface="Symbol"/>
                <a:cs typeface="Symbol"/>
              </a:rPr>
              <a:t></a:t>
            </a:r>
            <a:r>
              <a:rPr sz="2250" spc="-67" baseline="-35185" dirty="0">
                <a:latin typeface="Times New Roman"/>
                <a:cs typeface="Times New Roman"/>
              </a:rPr>
              <a:t> </a:t>
            </a:r>
            <a:r>
              <a:rPr sz="1500" spc="160" dirty="0">
                <a:latin typeface="Times New Roman"/>
                <a:cs typeface="Times New Roman"/>
              </a:rPr>
              <a:t>8.3178</a:t>
            </a:r>
            <a:r>
              <a:rPr sz="1500" i="1" spc="160" dirty="0">
                <a:latin typeface="Times New Roman"/>
                <a:cs typeface="Times New Roman"/>
              </a:rPr>
              <a:t>a</a:t>
            </a:r>
            <a:r>
              <a:rPr sz="1500" i="1" spc="-180" dirty="0">
                <a:latin typeface="Times New Roman"/>
                <a:cs typeface="Times New Roman"/>
              </a:rPr>
              <a:t> </a:t>
            </a:r>
            <a:r>
              <a:rPr sz="2250" spc="225" baseline="-5555" dirty="0">
                <a:latin typeface="Symbol"/>
                <a:cs typeface="Symbol"/>
              </a:rPr>
              <a:t></a:t>
            </a:r>
            <a:endParaRPr sz="2250" baseline="-5555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1819" y="5664701"/>
            <a:ext cx="3463290" cy="755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07110">
              <a:lnSpc>
                <a:spcPct val="100000"/>
              </a:lnSpc>
              <a:spcBef>
                <a:spcPts val="120"/>
              </a:spcBef>
              <a:tabLst>
                <a:tab pos="1541145" algn="l"/>
                <a:tab pos="2067560" algn="l"/>
              </a:tabLst>
            </a:pPr>
            <a:r>
              <a:rPr sz="1500" spc="150" dirty="0">
                <a:latin typeface="Symbol"/>
                <a:cs typeface="Symbol"/>
              </a:rPr>
              <a:t></a:t>
            </a:r>
            <a:r>
              <a:rPr sz="1500" spc="150" dirty="0">
                <a:latin typeface="Times New Roman"/>
                <a:cs typeface="Times New Roman"/>
              </a:rPr>
              <a:t>	</a:t>
            </a:r>
            <a:r>
              <a:rPr sz="2250" spc="247" baseline="1851" dirty="0">
                <a:latin typeface="Times New Roman"/>
                <a:cs typeface="Times New Roman"/>
              </a:rPr>
              <a:t>13	</a:t>
            </a:r>
            <a:r>
              <a:rPr sz="1500" spc="150" dirty="0">
                <a:latin typeface="Symbol"/>
                <a:cs typeface="Symbol"/>
              </a:rPr>
              <a:t></a:t>
            </a:r>
            <a:endParaRPr sz="1500">
              <a:latin typeface="Symbol"/>
              <a:cs typeface="Symbol"/>
            </a:endParaRPr>
          </a:p>
          <a:p>
            <a:pPr marR="5080">
              <a:lnSpc>
                <a:spcPct val="100000"/>
              </a:lnSpc>
              <a:spcBef>
                <a:spcPts val="80"/>
              </a:spcBef>
            </a:pPr>
            <a:r>
              <a:rPr sz="1600" spc="-5" dirty="0">
                <a:latin typeface="Arial"/>
                <a:cs typeface="Arial"/>
              </a:rPr>
              <a:t>dimana a adalah bilangan sembarang  </a:t>
            </a:r>
            <a:r>
              <a:rPr sz="1600" spc="-10" dirty="0">
                <a:latin typeface="Arial"/>
                <a:cs typeface="Arial"/>
              </a:rPr>
              <a:t>yang </a:t>
            </a:r>
            <a:r>
              <a:rPr sz="1600" spc="-5" dirty="0">
                <a:latin typeface="Arial"/>
                <a:cs typeface="Arial"/>
              </a:rPr>
              <a:t>tidak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nol.</a:t>
            </a:r>
            <a:endParaRPr sz="1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5882506" y="4081889"/>
            <a:ext cx="775335" cy="0"/>
          </a:xfrm>
          <a:custGeom>
            <a:avLst/>
            <a:gdLst/>
            <a:ahLst/>
            <a:cxnLst/>
            <a:rect l="l" t="t" r="r" b="b"/>
            <a:pathLst>
              <a:path w="775334">
                <a:moveTo>
                  <a:pt x="0" y="0"/>
                </a:moveTo>
                <a:lnTo>
                  <a:pt x="774950" y="0"/>
                </a:lnTo>
              </a:path>
            </a:pathLst>
          </a:custGeom>
          <a:ln w="91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98214" y="4070160"/>
            <a:ext cx="76009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00" spc="-25" dirty="0">
                <a:latin typeface="Times New Roman"/>
                <a:cs typeface="Times New Roman"/>
              </a:rPr>
              <a:t>2</a:t>
            </a:r>
            <a:r>
              <a:rPr sz="1800" spc="45" dirty="0">
                <a:latin typeface="Times New Roman"/>
                <a:cs typeface="Times New Roman"/>
              </a:rPr>
              <a:t>0</a:t>
            </a:r>
            <a:r>
              <a:rPr sz="1800" spc="5" dirty="0">
                <a:latin typeface="Times New Roman"/>
                <a:cs typeface="Times New Roman"/>
              </a:rPr>
              <a:t>.</a:t>
            </a:r>
            <a:r>
              <a:rPr sz="1800" spc="-25" dirty="0">
                <a:latin typeface="Times New Roman"/>
                <a:cs typeface="Times New Roman"/>
              </a:rPr>
              <a:t>3</a:t>
            </a:r>
            <a:r>
              <a:rPr sz="1800" spc="-20" dirty="0">
                <a:latin typeface="Times New Roman"/>
                <a:cs typeface="Times New Roman"/>
              </a:rPr>
              <a:t>1</a:t>
            </a:r>
            <a:r>
              <a:rPr sz="1800" spc="-25" dirty="0">
                <a:latin typeface="Times New Roman"/>
                <a:cs typeface="Times New Roman"/>
              </a:rPr>
              <a:t>7</a:t>
            </a:r>
            <a:r>
              <a:rPr sz="1800" spc="50" dirty="0"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63306" y="4046745"/>
            <a:ext cx="83185" cy="187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1050" spc="2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455317" y="3893607"/>
            <a:ext cx="38798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800" i="1" spc="50" dirty="0">
                <a:latin typeface="Times New Roman"/>
                <a:cs typeface="Times New Roman"/>
              </a:rPr>
              <a:t>u</a:t>
            </a:r>
            <a:r>
              <a:rPr sz="1800" i="1" spc="41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Symbol"/>
                <a:cs typeface="Symbol"/>
              </a:rPr>
              <a:t>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26076" y="2018156"/>
            <a:ext cx="3305810" cy="2037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Untuk </a:t>
            </a:r>
            <a:r>
              <a:rPr sz="1600" spc="5" dirty="0">
                <a:latin typeface="Arial"/>
                <a:cs typeface="Arial"/>
              </a:rPr>
              <a:t>λ</a:t>
            </a:r>
            <a:r>
              <a:rPr sz="1575" spc="7" baseline="-21164" dirty="0">
                <a:latin typeface="Arial"/>
                <a:cs typeface="Arial"/>
              </a:rPr>
              <a:t>2 </a:t>
            </a:r>
            <a:r>
              <a:rPr sz="1600" spc="-5" dirty="0">
                <a:latin typeface="Arial"/>
                <a:cs typeface="Arial"/>
              </a:rPr>
              <a:t>= 37.31782 maka</a:t>
            </a:r>
            <a:r>
              <a:rPr sz="1600" spc="-1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L="669925" algn="ctr">
              <a:lnSpc>
                <a:spcPct val="100000"/>
              </a:lnSpc>
              <a:spcBef>
                <a:spcPts val="10"/>
              </a:spcBef>
            </a:pPr>
            <a:r>
              <a:rPr sz="1900" spc="155" dirty="0">
                <a:latin typeface="Times New Roman"/>
                <a:cs typeface="Times New Roman"/>
              </a:rPr>
              <a:t>- </a:t>
            </a:r>
            <a:r>
              <a:rPr sz="1900" spc="170" dirty="0">
                <a:latin typeface="Times New Roman"/>
                <a:cs typeface="Times New Roman"/>
              </a:rPr>
              <a:t>20.3178</a:t>
            </a:r>
            <a:r>
              <a:rPr sz="1900" i="1" spc="170" dirty="0">
                <a:latin typeface="Times New Roman"/>
                <a:cs typeface="Times New Roman"/>
              </a:rPr>
              <a:t>u</a:t>
            </a:r>
            <a:r>
              <a:rPr sz="1650" spc="254" baseline="-22727" dirty="0">
                <a:latin typeface="Times New Roman"/>
                <a:cs typeface="Times New Roman"/>
              </a:rPr>
              <a:t>1 </a:t>
            </a:r>
            <a:r>
              <a:rPr sz="1900" spc="225" dirty="0">
                <a:latin typeface="Symbol"/>
                <a:cs typeface="Symbol"/>
              </a:rPr>
              <a:t></a:t>
            </a:r>
            <a:r>
              <a:rPr sz="1900" spc="225" dirty="0">
                <a:latin typeface="Times New Roman"/>
                <a:cs typeface="Times New Roman"/>
              </a:rPr>
              <a:t>13</a:t>
            </a:r>
            <a:r>
              <a:rPr sz="1900" i="1" spc="225" dirty="0">
                <a:latin typeface="Times New Roman"/>
                <a:cs typeface="Times New Roman"/>
              </a:rPr>
              <a:t>u</a:t>
            </a:r>
            <a:r>
              <a:rPr sz="1650" spc="337" baseline="-22727" dirty="0">
                <a:latin typeface="Times New Roman"/>
                <a:cs typeface="Times New Roman"/>
              </a:rPr>
              <a:t>2 </a:t>
            </a:r>
            <a:r>
              <a:rPr sz="1900" spc="254" dirty="0">
                <a:latin typeface="Symbol"/>
                <a:cs typeface="Symbol"/>
              </a:rPr>
              <a:t>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229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641985" algn="ctr">
              <a:lnSpc>
                <a:spcPct val="100000"/>
              </a:lnSpc>
              <a:spcBef>
                <a:spcPts val="540"/>
              </a:spcBef>
            </a:pPr>
            <a:r>
              <a:rPr sz="1900" spc="140" dirty="0">
                <a:latin typeface="Times New Roman"/>
                <a:cs typeface="Times New Roman"/>
              </a:rPr>
              <a:t>13</a:t>
            </a:r>
            <a:r>
              <a:rPr sz="1900" i="1" spc="140" dirty="0">
                <a:latin typeface="Times New Roman"/>
                <a:cs typeface="Times New Roman"/>
              </a:rPr>
              <a:t>u</a:t>
            </a:r>
            <a:r>
              <a:rPr sz="1650" spc="209" baseline="-22727" dirty="0">
                <a:latin typeface="Times New Roman"/>
                <a:cs typeface="Times New Roman"/>
              </a:rPr>
              <a:t>1 </a:t>
            </a:r>
            <a:r>
              <a:rPr sz="1900" spc="155" dirty="0">
                <a:latin typeface="Times New Roman"/>
                <a:cs typeface="Times New Roman"/>
              </a:rPr>
              <a:t>- </a:t>
            </a:r>
            <a:r>
              <a:rPr sz="1900" spc="185" dirty="0">
                <a:latin typeface="Times New Roman"/>
                <a:cs typeface="Times New Roman"/>
              </a:rPr>
              <a:t>8.3178</a:t>
            </a:r>
            <a:r>
              <a:rPr sz="1900" i="1" spc="185" dirty="0">
                <a:latin typeface="Times New Roman"/>
                <a:cs typeface="Times New Roman"/>
              </a:rPr>
              <a:t>u</a:t>
            </a:r>
            <a:r>
              <a:rPr sz="1650" spc="277" baseline="-22727" dirty="0">
                <a:latin typeface="Times New Roman"/>
                <a:cs typeface="Times New Roman"/>
              </a:rPr>
              <a:t>2 </a:t>
            </a:r>
            <a:r>
              <a:rPr sz="1900" spc="254" dirty="0">
                <a:latin typeface="Symbol"/>
                <a:cs typeface="Symbol"/>
              </a:rPr>
              <a:t></a:t>
            </a:r>
            <a:r>
              <a:rPr sz="1900" spc="-105" dirty="0">
                <a:latin typeface="Times New Roman"/>
                <a:cs typeface="Times New Roman"/>
              </a:rPr>
              <a:t> </a:t>
            </a:r>
            <a:r>
              <a:rPr sz="1900" spc="229" dirty="0">
                <a:latin typeface="Times New Roman"/>
                <a:cs typeface="Times New Roman"/>
              </a:rPr>
              <a:t>0</a:t>
            </a:r>
            <a:endParaRPr sz="19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34"/>
              </a:spcBef>
            </a:pPr>
            <a:r>
              <a:rPr sz="1600" spc="-5" dirty="0">
                <a:latin typeface="Arial"/>
                <a:cs typeface="Arial"/>
              </a:rPr>
              <a:t>Solusi non trivial sistem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persamaan</a:t>
            </a:r>
            <a:endParaRPr sz="1600">
              <a:latin typeface="Arial"/>
              <a:cs typeface="Arial"/>
            </a:endParaRPr>
          </a:p>
          <a:p>
            <a:pPr marL="25400">
              <a:lnSpc>
                <a:spcPts val="1810"/>
              </a:lnSpc>
            </a:pPr>
            <a:r>
              <a:rPr sz="1600" spc="-5" dirty="0">
                <a:latin typeface="Arial"/>
                <a:cs typeface="Arial"/>
              </a:rPr>
              <a:t>ini adalah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  <a:p>
            <a:pPr marR="345440" algn="ctr">
              <a:lnSpc>
                <a:spcPts val="2050"/>
              </a:lnSpc>
            </a:pPr>
            <a:r>
              <a:rPr sz="1800" spc="55" dirty="0">
                <a:latin typeface="Symbol"/>
                <a:cs typeface="Symbol"/>
              </a:rPr>
              <a:t></a:t>
            </a:r>
            <a:r>
              <a:rPr sz="1800" spc="5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Times New Roman"/>
                <a:cs typeface="Times New Roman"/>
              </a:rPr>
              <a:t>20.3178</a:t>
            </a:r>
            <a:r>
              <a:rPr sz="1800" i="1" spc="-5" dirty="0">
                <a:latin typeface="Times New Roman"/>
                <a:cs typeface="Times New Roman"/>
              </a:rPr>
              <a:t>u</a:t>
            </a:r>
            <a:r>
              <a:rPr sz="1575" spc="-7" baseline="-23809" dirty="0">
                <a:latin typeface="Times New Roman"/>
                <a:cs typeface="Times New Roman"/>
              </a:rPr>
              <a:t>1 </a:t>
            </a:r>
            <a:r>
              <a:rPr sz="1800" spc="55" dirty="0">
                <a:latin typeface="Symbol"/>
                <a:cs typeface="Symbol"/>
              </a:rPr>
              <a:t></a:t>
            </a:r>
            <a:r>
              <a:rPr sz="1800" spc="-33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Symbol"/>
                <a:cs typeface="Symbol"/>
              </a:rPr>
              <a:t></a:t>
            </a:r>
            <a:r>
              <a:rPr sz="1800" spc="5" dirty="0">
                <a:latin typeface="Times New Roman"/>
                <a:cs typeface="Times New Roman"/>
              </a:rPr>
              <a:t>13</a:t>
            </a:r>
            <a:r>
              <a:rPr sz="1800" i="1" spc="5" dirty="0">
                <a:latin typeface="Times New Roman"/>
                <a:cs typeface="Times New Roman"/>
              </a:rPr>
              <a:t>u</a:t>
            </a:r>
            <a:r>
              <a:rPr sz="1575" spc="7" baseline="-23809" dirty="0">
                <a:latin typeface="Times New Roman"/>
                <a:cs typeface="Times New Roman"/>
              </a:rPr>
              <a:t>2</a:t>
            </a:r>
            <a:endParaRPr sz="1575" baseline="-23809">
              <a:latin typeface="Times New Roman"/>
              <a:cs typeface="Times New Roman"/>
            </a:endParaRPr>
          </a:p>
          <a:p>
            <a:pPr marR="651510" algn="ctr">
              <a:lnSpc>
                <a:spcPct val="100000"/>
              </a:lnSpc>
              <a:spcBef>
                <a:spcPts val="535"/>
              </a:spcBef>
            </a:pPr>
            <a:r>
              <a:rPr sz="1800" spc="5" dirty="0">
                <a:latin typeface="Times New Roman"/>
                <a:cs typeface="Times New Roman"/>
              </a:rPr>
              <a:t>13</a:t>
            </a:r>
            <a:r>
              <a:rPr sz="1800" i="1" spc="5" dirty="0">
                <a:latin typeface="Times New Roman"/>
                <a:cs typeface="Times New Roman"/>
              </a:rPr>
              <a:t>u</a:t>
            </a:r>
            <a:r>
              <a:rPr sz="1575" spc="7" baseline="-23809" dirty="0">
                <a:latin typeface="Times New Roman"/>
                <a:cs typeface="Times New Roman"/>
              </a:rPr>
              <a:t>2</a:t>
            </a:r>
            <a:endParaRPr sz="1575" baseline="-23809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90804" y="4545617"/>
            <a:ext cx="8509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250" spc="-60" dirty="0">
                <a:latin typeface="Times New Roman"/>
                <a:cs typeface="Times New Roman"/>
              </a:rPr>
              <a:t>2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734872" y="4528966"/>
            <a:ext cx="88582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900" spc="80" dirty="0">
                <a:latin typeface="Times New Roman"/>
                <a:cs typeface="Times New Roman"/>
              </a:rPr>
              <a:t>2</a:t>
            </a:r>
            <a:r>
              <a:rPr sz="1900" spc="155" dirty="0">
                <a:latin typeface="Times New Roman"/>
                <a:cs typeface="Times New Roman"/>
              </a:rPr>
              <a:t>0</a:t>
            </a:r>
            <a:r>
              <a:rPr sz="1900" spc="60" dirty="0">
                <a:latin typeface="Times New Roman"/>
                <a:cs typeface="Times New Roman"/>
              </a:rPr>
              <a:t>.</a:t>
            </a:r>
            <a:r>
              <a:rPr sz="1900" spc="85" dirty="0">
                <a:latin typeface="Times New Roman"/>
                <a:cs typeface="Times New Roman"/>
              </a:rPr>
              <a:t>3</a:t>
            </a:r>
            <a:r>
              <a:rPr sz="1900" spc="80" dirty="0">
                <a:latin typeface="Times New Roman"/>
                <a:cs typeface="Times New Roman"/>
              </a:rPr>
              <a:t>1</a:t>
            </a:r>
            <a:r>
              <a:rPr sz="1900" spc="85" dirty="0">
                <a:latin typeface="Times New Roman"/>
                <a:cs typeface="Times New Roman"/>
              </a:rPr>
              <a:t>7</a:t>
            </a:r>
            <a:r>
              <a:rPr sz="1900" spc="135" dirty="0"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81702" y="4381334"/>
            <a:ext cx="2452370" cy="350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  <a:tabLst>
                <a:tab pos="1158875" algn="l"/>
                <a:tab pos="1598295" algn="l"/>
                <a:tab pos="2359025" algn="l"/>
              </a:tabLst>
            </a:pPr>
            <a:r>
              <a:rPr sz="1600" spc="-5" dirty="0">
                <a:latin typeface="Arial"/>
                <a:cs typeface="Arial"/>
              </a:rPr>
              <a:t>Misalkan</a:t>
            </a:r>
            <a:r>
              <a:rPr sz="1600" spc="175" dirty="0">
                <a:latin typeface="Arial"/>
                <a:cs typeface="Arial"/>
              </a:rPr>
              <a:t> </a:t>
            </a:r>
            <a:r>
              <a:rPr sz="3150" i="1" spc="-120" baseline="2645" dirty="0">
                <a:latin typeface="Times New Roman"/>
                <a:cs typeface="Times New Roman"/>
              </a:rPr>
              <a:t>u</a:t>
            </a:r>
            <a:r>
              <a:rPr sz="3150" i="1" baseline="2645" dirty="0">
                <a:latin typeface="Times New Roman"/>
                <a:cs typeface="Times New Roman"/>
              </a:rPr>
              <a:t>	</a:t>
            </a:r>
            <a:r>
              <a:rPr sz="3150" spc="-127" baseline="2645" dirty="0">
                <a:latin typeface="Symbol"/>
                <a:cs typeface="Symbol"/>
              </a:rPr>
              <a:t></a:t>
            </a:r>
            <a:r>
              <a:rPr sz="3150" spc="-254" baseline="2645" dirty="0">
                <a:latin typeface="Times New Roman"/>
                <a:cs typeface="Times New Roman"/>
              </a:rPr>
              <a:t> </a:t>
            </a:r>
            <a:r>
              <a:rPr sz="3150" i="1" spc="-120" baseline="2645" dirty="0">
                <a:latin typeface="Times New Roman"/>
                <a:cs typeface="Times New Roman"/>
              </a:rPr>
              <a:t>b</a:t>
            </a:r>
            <a:r>
              <a:rPr sz="3150" i="1" baseline="2645" dirty="0">
                <a:latin typeface="Times New Roman"/>
                <a:cs typeface="Times New Roman"/>
              </a:rPr>
              <a:t>	</a:t>
            </a:r>
            <a:r>
              <a:rPr sz="1600" spc="-5" dirty="0">
                <a:latin typeface="Arial"/>
                <a:cs typeface="Arial"/>
              </a:rPr>
              <a:t>maka</a:t>
            </a:r>
            <a:r>
              <a:rPr sz="1600" dirty="0">
                <a:latin typeface="Arial"/>
                <a:cs typeface="Arial"/>
              </a:rPr>
              <a:t>	</a:t>
            </a:r>
            <a:r>
              <a:rPr sz="1650" spc="120" baseline="2525" dirty="0">
                <a:latin typeface="Times New Roman"/>
                <a:cs typeface="Times New Roman"/>
              </a:rPr>
              <a:t>1</a:t>
            </a:r>
            <a:endParaRPr sz="1650" baseline="2525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189045" y="4191473"/>
            <a:ext cx="1476375" cy="319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09245" algn="l"/>
                <a:tab pos="764540" algn="l"/>
                <a:tab pos="1437640" algn="l"/>
              </a:tabLst>
            </a:pPr>
            <a:r>
              <a:rPr sz="2850" i="1" spc="202" baseline="-35087" dirty="0">
                <a:latin typeface="Times New Roman"/>
                <a:cs typeface="Times New Roman"/>
              </a:rPr>
              <a:t>u	</a:t>
            </a:r>
            <a:r>
              <a:rPr sz="2850" spc="217" baseline="-35087" dirty="0">
                <a:latin typeface="Symbol"/>
                <a:cs typeface="Symbol"/>
              </a:rPr>
              <a:t></a:t>
            </a:r>
            <a:r>
              <a:rPr sz="1900" u="sng" spc="14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sz="1900" u="sng" spc="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13b	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65953" y="4827270"/>
            <a:ext cx="346519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 marR="304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Jadi vektor eigen untuk </a:t>
            </a:r>
            <a:r>
              <a:rPr sz="1600" spc="5" dirty="0">
                <a:latin typeface="Arial"/>
                <a:cs typeface="Arial"/>
              </a:rPr>
              <a:t>λ</a:t>
            </a:r>
            <a:r>
              <a:rPr sz="1575" spc="7" baseline="-21164" dirty="0">
                <a:latin typeface="Arial"/>
                <a:cs typeface="Arial"/>
              </a:rPr>
              <a:t>2 </a:t>
            </a:r>
            <a:r>
              <a:rPr sz="1600" spc="-5" dirty="0">
                <a:latin typeface="Arial"/>
                <a:cs typeface="Arial"/>
              </a:rPr>
              <a:t>= 37.31782  adalah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118335" y="5683181"/>
            <a:ext cx="99631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  <a:tabLst>
                <a:tab pos="891540" algn="l"/>
              </a:tabLst>
            </a:pPr>
            <a:r>
              <a:rPr sz="1500" spc="140" dirty="0">
                <a:latin typeface="Symbol"/>
                <a:cs typeface="Symbol"/>
              </a:rPr>
              <a:t></a:t>
            </a:r>
            <a:r>
              <a:rPr sz="1500" spc="140" dirty="0">
                <a:latin typeface="Times New Roman"/>
                <a:cs typeface="Times New Roman"/>
              </a:rPr>
              <a:t>	</a:t>
            </a:r>
            <a:r>
              <a:rPr sz="1500" spc="140" dirty="0">
                <a:latin typeface="Symbol"/>
                <a:cs typeface="Symbol"/>
              </a:rPr>
              <a:t>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545850" y="5638267"/>
            <a:ext cx="13208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500" i="1" spc="185" dirty="0">
                <a:latin typeface="Times New Roman"/>
                <a:cs typeface="Times New Roman"/>
              </a:rPr>
              <a:t>b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55364" y="5462376"/>
            <a:ext cx="148463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sz="2250" i="1" spc="397" baseline="12962" dirty="0">
                <a:latin typeface="Times New Roman"/>
                <a:cs typeface="Times New Roman"/>
              </a:rPr>
              <a:t>U</a:t>
            </a:r>
            <a:r>
              <a:rPr sz="2250" i="1" spc="337" baseline="12962" dirty="0">
                <a:latin typeface="Times New Roman"/>
                <a:cs typeface="Times New Roman"/>
              </a:rPr>
              <a:t> </a:t>
            </a:r>
            <a:r>
              <a:rPr sz="2250" spc="300" baseline="12962" dirty="0">
                <a:latin typeface="Symbol"/>
                <a:cs typeface="Symbol"/>
              </a:rPr>
              <a:t></a:t>
            </a:r>
            <a:r>
              <a:rPr sz="2250" spc="60" baseline="12962" dirty="0">
                <a:latin typeface="Times New Roman"/>
                <a:cs typeface="Times New Roman"/>
              </a:rPr>
              <a:t> </a:t>
            </a:r>
            <a:r>
              <a:rPr sz="2250" spc="209" baseline="20370" dirty="0">
                <a:latin typeface="Symbol"/>
                <a:cs typeface="Symbol"/>
              </a:rPr>
              <a:t></a:t>
            </a:r>
            <a:r>
              <a:rPr sz="2250" spc="-300" baseline="20370" dirty="0">
                <a:latin typeface="Times New Roman"/>
                <a:cs typeface="Times New Roman"/>
              </a:rPr>
              <a:t> </a:t>
            </a:r>
            <a:r>
              <a:rPr sz="1500" spc="140" dirty="0">
                <a:latin typeface="Times New Roman"/>
                <a:cs typeface="Times New Roman"/>
              </a:rPr>
              <a:t>20.3178</a:t>
            </a:r>
            <a:r>
              <a:rPr sz="1500" spc="-155" dirty="0">
                <a:latin typeface="Times New Roman"/>
                <a:cs typeface="Times New Roman"/>
              </a:rPr>
              <a:t> </a:t>
            </a:r>
            <a:r>
              <a:rPr sz="2250" spc="209" baseline="20370" dirty="0">
                <a:latin typeface="Symbol"/>
                <a:cs typeface="Symbol"/>
              </a:rPr>
              <a:t></a:t>
            </a:r>
            <a:endParaRPr sz="2250" baseline="2037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18335" y="5197421"/>
            <a:ext cx="99631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  <a:tabLst>
                <a:tab pos="307340" algn="l"/>
                <a:tab pos="876935" algn="l"/>
              </a:tabLst>
            </a:pPr>
            <a:r>
              <a:rPr sz="2250" spc="292" baseline="-3703" dirty="0">
                <a:latin typeface="Symbol"/>
                <a:cs typeface="Symbol"/>
              </a:rPr>
              <a:t></a:t>
            </a:r>
            <a:r>
              <a:rPr sz="1500" u="sng" spc="19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</a:t>
            </a:r>
            <a:r>
              <a:rPr sz="1500" u="sng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13</a:t>
            </a:r>
            <a:r>
              <a:rPr sz="1500" i="1" u="sng" spc="1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	</a:t>
            </a:r>
            <a:r>
              <a:rPr sz="2250" spc="209" baseline="-3703" dirty="0">
                <a:latin typeface="Symbol"/>
                <a:cs typeface="Symbol"/>
              </a:rPr>
              <a:t></a:t>
            </a:r>
            <a:endParaRPr sz="2250" baseline="-3703">
              <a:latin typeface="Symbol"/>
              <a:cs typeface="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24628" y="5906820"/>
            <a:ext cx="34632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dimana b adalah bilangan sembarang  </a:t>
            </a:r>
            <a:r>
              <a:rPr sz="1600" spc="-10" dirty="0">
                <a:latin typeface="Arial"/>
                <a:cs typeface="Arial"/>
              </a:rPr>
              <a:t>yang </a:t>
            </a:r>
            <a:r>
              <a:rPr sz="1600" spc="-5" dirty="0">
                <a:latin typeface="Arial"/>
                <a:cs typeface="Arial"/>
              </a:rPr>
              <a:t>tidak</a:t>
            </a:r>
            <a:r>
              <a:rPr sz="1600" spc="3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nol.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3" name="object 3"/>
            <p:cNvSpPr/>
            <p:nvPr/>
          </p:nvSpPr>
          <p:spPr>
            <a:xfrm>
              <a:off x="4865751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3960749" y="0"/>
                  </a:moveTo>
                  <a:lnTo>
                    <a:pt x="0" y="0"/>
                  </a:lnTo>
                  <a:lnTo>
                    <a:pt x="0" y="4464050"/>
                  </a:lnTo>
                  <a:lnTo>
                    <a:pt x="3960749" y="4464050"/>
                  </a:lnTo>
                  <a:lnTo>
                    <a:pt x="396074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65751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0" y="4464050"/>
                  </a:moveTo>
                  <a:lnTo>
                    <a:pt x="3960749" y="4464050"/>
                  </a:lnTo>
                  <a:lnTo>
                    <a:pt x="3960749" y="0"/>
                  </a:lnTo>
                  <a:lnTo>
                    <a:pt x="0" y="0"/>
                  </a:lnTo>
                  <a:lnTo>
                    <a:pt x="0" y="446405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27087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3960749" y="0"/>
                  </a:moveTo>
                  <a:lnTo>
                    <a:pt x="0" y="0"/>
                  </a:lnTo>
                  <a:lnTo>
                    <a:pt x="0" y="4464050"/>
                  </a:lnTo>
                  <a:lnTo>
                    <a:pt x="3960749" y="4464050"/>
                  </a:lnTo>
                  <a:lnTo>
                    <a:pt x="3960749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7087" y="1989137"/>
              <a:ext cx="3961129" cy="4464050"/>
            </a:xfrm>
            <a:custGeom>
              <a:avLst/>
              <a:gdLst/>
              <a:ahLst/>
              <a:cxnLst/>
              <a:rect l="l" t="t" r="r" b="b"/>
              <a:pathLst>
                <a:path w="3961129" h="4464050">
                  <a:moveTo>
                    <a:pt x="0" y="4464050"/>
                  </a:moveTo>
                  <a:lnTo>
                    <a:pt x="3960749" y="4464050"/>
                  </a:lnTo>
                  <a:lnTo>
                    <a:pt x="3960749" y="0"/>
                  </a:lnTo>
                  <a:lnTo>
                    <a:pt x="0" y="0"/>
                  </a:lnTo>
                  <a:lnTo>
                    <a:pt x="0" y="4464050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98728" y="259207"/>
            <a:ext cx="7922259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PCA : Menghitung Eigen</a:t>
            </a:r>
            <a:r>
              <a:rPr spc="-55" dirty="0"/>
              <a:t> </a:t>
            </a:r>
            <a:r>
              <a:rPr dirty="0"/>
              <a:t>Vector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35940" y="1329309"/>
            <a:ext cx="32397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6235" algn="l"/>
              </a:tabLst>
            </a:pPr>
            <a:r>
              <a:rPr sz="3600" spc="-5" dirty="0">
                <a:latin typeface="Arial"/>
                <a:cs typeface="Arial"/>
              </a:rPr>
              <a:t>Eigen </a:t>
            </a:r>
            <a:r>
              <a:rPr sz="3600" dirty="0">
                <a:latin typeface="Arial"/>
                <a:cs typeface="Arial"/>
              </a:rPr>
              <a:t>Vector</a:t>
            </a:r>
            <a:r>
              <a:rPr sz="3600" spc="-85" dirty="0">
                <a:latin typeface="Arial"/>
                <a:cs typeface="Arial"/>
              </a:rPr>
              <a:t> 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9415" y="2423405"/>
            <a:ext cx="116586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  <a:tabLst>
                <a:tab pos="1060450" algn="l"/>
              </a:tabLst>
            </a:pPr>
            <a:r>
              <a:rPr sz="1500" spc="150" dirty="0">
                <a:latin typeface="Symbol"/>
                <a:cs typeface="Symbol"/>
              </a:rPr>
              <a:t></a:t>
            </a:r>
            <a:r>
              <a:rPr sz="1500" spc="150" dirty="0">
                <a:latin typeface="Times New Roman"/>
                <a:cs typeface="Times New Roman"/>
              </a:rPr>
              <a:t>	</a:t>
            </a:r>
            <a:r>
              <a:rPr sz="1500" spc="150" dirty="0">
                <a:latin typeface="Symbol"/>
                <a:cs typeface="Symbol"/>
              </a:rPr>
              <a:t>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13193" y="2409919"/>
            <a:ext cx="13335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1500" i="1" spc="195" dirty="0">
                <a:latin typeface="Times New Roman"/>
                <a:cs typeface="Times New Roman"/>
              </a:rPr>
              <a:t>a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35883" y="2586510"/>
            <a:ext cx="1654810" cy="2578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</a:pPr>
            <a:r>
              <a:rPr sz="2250" i="1" spc="427" baseline="-5555" dirty="0">
                <a:latin typeface="Times New Roman"/>
                <a:cs typeface="Times New Roman"/>
              </a:rPr>
              <a:t>U</a:t>
            </a:r>
            <a:r>
              <a:rPr sz="2250" i="1" spc="307" baseline="-5555" dirty="0">
                <a:latin typeface="Times New Roman"/>
                <a:cs typeface="Times New Roman"/>
              </a:rPr>
              <a:t> </a:t>
            </a:r>
            <a:r>
              <a:rPr sz="2250" spc="322" baseline="-5555" dirty="0">
                <a:latin typeface="Symbol"/>
                <a:cs typeface="Symbol"/>
              </a:rPr>
              <a:t></a:t>
            </a:r>
            <a:r>
              <a:rPr sz="2250" spc="44" baseline="-5555" dirty="0">
                <a:latin typeface="Times New Roman"/>
                <a:cs typeface="Times New Roman"/>
              </a:rPr>
              <a:t> </a:t>
            </a:r>
            <a:r>
              <a:rPr sz="2250" spc="284" baseline="-5555" dirty="0">
                <a:latin typeface="Symbol"/>
                <a:cs typeface="Symbol"/>
              </a:rPr>
              <a:t></a:t>
            </a:r>
            <a:r>
              <a:rPr sz="2250" spc="284" baseline="-35185" dirty="0">
                <a:latin typeface="Symbol"/>
                <a:cs typeface="Symbol"/>
              </a:rPr>
              <a:t></a:t>
            </a:r>
            <a:r>
              <a:rPr sz="2250" spc="-67" baseline="-35185" dirty="0">
                <a:latin typeface="Times New Roman"/>
                <a:cs typeface="Times New Roman"/>
              </a:rPr>
              <a:t> </a:t>
            </a:r>
            <a:r>
              <a:rPr sz="1500" u="sng" spc="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8.3178</a:t>
            </a:r>
            <a:r>
              <a:rPr sz="1500" i="1" u="sng" spc="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1500" i="1" spc="-180" dirty="0">
                <a:latin typeface="Times New Roman"/>
                <a:cs typeface="Times New Roman"/>
              </a:rPr>
              <a:t> </a:t>
            </a:r>
            <a:r>
              <a:rPr sz="2250" spc="225" baseline="-5555" dirty="0">
                <a:latin typeface="Symbol"/>
                <a:cs typeface="Symbol"/>
              </a:rPr>
              <a:t></a:t>
            </a:r>
            <a:endParaRPr sz="2250" baseline="-5555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1819" y="2856477"/>
            <a:ext cx="2516505" cy="5105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07110">
              <a:lnSpc>
                <a:spcPct val="100000"/>
              </a:lnSpc>
              <a:spcBef>
                <a:spcPts val="120"/>
              </a:spcBef>
              <a:tabLst>
                <a:tab pos="1541145" algn="l"/>
                <a:tab pos="2067560" algn="l"/>
              </a:tabLst>
            </a:pPr>
            <a:r>
              <a:rPr sz="1500" spc="150" dirty="0">
                <a:latin typeface="Symbol"/>
                <a:cs typeface="Symbol"/>
              </a:rPr>
              <a:t></a:t>
            </a:r>
            <a:r>
              <a:rPr sz="1500" spc="150" dirty="0">
                <a:latin typeface="Times New Roman"/>
                <a:cs typeface="Times New Roman"/>
              </a:rPr>
              <a:t>	</a:t>
            </a:r>
            <a:r>
              <a:rPr sz="2250" spc="247" baseline="1851" dirty="0">
                <a:latin typeface="Times New Roman"/>
                <a:cs typeface="Times New Roman"/>
              </a:rPr>
              <a:t>13	</a:t>
            </a:r>
            <a:r>
              <a:rPr sz="1500" spc="150" dirty="0">
                <a:latin typeface="Symbol"/>
                <a:cs typeface="Symbol"/>
              </a:rPr>
              <a:t></a:t>
            </a:r>
            <a:endParaRPr sz="1500">
              <a:latin typeface="Symbol"/>
              <a:cs typeface="Symbol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600" spc="-5" dirty="0">
                <a:latin typeface="Arial"/>
                <a:cs typeface="Arial"/>
              </a:rPr>
              <a:t>misalkan a = -0.8423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maka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2891" y="4241038"/>
            <a:ext cx="305816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latin typeface="Arial"/>
                <a:cs typeface="Arial"/>
              </a:rPr>
              <a:t>Vektor </a:t>
            </a:r>
            <a:r>
              <a:rPr sz="1600" spc="-5" dirty="0">
                <a:latin typeface="Arial"/>
                <a:cs typeface="Arial"/>
              </a:rPr>
              <a:t>eigen untuk </a:t>
            </a:r>
            <a:r>
              <a:rPr sz="1600" spc="5" dirty="0">
                <a:latin typeface="Arial"/>
                <a:cs typeface="Arial"/>
              </a:rPr>
              <a:t>λ</a:t>
            </a:r>
            <a:r>
              <a:rPr sz="1575" spc="7" baseline="-21164" dirty="0">
                <a:latin typeface="Arial"/>
                <a:cs typeface="Arial"/>
              </a:rPr>
              <a:t>2 </a:t>
            </a:r>
            <a:r>
              <a:rPr sz="1600" spc="-5" dirty="0">
                <a:latin typeface="Arial"/>
                <a:cs typeface="Arial"/>
              </a:rPr>
              <a:t>=</a:t>
            </a:r>
            <a:r>
              <a:rPr sz="1600" spc="-13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37.31782</a:t>
            </a:r>
            <a:endParaRPr sz="16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latin typeface="Arial"/>
                <a:cs typeface="Arial"/>
              </a:rPr>
              <a:t>adalah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84599" y="4889578"/>
            <a:ext cx="779145" cy="0"/>
          </a:xfrm>
          <a:custGeom>
            <a:avLst/>
            <a:gdLst/>
            <a:ahLst/>
            <a:cxnLst/>
            <a:rect l="l" t="t" r="r" b="b"/>
            <a:pathLst>
              <a:path w="779144">
                <a:moveTo>
                  <a:pt x="0" y="0"/>
                </a:moveTo>
                <a:lnTo>
                  <a:pt x="779014" y="0"/>
                </a:lnTo>
              </a:path>
            </a:pathLst>
          </a:custGeom>
          <a:ln w="77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086085" y="5098981"/>
            <a:ext cx="996315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  <a:tabLst>
                <a:tab pos="891540" algn="l"/>
              </a:tabLst>
            </a:pPr>
            <a:r>
              <a:rPr sz="1500" spc="140" dirty="0">
                <a:latin typeface="Symbol"/>
                <a:cs typeface="Symbol"/>
              </a:rPr>
              <a:t></a:t>
            </a:r>
            <a:r>
              <a:rPr sz="1500" spc="140" dirty="0">
                <a:latin typeface="Times New Roman"/>
                <a:cs typeface="Times New Roman"/>
              </a:rPr>
              <a:t>	</a:t>
            </a:r>
            <a:r>
              <a:rPr sz="1500" spc="140" dirty="0">
                <a:latin typeface="Symbol"/>
                <a:cs typeface="Symbol"/>
              </a:rPr>
              <a:t>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86085" y="4626812"/>
            <a:ext cx="104139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500" spc="140" dirty="0">
                <a:latin typeface="Symbol"/>
                <a:cs typeface="Symbol"/>
              </a:rPr>
              <a:t>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13600" y="5054067"/>
            <a:ext cx="13208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500" i="1" spc="185" dirty="0">
                <a:latin typeface="Times New Roman"/>
                <a:cs typeface="Times New Roman"/>
              </a:rPr>
              <a:t>b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23115" y="4878176"/>
            <a:ext cx="148463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5"/>
              </a:spcBef>
            </a:pPr>
            <a:r>
              <a:rPr sz="2250" i="1" spc="397" baseline="12962" dirty="0">
                <a:latin typeface="Times New Roman"/>
                <a:cs typeface="Times New Roman"/>
              </a:rPr>
              <a:t>U</a:t>
            </a:r>
            <a:r>
              <a:rPr sz="2250" i="1" spc="337" baseline="12962" dirty="0">
                <a:latin typeface="Times New Roman"/>
                <a:cs typeface="Times New Roman"/>
              </a:rPr>
              <a:t> </a:t>
            </a:r>
            <a:r>
              <a:rPr sz="2250" spc="300" baseline="12962" dirty="0">
                <a:latin typeface="Symbol"/>
                <a:cs typeface="Symbol"/>
              </a:rPr>
              <a:t></a:t>
            </a:r>
            <a:r>
              <a:rPr sz="2250" spc="60" baseline="12962" dirty="0">
                <a:latin typeface="Times New Roman"/>
                <a:cs typeface="Times New Roman"/>
              </a:rPr>
              <a:t> </a:t>
            </a:r>
            <a:r>
              <a:rPr sz="2250" spc="209" baseline="20370" dirty="0">
                <a:latin typeface="Symbol"/>
                <a:cs typeface="Symbol"/>
              </a:rPr>
              <a:t></a:t>
            </a:r>
            <a:r>
              <a:rPr sz="2250" spc="-300" baseline="20370" dirty="0">
                <a:latin typeface="Times New Roman"/>
                <a:cs typeface="Times New Roman"/>
              </a:rPr>
              <a:t> </a:t>
            </a:r>
            <a:r>
              <a:rPr sz="1500" spc="140" dirty="0">
                <a:latin typeface="Times New Roman"/>
                <a:cs typeface="Times New Roman"/>
              </a:rPr>
              <a:t>20.3178</a:t>
            </a:r>
            <a:r>
              <a:rPr sz="1500" spc="-155" dirty="0">
                <a:latin typeface="Times New Roman"/>
                <a:cs typeface="Times New Roman"/>
              </a:rPr>
              <a:t> </a:t>
            </a:r>
            <a:r>
              <a:rPr sz="2250" spc="209" baseline="20370" dirty="0">
                <a:latin typeface="Symbol"/>
                <a:cs typeface="Symbol"/>
              </a:rPr>
              <a:t></a:t>
            </a:r>
            <a:endParaRPr sz="2250" baseline="20370">
              <a:latin typeface="Symbol"/>
              <a:cs typeface="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393574" y="4613221"/>
            <a:ext cx="688340" cy="2565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  <a:tabLst>
                <a:tab pos="584200" algn="l"/>
              </a:tabLst>
            </a:pPr>
            <a:r>
              <a:rPr sz="1500" spc="130" dirty="0">
                <a:latin typeface="Times New Roman"/>
                <a:cs typeface="Times New Roman"/>
              </a:rPr>
              <a:t>1</a:t>
            </a:r>
            <a:r>
              <a:rPr sz="1500" spc="114" dirty="0">
                <a:latin typeface="Times New Roman"/>
                <a:cs typeface="Times New Roman"/>
              </a:rPr>
              <a:t>3</a:t>
            </a:r>
            <a:r>
              <a:rPr sz="1500" i="1" spc="185" dirty="0">
                <a:latin typeface="Times New Roman"/>
                <a:cs typeface="Times New Roman"/>
              </a:rPr>
              <a:t>b</a:t>
            </a:r>
            <a:r>
              <a:rPr sz="1500" i="1" dirty="0">
                <a:latin typeface="Times New Roman"/>
                <a:cs typeface="Times New Roman"/>
              </a:rPr>
              <a:t>	</a:t>
            </a:r>
            <a:r>
              <a:rPr sz="2250" spc="209" baseline="-3703" dirty="0">
                <a:latin typeface="Symbol"/>
                <a:cs typeface="Symbol"/>
              </a:rPr>
              <a:t></a:t>
            </a:r>
            <a:endParaRPr sz="2250" baseline="-3703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23166" y="3435332"/>
            <a:ext cx="1527810" cy="6318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R="55880" algn="r">
              <a:lnSpc>
                <a:spcPct val="100000"/>
              </a:lnSpc>
              <a:spcBef>
                <a:spcPts val="505"/>
              </a:spcBef>
            </a:pPr>
            <a:r>
              <a:rPr sz="2250" i="1" spc="405" baseline="-40740" dirty="0">
                <a:latin typeface="Times New Roman"/>
                <a:cs typeface="Times New Roman"/>
              </a:rPr>
              <a:t>U</a:t>
            </a:r>
            <a:r>
              <a:rPr sz="2250" i="1" spc="322" baseline="-40740" dirty="0">
                <a:latin typeface="Times New Roman"/>
                <a:cs typeface="Times New Roman"/>
              </a:rPr>
              <a:t> </a:t>
            </a:r>
            <a:r>
              <a:rPr sz="2250" spc="307" baseline="-40740" dirty="0">
                <a:latin typeface="Symbol"/>
                <a:cs typeface="Symbol"/>
              </a:rPr>
              <a:t></a:t>
            </a:r>
            <a:r>
              <a:rPr sz="2250" spc="52" baseline="-40740" dirty="0">
                <a:latin typeface="Times New Roman"/>
                <a:cs typeface="Times New Roman"/>
              </a:rPr>
              <a:t> </a:t>
            </a:r>
            <a:r>
              <a:rPr sz="2250" spc="195" baseline="-3703" dirty="0">
                <a:latin typeface="Symbol"/>
                <a:cs typeface="Symbol"/>
              </a:rPr>
              <a:t></a:t>
            </a:r>
            <a:r>
              <a:rPr sz="1500" spc="130" dirty="0">
                <a:latin typeface="Times New Roman"/>
                <a:cs typeface="Times New Roman"/>
              </a:rPr>
              <a:t>-</a:t>
            </a:r>
            <a:r>
              <a:rPr sz="1500" spc="-155" dirty="0">
                <a:latin typeface="Times New Roman"/>
                <a:cs typeface="Times New Roman"/>
              </a:rPr>
              <a:t> </a:t>
            </a:r>
            <a:r>
              <a:rPr sz="1500" spc="140" dirty="0">
                <a:latin typeface="Times New Roman"/>
                <a:cs typeface="Times New Roman"/>
              </a:rPr>
              <a:t>0.8423</a:t>
            </a:r>
            <a:r>
              <a:rPr sz="1500" spc="105" dirty="0">
                <a:latin typeface="Times New Roman"/>
                <a:cs typeface="Times New Roman"/>
              </a:rPr>
              <a:t> </a:t>
            </a:r>
            <a:r>
              <a:rPr sz="2250" spc="217" baseline="-3703" dirty="0">
                <a:latin typeface="Symbol"/>
                <a:cs typeface="Symbol"/>
              </a:rPr>
              <a:t></a:t>
            </a:r>
            <a:endParaRPr sz="2250" baseline="-3703">
              <a:latin typeface="Symbol"/>
              <a:cs typeface="Symbol"/>
            </a:endParaRPr>
          </a:p>
          <a:p>
            <a:pPr marR="55880" algn="r">
              <a:lnSpc>
                <a:spcPts val="1075"/>
              </a:lnSpc>
              <a:spcBef>
                <a:spcPts val="409"/>
              </a:spcBef>
            </a:pPr>
            <a:r>
              <a:rPr sz="2250" spc="217" baseline="25925" dirty="0">
                <a:latin typeface="Symbol"/>
                <a:cs typeface="Symbol"/>
              </a:rPr>
              <a:t></a:t>
            </a:r>
            <a:r>
              <a:rPr sz="2250" spc="217" baseline="25925" dirty="0">
                <a:latin typeface="Times New Roman"/>
                <a:cs typeface="Times New Roman"/>
              </a:rPr>
              <a:t> </a:t>
            </a:r>
            <a:r>
              <a:rPr sz="1500" spc="140" dirty="0">
                <a:latin typeface="Times New Roman"/>
                <a:cs typeface="Times New Roman"/>
              </a:rPr>
              <a:t>0.5389</a:t>
            </a:r>
            <a:r>
              <a:rPr sz="1500" spc="365" dirty="0">
                <a:latin typeface="Times New Roman"/>
                <a:cs typeface="Times New Roman"/>
              </a:rPr>
              <a:t> </a:t>
            </a:r>
            <a:r>
              <a:rPr sz="2250" spc="217" baseline="25925" dirty="0">
                <a:latin typeface="Symbol"/>
                <a:cs typeface="Symbol"/>
              </a:rPr>
              <a:t></a:t>
            </a:r>
            <a:endParaRPr sz="2250" baseline="25925">
              <a:latin typeface="Symbol"/>
              <a:cs typeface="Symbol"/>
            </a:endParaRPr>
          </a:p>
          <a:p>
            <a:pPr marL="475615">
              <a:lnSpc>
                <a:spcPts val="1075"/>
              </a:lnSpc>
              <a:tabLst>
                <a:tab pos="1372235" algn="l"/>
              </a:tabLst>
            </a:pPr>
            <a:r>
              <a:rPr sz="1500" spc="145" dirty="0">
                <a:latin typeface="Symbol"/>
                <a:cs typeface="Symbol"/>
              </a:rPr>
              <a:t></a:t>
            </a:r>
            <a:r>
              <a:rPr sz="1500" spc="145" dirty="0">
                <a:latin typeface="Times New Roman"/>
                <a:cs typeface="Times New Roman"/>
              </a:rPr>
              <a:t>	</a:t>
            </a:r>
            <a:r>
              <a:rPr sz="1500" spc="145" dirty="0">
                <a:latin typeface="Symbol"/>
                <a:cs typeface="Symbol"/>
              </a:rPr>
              <a:t>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66419" y="5322570"/>
            <a:ext cx="2553970" cy="10013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Arial"/>
                <a:cs typeface="Arial"/>
              </a:rPr>
              <a:t>misalkan b = 0.8423 maka</a:t>
            </a:r>
            <a:r>
              <a:rPr sz="1600" spc="-1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R="530225" algn="r">
              <a:lnSpc>
                <a:spcPct val="100000"/>
              </a:lnSpc>
              <a:spcBef>
                <a:spcPts val="1390"/>
              </a:spcBef>
            </a:pPr>
            <a:r>
              <a:rPr sz="2250" i="1" spc="397" baseline="-40740" dirty="0">
                <a:latin typeface="Times New Roman"/>
                <a:cs typeface="Times New Roman"/>
              </a:rPr>
              <a:t>U </a:t>
            </a:r>
            <a:r>
              <a:rPr sz="2250" spc="307" baseline="-40740" dirty="0">
                <a:latin typeface="Symbol"/>
                <a:cs typeface="Symbol"/>
              </a:rPr>
              <a:t></a:t>
            </a:r>
            <a:r>
              <a:rPr sz="2250" spc="-30" baseline="-40740" dirty="0">
                <a:latin typeface="Times New Roman"/>
                <a:cs typeface="Times New Roman"/>
              </a:rPr>
              <a:t> </a:t>
            </a:r>
            <a:r>
              <a:rPr sz="2250" spc="232" baseline="-3703" dirty="0">
                <a:latin typeface="Symbol"/>
                <a:cs typeface="Symbol"/>
              </a:rPr>
              <a:t></a:t>
            </a:r>
            <a:r>
              <a:rPr sz="1500" spc="155" dirty="0">
                <a:latin typeface="Times New Roman"/>
                <a:cs typeface="Times New Roman"/>
              </a:rPr>
              <a:t>0.5389</a:t>
            </a:r>
            <a:r>
              <a:rPr sz="2250" spc="232" baseline="-3703" dirty="0">
                <a:latin typeface="Symbol"/>
                <a:cs typeface="Symbol"/>
              </a:rPr>
              <a:t></a:t>
            </a:r>
            <a:endParaRPr sz="2250" baseline="-3703">
              <a:latin typeface="Symbol"/>
              <a:cs typeface="Symbol"/>
            </a:endParaRPr>
          </a:p>
          <a:p>
            <a:pPr marR="530225" algn="r">
              <a:lnSpc>
                <a:spcPts val="1080"/>
              </a:lnSpc>
              <a:spcBef>
                <a:spcPts val="415"/>
              </a:spcBef>
            </a:pPr>
            <a:r>
              <a:rPr sz="2250" spc="254" baseline="25925" dirty="0">
                <a:latin typeface="Symbol"/>
                <a:cs typeface="Symbol"/>
              </a:rPr>
              <a:t></a:t>
            </a:r>
            <a:r>
              <a:rPr sz="1500" spc="170" dirty="0">
                <a:latin typeface="Times New Roman"/>
                <a:cs typeface="Times New Roman"/>
              </a:rPr>
              <a:t>0</a:t>
            </a:r>
            <a:r>
              <a:rPr sz="1500" spc="80" dirty="0">
                <a:latin typeface="Times New Roman"/>
                <a:cs typeface="Times New Roman"/>
              </a:rPr>
              <a:t>.</a:t>
            </a:r>
            <a:r>
              <a:rPr sz="1500" spc="135" dirty="0">
                <a:latin typeface="Times New Roman"/>
                <a:cs typeface="Times New Roman"/>
              </a:rPr>
              <a:t>84</a:t>
            </a:r>
            <a:r>
              <a:rPr sz="1500" spc="130" dirty="0">
                <a:latin typeface="Times New Roman"/>
                <a:cs typeface="Times New Roman"/>
              </a:rPr>
              <a:t>2</a:t>
            </a:r>
            <a:r>
              <a:rPr sz="1500" spc="275" dirty="0">
                <a:latin typeface="Times New Roman"/>
                <a:cs typeface="Times New Roman"/>
              </a:rPr>
              <a:t>3</a:t>
            </a:r>
            <a:r>
              <a:rPr sz="2250" spc="209" baseline="25925" dirty="0">
                <a:latin typeface="Symbol"/>
                <a:cs typeface="Symbol"/>
              </a:rPr>
              <a:t></a:t>
            </a:r>
            <a:endParaRPr sz="2250" baseline="25925">
              <a:latin typeface="Symbol"/>
              <a:cs typeface="Symbol"/>
            </a:endParaRPr>
          </a:p>
          <a:p>
            <a:pPr marL="1183640">
              <a:lnSpc>
                <a:spcPts val="1080"/>
              </a:lnSpc>
              <a:tabLst>
                <a:tab pos="1923414" algn="l"/>
              </a:tabLst>
            </a:pPr>
            <a:r>
              <a:rPr sz="1500" spc="140" dirty="0">
                <a:latin typeface="Symbol"/>
                <a:cs typeface="Symbol"/>
              </a:rPr>
              <a:t></a:t>
            </a:r>
            <a:r>
              <a:rPr sz="1500" spc="140" dirty="0">
                <a:latin typeface="Times New Roman"/>
                <a:cs typeface="Times New Roman"/>
              </a:rPr>
              <a:t>	</a:t>
            </a:r>
            <a:r>
              <a:rPr sz="1500" spc="140" dirty="0">
                <a:latin typeface="Symbol"/>
                <a:cs typeface="Symbol"/>
              </a:rPr>
              <a:t></a:t>
            </a:r>
            <a:endParaRPr sz="1500">
              <a:latin typeface="Symbol"/>
              <a:cs typeface="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0191" y="2018156"/>
            <a:ext cx="740092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  <a:tabLst>
                <a:tab pos="4104004" algn="l"/>
              </a:tabLst>
            </a:pPr>
            <a:r>
              <a:rPr sz="1600" spc="-20" dirty="0">
                <a:latin typeface="Arial"/>
                <a:cs typeface="Arial"/>
              </a:rPr>
              <a:t>Vektor </a:t>
            </a:r>
            <a:r>
              <a:rPr sz="1600" spc="-5" dirty="0">
                <a:latin typeface="Arial"/>
                <a:cs typeface="Arial"/>
              </a:rPr>
              <a:t>eigen untuk </a:t>
            </a:r>
            <a:r>
              <a:rPr sz="1600" spc="5" dirty="0">
                <a:latin typeface="Arial"/>
                <a:cs typeface="Arial"/>
              </a:rPr>
              <a:t>λ</a:t>
            </a:r>
            <a:r>
              <a:rPr sz="1575" spc="7" baseline="-21164" dirty="0">
                <a:latin typeface="Arial"/>
                <a:cs typeface="Arial"/>
              </a:rPr>
              <a:t>1</a:t>
            </a:r>
            <a:r>
              <a:rPr sz="1575" spc="345" baseline="-21164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=</a:t>
            </a:r>
            <a:r>
              <a:rPr sz="1600" spc="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8.68218	Jadi </a:t>
            </a:r>
            <a:r>
              <a:rPr sz="1600" spc="-20" dirty="0">
                <a:latin typeface="Arial"/>
                <a:cs typeface="Arial"/>
              </a:rPr>
              <a:t>Vektor </a:t>
            </a:r>
            <a:r>
              <a:rPr sz="1600" spc="-5" dirty="0">
                <a:latin typeface="Arial"/>
                <a:cs typeface="Arial"/>
              </a:rPr>
              <a:t>eigen globalnya adalah :  adalah</a:t>
            </a:r>
            <a:r>
              <a:rPr sz="1600" spc="-20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: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16149" y="3014673"/>
            <a:ext cx="114935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350" spc="-100" dirty="0">
                <a:latin typeface="Symbol"/>
                <a:cs typeface="Symbol"/>
              </a:rPr>
              <a:t>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723333" y="3014673"/>
            <a:ext cx="114935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350" spc="-100" dirty="0">
                <a:latin typeface="Symbol"/>
                <a:cs typeface="Symbol"/>
              </a:rPr>
              <a:t></a:t>
            </a:r>
            <a:endParaRPr sz="2350">
              <a:latin typeface="Symbol"/>
              <a:cs typeface="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685233" y="2943933"/>
            <a:ext cx="2084070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214120" algn="l"/>
              </a:tabLst>
            </a:pPr>
            <a:r>
              <a:rPr sz="3525" spc="-150" baseline="26004" dirty="0">
                <a:latin typeface="Symbol"/>
                <a:cs typeface="Symbol"/>
              </a:rPr>
              <a:t></a:t>
            </a:r>
            <a:r>
              <a:rPr sz="3525" spc="-209" baseline="26004" dirty="0">
                <a:latin typeface="Times New Roman"/>
                <a:cs typeface="Times New Roman"/>
              </a:rPr>
              <a:t> </a:t>
            </a:r>
            <a:r>
              <a:rPr sz="2350" spc="-160" dirty="0">
                <a:latin typeface="Times New Roman"/>
                <a:cs typeface="Times New Roman"/>
              </a:rPr>
              <a:t>0.5389	</a:t>
            </a:r>
            <a:r>
              <a:rPr sz="2350" spc="-135" dirty="0">
                <a:latin typeface="Times New Roman"/>
                <a:cs typeface="Times New Roman"/>
              </a:rPr>
              <a:t>0.8423</a:t>
            </a:r>
            <a:r>
              <a:rPr sz="3525" spc="-202" baseline="26004" dirty="0">
                <a:latin typeface="Symbol"/>
                <a:cs typeface="Symbol"/>
              </a:rPr>
              <a:t></a:t>
            </a:r>
            <a:endParaRPr sz="3525" baseline="26004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196537" y="2502391"/>
            <a:ext cx="2560320" cy="3873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698625" algn="l"/>
              </a:tabLst>
            </a:pPr>
            <a:r>
              <a:rPr sz="3525" i="1" spc="-277" baseline="-40189" dirty="0">
                <a:latin typeface="Times New Roman"/>
                <a:cs typeface="Times New Roman"/>
              </a:rPr>
              <a:t>U  </a:t>
            </a:r>
            <a:r>
              <a:rPr sz="3525" spc="-209" baseline="-40189" dirty="0">
                <a:latin typeface="Symbol"/>
                <a:cs typeface="Symbol"/>
              </a:rPr>
              <a:t></a:t>
            </a:r>
            <a:r>
              <a:rPr sz="3525" spc="-300" baseline="-40189" dirty="0">
                <a:latin typeface="Times New Roman"/>
                <a:cs typeface="Times New Roman"/>
              </a:rPr>
              <a:t> </a:t>
            </a:r>
            <a:r>
              <a:rPr sz="3525" spc="-150" baseline="-3546" dirty="0">
                <a:latin typeface="Symbol"/>
                <a:cs typeface="Symbol"/>
              </a:rPr>
              <a:t></a:t>
            </a:r>
            <a:r>
              <a:rPr sz="2350" spc="-100" dirty="0">
                <a:latin typeface="Times New Roman"/>
                <a:cs typeface="Times New Roman"/>
              </a:rPr>
              <a:t>-</a:t>
            </a:r>
            <a:r>
              <a:rPr sz="2350" spc="-325" dirty="0">
                <a:latin typeface="Times New Roman"/>
                <a:cs typeface="Times New Roman"/>
              </a:rPr>
              <a:t> </a:t>
            </a:r>
            <a:r>
              <a:rPr sz="2350" spc="-160" dirty="0">
                <a:latin typeface="Times New Roman"/>
                <a:cs typeface="Times New Roman"/>
              </a:rPr>
              <a:t>0.8423	</a:t>
            </a:r>
            <a:r>
              <a:rPr sz="2350" spc="-130" dirty="0">
                <a:latin typeface="Times New Roman"/>
                <a:cs typeface="Times New Roman"/>
              </a:rPr>
              <a:t>0.5389</a:t>
            </a:r>
            <a:r>
              <a:rPr sz="3525" spc="-195" baseline="-3546" dirty="0">
                <a:latin typeface="Symbol"/>
                <a:cs typeface="Symbol"/>
              </a:rPr>
              <a:t></a:t>
            </a:r>
            <a:endParaRPr sz="3525" baseline="-3546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91410" y="259207"/>
            <a:ext cx="53371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PCA : Transformasi</a:t>
            </a:r>
            <a:r>
              <a:rPr spc="-95" dirty="0"/>
              <a:t> </a:t>
            </a:r>
            <a:r>
              <a:rPr dirty="0"/>
              <a:t>x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xfrm>
            <a:off x="838200" y="3124200"/>
            <a:ext cx="7290055" cy="402336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355600" algn="just">
              <a:lnSpc>
                <a:spcPct val="100000"/>
              </a:lnSpc>
              <a:spcBef>
                <a:spcPts val="965"/>
              </a:spcBef>
            </a:pPr>
            <a:r>
              <a:rPr dirty="0"/>
              <a:t>informasi data yang kita</a:t>
            </a:r>
            <a:r>
              <a:rPr spc="-70" dirty="0"/>
              <a:t> </a:t>
            </a:r>
            <a:r>
              <a:rPr dirty="0"/>
              <a:t>gunakan</a:t>
            </a:r>
          </a:p>
          <a:p>
            <a:pPr marL="355600" marR="5080" indent="-342900" algn="just">
              <a:lnSpc>
                <a:spcPct val="100000"/>
              </a:lnSpc>
              <a:spcBef>
                <a:spcPts val="865"/>
              </a:spcBef>
              <a:buChar char="•"/>
              <a:tabLst>
                <a:tab pos="355600" algn="l"/>
              </a:tabLst>
            </a:pPr>
            <a:r>
              <a:rPr spc="-5" dirty="0"/>
              <a:t>Dari nilai </a:t>
            </a:r>
            <a:r>
              <a:rPr dirty="0"/>
              <a:t>K </a:t>
            </a:r>
            <a:r>
              <a:rPr spc="-5" dirty="0"/>
              <a:t>yang ditentukan akan  </a:t>
            </a:r>
            <a:r>
              <a:rPr dirty="0"/>
              <a:t>diperoleh fitur yang dijadikan </a:t>
            </a:r>
            <a:r>
              <a:rPr spc="-5" dirty="0"/>
              <a:t>sebagai  proses pengenalan</a:t>
            </a:r>
            <a:r>
              <a:rPr spc="-45" dirty="0"/>
              <a:t> </a:t>
            </a:r>
            <a:r>
              <a:rPr spc="-5" dirty="0"/>
              <a:t>pola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591" y="2646426"/>
            <a:ext cx="22745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sz="3600" spc="-5" dirty="0">
                <a:latin typeface="Arial"/>
                <a:cs typeface="Arial"/>
              </a:rPr>
              <a:t>Tentukan</a:t>
            </a:r>
            <a:endParaRPr sz="3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73882" y="2646426"/>
            <a:ext cx="5264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5570" algn="l"/>
                <a:tab pos="2249805" algn="l"/>
                <a:tab pos="4336415" algn="l"/>
              </a:tabLst>
            </a:pPr>
            <a:r>
              <a:rPr sz="3600" spc="-5" dirty="0">
                <a:latin typeface="Arial"/>
                <a:cs typeface="Arial"/>
              </a:rPr>
              <a:t>nilai	K	dengan	9</a:t>
            </a:r>
            <a:r>
              <a:rPr sz="3600" spc="-15" dirty="0">
                <a:latin typeface="Arial"/>
                <a:cs typeface="Arial"/>
              </a:rPr>
              <a:t>0</a:t>
            </a:r>
            <a:r>
              <a:rPr sz="3600" spc="-5" dirty="0">
                <a:latin typeface="Arial"/>
                <a:cs typeface="Arial"/>
              </a:rPr>
              <a:t>%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34980" y="2022686"/>
            <a:ext cx="780415" cy="456565"/>
          </a:xfrm>
          <a:custGeom>
            <a:avLst/>
            <a:gdLst/>
            <a:ahLst/>
            <a:cxnLst/>
            <a:rect l="l" t="t" r="r" b="b"/>
            <a:pathLst>
              <a:path w="780414" h="456564">
                <a:moveTo>
                  <a:pt x="0" y="0"/>
                </a:moveTo>
                <a:lnTo>
                  <a:pt x="0" y="456555"/>
                </a:lnTo>
              </a:path>
              <a:path w="780414" h="456564">
                <a:moveTo>
                  <a:pt x="780376" y="0"/>
                </a:moveTo>
                <a:lnTo>
                  <a:pt x="780376" y="456555"/>
                </a:lnTo>
              </a:path>
            </a:pathLst>
          </a:custGeom>
          <a:ln w="1528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9191" y="1281809"/>
            <a:ext cx="6388735" cy="115951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475"/>
              </a:spcBef>
              <a:buChar char="•"/>
              <a:tabLst>
                <a:tab pos="381000" algn="l"/>
                <a:tab pos="6223000" algn="l"/>
              </a:tabLst>
            </a:pPr>
            <a:r>
              <a:rPr sz="3600" dirty="0">
                <a:latin typeface="Arial"/>
                <a:cs typeface="Arial"/>
              </a:rPr>
              <a:t>Transformasi </a:t>
            </a:r>
            <a:r>
              <a:rPr sz="3600" spc="-5" dirty="0">
                <a:latin typeface="Arial"/>
                <a:cs typeface="Arial"/>
              </a:rPr>
              <a:t>data </a:t>
            </a:r>
            <a:r>
              <a:rPr sz="3600" dirty="0">
                <a:latin typeface="Arial"/>
                <a:cs typeface="Arial"/>
              </a:rPr>
              <a:t>fitur </a:t>
            </a:r>
            <a:r>
              <a:rPr sz="4500" i="1" spc="44" baseline="6481" dirty="0">
                <a:latin typeface="Times New Roman"/>
                <a:cs typeface="Times New Roman"/>
              </a:rPr>
              <a:t>x</a:t>
            </a:r>
            <a:r>
              <a:rPr sz="4500" i="1" spc="240" baseline="6481" dirty="0">
                <a:latin typeface="Times New Roman"/>
                <a:cs typeface="Times New Roman"/>
              </a:rPr>
              <a:t> </a:t>
            </a:r>
            <a:r>
              <a:rPr sz="4500" spc="97" baseline="6481" dirty="0">
                <a:latin typeface="Symbol"/>
                <a:cs typeface="Symbol"/>
              </a:rPr>
              <a:t></a:t>
            </a:r>
            <a:r>
              <a:rPr sz="4500" spc="-104" baseline="6481" dirty="0">
                <a:latin typeface="Times New Roman"/>
                <a:cs typeface="Times New Roman"/>
              </a:rPr>
              <a:t> </a:t>
            </a:r>
            <a:r>
              <a:rPr sz="4500" i="1" spc="-794" baseline="6481" dirty="0">
                <a:latin typeface="Times New Roman"/>
                <a:cs typeface="Times New Roman"/>
              </a:rPr>
              <a:t>x</a:t>
            </a:r>
            <a:r>
              <a:rPr sz="4500" spc="-794" baseline="9259" dirty="0">
                <a:latin typeface="Times New Roman"/>
                <a:cs typeface="Times New Roman"/>
              </a:rPr>
              <a:t>ˆ	</a:t>
            </a:r>
            <a:r>
              <a:rPr sz="3600" dirty="0">
                <a:latin typeface="Arial"/>
                <a:cs typeface="Arial"/>
              </a:rPr>
              <a:t>:</a:t>
            </a:r>
            <a:endParaRPr sz="3600">
              <a:latin typeface="Arial"/>
              <a:cs typeface="Arial"/>
            </a:endParaRPr>
          </a:p>
          <a:p>
            <a:pPr marR="25400" algn="ctr">
              <a:lnSpc>
                <a:spcPct val="100000"/>
              </a:lnSpc>
              <a:spcBef>
                <a:spcPts val="334"/>
              </a:spcBef>
              <a:tabLst>
                <a:tab pos="839469" algn="l"/>
              </a:tabLst>
            </a:pPr>
            <a:r>
              <a:rPr sz="3050" i="1" spc="40" dirty="0">
                <a:latin typeface="Times New Roman"/>
                <a:cs typeface="Times New Roman"/>
              </a:rPr>
              <a:t>x</a:t>
            </a:r>
            <a:r>
              <a:rPr sz="3050" i="1" spc="-300" dirty="0">
                <a:latin typeface="Times New Roman"/>
                <a:cs typeface="Times New Roman"/>
              </a:rPr>
              <a:t> </a:t>
            </a:r>
            <a:r>
              <a:rPr sz="3050" spc="50" dirty="0">
                <a:latin typeface="Symbol"/>
                <a:cs typeface="Symbol"/>
              </a:rPr>
              <a:t></a:t>
            </a:r>
            <a:r>
              <a:rPr sz="3050" spc="-210" dirty="0">
                <a:latin typeface="Times New Roman"/>
                <a:cs typeface="Times New Roman"/>
              </a:rPr>
              <a:t> </a:t>
            </a:r>
            <a:r>
              <a:rPr sz="3050" i="1" spc="-530" dirty="0">
                <a:latin typeface="Times New Roman"/>
                <a:cs typeface="Times New Roman"/>
              </a:rPr>
              <a:t>x</a:t>
            </a:r>
            <a:r>
              <a:rPr sz="4575" spc="-794" baseline="2732" dirty="0">
                <a:latin typeface="Times New Roman"/>
                <a:cs typeface="Times New Roman"/>
              </a:rPr>
              <a:t>ˆ	</a:t>
            </a:r>
            <a:r>
              <a:rPr sz="3050" spc="50" dirty="0">
                <a:latin typeface="Symbol"/>
                <a:cs typeface="Symbol"/>
              </a:rPr>
              <a:t></a:t>
            </a:r>
            <a:r>
              <a:rPr sz="3050" spc="-220" dirty="0">
                <a:latin typeface="Times New Roman"/>
                <a:cs typeface="Times New Roman"/>
              </a:rPr>
              <a:t> </a:t>
            </a:r>
            <a:r>
              <a:rPr sz="3250" i="1" spc="20" dirty="0">
                <a:latin typeface="Symbol"/>
                <a:cs typeface="Symbol"/>
              </a:rPr>
              <a:t></a:t>
            </a:r>
            <a:r>
              <a:rPr sz="2700" i="1" spc="30" baseline="-23148" dirty="0">
                <a:latin typeface="Times New Roman"/>
                <a:cs typeface="Times New Roman"/>
              </a:rPr>
              <a:t>k</a:t>
            </a:r>
            <a:r>
              <a:rPr sz="3050" i="1" spc="20" dirty="0">
                <a:latin typeface="Times New Roman"/>
                <a:cs typeface="Times New Roman"/>
              </a:rPr>
              <a:t>U</a:t>
            </a:r>
            <a:r>
              <a:rPr sz="2700" i="1" spc="30" baseline="-23148" dirty="0">
                <a:latin typeface="Times New Roman"/>
                <a:cs typeface="Times New Roman"/>
              </a:rPr>
              <a:t>k</a:t>
            </a:r>
            <a:endParaRPr sz="2700" baseline="-23148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4" y="3699509"/>
            <a:ext cx="409793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1C1C1C"/>
                </a:solidFill>
                <a:latin typeface="Arial"/>
                <a:cs typeface="Arial"/>
              </a:rPr>
              <a:t>Selesai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105</TotalTime>
  <Words>2429</Words>
  <Application>Microsoft Office PowerPoint</Application>
  <PresentationFormat>On-screen Show (4:3)</PresentationFormat>
  <Paragraphs>538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Carlito</vt:lpstr>
      <vt:lpstr>Symbol</vt:lpstr>
      <vt:lpstr>Tahoma</vt:lpstr>
      <vt:lpstr>Times New Roman</vt:lpstr>
      <vt:lpstr>Tw Cen MT</vt:lpstr>
      <vt:lpstr>Tw Cen MT Condensed</vt:lpstr>
      <vt:lpstr>Wingdings</vt:lpstr>
      <vt:lpstr>Wingdings 3</vt:lpstr>
      <vt:lpstr>Integral</vt:lpstr>
      <vt:lpstr>Pengenalan Pola  Pattern Recognition</vt:lpstr>
      <vt:lpstr>Dasar Pengenalan Pola 2</vt:lpstr>
      <vt:lpstr>The Design Cycle</vt:lpstr>
      <vt:lpstr>Collect Data</vt:lpstr>
      <vt:lpstr>Object to Dataset</vt:lpstr>
      <vt:lpstr>Dimensionality Reduction</vt:lpstr>
      <vt:lpstr>Dimensionality Reduction</vt:lpstr>
      <vt:lpstr>Dimensionality Reduction</vt:lpstr>
      <vt:lpstr>Dimensionality Reduction</vt:lpstr>
      <vt:lpstr>Dimensionality Reduction</vt:lpstr>
      <vt:lpstr>Feature Selection Using PCA</vt:lpstr>
      <vt:lpstr>Feature Selection Using PCA</vt:lpstr>
      <vt:lpstr>Feature Selection Using PCA</vt:lpstr>
      <vt:lpstr>Feature Selection Using PCA</vt:lpstr>
      <vt:lpstr>Feature Selection Using PCA</vt:lpstr>
      <vt:lpstr>Feature Selection Using PCA</vt:lpstr>
      <vt:lpstr>Feature Selection Using PCA</vt:lpstr>
      <vt:lpstr>Feature Selection Using PCA</vt:lpstr>
      <vt:lpstr>Feature Selection Using PCA</vt:lpstr>
      <vt:lpstr>Feature Selection Using PCA</vt:lpstr>
      <vt:lpstr>PCA : Menghitung Eigen Value</vt:lpstr>
      <vt:lpstr>PCA : Menghitung Eigen Value</vt:lpstr>
      <vt:lpstr>PCA : Menghitung Eigen Vector</vt:lpstr>
      <vt:lpstr>PCA : Menghitung Eigen Vector</vt:lpstr>
      <vt:lpstr>PCA : Menghitung Eigen Vector</vt:lpstr>
      <vt:lpstr>PCA : Transformasi x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 Selection</dc:title>
  <dc:creator>Imam Cholissodin</dc:creator>
  <cp:keywords>Pengenalan Pola</cp:keywords>
  <cp:lastModifiedBy>arief kelik nugroho</cp:lastModifiedBy>
  <cp:revision>6</cp:revision>
  <dcterms:created xsi:type="dcterms:W3CDTF">2021-09-02T00:55:24Z</dcterms:created>
  <dcterms:modified xsi:type="dcterms:W3CDTF">2026-08-18T13:57:11Z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2014-07-07T00:00:00Z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2021-09-02T00:00:00Z</vt:filetime>
  </property>
</Properties>
</file>