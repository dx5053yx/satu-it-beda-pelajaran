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38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52971-327C-AB45-9120-3C5A5EAF30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27EE3D-BD1D-4C38-19FC-F9FD7E5579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CE1B50-DCEC-1E92-3C8A-D89D66F5F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D8615-57E7-608D-B088-39F306B98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F7E11D-E170-6659-9FC1-6C78B62F0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36622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4B702-CD0D-1DB1-1982-EB1DD21CB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842A01-9A4C-3E59-6101-BF7E61082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7AF6C7-0921-31C6-FD12-F7AF1CD5E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69241-B490-3A7A-D07D-167B6EF4E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0F2F4-1BEC-C642-159B-64D4FF852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59636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F2D5F-D267-FDB7-DB82-9591CA74C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047F66-9E90-62F5-BD2F-6A675DDFAF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3DCF84-7367-CED3-78D0-2DDD61371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0DE4DE-D842-F0A2-8BC8-9FED5753F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2B0F9-5ACD-16A0-3826-E32BF7D32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99162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041E8-150D-9AF0-724C-7D5F8CFFB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EFDD0-940B-61BB-62EE-684A5D8DE8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C8DA5D-13AD-75FA-4D0F-313F34B5C0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E0CFE5-EC9A-40D1-D747-529A0FF93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1AA64A-1E7F-73D3-7C77-5A133287E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AB445E-FF4B-5445-5770-C1E0E08D4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05277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4DDB8-9C53-C6AB-7C53-3EE5B3C5A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85E44E-9C69-2CA5-52A9-ACF18618D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23F3A3-F34D-583D-E137-7365FA2DF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003F18-BACE-9D3C-4509-CD3CDEDBBE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01DDA2-229C-4E28-4634-6A429CBE3F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793A50-E532-073D-EC12-7ECCB2EF6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45496E-D2BB-7EA1-2FEF-931679DBD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17DE10-1CC2-B646-0DB5-B449FD713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64852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58019-A75C-B6F0-C014-72623BE26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AE818E-523F-FFC4-D26D-9132143ED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255B5C-044B-40E1-0038-741293F3F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66B96E-8FE0-69C2-5491-72A14E865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94504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6789D3-EDE0-C295-9208-6E2D71F52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CB265-34C6-CF8E-DB60-7BD1C3D7D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71DE39-9498-FF52-49B1-0E4BE0606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99574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C5728-961F-0AFC-57AA-C4901C0EB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7CCDE-A1E2-4B60-66FC-3A8DB925BF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96D6F2-419F-5399-3A8F-D23A63CA1A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EEACD0-DEB3-5A46-48C5-4E0F5CA55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BA3303-9C2A-A23F-CCD1-676625914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8A205F-63F0-A9DF-4B2D-7BF154718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45243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5DB33-AB3E-06C7-6975-245A7554B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8561D8-69A4-F64D-63A7-E3574A5D9B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18BB91-8C0B-E704-005F-BCC4501DCA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3F763F-D07D-9E0D-45A0-66F10F799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31B5DC-5615-F5FA-91EA-4F2C7A630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49370D-4572-F56A-ECAE-C0F35925B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52746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5BA65-229F-C278-F94D-62A084922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05301A-C8A7-F5ED-E261-1B4F716144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7E1231-9759-C5F6-5913-7D4B4BF3D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16F285-CF7D-134B-082C-20DD937A4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2872E-11A0-63B9-D9D5-1EFA74045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28673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12308A-5F1E-AB9E-C28A-6354AE41B6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C0D2D0-2B64-1AF6-45E6-7346CAB0BA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7A26B4-E206-D82A-4F3C-84F1885C1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E4717-C47C-672E-5F99-6F8169E3C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E2DC33-4F69-8F7B-3708-C3A0C72D1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42134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67908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F4BDA4-B0A5-5604-E071-510FAACAE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18C072-9FF3-5822-B8EE-AA28C6EB5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F0DC4D-5221-DAF9-32F2-6A686A9830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6BDCFE-94F8-6B10-A8EF-53F23F61EB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6C5D5A-A40D-7957-0B49-23EFFBC7D7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35062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g"/><Relationship Id="rId5" Type="http://schemas.openxmlformats.org/officeDocument/2006/relationships/image" Target="../media/image21.pn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7" Type="http://schemas.openxmlformats.org/officeDocument/2006/relationships/image" Target="../media/image2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jpg"/><Relationship Id="rId5" Type="http://schemas.openxmlformats.org/officeDocument/2006/relationships/image" Target="../media/image26.jpg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59714" y="3577844"/>
            <a:ext cx="5083175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1C1C1C"/>
                </a:solidFill>
                <a:latin typeface="Arial"/>
                <a:cs typeface="Arial"/>
              </a:rPr>
              <a:t>Bayesian</a:t>
            </a:r>
            <a:r>
              <a:rPr sz="3200" b="1" spc="-50" dirty="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1C1C1C"/>
                </a:solidFill>
                <a:latin typeface="Arial"/>
                <a:cs typeface="Arial"/>
              </a:rPr>
              <a:t>Decision</a:t>
            </a:r>
            <a:r>
              <a:rPr sz="3200" b="1" spc="-65" dirty="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1C1C1C"/>
                </a:solidFill>
                <a:latin typeface="Arial"/>
                <a:cs typeface="Arial"/>
              </a:rPr>
              <a:t>Theory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90168" y="98298"/>
            <a:ext cx="484822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4000" b="1" spc="-5" dirty="0">
                <a:latin typeface="Arial"/>
                <a:cs typeface="Arial"/>
              </a:rPr>
              <a:t>Pengenalan Pola/ </a:t>
            </a:r>
            <a:r>
              <a:rPr sz="4000" b="1" dirty="0">
                <a:latin typeface="Arial"/>
                <a:cs typeface="Arial"/>
              </a:rPr>
              <a:t> </a:t>
            </a:r>
            <a:r>
              <a:rPr sz="4000" b="1" spc="-5" dirty="0">
                <a:latin typeface="Arial"/>
                <a:cs typeface="Arial"/>
              </a:rPr>
              <a:t>Pattern</a:t>
            </a:r>
            <a:r>
              <a:rPr sz="4000" b="1" spc="-55" dirty="0">
                <a:latin typeface="Arial"/>
                <a:cs typeface="Arial"/>
              </a:rPr>
              <a:t> </a:t>
            </a:r>
            <a:r>
              <a:rPr sz="4000" b="1" spc="-5" dirty="0">
                <a:latin typeface="Arial"/>
                <a:cs typeface="Arial"/>
              </a:rPr>
              <a:t>Recognition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021838" y="149428"/>
            <a:ext cx="29762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Klasifikasi</a:t>
            </a:r>
            <a:r>
              <a:rPr spc="-45" dirty="0"/>
              <a:t> </a:t>
            </a:r>
            <a:r>
              <a:rPr dirty="0"/>
              <a:t>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35940" y="1133395"/>
            <a:ext cx="6637655" cy="332041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527685" indent="-515620">
              <a:lnSpc>
                <a:spcPct val="100000"/>
              </a:lnSpc>
              <a:spcBef>
                <a:spcPts val="785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800" spc="-5" dirty="0">
                <a:latin typeface="Microsoft Sans Serif"/>
                <a:cs typeface="Microsoft Sans Serif"/>
              </a:rPr>
              <a:t>Teori</a:t>
            </a:r>
            <a:r>
              <a:rPr sz="2800" spc="30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Keputusan</a:t>
            </a:r>
            <a:r>
              <a:rPr sz="2800" spc="30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Bayes</a:t>
            </a:r>
            <a:endParaRPr sz="2800">
              <a:latin typeface="Microsoft Sans Serif"/>
              <a:cs typeface="Microsoft Sans Serif"/>
            </a:endParaRPr>
          </a:p>
          <a:p>
            <a:pPr marL="927100" lvl="1" indent="-514350">
              <a:lnSpc>
                <a:spcPct val="100000"/>
              </a:lnSpc>
              <a:spcBef>
                <a:spcPts val="595"/>
              </a:spcBef>
              <a:buFont typeface="Wingdings"/>
              <a:buChar char=""/>
              <a:tabLst>
                <a:tab pos="927100" algn="l"/>
                <a:tab pos="927735" algn="l"/>
              </a:tabLst>
            </a:pPr>
            <a:r>
              <a:rPr sz="2400" spc="-5" dirty="0">
                <a:latin typeface="Microsoft Sans Serif"/>
                <a:cs typeface="Microsoft Sans Serif"/>
              </a:rPr>
              <a:t>Keputusan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didukung</a:t>
            </a:r>
            <a:r>
              <a:rPr sz="2400" spc="6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probabilitas</a:t>
            </a:r>
            <a:r>
              <a:rPr sz="2400" spc="7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posterior</a:t>
            </a:r>
            <a:endParaRPr sz="2400">
              <a:latin typeface="Microsoft Sans Serif"/>
              <a:cs typeface="Microsoft Sans Serif"/>
            </a:endParaRPr>
          </a:p>
          <a:p>
            <a:pPr marL="927100" lvl="1" indent="-514350">
              <a:lnSpc>
                <a:spcPct val="100000"/>
              </a:lnSpc>
              <a:spcBef>
                <a:spcPts val="575"/>
              </a:spcBef>
              <a:buFont typeface="Wingdings"/>
              <a:buChar char=""/>
              <a:tabLst>
                <a:tab pos="927100" algn="l"/>
                <a:tab pos="927735" algn="l"/>
              </a:tabLst>
            </a:pPr>
            <a:r>
              <a:rPr sz="2400" spc="-5" dirty="0">
                <a:latin typeface="Microsoft Sans Serif"/>
                <a:cs typeface="Microsoft Sans Serif"/>
              </a:rPr>
              <a:t>Keputusan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mempertimbangkan</a:t>
            </a:r>
            <a:r>
              <a:rPr sz="2400" spc="6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Risk/Cost</a:t>
            </a:r>
            <a:endParaRPr sz="2400">
              <a:latin typeface="Microsoft Sans Serif"/>
              <a:cs typeface="Microsoft Sans Serif"/>
            </a:endParaRPr>
          </a:p>
          <a:p>
            <a:pPr marL="527685" indent="-515620">
              <a:lnSpc>
                <a:spcPct val="100000"/>
              </a:lnSpc>
              <a:spcBef>
                <a:spcPts val="655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800" spc="-5" dirty="0">
                <a:latin typeface="Microsoft Sans Serif"/>
                <a:cs typeface="Microsoft Sans Serif"/>
              </a:rPr>
              <a:t>Fase</a:t>
            </a:r>
            <a:r>
              <a:rPr sz="2800" spc="25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Training</a:t>
            </a:r>
            <a:r>
              <a:rPr sz="2800" spc="50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&amp;</a:t>
            </a:r>
            <a:r>
              <a:rPr sz="2800" spc="15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Testing</a:t>
            </a:r>
            <a:r>
              <a:rPr sz="2800" spc="30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Data</a:t>
            </a:r>
            <a:endParaRPr sz="2800">
              <a:latin typeface="Microsoft Sans Serif"/>
              <a:cs typeface="Microsoft Sans Serif"/>
            </a:endParaRPr>
          </a:p>
          <a:p>
            <a:pPr marL="927100" indent="-514350">
              <a:lnSpc>
                <a:spcPct val="100000"/>
              </a:lnSpc>
              <a:spcBef>
                <a:spcPts val="595"/>
              </a:spcBef>
              <a:buChar char="–"/>
              <a:tabLst>
                <a:tab pos="927100" algn="l"/>
                <a:tab pos="927735" algn="l"/>
              </a:tabLst>
            </a:pPr>
            <a:r>
              <a:rPr sz="2400" spc="-5" dirty="0">
                <a:latin typeface="Microsoft Sans Serif"/>
                <a:cs typeface="Microsoft Sans Serif"/>
              </a:rPr>
              <a:t>Univariate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Normal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Distribution</a:t>
            </a:r>
            <a:endParaRPr sz="2400">
              <a:latin typeface="Microsoft Sans Serif"/>
              <a:cs typeface="Microsoft Sans Serif"/>
            </a:endParaRPr>
          </a:p>
          <a:p>
            <a:pPr marL="927100" indent="-514350">
              <a:lnSpc>
                <a:spcPct val="100000"/>
              </a:lnSpc>
              <a:spcBef>
                <a:spcPts val="575"/>
              </a:spcBef>
              <a:buChar char="–"/>
              <a:tabLst>
                <a:tab pos="927100" algn="l"/>
                <a:tab pos="927735" algn="l"/>
              </a:tabLst>
            </a:pPr>
            <a:r>
              <a:rPr sz="2400" spc="-5" dirty="0">
                <a:latin typeface="Microsoft Sans Serif"/>
                <a:cs typeface="Microsoft Sans Serif"/>
              </a:rPr>
              <a:t>Multivariate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Normal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Distribution</a:t>
            </a:r>
            <a:endParaRPr sz="2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  <a:tabLst>
                <a:tab pos="527685" algn="l"/>
              </a:tabLst>
            </a:pPr>
            <a:r>
              <a:rPr sz="2800" spc="-5" dirty="0">
                <a:latin typeface="Microsoft Sans Serif"/>
                <a:cs typeface="Microsoft Sans Serif"/>
              </a:rPr>
              <a:t>3.	Latihan</a:t>
            </a:r>
            <a:r>
              <a:rPr sz="2800" spc="10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&amp;</a:t>
            </a:r>
            <a:r>
              <a:rPr sz="2800" spc="15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Tugas</a:t>
            </a:r>
            <a:endParaRPr sz="2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54074" y="264617"/>
            <a:ext cx="683640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Prosedur</a:t>
            </a:r>
            <a:r>
              <a:rPr spc="30" dirty="0"/>
              <a:t> </a:t>
            </a:r>
            <a:r>
              <a:rPr dirty="0"/>
              <a:t>Keputusan</a:t>
            </a:r>
            <a:r>
              <a:rPr spc="30" dirty="0"/>
              <a:t> </a:t>
            </a:r>
            <a:r>
              <a:rPr dirty="0"/>
              <a:t>Bayes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94257"/>
            <a:ext cx="78657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Microsoft Sans Serif"/>
                <a:cs typeface="Microsoft Sans Serif"/>
              </a:rPr>
              <a:t>Prosedur</a:t>
            </a:r>
            <a:r>
              <a:rPr sz="2400" spc="5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pengenalan</a:t>
            </a:r>
            <a:r>
              <a:rPr sz="2400" spc="8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pola</a:t>
            </a:r>
            <a:r>
              <a:rPr sz="2400" spc="4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dan</a:t>
            </a:r>
            <a:r>
              <a:rPr sz="2400" spc="4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pengambilan</a:t>
            </a:r>
            <a:r>
              <a:rPr sz="2400" spc="8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keputusan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77862" y="1981200"/>
            <a:ext cx="915035" cy="633730"/>
          </a:xfrm>
          <a:custGeom>
            <a:avLst/>
            <a:gdLst/>
            <a:ahLst/>
            <a:cxnLst/>
            <a:rect l="l" t="t" r="r" b="b"/>
            <a:pathLst>
              <a:path w="915035" h="633730">
                <a:moveTo>
                  <a:pt x="0" y="316738"/>
                </a:moveTo>
                <a:lnTo>
                  <a:pt x="3562" y="276992"/>
                </a:lnTo>
                <a:lnTo>
                  <a:pt x="13963" y="238723"/>
                </a:lnTo>
                <a:lnTo>
                  <a:pt x="30775" y="202228"/>
                </a:lnTo>
                <a:lnTo>
                  <a:pt x="53568" y="167804"/>
                </a:lnTo>
                <a:lnTo>
                  <a:pt x="81915" y="135745"/>
                </a:lnTo>
                <a:lnTo>
                  <a:pt x="115387" y="106349"/>
                </a:lnTo>
                <a:lnTo>
                  <a:pt x="153556" y="79911"/>
                </a:lnTo>
                <a:lnTo>
                  <a:pt x="195993" y="56728"/>
                </a:lnTo>
                <a:lnTo>
                  <a:pt x="242269" y="37095"/>
                </a:lnTo>
                <a:lnTo>
                  <a:pt x="291956" y="21310"/>
                </a:lnTo>
                <a:lnTo>
                  <a:pt x="344626" y="9668"/>
                </a:lnTo>
                <a:lnTo>
                  <a:pt x="399850" y="2466"/>
                </a:lnTo>
                <a:lnTo>
                  <a:pt x="457200" y="0"/>
                </a:lnTo>
                <a:lnTo>
                  <a:pt x="514558" y="2466"/>
                </a:lnTo>
                <a:lnTo>
                  <a:pt x="569790" y="9668"/>
                </a:lnTo>
                <a:lnTo>
                  <a:pt x="622467" y="21310"/>
                </a:lnTo>
                <a:lnTo>
                  <a:pt x="672161" y="37095"/>
                </a:lnTo>
                <a:lnTo>
                  <a:pt x="718444" y="56728"/>
                </a:lnTo>
                <a:lnTo>
                  <a:pt x="760886" y="79911"/>
                </a:lnTo>
                <a:lnTo>
                  <a:pt x="799060" y="106349"/>
                </a:lnTo>
                <a:lnTo>
                  <a:pt x="832537" y="135745"/>
                </a:lnTo>
                <a:lnTo>
                  <a:pt x="860887" y="167804"/>
                </a:lnTo>
                <a:lnTo>
                  <a:pt x="883684" y="202228"/>
                </a:lnTo>
                <a:lnTo>
                  <a:pt x="900498" y="238723"/>
                </a:lnTo>
                <a:lnTo>
                  <a:pt x="910900" y="276992"/>
                </a:lnTo>
                <a:lnTo>
                  <a:pt x="914463" y="316738"/>
                </a:lnTo>
                <a:lnTo>
                  <a:pt x="910900" y="356458"/>
                </a:lnTo>
                <a:lnTo>
                  <a:pt x="900498" y="394710"/>
                </a:lnTo>
                <a:lnTo>
                  <a:pt x="883684" y="431195"/>
                </a:lnTo>
                <a:lnTo>
                  <a:pt x="860887" y="465615"/>
                </a:lnTo>
                <a:lnTo>
                  <a:pt x="832537" y="497675"/>
                </a:lnTo>
                <a:lnTo>
                  <a:pt x="799060" y="527076"/>
                </a:lnTo>
                <a:lnTo>
                  <a:pt x="760886" y="553521"/>
                </a:lnTo>
                <a:lnTo>
                  <a:pt x="718444" y="576713"/>
                </a:lnTo>
                <a:lnTo>
                  <a:pt x="672161" y="596355"/>
                </a:lnTo>
                <a:lnTo>
                  <a:pt x="622467" y="612149"/>
                </a:lnTo>
                <a:lnTo>
                  <a:pt x="569790" y="623799"/>
                </a:lnTo>
                <a:lnTo>
                  <a:pt x="514558" y="631007"/>
                </a:lnTo>
                <a:lnTo>
                  <a:pt x="457200" y="633476"/>
                </a:lnTo>
                <a:lnTo>
                  <a:pt x="399850" y="631007"/>
                </a:lnTo>
                <a:lnTo>
                  <a:pt x="344626" y="623799"/>
                </a:lnTo>
                <a:lnTo>
                  <a:pt x="291956" y="612149"/>
                </a:lnTo>
                <a:lnTo>
                  <a:pt x="242269" y="596355"/>
                </a:lnTo>
                <a:lnTo>
                  <a:pt x="195993" y="576713"/>
                </a:lnTo>
                <a:lnTo>
                  <a:pt x="153556" y="553521"/>
                </a:lnTo>
                <a:lnTo>
                  <a:pt x="115387" y="527076"/>
                </a:lnTo>
                <a:lnTo>
                  <a:pt x="81915" y="497675"/>
                </a:lnTo>
                <a:lnTo>
                  <a:pt x="53568" y="465615"/>
                </a:lnTo>
                <a:lnTo>
                  <a:pt x="30775" y="431195"/>
                </a:lnTo>
                <a:lnTo>
                  <a:pt x="13963" y="394710"/>
                </a:lnTo>
                <a:lnTo>
                  <a:pt x="3562" y="356458"/>
                </a:lnTo>
                <a:lnTo>
                  <a:pt x="0" y="31673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32815" y="2181859"/>
            <a:ext cx="5340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Calibri"/>
                <a:cs typeface="Calibri"/>
              </a:rPr>
              <a:t>subjects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133600" y="2020951"/>
            <a:ext cx="5715000" cy="541655"/>
          </a:xfrm>
          <a:custGeom>
            <a:avLst/>
            <a:gdLst/>
            <a:ahLst/>
            <a:cxnLst/>
            <a:rect l="l" t="t" r="r" b="b"/>
            <a:pathLst>
              <a:path w="5715000" h="541655">
                <a:moveTo>
                  <a:pt x="0" y="266700"/>
                </a:moveTo>
                <a:lnTo>
                  <a:pt x="15126" y="201023"/>
                </a:lnTo>
                <a:lnTo>
                  <a:pt x="58029" y="141311"/>
                </a:lnTo>
                <a:lnTo>
                  <a:pt x="88738" y="114317"/>
                </a:lnTo>
                <a:lnTo>
                  <a:pt x="124998" y="89563"/>
                </a:lnTo>
                <a:lnTo>
                  <a:pt x="166346" y="67300"/>
                </a:lnTo>
                <a:lnTo>
                  <a:pt x="212319" y="47776"/>
                </a:lnTo>
                <a:lnTo>
                  <a:pt x="262451" y="31243"/>
                </a:lnTo>
                <a:lnTo>
                  <a:pt x="316280" y="17948"/>
                </a:lnTo>
                <a:lnTo>
                  <a:pt x="373340" y="8143"/>
                </a:lnTo>
                <a:lnTo>
                  <a:pt x="433168" y="2077"/>
                </a:lnTo>
                <a:lnTo>
                  <a:pt x="495300" y="0"/>
                </a:lnTo>
                <a:lnTo>
                  <a:pt x="557431" y="2077"/>
                </a:lnTo>
                <a:lnTo>
                  <a:pt x="617259" y="8143"/>
                </a:lnTo>
                <a:lnTo>
                  <a:pt x="674319" y="17948"/>
                </a:lnTo>
                <a:lnTo>
                  <a:pt x="728148" y="31243"/>
                </a:lnTo>
                <a:lnTo>
                  <a:pt x="778280" y="47776"/>
                </a:lnTo>
                <a:lnTo>
                  <a:pt x="824253" y="67300"/>
                </a:lnTo>
                <a:lnTo>
                  <a:pt x="865601" y="89563"/>
                </a:lnTo>
                <a:lnTo>
                  <a:pt x="901861" y="114317"/>
                </a:lnTo>
                <a:lnTo>
                  <a:pt x="932570" y="141311"/>
                </a:lnTo>
                <a:lnTo>
                  <a:pt x="975473" y="201023"/>
                </a:lnTo>
                <a:lnTo>
                  <a:pt x="990600" y="266700"/>
                </a:lnTo>
                <a:lnTo>
                  <a:pt x="986741" y="300134"/>
                </a:lnTo>
                <a:lnTo>
                  <a:pt x="957262" y="363051"/>
                </a:lnTo>
                <a:lnTo>
                  <a:pt x="901861" y="419027"/>
                </a:lnTo>
                <a:lnTo>
                  <a:pt x="865601" y="443785"/>
                </a:lnTo>
                <a:lnTo>
                  <a:pt x="824253" y="466056"/>
                </a:lnTo>
                <a:lnTo>
                  <a:pt x="778280" y="485588"/>
                </a:lnTo>
                <a:lnTo>
                  <a:pt x="728148" y="502131"/>
                </a:lnTo>
                <a:lnTo>
                  <a:pt x="674319" y="515435"/>
                </a:lnTo>
                <a:lnTo>
                  <a:pt x="617259" y="525248"/>
                </a:lnTo>
                <a:lnTo>
                  <a:pt x="557431" y="531320"/>
                </a:lnTo>
                <a:lnTo>
                  <a:pt x="495300" y="533400"/>
                </a:lnTo>
                <a:lnTo>
                  <a:pt x="433168" y="531320"/>
                </a:lnTo>
                <a:lnTo>
                  <a:pt x="373340" y="525248"/>
                </a:lnTo>
                <a:lnTo>
                  <a:pt x="316280" y="515435"/>
                </a:lnTo>
                <a:lnTo>
                  <a:pt x="262451" y="502131"/>
                </a:lnTo>
                <a:lnTo>
                  <a:pt x="212319" y="485588"/>
                </a:lnTo>
                <a:lnTo>
                  <a:pt x="166346" y="466056"/>
                </a:lnTo>
                <a:lnTo>
                  <a:pt x="124998" y="443785"/>
                </a:lnTo>
                <a:lnTo>
                  <a:pt x="88738" y="419027"/>
                </a:lnTo>
                <a:lnTo>
                  <a:pt x="58029" y="392032"/>
                </a:lnTo>
                <a:lnTo>
                  <a:pt x="15126" y="332335"/>
                </a:lnTo>
                <a:lnTo>
                  <a:pt x="0" y="266700"/>
                </a:lnTo>
                <a:close/>
              </a:path>
              <a:path w="5715000" h="541655">
                <a:moveTo>
                  <a:pt x="1541526" y="274574"/>
                </a:moveTo>
                <a:lnTo>
                  <a:pt x="1556492" y="203665"/>
                </a:lnTo>
                <a:lnTo>
                  <a:pt x="1598732" y="139953"/>
                </a:lnTo>
                <a:lnTo>
                  <a:pt x="1628832" y="111590"/>
                </a:lnTo>
                <a:lnTo>
                  <a:pt x="1664255" y="85978"/>
                </a:lnTo>
                <a:lnTo>
                  <a:pt x="1704501" y="63436"/>
                </a:lnTo>
                <a:lnTo>
                  <a:pt x="1749072" y="44280"/>
                </a:lnTo>
                <a:lnTo>
                  <a:pt x="1797468" y="28828"/>
                </a:lnTo>
                <a:lnTo>
                  <a:pt x="1849192" y="17399"/>
                </a:lnTo>
                <a:lnTo>
                  <a:pt x="1903744" y="10308"/>
                </a:lnTo>
                <a:lnTo>
                  <a:pt x="1960626" y="7874"/>
                </a:lnTo>
                <a:lnTo>
                  <a:pt x="2017480" y="10308"/>
                </a:lnTo>
                <a:lnTo>
                  <a:pt x="2072015" y="17399"/>
                </a:lnTo>
                <a:lnTo>
                  <a:pt x="2123729" y="28828"/>
                </a:lnTo>
                <a:lnTo>
                  <a:pt x="2172123" y="44280"/>
                </a:lnTo>
                <a:lnTo>
                  <a:pt x="2216696" y="63436"/>
                </a:lnTo>
                <a:lnTo>
                  <a:pt x="2256948" y="85978"/>
                </a:lnTo>
                <a:lnTo>
                  <a:pt x="2292380" y="111590"/>
                </a:lnTo>
                <a:lnTo>
                  <a:pt x="2322491" y="139953"/>
                </a:lnTo>
                <a:lnTo>
                  <a:pt x="2346781" y="170751"/>
                </a:lnTo>
                <a:lnTo>
                  <a:pt x="2375898" y="238378"/>
                </a:lnTo>
                <a:lnTo>
                  <a:pt x="2379726" y="274574"/>
                </a:lnTo>
                <a:lnTo>
                  <a:pt x="2375898" y="310769"/>
                </a:lnTo>
                <a:lnTo>
                  <a:pt x="2346781" y="378396"/>
                </a:lnTo>
                <a:lnTo>
                  <a:pt x="2322491" y="409194"/>
                </a:lnTo>
                <a:lnTo>
                  <a:pt x="2292380" y="437557"/>
                </a:lnTo>
                <a:lnTo>
                  <a:pt x="2256948" y="463169"/>
                </a:lnTo>
                <a:lnTo>
                  <a:pt x="2216696" y="485711"/>
                </a:lnTo>
                <a:lnTo>
                  <a:pt x="2172123" y="504867"/>
                </a:lnTo>
                <a:lnTo>
                  <a:pt x="2123729" y="520319"/>
                </a:lnTo>
                <a:lnTo>
                  <a:pt x="2072015" y="531749"/>
                </a:lnTo>
                <a:lnTo>
                  <a:pt x="2017480" y="538839"/>
                </a:lnTo>
                <a:lnTo>
                  <a:pt x="1960626" y="541274"/>
                </a:lnTo>
                <a:lnTo>
                  <a:pt x="1903744" y="538839"/>
                </a:lnTo>
                <a:lnTo>
                  <a:pt x="1849192" y="531749"/>
                </a:lnTo>
                <a:lnTo>
                  <a:pt x="1797468" y="520319"/>
                </a:lnTo>
                <a:lnTo>
                  <a:pt x="1749072" y="504867"/>
                </a:lnTo>
                <a:lnTo>
                  <a:pt x="1704501" y="485711"/>
                </a:lnTo>
                <a:lnTo>
                  <a:pt x="1664255" y="463169"/>
                </a:lnTo>
                <a:lnTo>
                  <a:pt x="1628832" y="437557"/>
                </a:lnTo>
                <a:lnTo>
                  <a:pt x="1598732" y="409194"/>
                </a:lnTo>
                <a:lnTo>
                  <a:pt x="1574452" y="378396"/>
                </a:lnTo>
                <a:lnTo>
                  <a:pt x="1545350" y="310769"/>
                </a:lnTo>
                <a:lnTo>
                  <a:pt x="1541526" y="274574"/>
                </a:lnTo>
                <a:close/>
              </a:path>
              <a:path w="5715000" h="541655">
                <a:moveTo>
                  <a:pt x="3129026" y="256286"/>
                </a:moveTo>
                <a:lnTo>
                  <a:pt x="3145243" y="199039"/>
                </a:lnTo>
                <a:lnTo>
                  <a:pt x="3191242" y="146982"/>
                </a:lnTo>
                <a:lnTo>
                  <a:pt x="3224164" y="123445"/>
                </a:lnTo>
                <a:lnTo>
                  <a:pt x="3263039" y="101860"/>
                </a:lnTo>
                <a:lnTo>
                  <a:pt x="3307368" y="82446"/>
                </a:lnTo>
                <a:lnTo>
                  <a:pt x="3356654" y="65419"/>
                </a:lnTo>
                <a:lnTo>
                  <a:pt x="3410399" y="51000"/>
                </a:lnTo>
                <a:lnTo>
                  <a:pt x="3468105" y="39405"/>
                </a:lnTo>
                <a:lnTo>
                  <a:pt x="3529274" y="30852"/>
                </a:lnTo>
                <a:lnTo>
                  <a:pt x="3593409" y="25561"/>
                </a:lnTo>
                <a:lnTo>
                  <a:pt x="3660013" y="23749"/>
                </a:lnTo>
                <a:lnTo>
                  <a:pt x="3726616" y="25561"/>
                </a:lnTo>
                <a:lnTo>
                  <a:pt x="3790751" y="30852"/>
                </a:lnTo>
                <a:lnTo>
                  <a:pt x="3851920" y="39405"/>
                </a:lnTo>
                <a:lnTo>
                  <a:pt x="3909626" y="51000"/>
                </a:lnTo>
                <a:lnTo>
                  <a:pt x="3963371" y="65419"/>
                </a:lnTo>
                <a:lnTo>
                  <a:pt x="4012657" y="82446"/>
                </a:lnTo>
                <a:lnTo>
                  <a:pt x="4056986" y="101860"/>
                </a:lnTo>
                <a:lnTo>
                  <a:pt x="4095861" y="123445"/>
                </a:lnTo>
                <a:lnTo>
                  <a:pt x="4128783" y="146982"/>
                </a:lnTo>
                <a:lnTo>
                  <a:pt x="4174782" y="199039"/>
                </a:lnTo>
                <a:lnTo>
                  <a:pt x="4191000" y="256286"/>
                </a:lnTo>
                <a:lnTo>
                  <a:pt x="4186862" y="285474"/>
                </a:lnTo>
                <a:lnTo>
                  <a:pt x="4155256" y="340371"/>
                </a:lnTo>
                <a:lnTo>
                  <a:pt x="4095861" y="389181"/>
                </a:lnTo>
                <a:lnTo>
                  <a:pt x="4056986" y="410762"/>
                </a:lnTo>
                <a:lnTo>
                  <a:pt x="4012657" y="430169"/>
                </a:lnTo>
                <a:lnTo>
                  <a:pt x="3963371" y="447186"/>
                </a:lnTo>
                <a:lnTo>
                  <a:pt x="3909626" y="461596"/>
                </a:lnTo>
                <a:lnTo>
                  <a:pt x="3851920" y="473182"/>
                </a:lnTo>
                <a:lnTo>
                  <a:pt x="3790751" y="481726"/>
                </a:lnTo>
                <a:lnTo>
                  <a:pt x="3726616" y="487012"/>
                </a:lnTo>
                <a:lnTo>
                  <a:pt x="3660013" y="488823"/>
                </a:lnTo>
                <a:lnTo>
                  <a:pt x="3593409" y="487012"/>
                </a:lnTo>
                <a:lnTo>
                  <a:pt x="3529274" y="481726"/>
                </a:lnTo>
                <a:lnTo>
                  <a:pt x="3468105" y="473182"/>
                </a:lnTo>
                <a:lnTo>
                  <a:pt x="3410399" y="461596"/>
                </a:lnTo>
                <a:lnTo>
                  <a:pt x="3356654" y="447186"/>
                </a:lnTo>
                <a:lnTo>
                  <a:pt x="3307368" y="430169"/>
                </a:lnTo>
                <a:lnTo>
                  <a:pt x="3263039" y="410762"/>
                </a:lnTo>
                <a:lnTo>
                  <a:pt x="3224164" y="389181"/>
                </a:lnTo>
                <a:lnTo>
                  <a:pt x="3191242" y="365645"/>
                </a:lnTo>
                <a:lnTo>
                  <a:pt x="3145243" y="313574"/>
                </a:lnTo>
                <a:lnTo>
                  <a:pt x="3129026" y="256286"/>
                </a:lnTo>
                <a:close/>
              </a:path>
              <a:path w="5715000" h="541655">
                <a:moveTo>
                  <a:pt x="4876800" y="266700"/>
                </a:moveTo>
                <a:lnTo>
                  <a:pt x="4891766" y="195791"/>
                </a:lnTo>
                <a:lnTo>
                  <a:pt x="4934006" y="132079"/>
                </a:lnTo>
                <a:lnTo>
                  <a:pt x="4964106" y="103716"/>
                </a:lnTo>
                <a:lnTo>
                  <a:pt x="4999529" y="78104"/>
                </a:lnTo>
                <a:lnTo>
                  <a:pt x="5039775" y="55562"/>
                </a:lnTo>
                <a:lnTo>
                  <a:pt x="5084346" y="36406"/>
                </a:lnTo>
                <a:lnTo>
                  <a:pt x="5132742" y="20954"/>
                </a:lnTo>
                <a:lnTo>
                  <a:pt x="5184466" y="9525"/>
                </a:lnTo>
                <a:lnTo>
                  <a:pt x="5239018" y="2434"/>
                </a:lnTo>
                <a:lnTo>
                  <a:pt x="5295900" y="0"/>
                </a:lnTo>
                <a:lnTo>
                  <a:pt x="5352781" y="2434"/>
                </a:lnTo>
                <a:lnTo>
                  <a:pt x="5407333" y="9525"/>
                </a:lnTo>
                <a:lnTo>
                  <a:pt x="5459057" y="20954"/>
                </a:lnTo>
                <a:lnTo>
                  <a:pt x="5507453" y="36406"/>
                </a:lnTo>
                <a:lnTo>
                  <a:pt x="5552024" y="55562"/>
                </a:lnTo>
                <a:lnTo>
                  <a:pt x="5592270" y="78104"/>
                </a:lnTo>
                <a:lnTo>
                  <a:pt x="5627693" y="103716"/>
                </a:lnTo>
                <a:lnTo>
                  <a:pt x="5657793" y="132079"/>
                </a:lnTo>
                <a:lnTo>
                  <a:pt x="5682073" y="162877"/>
                </a:lnTo>
                <a:lnTo>
                  <a:pt x="5711175" y="230504"/>
                </a:lnTo>
                <a:lnTo>
                  <a:pt x="5715000" y="266700"/>
                </a:lnTo>
                <a:lnTo>
                  <a:pt x="5711175" y="302868"/>
                </a:lnTo>
                <a:lnTo>
                  <a:pt x="5682073" y="370468"/>
                </a:lnTo>
                <a:lnTo>
                  <a:pt x="5657793" y="401263"/>
                </a:lnTo>
                <a:lnTo>
                  <a:pt x="5627693" y="429629"/>
                </a:lnTo>
                <a:lnTo>
                  <a:pt x="5592270" y="455247"/>
                </a:lnTo>
                <a:lnTo>
                  <a:pt x="5552024" y="477798"/>
                </a:lnTo>
                <a:lnTo>
                  <a:pt x="5507453" y="496965"/>
                </a:lnTo>
                <a:lnTo>
                  <a:pt x="5459057" y="512427"/>
                </a:lnTo>
                <a:lnTo>
                  <a:pt x="5407333" y="523866"/>
                </a:lnTo>
                <a:lnTo>
                  <a:pt x="5352781" y="530963"/>
                </a:lnTo>
                <a:lnTo>
                  <a:pt x="5295900" y="533400"/>
                </a:lnTo>
                <a:lnTo>
                  <a:pt x="5239018" y="530963"/>
                </a:lnTo>
                <a:lnTo>
                  <a:pt x="5184466" y="523866"/>
                </a:lnTo>
                <a:lnTo>
                  <a:pt x="5132742" y="512427"/>
                </a:lnTo>
                <a:lnTo>
                  <a:pt x="5084346" y="496965"/>
                </a:lnTo>
                <a:lnTo>
                  <a:pt x="5039775" y="477798"/>
                </a:lnTo>
                <a:lnTo>
                  <a:pt x="4999529" y="455247"/>
                </a:lnTo>
                <a:lnTo>
                  <a:pt x="4964106" y="429629"/>
                </a:lnTo>
                <a:lnTo>
                  <a:pt x="4934006" y="401263"/>
                </a:lnTo>
                <a:lnTo>
                  <a:pt x="4909726" y="370468"/>
                </a:lnTo>
                <a:lnTo>
                  <a:pt x="4880624" y="302868"/>
                </a:lnTo>
                <a:lnTo>
                  <a:pt x="4876800" y="2667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794252" y="2105659"/>
            <a:ext cx="5619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Calibri"/>
                <a:cs typeface="Calibri"/>
              </a:rPr>
              <a:t>Features</a:t>
            </a:r>
            <a:endParaRPr sz="1200">
              <a:latin typeface="Calibri"/>
              <a:cs typeface="Calibri"/>
            </a:endParaRPr>
          </a:p>
          <a:p>
            <a:pPr marR="34290" algn="ctr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x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12594" y="2121534"/>
            <a:ext cx="7886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Calibri"/>
                <a:cs typeface="Calibri"/>
              </a:rPr>
              <a:t>Observables</a:t>
            </a:r>
            <a:endParaRPr sz="1200">
              <a:latin typeface="Calibri"/>
              <a:cs typeface="Calibri"/>
            </a:endParaRPr>
          </a:p>
          <a:p>
            <a:pPr marR="113030" algn="ctr">
              <a:lnSpc>
                <a:spcPct val="100000"/>
              </a:lnSpc>
            </a:pPr>
            <a:r>
              <a:rPr sz="1200" b="1" dirty="0">
                <a:latin typeface="Calibri"/>
                <a:cs typeface="Calibri"/>
              </a:rPr>
              <a:t>X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36714" y="2121534"/>
            <a:ext cx="425450" cy="393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Action</a:t>
            </a:r>
            <a:endParaRPr sz="1200">
              <a:latin typeface="Calibri"/>
              <a:cs typeface="Calibri"/>
            </a:endParaRPr>
          </a:p>
          <a:p>
            <a:pPr marR="18415" algn="ctr">
              <a:lnSpc>
                <a:spcPct val="100000"/>
              </a:lnSpc>
              <a:spcBef>
                <a:spcPts val="10"/>
              </a:spcBef>
            </a:pPr>
            <a:r>
              <a:rPr sz="1200" dirty="0">
                <a:latin typeface="Symbol"/>
                <a:cs typeface="Symbol"/>
              </a:rPr>
              <a:t>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13628" y="2108708"/>
            <a:ext cx="73342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Inner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beli</a:t>
            </a:r>
            <a:r>
              <a:rPr sz="1200" spc="-10" dirty="0">
                <a:latin typeface="Calibri"/>
                <a:cs typeface="Calibri"/>
              </a:rPr>
              <a:t>e</a:t>
            </a:r>
            <a:r>
              <a:rPr sz="1200" dirty="0">
                <a:latin typeface="Calibri"/>
                <a:cs typeface="Calibri"/>
              </a:rPr>
              <a:t>f</a:t>
            </a:r>
            <a:endParaRPr sz="1200">
              <a:latin typeface="Calibri"/>
              <a:cs typeface="Calibri"/>
            </a:endParaRPr>
          </a:p>
          <a:p>
            <a:pPr marR="33020" algn="ctr">
              <a:lnSpc>
                <a:spcPct val="100000"/>
              </a:lnSpc>
            </a:pPr>
            <a:r>
              <a:rPr sz="1200" dirty="0">
                <a:latin typeface="Calibri"/>
                <a:cs typeface="Calibri"/>
              </a:rPr>
              <a:t>w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600200" y="2251074"/>
            <a:ext cx="5410200" cy="109855"/>
          </a:xfrm>
          <a:custGeom>
            <a:avLst/>
            <a:gdLst/>
            <a:ahLst/>
            <a:cxnLst/>
            <a:rect l="l" t="t" r="r" b="b"/>
            <a:pathLst>
              <a:path w="5410200" h="109855">
                <a:moveTo>
                  <a:pt x="533400" y="66675"/>
                </a:moveTo>
                <a:lnTo>
                  <a:pt x="504736" y="52324"/>
                </a:lnTo>
                <a:lnTo>
                  <a:pt x="447675" y="23749"/>
                </a:lnTo>
                <a:lnTo>
                  <a:pt x="447675" y="52324"/>
                </a:lnTo>
                <a:lnTo>
                  <a:pt x="0" y="52324"/>
                </a:lnTo>
                <a:lnTo>
                  <a:pt x="0" y="80899"/>
                </a:lnTo>
                <a:lnTo>
                  <a:pt x="447675" y="80899"/>
                </a:lnTo>
                <a:lnTo>
                  <a:pt x="447675" y="109474"/>
                </a:lnTo>
                <a:lnTo>
                  <a:pt x="504901" y="80899"/>
                </a:lnTo>
                <a:lnTo>
                  <a:pt x="533400" y="66675"/>
                </a:lnTo>
                <a:close/>
              </a:path>
              <a:path w="5410200" h="109855">
                <a:moveTo>
                  <a:pt x="2057400" y="58801"/>
                </a:moveTo>
                <a:lnTo>
                  <a:pt x="2028736" y="44450"/>
                </a:lnTo>
                <a:lnTo>
                  <a:pt x="1971675" y="15875"/>
                </a:lnTo>
                <a:lnTo>
                  <a:pt x="1971675" y="44450"/>
                </a:lnTo>
                <a:lnTo>
                  <a:pt x="1524000" y="44450"/>
                </a:lnTo>
                <a:lnTo>
                  <a:pt x="1524000" y="73025"/>
                </a:lnTo>
                <a:lnTo>
                  <a:pt x="1971675" y="73025"/>
                </a:lnTo>
                <a:lnTo>
                  <a:pt x="1971675" y="101600"/>
                </a:lnTo>
                <a:lnTo>
                  <a:pt x="2028901" y="73025"/>
                </a:lnTo>
                <a:lnTo>
                  <a:pt x="2057400" y="58801"/>
                </a:lnTo>
                <a:close/>
              </a:path>
              <a:path w="5410200" h="109855">
                <a:moveTo>
                  <a:pt x="3638512" y="71501"/>
                </a:moveTo>
                <a:lnTo>
                  <a:pt x="3593846" y="71501"/>
                </a:lnTo>
                <a:lnTo>
                  <a:pt x="3579571" y="71501"/>
                </a:lnTo>
                <a:lnTo>
                  <a:pt x="3578987" y="99822"/>
                </a:lnTo>
                <a:lnTo>
                  <a:pt x="3638512" y="71501"/>
                </a:lnTo>
                <a:close/>
              </a:path>
              <a:path w="5410200" h="109855">
                <a:moveTo>
                  <a:pt x="3665474" y="58674"/>
                </a:moveTo>
                <a:lnTo>
                  <a:pt x="3580765" y="14097"/>
                </a:lnTo>
                <a:lnTo>
                  <a:pt x="3580168" y="42633"/>
                </a:lnTo>
                <a:lnTo>
                  <a:pt x="2911729" y="28575"/>
                </a:lnTo>
                <a:lnTo>
                  <a:pt x="2911221" y="57150"/>
                </a:lnTo>
                <a:lnTo>
                  <a:pt x="3579571" y="71208"/>
                </a:lnTo>
                <a:lnTo>
                  <a:pt x="3593846" y="71208"/>
                </a:lnTo>
                <a:lnTo>
                  <a:pt x="3639134" y="71208"/>
                </a:lnTo>
                <a:lnTo>
                  <a:pt x="3665474" y="58674"/>
                </a:lnTo>
                <a:close/>
              </a:path>
              <a:path w="5410200" h="109855">
                <a:moveTo>
                  <a:pt x="5410200" y="42926"/>
                </a:moveTo>
                <a:lnTo>
                  <a:pt x="5381536" y="28575"/>
                </a:lnTo>
                <a:lnTo>
                  <a:pt x="5324475" y="0"/>
                </a:lnTo>
                <a:lnTo>
                  <a:pt x="5324475" y="28575"/>
                </a:lnTo>
                <a:lnTo>
                  <a:pt x="4724400" y="28575"/>
                </a:lnTo>
                <a:lnTo>
                  <a:pt x="4724400" y="57150"/>
                </a:lnTo>
                <a:lnTo>
                  <a:pt x="5324475" y="57150"/>
                </a:lnTo>
                <a:lnTo>
                  <a:pt x="5324475" y="85725"/>
                </a:lnTo>
                <a:lnTo>
                  <a:pt x="5381701" y="57150"/>
                </a:lnTo>
                <a:lnTo>
                  <a:pt x="5410200" y="429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86740" y="2848483"/>
            <a:ext cx="7315834" cy="3173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2150"/>
              </a:lnSpc>
              <a:spcBef>
                <a:spcPts val="100"/>
              </a:spcBef>
            </a:pPr>
            <a:r>
              <a:rPr sz="1800" spc="-220" dirty="0">
                <a:latin typeface="Arial MT"/>
                <a:cs typeface="Arial MT"/>
              </a:rPr>
              <a:t>X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spc="-110" dirty="0">
                <a:latin typeface="Arial MT"/>
                <a:cs typeface="Arial MT"/>
              </a:rPr>
              <a:t>---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b="1" spc="-215" dirty="0">
                <a:latin typeface="Arial"/>
                <a:cs typeface="Arial"/>
              </a:rPr>
              <a:t>semua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spc="-170" dirty="0">
                <a:latin typeface="Arial"/>
                <a:cs typeface="Arial"/>
              </a:rPr>
              <a:t>data</a:t>
            </a:r>
            <a:r>
              <a:rPr sz="1800" b="1" spc="-75" dirty="0">
                <a:latin typeface="Arial"/>
                <a:cs typeface="Arial"/>
              </a:rPr>
              <a:t> </a:t>
            </a:r>
            <a:r>
              <a:rPr sz="1800" spc="-160" dirty="0">
                <a:latin typeface="Arial MT"/>
                <a:cs typeface="Arial MT"/>
              </a:rPr>
              <a:t>observasi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spc="-195" dirty="0">
                <a:latin typeface="Arial MT"/>
                <a:cs typeface="Arial MT"/>
              </a:rPr>
              <a:t>menggunakan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70" dirty="0">
                <a:latin typeface="Arial MT"/>
                <a:cs typeface="Arial MT"/>
              </a:rPr>
              <a:t>sensors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spc="-190" dirty="0">
                <a:latin typeface="Arial MT"/>
                <a:cs typeface="Arial MT"/>
              </a:rPr>
              <a:t>dan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spc="-160" dirty="0">
                <a:latin typeface="Arial MT"/>
                <a:cs typeface="Arial MT"/>
              </a:rPr>
              <a:t>instruments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180" dirty="0">
                <a:latin typeface="Arial MT"/>
                <a:cs typeface="Arial MT"/>
              </a:rPr>
              <a:t>yang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spc="-150" dirty="0">
                <a:latin typeface="Arial MT"/>
                <a:cs typeface="Arial MT"/>
              </a:rPr>
              <a:t>tersedia</a:t>
            </a:r>
            <a:endParaRPr sz="1800">
              <a:latin typeface="Arial MT"/>
              <a:cs typeface="Arial MT"/>
            </a:endParaRPr>
          </a:p>
          <a:p>
            <a:pPr marL="38100" marR="30480">
              <a:lnSpc>
                <a:spcPts val="2180"/>
              </a:lnSpc>
              <a:spcBef>
                <a:spcPts val="45"/>
              </a:spcBef>
            </a:pPr>
            <a:r>
              <a:rPr sz="1800" dirty="0">
                <a:latin typeface="Times New Roman"/>
                <a:cs typeface="Times New Roman"/>
              </a:rPr>
              <a:t>x </a:t>
            </a:r>
            <a:r>
              <a:rPr sz="1800" spc="-110" dirty="0">
                <a:latin typeface="Arial MT"/>
                <a:cs typeface="Arial MT"/>
              </a:rPr>
              <a:t>--- </a:t>
            </a:r>
            <a:r>
              <a:rPr sz="1800" spc="-190" dirty="0">
                <a:latin typeface="Arial MT"/>
                <a:cs typeface="Arial MT"/>
              </a:rPr>
              <a:t>merupakan</a:t>
            </a:r>
            <a:r>
              <a:rPr sz="1800" spc="-185" dirty="0">
                <a:latin typeface="Arial MT"/>
                <a:cs typeface="Arial MT"/>
              </a:rPr>
              <a:t> </a:t>
            </a:r>
            <a:r>
              <a:rPr sz="1800" b="1" spc="-200" dirty="0">
                <a:latin typeface="Arial"/>
                <a:cs typeface="Arial"/>
              </a:rPr>
              <a:t>himpunan</a:t>
            </a:r>
            <a:r>
              <a:rPr sz="1800" b="1" spc="-195" dirty="0">
                <a:latin typeface="Arial"/>
                <a:cs typeface="Arial"/>
              </a:rPr>
              <a:t> </a:t>
            </a:r>
            <a:r>
              <a:rPr sz="1800" b="1" spc="-130" dirty="0">
                <a:latin typeface="Arial"/>
                <a:cs typeface="Arial"/>
              </a:rPr>
              <a:t>fitur </a:t>
            </a:r>
            <a:r>
              <a:rPr sz="1800" spc="-180" dirty="0">
                <a:latin typeface="Arial MT"/>
                <a:cs typeface="Arial MT"/>
              </a:rPr>
              <a:t>yang</a:t>
            </a:r>
            <a:r>
              <a:rPr sz="1800" spc="-175" dirty="0">
                <a:latin typeface="Arial MT"/>
                <a:cs typeface="Arial MT"/>
              </a:rPr>
              <a:t> </a:t>
            </a:r>
            <a:r>
              <a:rPr sz="1800" spc="-125" dirty="0">
                <a:latin typeface="Arial MT"/>
                <a:cs typeface="Arial MT"/>
              </a:rPr>
              <a:t>dipilih </a:t>
            </a:r>
            <a:r>
              <a:rPr sz="1800" spc="-140" dirty="0">
                <a:latin typeface="Arial MT"/>
                <a:cs typeface="Arial MT"/>
              </a:rPr>
              <a:t>dari </a:t>
            </a:r>
            <a:r>
              <a:rPr sz="1800" spc="-200" dirty="0">
                <a:latin typeface="Arial MT"/>
                <a:cs typeface="Arial MT"/>
              </a:rPr>
              <a:t>komponen</a:t>
            </a:r>
            <a:r>
              <a:rPr sz="1800" spc="100" dirty="0">
                <a:latin typeface="Arial MT"/>
                <a:cs typeface="Arial MT"/>
              </a:rPr>
              <a:t> </a:t>
            </a:r>
            <a:r>
              <a:rPr sz="1800" spc="-155" dirty="0">
                <a:latin typeface="Arial MT"/>
                <a:cs typeface="Arial MT"/>
              </a:rPr>
              <a:t>X, </a:t>
            </a:r>
            <a:r>
              <a:rPr sz="1800" spc="-165" dirty="0">
                <a:latin typeface="Arial MT"/>
                <a:cs typeface="Arial MT"/>
              </a:rPr>
              <a:t>atau </a:t>
            </a:r>
            <a:r>
              <a:rPr sz="1800" spc="-150" dirty="0">
                <a:latin typeface="Arial MT"/>
                <a:cs typeface="Arial MT"/>
              </a:rPr>
              <a:t>fungsi </a:t>
            </a:r>
            <a:r>
              <a:rPr sz="1800" spc="-120" dirty="0">
                <a:latin typeface="Arial MT"/>
                <a:cs typeface="Arial MT"/>
              </a:rPr>
              <a:t>linier </a:t>
            </a:r>
            <a:r>
              <a:rPr sz="1800" spc="-140" dirty="0">
                <a:latin typeface="Arial MT"/>
                <a:cs typeface="Arial MT"/>
              </a:rPr>
              <a:t>dari </a:t>
            </a:r>
            <a:r>
              <a:rPr sz="1800" spc="-155" dirty="0">
                <a:latin typeface="Arial MT"/>
                <a:cs typeface="Arial MT"/>
              </a:rPr>
              <a:t>X. </a:t>
            </a:r>
            <a:r>
              <a:rPr sz="1800" spc="-490" dirty="0">
                <a:latin typeface="Arial MT"/>
                <a:cs typeface="Arial MT"/>
              </a:rPr>
              <a:t> </a:t>
            </a:r>
            <a:r>
              <a:rPr sz="1800" spc="-235" dirty="0">
                <a:latin typeface="Arial MT"/>
                <a:cs typeface="Arial MT"/>
              </a:rPr>
              <a:t>w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spc="-110" dirty="0">
                <a:latin typeface="Arial MT"/>
                <a:cs typeface="Arial MT"/>
              </a:rPr>
              <a:t>---</a:t>
            </a:r>
            <a:r>
              <a:rPr sz="1800" spc="-105" dirty="0">
                <a:latin typeface="Arial MT"/>
                <a:cs typeface="Arial MT"/>
              </a:rPr>
              <a:t> </a:t>
            </a:r>
            <a:r>
              <a:rPr sz="1800" spc="-170" dirty="0">
                <a:latin typeface="Arial MT"/>
                <a:cs typeface="Arial MT"/>
              </a:rPr>
              <a:t>adalah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spc="-155" dirty="0">
                <a:latin typeface="Arial MT"/>
                <a:cs typeface="Arial MT"/>
              </a:rPr>
              <a:t>inner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spc="-145" dirty="0">
                <a:latin typeface="Arial MT"/>
                <a:cs typeface="Arial MT"/>
              </a:rPr>
              <a:t>belief/perception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60" dirty="0">
                <a:latin typeface="Arial MT"/>
                <a:cs typeface="Arial MT"/>
              </a:rPr>
              <a:t>tentang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55" dirty="0">
                <a:latin typeface="Arial MT"/>
                <a:cs typeface="Arial MT"/>
              </a:rPr>
              <a:t>subject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spc="-140" dirty="0">
                <a:latin typeface="Arial MT"/>
                <a:cs typeface="Arial MT"/>
              </a:rPr>
              <a:t>dari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b="1" spc="-160" dirty="0">
                <a:latin typeface="Arial"/>
                <a:cs typeface="Arial"/>
              </a:rPr>
              <a:t>kelas/group/kategori</a:t>
            </a:r>
            <a:r>
              <a:rPr sz="1800" spc="-160" dirty="0"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  <a:p>
            <a:pPr marL="38100">
              <a:lnSpc>
                <a:spcPts val="2090"/>
              </a:lnSpc>
            </a:pPr>
            <a:r>
              <a:rPr sz="1800" dirty="0">
                <a:latin typeface="Symbol"/>
                <a:cs typeface="Symbol"/>
              </a:rPr>
              <a:t>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10" dirty="0">
                <a:latin typeface="Arial MT"/>
                <a:cs typeface="Arial MT"/>
              </a:rPr>
              <a:t>---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spc="-170" dirty="0">
                <a:latin typeface="Arial MT"/>
                <a:cs typeface="Arial MT"/>
              </a:rPr>
              <a:t>adalah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b="1" spc="-175" dirty="0">
                <a:latin typeface="Arial"/>
                <a:cs typeface="Arial"/>
              </a:rPr>
              <a:t>aksi/keputusan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sz="1800" spc="-180" dirty="0">
                <a:latin typeface="Arial MT"/>
                <a:cs typeface="Arial MT"/>
              </a:rPr>
              <a:t>yang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spc="-130" dirty="0">
                <a:latin typeface="Arial MT"/>
                <a:cs typeface="Arial MT"/>
              </a:rPr>
              <a:t>kita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spc="-165" dirty="0">
                <a:latin typeface="Arial MT"/>
                <a:cs typeface="Arial MT"/>
              </a:rPr>
              <a:t>ambil</a:t>
            </a:r>
            <a:r>
              <a:rPr sz="1800" spc="-75" dirty="0">
                <a:latin typeface="Arial MT"/>
                <a:cs typeface="Arial MT"/>
              </a:rPr>
              <a:t> </a:t>
            </a:r>
            <a:r>
              <a:rPr sz="1800" spc="-165" dirty="0">
                <a:latin typeface="Arial MT"/>
                <a:cs typeface="Arial MT"/>
              </a:rPr>
              <a:t>untuk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spc="-130" dirty="0">
                <a:latin typeface="Arial MT"/>
                <a:cs typeface="Arial MT"/>
              </a:rPr>
              <a:t>x.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50">
              <a:latin typeface="Arial MT"/>
              <a:cs typeface="Arial MT"/>
            </a:endParaRPr>
          </a:p>
          <a:p>
            <a:pPr marL="89535">
              <a:lnSpc>
                <a:spcPct val="100000"/>
              </a:lnSpc>
            </a:pPr>
            <a:r>
              <a:rPr sz="1800" spc="-150" dirty="0">
                <a:latin typeface="Arial MT"/>
                <a:cs typeface="Arial MT"/>
              </a:rPr>
              <a:t>Dari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spc="-170" dirty="0">
                <a:latin typeface="Arial MT"/>
                <a:cs typeface="Arial MT"/>
              </a:rPr>
              <a:t>prosedur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150" dirty="0">
                <a:latin typeface="Arial MT"/>
                <a:cs typeface="Arial MT"/>
              </a:rPr>
              <a:t>tersebut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spc="-165" dirty="0">
                <a:latin typeface="Arial MT"/>
                <a:cs typeface="Arial MT"/>
              </a:rPr>
              <a:t>didapatkan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35" dirty="0">
                <a:latin typeface="Arial MT"/>
                <a:cs typeface="Arial MT"/>
              </a:rPr>
              <a:t>definisi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spc="-140" dirty="0">
                <a:latin typeface="Arial MT"/>
                <a:cs typeface="Arial MT"/>
              </a:rPr>
              <a:t>dari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spc="-180" dirty="0">
                <a:latin typeface="Arial MT"/>
                <a:cs typeface="Arial MT"/>
              </a:rPr>
              <a:t>3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spc="-175" dirty="0">
                <a:latin typeface="Arial MT"/>
                <a:cs typeface="Arial MT"/>
              </a:rPr>
              <a:t>ruang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spc="-155" dirty="0">
                <a:latin typeface="Arial MT"/>
                <a:cs typeface="Arial MT"/>
              </a:rPr>
              <a:t>vektor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spc="-170" dirty="0">
                <a:latin typeface="Arial MT"/>
                <a:cs typeface="Arial MT"/>
              </a:rPr>
              <a:t>sebagai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spc="-140" dirty="0">
                <a:latin typeface="Arial MT"/>
                <a:cs typeface="Arial MT"/>
              </a:rPr>
              <a:t>berikut:</a:t>
            </a:r>
            <a:endParaRPr sz="1800">
              <a:latin typeface="Arial MT"/>
              <a:cs typeface="Arial MT"/>
            </a:endParaRPr>
          </a:p>
          <a:p>
            <a:pPr marL="453390">
              <a:lnSpc>
                <a:spcPct val="100000"/>
              </a:lnSpc>
              <a:spcBef>
                <a:spcPts val="1355"/>
              </a:spcBef>
              <a:tabLst>
                <a:tab pos="1405890" algn="l"/>
                <a:tab pos="2348230" algn="l"/>
              </a:tabLst>
            </a:pPr>
            <a:r>
              <a:rPr sz="1750" i="1" spc="15" dirty="0">
                <a:latin typeface="Times New Roman"/>
                <a:cs typeface="Times New Roman"/>
              </a:rPr>
              <a:t>x</a:t>
            </a:r>
            <a:r>
              <a:rPr sz="1750" i="1" spc="-75" dirty="0">
                <a:latin typeface="Times New Roman"/>
                <a:cs typeface="Times New Roman"/>
              </a:rPr>
              <a:t> </a:t>
            </a:r>
            <a:r>
              <a:rPr sz="1750" spc="30" dirty="0">
                <a:latin typeface="Symbol"/>
                <a:cs typeface="Symbol"/>
              </a:rPr>
              <a:t></a:t>
            </a:r>
            <a:r>
              <a:rPr sz="1500" spc="44" baseline="44444" dirty="0">
                <a:latin typeface="Times New Roman"/>
                <a:cs typeface="Times New Roman"/>
              </a:rPr>
              <a:t>d</a:t>
            </a:r>
            <a:r>
              <a:rPr sz="1500" spc="-97" baseline="44444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Times New Roman"/>
                <a:cs typeface="Times New Roman"/>
              </a:rPr>
              <a:t>,	</a:t>
            </a:r>
            <a:r>
              <a:rPr sz="1750" i="1" spc="65" dirty="0">
                <a:latin typeface="Times New Roman"/>
                <a:cs typeface="Times New Roman"/>
              </a:rPr>
              <a:t>w</a:t>
            </a:r>
            <a:r>
              <a:rPr sz="1750" spc="65" dirty="0">
                <a:latin typeface="Symbol"/>
                <a:cs typeface="Symbol"/>
              </a:rPr>
              <a:t></a:t>
            </a:r>
            <a:r>
              <a:rPr sz="1500" spc="97" baseline="44444" dirty="0">
                <a:latin typeface="Times New Roman"/>
                <a:cs typeface="Times New Roman"/>
              </a:rPr>
              <a:t>C</a:t>
            </a:r>
            <a:r>
              <a:rPr sz="1500" spc="-157" baseline="44444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Times New Roman"/>
                <a:cs typeface="Times New Roman"/>
              </a:rPr>
              <a:t>,	</a:t>
            </a:r>
            <a:r>
              <a:rPr sz="1750" i="1" spc="40" dirty="0">
                <a:latin typeface="Times New Roman"/>
                <a:cs typeface="Times New Roman"/>
              </a:rPr>
              <a:t>α</a:t>
            </a:r>
            <a:r>
              <a:rPr sz="1750" spc="40" dirty="0">
                <a:latin typeface="Symbol"/>
                <a:cs typeface="Symbol"/>
              </a:rPr>
              <a:t></a:t>
            </a:r>
            <a:r>
              <a:rPr sz="1500" i="1" spc="60" baseline="44444" dirty="0">
                <a:latin typeface="Times New Roman"/>
                <a:cs typeface="Times New Roman"/>
              </a:rPr>
              <a:t>α</a:t>
            </a:r>
            <a:endParaRPr sz="1500" baseline="44444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650">
              <a:latin typeface="Times New Roman"/>
              <a:cs typeface="Times New Roman"/>
            </a:endParaRPr>
          </a:p>
          <a:p>
            <a:pPr marL="123189">
              <a:lnSpc>
                <a:spcPct val="100000"/>
              </a:lnSpc>
              <a:tabLst>
                <a:tab pos="1699895" algn="l"/>
              </a:tabLst>
            </a:pPr>
            <a:r>
              <a:rPr sz="1750" i="1" spc="15" dirty="0">
                <a:latin typeface="Times New Roman"/>
                <a:cs typeface="Times New Roman"/>
              </a:rPr>
              <a:t>x</a:t>
            </a:r>
            <a:r>
              <a:rPr sz="1750" i="1" spc="-45" dirty="0">
                <a:latin typeface="Times New Roman"/>
                <a:cs typeface="Times New Roman"/>
              </a:rPr>
              <a:t> </a:t>
            </a:r>
            <a:r>
              <a:rPr sz="1750" spc="20" dirty="0">
                <a:latin typeface="Symbol"/>
                <a:cs typeface="Symbol"/>
              </a:rPr>
              <a:t></a:t>
            </a:r>
            <a:r>
              <a:rPr sz="1750" spc="-95" dirty="0">
                <a:latin typeface="Times New Roman"/>
                <a:cs typeface="Times New Roman"/>
              </a:rPr>
              <a:t> </a:t>
            </a:r>
            <a:r>
              <a:rPr sz="1750" spc="114" dirty="0">
                <a:latin typeface="Times New Roman"/>
                <a:cs typeface="Times New Roman"/>
              </a:rPr>
              <a:t>(</a:t>
            </a:r>
            <a:r>
              <a:rPr sz="1750" i="1" spc="-114" dirty="0">
                <a:latin typeface="Times New Roman"/>
                <a:cs typeface="Times New Roman"/>
              </a:rPr>
              <a:t>x</a:t>
            </a:r>
            <a:r>
              <a:rPr sz="1500" spc="135" baseline="-25000" dirty="0">
                <a:latin typeface="Times New Roman"/>
                <a:cs typeface="Times New Roman"/>
              </a:rPr>
              <a:t>1</a:t>
            </a:r>
            <a:r>
              <a:rPr sz="1750" spc="10" dirty="0">
                <a:latin typeface="Times New Roman"/>
                <a:cs typeface="Times New Roman"/>
              </a:rPr>
              <a:t>,</a:t>
            </a:r>
            <a:r>
              <a:rPr sz="1750" spc="-160" dirty="0">
                <a:latin typeface="Times New Roman"/>
                <a:cs typeface="Times New Roman"/>
              </a:rPr>
              <a:t> </a:t>
            </a:r>
            <a:r>
              <a:rPr sz="1750" i="1" dirty="0">
                <a:latin typeface="Times New Roman"/>
                <a:cs typeface="Times New Roman"/>
              </a:rPr>
              <a:t>x</a:t>
            </a:r>
            <a:r>
              <a:rPr sz="1500" spc="30" baseline="-25000" dirty="0">
                <a:latin typeface="Times New Roman"/>
                <a:cs typeface="Times New Roman"/>
              </a:rPr>
              <a:t>2</a:t>
            </a:r>
            <a:r>
              <a:rPr sz="1500" spc="-157" baseline="-25000" dirty="0">
                <a:latin typeface="Times New Roman"/>
                <a:cs typeface="Times New Roman"/>
              </a:rPr>
              <a:t> </a:t>
            </a:r>
            <a:r>
              <a:rPr sz="1750" spc="25" dirty="0">
                <a:latin typeface="Times New Roman"/>
                <a:cs typeface="Times New Roman"/>
              </a:rPr>
              <a:t>,...</a:t>
            </a:r>
            <a:r>
              <a:rPr sz="1750" spc="165" dirty="0">
                <a:latin typeface="Times New Roman"/>
                <a:cs typeface="Times New Roman"/>
              </a:rPr>
              <a:t>,</a:t>
            </a:r>
            <a:r>
              <a:rPr sz="1750" i="1" spc="-25" dirty="0">
                <a:latin typeface="Times New Roman"/>
                <a:cs typeface="Times New Roman"/>
              </a:rPr>
              <a:t>x</a:t>
            </a:r>
            <a:r>
              <a:rPr sz="1500" spc="30" baseline="-25000" dirty="0">
                <a:latin typeface="Times New Roman"/>
                <a:cs typeface="Times New Roman"/>
              </a:rPr>
              <a:t>d</a:t>
            </a:r>
            <a:r>
              <a:rPr sz="1500" spc="-67" baseline="-25000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Times New Roman"/>
                <a:cs typeface="Times New Roman"/>
              </a:rPr>
              <a:t>)</a:t>
            </a:r>
            <a:r>
              <a:rPr sz="1750" dirty="0">
                <a:latin typeface="Times New Roman"/>
                <a:cs typeface="Times New Roman"/>
              </a:rPr>
              <a:t>	</a:t>
            </a:r>
            <a:r>
              <a:rPr sz="1750" i="1" spc="50" dirty="0">
                <a:latin typeface="Times New Roman"/>
                <a:cs typeface="Times New Roman"/>
              </a:rPr>
              <a:t>ada</a:t>
            </a:r>
            <a:r>
              <a:rPr sz="1750" i="1" spc="-25" dirty="0">
                <a:latin typeface="Times New Roman"/>
                <a:cs typeface="Times New Roman"/>
              </a:rPr>
              <a:t>l</a:t>
            </a:r>
            <a:r>
              <a:rPr sz="1750" i="1" spc="50" dirty="0">
                <a:latin typeface="Times New Roman"/>
                <a:cs typeface="Times New Roman"/>
              </a:rPr>
              <a:t>a</a:t>
            </a:r>
            <a:r>
              <a:rPr sz="1750" i="1" spc="20" dirty="0">
                <a:latin typeface="Times New Roman"/>
                <a:cs typeface="Times New Roman"/>
              </a:rPr>
              <a:t>h</a:t>
            </a:r>
            <a:r>
              <a:rPr sz="1750" i="1" dirty="0">
                <a:latin typeface="Times New Roman"/>
                <a:cs typeface="Times New Roman"/>
              </a:rPr>
              <a:t> </a:t>
            </a:r>
            <a:r>
              <a:rPr sz="1750" i="1" spc="-204" dirty="0">
                <a:latin typeface="Times New Roman"/>
                <a:cs typeface="Times New Roman"/>
              </a:rPr>
              <a:t> </a:t>
            </a:r>
            <a:r>
              <a:rPr sz="1750" spc="-45" dirty="0">
                <a:latin typeface="Times New Roman"/>
                <a:cs typeface="Times New Roman"/>
              </a:rPr>
              <a:t>v</a:t>
            </a:r>
            <a:r>
              <a:rPr sz="1750" spc="-40" dirty="0">
                <a:latin typeface="Times New Roman"/>
                <a:cs typeface="Times New Roman"/>
              </a:rPr>
              <a:t>e</a:t>
            </a:r>
            <a:r>
              <a:rPr sz="1750" spc="55" dirty="0">
                <a:latin typeface="Times New Roman"/>
                <a:cs typeface="Times New Roman"/>
              </a:rPr>
              <a:t>c</a:t>
            </a:r>
            <a:r>
              <a:rPr sz="1750" spc="-25" dirty="0">
                <a:latin typeface="Times New Roman"/>
                <a:cs typeface="Times New Roman"/>
              </a:rPr>
              <a:t>t</a:t>
            </a:r>
            <a:r>
              <a:rPr sz="1750" spc="50" dirty="0">
                <a:latin typeface="Times New Roman"/>
                <a:cs typeface="Times New Roman"/>
              </a:rPr>
              <a:t>o</a:t>
            </a:r>
            <a:r>
              <a:rPr sz="1750" spc="150" dirty="0">
                <a:latin typeface="Times New Roman"/>
                <a:cs typeface="Times New Roman"/>
              </a:rPr>
              <a:t>r</a:t>
            </a:r>
            <a:r>
              <a:rPr sz="1750" spc="50" dirty="0">
                <a:latin typeface="Times New Roman"/>
                <a:cs typeface="Times New Roman"/>
              </a:rPr>
              <a:t>d</a:t>
            </a:r>
            <a:r>
              <a:rPr sz="1750" spc="-40" dirty="0">
                <a:latin typeface="Times New Roman"/>
                <a:cs typeface="Times New Roman"/>
              </a:rPr>
              <a:t>a</a:t>
            </a:r>
            <a:r>
              <a:rPr sz="1750" spc="20" dirty="0">
                <a:latin typeface="Times New Roman"/>
                <a:cs typeface="Times New Roman"/>
              </a:rPr>
              <a:t>n</a:t>
            </a:r>
            <a:r>
              <a:rPr sz="1750" spc="-135" dirty="0">
                <a:latin typeface="Times New Roman"/>
                <a:cs typeface="Times New Roman"/>
              </a:rPr>
              <a:t> </a:t>
            </a:r>
            <a:r>
              <a:rPr sz="1750" spc="20" dirty="0">
                <a:latin typeface="Times New Roman"/>
                <a:cs typeface="Times New Roman"/>
              </a:rPr>
              <a:t>d</a:t>
            </a:r>
            <a:r>
              <a:rPr sz="1750" spc="-90" dirty="0">
                <a:latin typeface="Times New Roman"/>
                <a:cs typeface="Times New Roman"/>
              </a:rPr>
              <a:t> </a:t>
            </a:r>
            <a:r>
              <a:rPr sz="1750" spc="-65" dirty="0">
                <a:latin typeface="Times New Roman"/>
                <a:cs typeface="Times New Roman"/>
              </a:rPr>
              <a:t>m</a:t>
            </a:r>
            <a:r>
              <a:rPr sz="1750" spc="-40" dirty="0">
                <a:latin typeface="Times New Roman"/>
                <a:cs typeface="Times New Roman"/>
              </a:rPr>
              <a:t>en</a:t>
            </a:r>
            <a:r>
              <a:rPr sz="1750" spc="-45" dirty="0">
                <a:latin typeface="Times New Roman"/>
                <a:cs typeface="Times New Roman"/>
              </a:rPr>
              <a:t>y</a:t>
            </a:r>
            <a:r>
              <a:rPr sz="1750" spc="-40" dirty="0">
                <a:latin typeface="Times New Roman"/>
                <a:cs typeface="Times New Roman"/>
              </a:rPr>
              <a:t>a</a:t>
            </a:r>
            <a:r>
              <a:rPr sz="1750" spc="-25" dirty="0">
                <a:latin typeface="Times New Roman"/>
                <a:cs typeface="Times New Roman"/>
              </a:rPr>
              <a:t>t</a:t>
            </a:r>
            <a:r>
              <a:rPr sz="1750" spc="-40" dirty="0">
                <a:latin typeface="Times New Roman"/>
                <a:cs typeface="Times New Roman"/>
              </a:rPr>
              <a:t>a</a:t>
            </a:r>
            <a:r>
              <a:rPr sz="1750" spc="-45" dirty="0">
                <a:latin typeface="Times New Roman"/>
                <a:cs typeface="Times New Roman"/>
              </a:rPr>
              <a:t>k</a:t>
            </a:r>
            <a:r>
              <a:rPr sz="1750" spc="-40" dirty="0">
                <a:latin typeface="Times New Roman"/>
                <a:cs typeface="Times New Roman"/>
              </a:rPr>
              <a:t>a</a:t>
            </a:r>
            <a:r>
              <a:rPr sz="1750" spc="20" dirty="0">
                <a:latin typeface="Times New Roman"/>
                <a:cs typeface="Times New Roman"/>
              </a:rPr>
              <a:t>n</a:t>
            </a:r>
            <a:r>
              <a:rPr sz="1750" spc="80" dirty="0">
                <a:latin typeface="Times New Roman"/>
                <a:cs typeface="Times New Roman"/>
              </a:rPr>
              <a:t> </a:t>
            </a:r>
            <a:r>
              <a:rPr sz="1750" spc="50" dirty="0">
                <a:latin typeface="Times New Roman"/>
                <a:cs typeface="Times New Roman"/>
              </a:rPr>
              <a:t>b</a:t>
            </a:r>
            <a:r>
              <a:rPr sz="1750" spc="-40" dirty="0">
                <a:latin typeface="Times New Roman"/>
                <a:cs typeface="Times New Roman"/>
              </a:rPr>
              <a:t>a</a:t>
            </a:r>
            <a:r>
              <a:rPr sz="1750" spc="-45" dirty="0">
                <a:latin typeface="Times New Roman"/>
                <a:cs typeface="Times New Roman"/>
              </a:rPr>
              <a:t>n</a:t>
            </a:r>
            <a:r>
              <a:rPr sz="1750" spc="-40" dirty="0">
                <a:latin typeface="Times New Roman"/>
                <a:cs typeface="Times New Roman"/>
              </a:rPr>
              <a:t>ya</a:t>
            </a:r>
            <a:r>
              <a:rPr sz="1750" spc="20" dirty="0">
                <a:latin typeface="Times New Roman"/>
                <a:cs typeface="Times New Roman"/>
              </a:rPr>
              <a:t>k</a:t>
            </a:r>
            <a:r>
              <a:rPr sz="1750" spc="-114" dirty="0">
                <a:latin typeface="Times New Roman"/>
                <a:cs typeface="Times New Roman"/>
              </a:rPr>
              <a:t> </a:t>
            </a:r>
            <a:r>
              <a:rPr sz="1750" spc="-30" dirty="0">
                <a:latin typeface="Times New Roman"/>
                <a:cs typeface="Times New Roman"/>
              </a:rPr>
              <a:t>f</a:t>
            </a:r>
            <a:r>
              <a:rPr sz="1750" spc="-120" dirty="0">
                <a:latin typeface="Times New Roman"/>
                <a:cs typeface="Times New Roman"/>
              </a:rPr>
              <a:t>i</a:t>
            </a:r>
            <a:r>
              <a:rPr sz="1750" spc="-25" dirty="0">
                <a:latin typeface="Times New Roman"/>
                <a:cs typeface="Times New Roman"/>
              </a:rPr>
              <a:t>t</a:t>
            </a:r>
            <a:r>
              <a:rPr sz="1750" spc="-45" dirty="0">
                <a:latin typeface="Times New Roman"/>
                <a:cs typeface="Times New Roman"/>
              </a:rPr>
              <a:t>u</a:t>
            </a:r>
            <a:r>
              <a:rPr sz="1750" spc="10" dirty="0">
                <a:latin typeface="Times New Roman"/>
                <a:cs typeface="Times New Roman"/>
              </a:rPr>
              <a:t>r</a:t>
            </a:r>
            <a:endParaRPr sz="1750">
              <a:latin typeface="Times New Roman"/>
              <a:cs typeface="Times New Roman"/>
            </a:endParaRPr>
          </a:p>
          <a:p>
            <a:pPr marL="116205">
              <a:lnSpc>
                <a:spcPts val="1645"/>
              </a:lnSpc>
              <a:spcBef>
                <a:spcPts val="765"/>
              </a:spcBef>
            </a:pPr>
            <a:r>
              <a:rPr sz="1750" i="1" spc="25" dirty="0">
                <a:latin typeface="Times New Roman"/>
                <a:cs typeface="Times New Roman"/>
              </a:rPr>
              <a:t>w</a:t>
            </a:r>
            <a:r>
              <a:rPr sz="1750" i="1" spc="370" dirty="0">
                <a:latin typeface="Times New Roman"/>
                <a:cs typeface="Times New Roman"/>
              </a:rPr>
              <a:t> </a:t>
            </a:r>
            <a:r>
              <a:rPr sz="1750" i="1" spc="30" dirty="0">
                <a:latin typeface="Times New Roman"/>
                <a:cs typeface="Times New Roman"/>
              </a:rPr>
              <a:t>adalah</a:t>
            </a:r>
            <a:r>
              <a:rPr sz="1750" i="1" spc="150" dirty="0">
                <a:latin typeface="Times New Roman"/>
                <a:cs typeface="Times New Roman"/>
              </a:rPr>
              <a:t> </a:t>
            </a:r>
            <a:r>
              <a:rPr sz="1750" spc="-25" dirty="0">
                <a:latin typeface="Times New Roman"/>
                <a:cs typeface="Times New Roman"/>
              </a:rPr>
              <a:t>index</a:t>
            </a:r>
            <a:r>
              <a:rPr sz="1750" spc="35" dirty="0">
                <a:latin typeface="Times New Roman"/>
                <a:cs typeface="Times New Roman"/>
              </a:rPr>
              <a:t> </a:t>
            </a:r>
            <a:r>
              <a:rPr sz="1750" spc="-15" dirty="0">
                <a:latin typeface="Times New Roman"/>
                <a:cs typeface="Times New Roman"/>
              </a:rPr>
              <a:t>kelas,</a:t>
            </a:r>
            <a:r>
              <a:rPr sz="1750" spc="60" dirty="0">
                <a:latin typeface="Times New Roman"/>
                <a:cs typeface="Times New Roman"/>
              </a:rPr>
              <a:t> </a:t>
            </a:r>
            <a:r>
              <a:rPr sz="1750" spc="45" dirty="0">
                <a:latin typeface="Symbol"/>
                <a:cs typeface="Symbol"/>
              </a:rPr>
              <a:t></a:t>
            </a:r>
            <a:r>
              <a:rPr sz="1500" spc="67" baseline="44444" dirty="0">
                <a:latin typeface="Times New Roman"/>
                <a:cs typeface="Times New Roman"/>
              </a:rPr>
              <a:t>C</a:t>
            </a:r>
            <a:r>
              <a:rPr sz="1500" spc="465" baseline="44444" dirty="0">
                <a:latin typeface="Times New Roman"/>
                <a:cs typeface="Times New Roman"/>
              </a:rPr>
              <a:t> </a:t>
            </a:r>
            <a:r>
              <a:rPr sz="1750" spc="75" dirty="0">
                <a:latin typeface="Symbol"/>
                <a:cs typeface="Symbol"/>
              </a:rPr>
              <a:t></a:t>
            </a:r>
            <a:r>
              <a:rPr sz="1750" spc="75" dirty="0">
                <a:latin typeface="Times New Roman"/>
                <a:cs typeface="Times New Roman"/>
              </a:rPr>
              <a:t>{</a:t>
            </a:r>
            <a:r>
              <a:rPr sz="1750" i="1" spc="75" dirty="0">
                <a:latin typeface="Times New Roman"/>
                <a:cs typeface="Times New Roman"/>
              </a:rPr>
              <a:t>w</a:t>
            </a:r>
            <a:r>
              <a:rPr sz="1750" i="1" spc="-50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Times New Roman"/>
                <a:cs typeface="Times New Roman"/>
              </a:rPr>
              <a:t>,</a:t>
            </a:r>
            <a:r>
              <a:rPr sz="1750" spc="-204" dirty="0">
                <a:latin typeface="Times New Roman"/>
                <a:cs typeface="Times New Roman"/>
              </a:rPr>
              <a:t> </a:t>
            </a:r>
            <a:r>
              <a:rPr sz="1750" i="1" spc="25" dirty="0">
                <a:latin typeface="Times New Roman"/>
                <a:cs typeface="Times New Roman"/>
              </a:rPr>
              <a:t>w</a:t>
            </a:r>
            <a:r>
              <a:rPr sz="1750" i="1" spc="145" dirty="0">
                <a:latin typeface="Times New Roman"/>
                <a:cs typeface="Times New Roman"/>
              </a:rPr>
              <a:t> </a:t>
            </a:r>
            <a:r>
              <a:rPr sz="1750" spc="40" dirty="0">
                <a:latin typeface="Times New Roman"/>
                <a:cs typeface="Times New Roman"/>
              </a:rPr>
              <a:t>,...,</a:t>
            </a:r>
            <a:r>
              <a:rPr sz="1750" i="1" spc="40" dirty="0">
                <a:latin typeface="Times New Roman"/>
                <a:cs typeface="Times New Roman"/>
              </a:rPr>
              <a:t>w</a:t>
            </a:r>
            <a:r>
              <a:rPr sz="1750" i="1" spc="114" dirty="0">
                <a:latin typeface="Times New Roman"/>
                <a:cs typeface="Times New Roman"/>
              </a:rPr>
              <a:t> </a:t>
            </a:r>
            <a:r>
              <a:rPr sz="1750" spc="20" dirty="0">
                <a:latin typeface="Times New Roman"/>
                <a:cs typeface="Times New Roman"/>
              </a:rPr>
              <a:t>}</a:t>
            </a:r>
            <a:r>
              <a:rPr sz="1750" spc="-55" dirty="0">
                <a:latin typeface="Times New Roman"/>
                <a:cs typeface="Times New Roman"/>
              </a:rPr>
              <a:t> </a:t>
            </a:r>
            <a:r>
              <a:rPr sz="1750" spc="10" dirty="0">
                <a:latin typeface="Times New Roman"/>
                <a:cs typeface="Times New Roman"/>
              </a:rPr>
              <a:t>dan</a:t>
            </a:r>
            <a:r>
              <a:rPr sz="1750" spc="-135" dirty="0">
                <a:latin typeface="Times New Roman"/>
                <a:cs typeface="Times New Roman"/>
              </a:rPr>
              <a:t> </a:t>
            </a:r>
            <a:r>
              <a:rPr sz="1750" spc="25" dirty="0">
                <a:latin typeface="Times New Roman"/>
                <a:cs typeface="Times New Roman"/>
              </a:rPr>
              <a:t>C</a:t>
            </a:r>
            <a:r>
              <a:rPr sz="1750" spc="-140" dirty="0">
                <a:latin typeface="Times New Roman"/>
                <a:cs typeface="Times New Roman"/>
              </a:rPr>
              <a:t> </a:t>
            </a:r>
            <a:r>
              <a:rPr sz="1750" spc="-35" dirty="0">
                <a:latin typeface="Times New Roman"/>
                <a:cs typeface="Times New Roman"/>
              </a:rPr>
              <a:t>menyatakan</a:t>
            </a:r>
            <a:r>
              <a:rPr sz="1750" spc="80" dirty="0">
                <a:latin typeface="Times New Roman"/>
                <a:cs typeface="Times New Roman"/>
              </a:rPr>
              <a:t> </a:t>
            </a:r>
            <a:r>
              <a:rPr sz="1750" spc="-15" dirty="0">
                <a:latin typeface="Times New Roman"/>
                <a:cs typeface="Times New Roman"/>
              </a:rPr>
              <a:t>banyak</a:t>
            </a:r>
            <a:r>
              <a:rPr sz="1750" spc="-90" dirty="0">
                <a:latin typeface="Times New Roman"/>
                <a:cs typeface="Times New Roman"/>
              </a:rPr>
              <a:t> </a:t>
            </a:r>
            <a:r>
              <a:rPr sz="1750" spc="-45" dirty="0">
                <a:latin typeface="Times New Roman"/>
                <a:cs typeface="Times New Roman"/>
              </a:rPr>
              <a:t>kelas</a:t>
            </a:r>
            <a:endParaRPr sz="1750">
              <a:latin typeface="Times New Roman"/>
              <a:cs typeface="Times New Roman"/>
            </a:endParaRPr>
          </a:p>
          <a:p>
            <a:pPr marR="575945" algn="ctr">
              <a:lnSpc>
                <a:spcPts val="745"/>
              </a:lnSpc>
              <a:tabLst>
                <a:tab pos="301625" algn="l"/>
                <a:tab pos="833119" algn="l"/>
              </a:tabLst>
            </a:pPr>
            <a:r>
              <a:rPr sz="1000" spc="20" dirty="0">
                <a:latin typeface="Times New Roman"/>
                <a:cs typeface="Times New Roman"/>
              </a:rPr>
              <a:t>1	2	k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58361" y="264617"/>
            <a:ext cx="18300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Contoh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5287" y="1285875"/>
            <a:ext cx="3816350" cy="4857750"/>
          </a:xfrm>
          <a:prstGeom prst="rect">
            <a:avLst/>
          </a:prstGeom>
          <a:solidFill>
            <a:srgbClr val="FFFFFF"/>
          </a:solidFill>
          <a:ln w="28575">
            <a:solidFill>
              <a:srgbClr val="808080"/>
            </a:solidFill>
          </a:ln>
        </p:spPr>
        <p:txBody>
          <a:bodyPr vert="horz" wrap="square" lIns="0" tIns="3556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80"/>
              </a:spcBef>
            </a:pPr>
            <a:r>
              <a:rPr sz="3000" spc="-10" dirty="0">
                <a:latin typeface="Microsoft Sans Serif"/>
                <a:cs typeface="Microsoft Sans Serif"/>
              </a:rPr>
              <a:t>Klasifikasi</a:t>
            </a:r>
            <a:r>
              <a:rPr sz="3000" spc="5" dirty="0">
                <a:latin typeface="Microsoft Sans Serif"/>
                <a:cs typeface="Microsoft Sans Serif"/>
              </a:rPr>
              <a:t> </a:t>
            </a:r>
            <a:r>
              <a:rPr sz="3000" dirty="0">
                <a:latin typeface="Microsoft Sans Serif"/>
                <a:cs typeface="Microsoft Sans Serif"/>
              </a:rPr>
              <a:t>Ikan</a:t>
            </a:r>
            <a:endParaRPr sz="3000">
              <a:latin typeface="Microsoft Sans Serif"/>
              <a:cs typeface="Microsoft Sans Serif"/>
            </a:endParaRPr>
          </a:p>
          <a:p>
            <a:pPr marL="91440" marR="878840">
              <a:lnSpc>
                <a:spcPct val="120100"/>
              </a:lnSpc>
              <a:spcBef>
                <a:spcPts val="35"/>
              </a:spcBef>
            </a:pPr>
            <a:r>
              <a:rPr sz="2000" spc="-185" dirty="0">
                <a:latin typeface="Arial MT"/>
                <a:cs typeface="Arial MT"/>
              </a:rPr>
              <a:t>X=I </a:t>
            </a:r>
            <a:r>
              <a:rPr sz="2000" spc="-220" dirty="0">
                <a:latin typeface="Arial MT"/>
                <a:cs typeface="Arial MT"/>
              </a:rPr>
              <a:t> </a:t>
            </a:r>
            <a:r>
              <a:rPr sz="2000" spc="-204" dirty="0">
                <a:latin typeface="Arial MT"/>
                <a:cs typeface="Arial MT"/>
              </a:rPr>
              <a:t>ada</a:t>
            </a:r>
            <a:r>
              <a:rPr sz="2000" spc="-95" dirty="0">
                <a:latin typeface="Arial MT"/>
                <a:cs typeface="Arial MT"/>
              </a:rPr>
              <a:t>l</a:t>
            </a:r>
            <a:r>
              <a:rPr sz="2000" spc="-204" dirty="0">
                <a:latin typeface="Arial MT"/>
                <a:cs typeface="Arial MT"/>
              </a:rPr>
              <a:t>a</a:t>
            </a:r>
            <a:r>
              <a:rPr sz="2000" spc="-200" dirty="0">
                <a:latin typeface="Arial MT"/>
                <a:cs typeface="Arial MT"/>
              </a:rPr>
              <a:t>h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spc="-204" dirty="0">
                <a:latin typeface="Arial MT"/>
                <a:cs typeface="Arial MT"/>
              </a:rPr>
              <a:t>Image</a:t>
            </a:r>
            <a:r>
              <a:rPr sz="2000" spc="-100" dirty="0">
                <a:latin typeface="Arial MT"/>
                <a:cs typeface="Arial MT"/>
              </a:rPr>
              <a:t>/</a:t>
            </a:r>
            <a:r>
              <a:rPr sz="2000" spc="-130" dirty="0">
                <a:latin typeface="Arial MT"/>
                <a:cs typeface="Arial MT"/>
              </a:rPr>
              <a:t> </a:t>
            </a:r>
            <a:r>
              <a:rPr sz="2000" spc="-185" dirty="0">
                <a:latin typeface="Arial MT"/>
                <a:cs typeface="Arial MT"/>
              </a:rPr>
              <a:t>c</a:t>
            </a:r>
            <a:r>
              <a:rPr sz="2000" spc="-95" dirty="0">
                <a:latin typeface="Arial MT"/>
                <a:cs typeface="Arial MT"/>
              </a:rPr>
              <a:t>i</a:t>
            </a:r>
            <a:r>
              <a:rPr sz="2000" spc="-114" dirty="0">
                <a:latin typeface="Arial MT"/>
                <a:cs typeface="Arial MT"/>
              </a:rPr>
              <a:t>tr</a:t>
            </a:r>
            <a:r>
              <a:rPr sz="2000" spc="-200" dirty="0">
                <a:latin typeface="Arial MT"/>
                <a:cs typeface="Arial MT"/>
              </a:rPr>
              <a:t>a</a:t>
            </a:r>
            <a:r>
              <a:rPr sz="2000" spc="-100" dirty="0">
                <a:latin typeface="Arial MT"/>
                <a:cs typeface="Arial MT"/>
              </a:rPr>
              <a:t> </a:t>
            </a:r>
            <a:r>
              <a:rPr sz="2000" spc="-85" dirty="0">
                <a:latin typeface="Arial MT"/>
                <a:cs typeface="Arial MT"/>
              </a:rPr>
              <a:t>i</a:t>
            </a:r>
            <a:r>
              <a:rPr sz="2000" spc="-195" dirty="0">
                <a:latin typeface="Arial MT"/>
                <a:cs typeface="Arial MT"/>
              </a:rPr>
              <a:t>k</a:t>
            </a:r>
            <a:r>
              <a:rPr sz="2000" spc="-204" dirty="0">
                <a:latin typeface="Arial MT"/>
                <a:cs typeface="Arial MT"/>
              </a:rPr>
              <a:t>an</a:t>
            </a:r>
            <a:r>
              <a:rPr sz="2000" spc="-100" dirty="0">
                <a:latin typeface="Arial MT"/>
                <a:cs typeface="Arial MT"/>
              </a:rPr>
              <a:t>,  </a:t>
            </a:r>
            <a:r>
              <a:rPr sz="2000" spc="-180" dirty="0">
                <a:latin typeface="Arial MT"/>
                <a:cs typeface="Arial MT"/>
              </a:rPr>
              <a:t>x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spc="-180" dirty="0">
                <a:latin typeface="Arial MT"/>
                <a:cs typeface="Arial MT"/>
              </a:rPr>
              <a:t>=(b</a:t>
            </a:r>
            <a:r>
              <a:rPr sz="2000" spc="-114" dirty="0">
                <a:latin typeface="Arial MT"/>
                <a:cs typeface="Arial MT"/>
              </a:rPr>
              <a:t>r</a:t>
            </a:r>
            <a:r>
              <a:rPr sz="2000" spc="-85" dirty="0">
                <a:latin typeface="Arial MT"/>
                <a:cs typeface="Arial MT"/>
              </a:rPr>
              <a:t>i</a:t>
            </a:r>
            <a:r>
              <a:rPr sz="2000" spc="-210" dirty="0">
                <a:latin typeface="Arial MT"/>
                <a:cs typeface="Arial MT"/>
              </a:rPr>
              <a:t>g</a:t>
            </a:r>
            <a:r>
              <a:rPr sz="2000" spc="-175" dirty="0">
                <a:latin typeface="Arial MT"/>
                <a:cs typeface="Arial MT"/>
              </a:rPr>
              <a:t>htn</a:t>
            </a:r>
            <a:r>
              <a:rPr sz="2000" spc="-210" dirty="0">
                <a:latin typeface="Arial MT"/>
                <a:cs typeface="Arial MT"/>
              </a:rPr>
              <a:t>e</a:t>
            </a:r>
            <a:r>
              <a:rPr sz="2000" spc="-185" dirty="0">
                <a:latin typeface="Arial MT"/>
                <a:cs typeface="Arial MT"/>
              </a:rPr>
              <a:t>s</a:t>
            </a:r>
            <a:r>
              <a:rPr sz="2000" spc="-195" dirty="0">
                <a:latin typeface="Arial MT"/>
                <a:cs typeface="Arial MT"/>
              </a:rPr>
              <a:t>s</a:t>
            </a:r>
            <a:r>
              <a:rPr sz="2000" spc="-100" dirty="0">
                <a:latin typeface="Arial MT"/>
                <a:cs typeface="Arial MT"/>
              </a:rPr>
              <a:t>,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spc="-85" dirty="0">
                <a:latin typeface="Arial MT"/>
                <a:cs typeface="Arial MT"/>
              </a:rPr>
              <a:t>l</a:t>
            </a:r>
            <a:r>
              <a:rPr sz="2000" spc="-210" dirty="0">
                <a:latin typeface="Arial MT"/>
                <a:cs typeface="Arial MT"/>
              </a:rPr>
              <a:t>e</a:t>
            </a:r>
            <a:r>
              <a:rPr sz="2000" spc="-175" dirty="0">
                <a:latin typeface="Arial MT"/>
                <a:cs typeface="Arial MT"/>
              </a:rPr>
              <a:t>ngt</a:t>
            </a:r>
            <a:r>
              <a:rPr sz="2000" spc="-210" dirty="0">
                <a:latin typeface="Arial MT"/>
                <a:cs typeface="Arial MT"/>
              </a:rPr>
              <a:t>h</a:t>
            </a:r>
            <a:r>
              <a:rPr sz="2000" spc="-100" dirty="0">
                <a:latin typeface="Arial MT"/>
                <a:cs typeface="Arial MT"/>
              </a:rPr>
              <a:t>,</a:t>
            </a:r>
            <a:r>
              <a:rPr sz="2000" spc="-125" dirty="0">
                <a:latin typeface="Arial MT"/>
                <a:cs typeface="Arial MT"/>
              </a:rPr>
              <a:t> </a:t>
            </a:r>
            <a:r>
              <a:rPr sz="2000" spc="-95" dirty="0">
                <a:latin typeface="Arial MT"/>
                <a:cs typeface="Arial MT"/>
              </a:rPr>
              <a:t>fi</a:t>
            </a:r>
            <a:r>
              <a:rPr sz="2000" spc="-210" dirty="0">
                <a:latin typeface="Arial MT"/>
                <a:cs typeface="Arial MT"/>
              </a:rPr>
              <a:t>n</a:t>
            </a:r>
            <a:r>
              <a:rPr sz="2000" spc="-100" dirty="0">
                <a:latin typeface="Arial MT"/>
                <a:cs typeface="Arial MT"/>
              </a:rPr>
              <a:t>,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215" dirty="0">
                <a:latin typeface="Arial MT"/>
                <a:cs typeface="Arial MT"/>
              </a:rPr>
              <a:t> </a:t>
            </a:r>
            <a:r>
              <a:rPr sz="2000" spc="-195" dirty="0">
                <a:latin typeface="Arial MT"/>
                <a:cs typeface="Arial MT"/>
              </a:rPr>
              <a:t>….)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>
              <a:latin typeface="Arial MT"/>
              <a:cs typeface="Arial MT"/>
            </a:endParaRPr>
          </a:p>
          <a:p>
            <a:pPr marR="70485" algn="ctr">
              <a:lnSpc>
                <a:spcPct val="100000"/>
              </a:lnSpc>
            </a:pPr>
            <a:r>
              <a:rPr sz="2000" spc="-260" dirty="0">
                <a:latin typeface="Arial MT"/>
                <a:cs typeface="Arial MT"/>
              </a:rPr>
              <a:t>w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spc="-204" dirty="0">
                <a:latin typeface="Arial MT"/>
                <a:cs typeface="Arial MT"/>
              </a:rPr>
              <a:t>merupakan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spc="-160" dirty="0">
                <a:latin typeface="Arial MT"/>
                <a:cs typeface="Arial MT"/>
              </a:rPr>
              <a:t>tingkat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spc="-195" dirty="0">
                <a:latin typeface="Arial MT"/>
                <a:cs typeface="Arial MT"/>
              </a:rPr>
              <a:t>kepercayaan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spc="-150" dirty="0">
                <a:latin typeface="Arial MT"/>
                <a:cs typeface="Arial MT"/>
              </a:rPr>
              <a:t>kita</a:t>
            </a:r>
            <a:endParaRPr sz="20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000" spc="-204" dirty="0">
                <a:latin typeface="Arial MT"/>
                <a:cs typeface="Arial MT"/>
              </a:rPr>
              <a:t>ba</a:t>
            </a:r>
            <a:r>
              <a:rPr sz="2000" spc="-210" dirty="0">
                <a:latin typeface="Arial MT"/>
                <a:cs typeface="Arial MT"/>
              </a:rPr>
              <a:t>h</a:t>
            </a:r>
            <a:r>
              <a:rPr sz="2000" spc="-229" dirty="0">
                <a:latin typeface="Arial MT"/>
                <a:cs typeface="Arial MT"/>
              </a:rPr>
              <a:t>wa</a:t>
            </a:r>
            <a:r>
              <a:rPr sz="2000" spc="-105" dirty="0">
                <a:latin typeface="Arial MT"/>
                <a:cs typeface="Arial MT"/>
              </a:rPr>
              <a:t> t</a:t>
            </a:r>
            <a:r>
              <a:rPr sz="2000" spc="-90" dirty="0">
                <a:latin typeface="Arial MT"/>
                <a:cs typeface="Arial MT"/>
              </a:rPr>
              <a:t>i</a:t>
            </a:r>
            <a:r>
              <a:rPr sz="2000" spc="-204" dirty="0">
                <a:latin typeface="Arial MT"/>
                <a:cs typeface="Arial MT"/>
              </a:rPr>
              <a:t>p</a:t>
            </a:r>
            <a:r>
              <a:rPr sz="2000" spc="-200" dirty="0">
                <a:latin typeface="Arial MT"/>
                <a:cs typeface="Arial MT"/>
              </a:rPr>
              <a:t>e</a:t>
            </a:r>
            <a:r>
              <a:rPr sz="2000" spc="-120" dirty="0">
                <a:latin typeface="Arial MT"/>
                <a:cs typeface="Arial MT"/>
              </a:rPr>
              <a:t> </a:t>
            </a:r>
            <a:r>
              <a:rPr sz="2000" spc="-85" dirty="0">
                <a:latin typeface="Arial MT"/>
                <a:cs typeface="Arial MT"/>
              </a:rPr>
              <a:t>i</a:t>
            </a:r>
            <a:r>
              <a:rPr sz="2000" spc="-195" dirty="0">
                <a:latin typeface="Arial MT"/>
                <a:cs typeface="Arial MT"/>
              </a:rPr>
              <a:t>k</a:t>
            </a:r>
            <a:r>
              <a:rPr sz="2000" spc="-204" dirty="0">
                <a:latin typeface="Arial MT"/>
                <a:cs typeface="Arial MT"/>
              </a:rPr>
              <a:t>a</a:t>
            </a:r>
            <a:r>
              <a:rPr sz="2000" spc="-200" dirty="0">
                <a:latin typeface="Arial MT"/>
                <a:cs typeface="Arial MT"/>
              </a:rPr>
              <a:t>n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spc="-145" dirty="0">
                <a:latin typeface="Arial MT"/>
                <a:cs typeface="Arial MT"/>
              </a:rPr>
              <a:t>ter</a:t>
            </a:r>
            <a:r>
              <a:rPr sz="2000" spc="-190" dirty="0">
                <a:latin typeface="Arial MT"/>
                <a:cs typeface="Arial MT"/>
              </a:rPr>
              <a:t>s</a:t>
            </a:r>
            <a:r>
              <a:rPr sz="2000" spc="-204" dirty="0">
                <a:latin typeface="Arial MT"/>
                <a:cs typeface="Arial MT"/>
              </a:rPr>
              <a:t>eb</a:t>
            </a:r>
            <a:r>
              <a:rPr sz="2000" spc="-210" dirty="0">
                <a:latin typeface="Arial MT"/>
                <a:cs typeface="Arial MT"/>
              </a:rPr>
              <a:t>u</a:t>
            </a:r>
            <a:r>
              <a:rPr sz="2000" spc="-100" dirty="0">
                <a:latin typeface="Arial MT"/>
                <a:cs typeface="Arial MT"/>
              </a:rPr>
              <a:t>t </a:t>
            </a:r>
            <a:r>
              <a:rPr sz="2000" spc="-204" dirty="0">
                <a:latin typeface="Arial MT"/>
                <a:cs typeface="Arial MT"/>
              </a:rPr>
              <a:t>ad</a:t>
            </a:r>
            <a:r>
              <a:rPr sz="2000" spc="-210" dirty="0">
                <a:latin typeface="Arial MT"/>
                <a:cs typeface="Arial MT"/>
              </a:rPr>
              <a:t>a</a:t>
            </a:r>
            <a:r>
              <a:rPr sz="2000" spc="-85" dirty="0">
                <a:latin typeface="Arial MT"/>
                <a:cs typeface="Arial MT"/>
              </a:rPr>
              <a:t>l</a:t>
            </a:r>
            <a:r>
              <a:rPr sz="2000" spc="-210" dirty="0">
                <a:latin typeface="Arial MT"/>
                <a:cs typeface="Arial MT"/>
              </a:rPr>
              <a:t>a</a:t>
            </a:r>
            <a:r>
              <a:rPr sz="2000" spc="-200" dirty="0">
                <a:latin typeface="Arial MT"/>
                <a:cs typeface="Arial MT"/>
              </a:rPr>
              <a:t>h</a:t>
            </a:r>
            <a:endParaRPr sz="2000">
              <a:latin typeface="Arial MT"/>
              <a:cs typeface="Arial MT"/>
            </a:endParaRPr>
          </a:p>
          <a:p>
            <a:pPr marL="480059" algn="ctr">
              <a:lnSpc>
                <a:spcPct val="100000"/>
              </a:lnSpc>
              <a:spcBef>
                <a:spcPts val="480"/>
              </a:spcBef>
            </a:pPr>
            <a:r>
              <a:rPr sz="2000" spc="-5" dirty="0">
                <a:latin typeface="Symbol"/>
                <a:cs typeface="Symbol"/>
              </a:rPr>
              <a:t></a:t>
            </a:r>
            <a:r>
              <a:rPr sz="1950" spc="-150" baseline="25641" dirty="0">
                <a:latin typeface="Arial MT"/>
                <a:cs typeface="Arial MT"/>
              </a:rPr>
              <a:t>c</a:t>
            </a:r>
            <a:r>
              <a:rPr sz="2000" spc="-165" dirty="0">
                <a:latin typeface="Arial MT"/>
                <a:cs typeface="Arial MT"/>
              </a:rPr>
              <a:t>={</a:t>
            </a:r>
            <a:r>
              <a:rPr sz="2000" spc="-114" dirty="0">
                <a:latin typeface="Arial MT"/>
                <a:cs typeface="Arial MT"/>
              </a:rPr>
              <a:t>“</a:t>
            </a:r>
            <a:r>
              <a:rPr sz="2000" spc="-185" dirty="0">
                <a:latin typeface="Arial MT"/>
                <a:cs typeface="Arial MT"/>
              </a:rPr>
              <a:t>s</a:t>
            </a:r>
            <a:r>
              <a:rPr sz="2000" spc="-210" dirty="0">
                <a:latin typeface="Arial MT"/>
                <a:cs typeface="Arial MT"/>
              </a:rPr>
              <a:t>e</a:t>
            </a:r>
            <a:r>
              <a:rPr sz="2000" spc="-200" dirty="0">
                <a:latin typeface="Arial MT"/>
                <a:cs typeface="Arial MT"/>
              </a:rPr>
              <a:t>a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spc="-204" dirty="0">
                <a:latin typeface="Arial MT"/>
                <a:cs typeface="Arial MT"/>
              </a:rPr>
              <a:t>ba</a:t>
            </a:r>
            <a:r>
              <a:rPr sz="2000" spc="-195" dirty="0">
                <a:latin typeface="Arial MT"/>
                <a:cs typeface="Arial MT"/>
              </a:rPr>
              <a:t>s</a:t>
            </a:r>
            <a:r>
              <a:rPr sz="2000" spc="-155" dirty="0">
                <a:latin typeface="Arial MT"/>
                <a:cs typeface="Arial MT"/>
              </a:rPr>
              <a:t>s”</a:t>
            </a:r>
            <a:r>
              <a:rPr sz="2000" spc="-100" dirty="0">
                <a:latin typeface="Arial MT"/>
                <a:cs typeface="Arial MT"/>
              </a:rPr>
              <a:t>, </a:t>
            </a:r>
            <a:r>
              <a:rPr sz="2000" spc="-170" dirty="0">
                <a:latin typeface="Arial MT"/>
                <a:cs typeface="Arial MT"/>
              </a:rPr>
              <a:t>“sa</a:t>
            </a:r>
            <a:r>
              <a:rPr sz="2000" spc="-90" dirty="0">
                <a:latin typeface="Arial MT"/>
                <a:cs typeface="Arial MT"/>
              </a:rPr>
              <a:t>l</a:t>
            </a:r>
            <a:r>
              <a:rPr sz="2000" spc="-210" dirty="0">
                <a:latin typeface="Arial MT"/>
                <a:cs typeface="Arial MT"/>
              </a:rPr>
              <a:t>mon”</a:t>
            </a:r>
            <a:r>
              <a:rPr sz="2000" spc="-100" dirty="0">
                <a:latin typeface="Arial MT"/>
                <a:cs typeface="Arial MT"/>
              </a:rPr>
              <a:t>,</a:t>
            </a:r>
            <a:r>
              <a:rPr sz="2000" spc="-114" dirty="0">
                <a:latin typeface="Arial MT"/>
                <a:cs typeface="Arial MT"/>
              </a:rPr>
              <a:t> </a:t>
            </a:r>
            <a:r>
              <a:rPr sz="2000" spc="-110" dirty="0">
                <a:latin typeface="Arial MT"/>
                <a:cs typeface="Arial MT"/>
              </a:rPr>
              <a:t>“t</a:t>
            </a:r>
            <a:r>
              <a:rPr sz="2000" spc="-114" dirty="0">
                <a:latin typeface="Arial MT"/>
                <a:cs typeface="Arial MT"/>
              </a:rPr>
              <a:t>r</a:t>
            </a:r>
            <a:r>
              <a:rPr sz="2000" spc="-150" dirty="0">
                <a:latin typeface="Arial MT"/>
                <a:cs typeface="Arial MT"/>
              </a:rPr>
              <a:t>out”,</a:t>
            </a:r>
            <a:endParaRPr sz="2000">
              <a:latin typeface="Arial MT"/>
              <a:cs typeface="Arial MT"/>
            </a:endParaRPr>
          </a:p>
          <a:p>
            <a:pPr marR="2661285" algn="ctr">
              <a:lnSpc>
                <a:spcPct val="100000"/>
              </a:lnSpc>
            </a:pPr>
            <a:r>
              <a:rPr sz="2000" spc="-240" dirty="0">
                <a:latin typeface="Arial MT"/>
                <a:cs typeface="Arial MT"/>
              </a:rPr>
              <a:t>…}</a:t>
            </a:r>
            <a:endParaRPr sz="2000">
              <a:latin typeface="Arial MT"/>
              <a:cs typeface="Arial MT"/>
            </a:endParaRPr>
          </a:p>
          <a:p>
            <a:pPr marR="456565" algn="ctr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Symbol"/>
                <a:cs typeface="Symbol"/>
              </a:rPr>
              <a:t>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210" dirty="0">
                <a:latin typeface="Arial MT"/>
                <a:cs typeface="Arial MT"/>
              </a:rPr>
              <a:t>merupa</a:t>
            </a:r>
            <a:r>
              <a:rPr sz="2000" spc="-190" dirty="0">
                <a:latin typeface="Arial MT"/>
                <a:cs typeface="Arial MT"/>
              </a:rPr>
              <a:t>k</a:t>
            </a:r>
            <a:r>
              <a:rPr sz="2000" spc="-204" dirty="0">
                <a:latin typeface="Arial MT"/>
                <a:cs typeface="Arial MT"/>
              </a:rPr>
              <a:t>a</a:t>
            </a:r>
            <a:r>
              <a:rPr sz="2000" spc="-200" dirty="0">
                <a:latin typeface="Arial MT"/>
                <a:cs typeface="Arial MT"/>
              </a:rPr>
              <a:t>n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spc="-185" dirty="0">
                <a:latin typeface="Arial MT"/>
                <a:cs typeface="Arial MT"/>
              </a:rPr>
              <a:t>k</a:t>
            </a:r>
            <a:r>
              <a:rPr sz="2000" spc="-210" dirty="0">
                <a:latin typeface="Arial MT"/>
                <a:cs typeface="Arial MT"/>
              </a:rPr>
              <a:t>e</a:t>
            </a:r>
            <a:r>
              <a:rPr sz="2000" spc="-175" dirty="0">
                <a:latin typeface="Arial MT"/>
                <a:cs typeface="Arial MT"/>
              </a:rPr>
              <a:t>put</a:t>
            </a:r>
            <a:r>
              <a:rPr sz="2000" spc="-210" dirty="0">
                <a:latin typeface="Arial MT"/>
                <a:cs typeface="Arial MT"/>
              </a:rPr>
              <a:t>u</a:t>
            </a:r>
            <a:r>
              <a:rPr sz="2000" spc="-185" dirty="0">
                <a:latin typeface="Arial MT"/>
                <a:cs typeface="Arial MT"/>
              </a:rPr>
              <a:t>s</a:t>
            </a:r>
            <a:r>
              <a:rPr sz="2000" spc="-210" dirty="0">
                <a:latin typeface="Arial MT"/>
                <a:cs typeface="Arial MT"/>
              </a:rPr>
              <a:t>a</a:t>
            </a:r>
            <a:r>
              <a:rPr sz="2000" spc="-200" dirty="0">
                <a:latin typeface="Arial MT"/>
                <a:cs typeface="Arial MT"/>
              </a:rPr>
              <a:t>n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spc="-95" dirty="0">
                <a:latin typeface="Arial MT"/>
                <a:cs typeface="Arial MT"/>
              </a:rPr>
              <a:t>ti</a:t>
            </a:r>
            <a:r>
              <a:rPr sz="2000" spc="-210" dirty="0">
                <a:latin typeface="Arial MT"/>
                <a:cs typeface="Arial MT"/>
              </a:rPr>
              <a:t>p</a:t>
            </a:r>
            <a:r>
              <a:rPr sz="2000" spc="-200" dirty="0">
                <a:latin typeface="Arial MT"/>
                <a:cs typeface="Arial MT"/>
              </a:rPr>
              <a:t>e</a:t>
            </a:r>
            <a:r>
              <a:rPr sz="2000" spc="-100" dirty="0">
                <a:latin typeface="Arial MT"/>
                <a:cs typeface="Arial MT"/>
              </a:rPr>
              <a:t> </a:t>
            </a:r>
            <a:r>
              <a:rPr sz="2000" spc="-85" dirty="0">
                <a:latin typeface="Arial MT"/>
                <a:cs typeface="Arial MT"/>
              </a:rPr>
              <a:t>i</a:t>
            </a:r>
            <a:r>
              <a:rPr sz="2000" spc="-195" dirty="0">
                <a:latin typeface="Arial MT"/>
                <a:cs typeface="Arial MT"/>
              </a:rPr>
              <a:t>k</a:t>
            </a:r>
            <a:r>
              <a:rPr sz="2000" spc="-204" dirty="0">
                <a:latin typeface="Arial MT"/>
                <a:cs typeface="Arial MT"/>
              </a:rPr>
              <a:t>an</a:t>
            </a:r>
            <a:r>
              <a:rPr sz="2000" spc="-100" dirty="0">
                <a:latin typeface="Arial MT"/>
                <a:cs typeface="Arial MT"/>
              </a:rPr>
              <a:t>,</a:t>
            </a:r>
            <a:endParaRPr sz="2000">
              <a:latin typeface="Arial MT"/>
              <a:cs typeface="Arial MT"/>
            </a:endParaRPr>
          </a:p>
          <a:p>
            <a:pPr marL="548640">
              <a:lnSpc>
                <a:spcPct val="100000"/>
              </a:lnSpc>
              <a:spcBef>
                <a:spcPts val="480"/>
              </a:spcBef>
            </a:pPr>
            <a:r>
              <a:rPr sz="2000" spc="-204" dirty="0">
                <a:latin typeface="Arial MT"/>
                <a:cs typeface="Arial MT"/>
              </a:rPr>
              <a:t>pad</a:t>
            </a:r>
            <a:r>
              <a:rPr sz="2000" spc="-200" dirty="0">
                <a:latin typeface="Arial MT"/>
                <a:cs typeface="Arial MT"/>
              </a:rPr>
              <a:t>a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spc="-190" dirty="0">
                <a:latin typeface="Arial MT"/>
                <a:cs typeface="Arial MT"/>
              </a:rPr>
              <a:t>k</a:t>
            </a:r>
            <a:r>
              <a:rPr sz="2000" spc="-204" dirty="0">
                <a:latin typeface="Arial MT"/>
                <a:cs typeface="Arial MT"/>
              </a:rPr>
              <a:t>a</a:t>
            </a:r>
            <a:r>
              <a:rPr sz="2000" spc="-195" dirty="0">
                <a:latin typeface="Arial MT"/>
                <a:cs typeface="Arial MT"/>
              </a:rPr>
              <a:t>s</a:t>
            </a:r>
            <a:r>
              <a:rPr sz="2000" spc="-204" dirty="0">
                <a:latin typeface="Arial MT"/>
                <a:cs typeface="Arial MT"/>
              </a:rPr>
              <a:t>u</a:t>
            </a:r>
            <a:r>
              <a:rPr sz="2000" spc="-180" dirty="0">
                <a:latin typeface="Arial MT"/>
                <a:cs typeface="Arial MT"/>
              </a:rPr>
              <a:t>s</a:t>
            </a:r>
            <a:r>
              <a:rPr sz="2000" spc="-90" dirty="0">
                <a:latin typeface="Arial MT"/>
                <a:cs typeface="Arial MT"/>
              </a:rPr>
              <a:t> </a:t>
            </a:r>
            <a:r>
              <a:rPr sz="2000" spc="-85" dirty="0">
                <a:latin typeface="Arial MT"/>
                <a:cs typeface="Arial MT"/>
              </a:rPr>
              <a:t>i</a:t>
            </a:r>
            <a:r>
              <a:rPr sz="2000" spc="-210" dirty="0">
                <a:latin typeface="Arial MT"/>
                <a:cs typeface="Arial MT"/>
              </a:rPr>
              <a:t>n</a:t>
            </a:r>
            <a:r>
              <a:rPr sz="2000" spc="-80" dirty="0">
                <a:latin typeface="Arial MT"/>
                <a:cs typeface="Arial MT"/>
              </a:rPr>
              <a:t>i</a:t>
            </a:r>
            <a:r>
              <a:rPr sz="2000" spc="-120" dirty="0">
                <a:latin typeface="Arial MT"/>
                <a:cs typeface="Arial MT"/>
              </a:rPr>
              <a:t> </a:t>
            </a:r>
            <a:r>
              <a:rPr sz="2000" spc="-5" dirty="0">
                <a:latin typeface="Symbol"/>
                <a:cs typeface="Symbol"/>
              </a:rPr>
              <a:t></a:t>
            </a:r>
            <a:r>
              <a:rPr sz="1950" spc="-157" baseline="25641" dirty="0">
                <a:latin typeface="Arial MT"/>
                <a:cs typeface="Arial MT"/>
              </a:rPr>
              <a:t>c</a:t>
            </a:r>
            <a:r>
              <a:rPr sz="2000" spc="-210" dirty="0">
                <a:latin typeface="Arial MT"/>
                <a:cs typeface="Arial MT"/>
              </a:rPr>
              <a:t>=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spc="-5" dirty="0">
                <a:latin typeface="Symbol"/>
                <a:cs typeface="Symbol"/>
              </a:rPr>
              <a:t></a:t>
            </a:r>
            <a:r>
              <a:rPr sz="1950" spc="30" baseline="25641" dirty="0">
                <a:latin typeface="Symbol"/>
                <a:cs typeface="Symbol"/>
              </a:rPr>
              <a:t></a:t>
            </a:r>
            <a:endParaRPr sz="1950" baseline="25641">
              <a:latin typeface="Symbol"/>
              <a:cs typeface="Symbol"/>
            </a:endParaRPr>
          </a:p>
          <a:p>
            <a:pPr marL="548640">
              <a:lnSpc>
                <a:spcPct val="100000"/>
              </a:lnSpc>
              <a:spcBef>
                <a:spcPts val="480"/>
              </a:spcBef>
            </a:pPr>
            <a:r>
              <a:rPr sz="2000" spc="-5" dirty="0">
                <a:latin typeface="Symbol"/>
                <a:cs typeface="Symbol"/>
              </a:rPr>
              <a:t></a:t>
            </a:r>
            <a:r>
              <a:rPr sz="1950" spc="30" baseline="25641" dirty="0">
                <a:latin typeface="Symbol"/>
                <a:cs typeface="Symbol"/>
              </a:rPr>
              <a:t></a:t>
            </a:r>
            <a:r>
              <a:rPr sz="1950" spc="-37" baseline="25641" dirty="0">
                <a:latin typeface="Times New Roman"/>
                <a:cs typeface="Times New Roman"/>
              </a:rPr>
              <a:t> </a:t>
            </a:r>
            <a:r>
              <a:rPr sz="2000" spc="-165" dirty="0">
                <a:latin typeface="Arial MT"/>
                <a:cs typeface="Arial MT"/>
              </a:rPr>
              <a:t>={</a:t>
            </a:r>
            <a:r>
              <a:rPr sz="2000" spc="-114" dirty="0">
                <a:latin typeface="Arial MT"/>
                <a:cs typeface="Arial MT"/>
              </a:rPr>
              <a:t>“</a:t>
            </a:r>
            <a:r>
              <a:rPr sz="2000" spc="-185" dirty="0">
                <a:latin typeface="Arial MT"/>
                <a:cs typeface="Arial MT"/>
              </a:rPr>
              <a:t>s</a:t>
            </a:r>
            <a:r>
              <a:rPr sz="2000" spc="-210" dirty="0">
                <a:latin typeface="Arial MT"/>
                <a:cs typeface="Arial MT"/>
              </a:rPr>
              <a:t>e</a:t>
            </a:r>
            <a:r>
              <a:rPr sz="2000" spc="-200" dirty="0">
                <a:latin typeface="Arial MT"/>
                <a:cs typeface="Arial MT"/>
              </a:rPr>
              <a:t>a</a:t>
            </a:r>
            <a:r>
              <a:rPr sz="2000" spc="-100" dirty="0">
                <a:latin typeface="Arial MT"/>
                <a:cs typeface="Arial MT"/>
              </a:rPr>
              <a:t> </a:t>
            </a:r>
            <a:r>
              <a:rPr sz="2000" spc="-204" dirty="0">
                <a:latin typeface="Arial MT"/>
                <a:cs typeface="Arial MT"/>
              </a:rPr>
              <a:t>b</a:t>
            </a:r>
            <a:r>
              <a:rPr sz="2000" spc="-210" dirty="0">
                <a:latin typeface="Arial MT"/>
                <a:cs typeface="Arial MT"/>
              </a:rPr>
              <a:t>a</a:t>
            </a:r>
            <a:r>
              <a:rPr sz="2000" spc="-185" dirty="0">
                <a:latin typeface="Arial MT"/>
                <a:cs typeface="Arial MT"/>
              </a:rPr>
              <a:t>s</a:t>
            </a:r>
            <a:r>
              <a:rPr sz="2000" spc="-195" dirty="0">
                <a:latin typeface="Arial MT"/>
                <a:cs typeface="Arial MT"/>
              </a:rPr>
              <a:t>s</a:t>
            </a:r>
            <a:r>
              <a:rPr sz="2000" spc="-110" dirty="0">
                <a:latin typeface="Arial MT"/>
                <a:cs typeface="Arial MT"/>
              </a:rPr>
              <a:t>”,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spc="-170" dirty="0">
                <a:latin typeface="Arial MT"/>
                <a:cs typeface="Arial MT"/>
              </a:rPr>
              <a:t>“sa</a:t>
            </a:r>
            <a:r>
              <a:rPr sz="2000" spc="-90" dirty="0">
                <a:latin typeface="Arial MT"/>
                <a:cs typeface="Arial MT"/>
              </a:rPr>
              <a:t>l</a:t>
            </a:r>
            <a:r>
              <a:rPr sz="2000" spc="-210" dirty="0">
                <a:latin typeface="Arial MT"/>
                <a:cs typeface="Arial MT"/>
              </a:rPr>
              <a:t>mon”</a:t>
            </a:r>
            <a:r>
              <a:rPr sz="2000" spc="-100" dirty="0">
                <a:latin typeface="Arial MT"/>
                <a:cs typeface="Arial MT"/>
              </a:rPr>
              <a:t>,</a:t>
            </a:r>
            <a:r>
              <a:rPr sz="2000" spc="-114" dirty="0">
                <a:latin typeface="Arial MT"/>
                <a:cs typeface="Arial MT"/>
              </a:rPr>
              <a:t> </a:t>
            </a:r>
            <a:r>
              <a:rPr sz="2000" spc="-110" dirty="0">
                <a:latin typeface="Arial MT"/>
                <a:cs typeface="Arial MT"/>
              </a:rPr>
              <a:t>“t</a:t>
            </a:r>
            <a:r>
              <a:rPr sz="2000" spc="-114" dirty="0">
                <a:latin typeface="Arial MT"/>
                <a:cs typeface="Arial MT"/>
              </a:rPr>
              <a:t>r</a:t>
            </a:r>
            <a:r>
              <a:rPr sz="2000" spc="-150" dirty="0">
                <a:latin typeface="Arial MT"/>
                <a:cs typeface="Arial MT"/>
              </a:rPr>
              <a:t>out”,</a:t>
            </a:r>
            <a:endParaRPr sz="2000">
              <a:latin typeface="Arial MT"/>
              <a:cs typeface="Arial MT"/>
            </a:endParaRPr>
          </a:p>
          <a:p>
            <a:pPr marL="434340">
              <a:lnSpc>
                <a:spcPct val="100000"/>
              </a:lnSpc>
            </a:pPr>
            <a:r>
              <a:rPr sz="2000" spc="-240" dirty="0">
                <a:latin typeface="Arial MT"/>
                <a:cs typeface="Arial MT"/>
              </a:rPr>
              <a:t>…}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343463" y="1271587"/>
            <a:ext cx="4600575" cy="4886325"/>
            <a:chOff x="4343463" y="1271587"/>
            <a:chExt cx="4600575" cy="4886325"/>
          </a:xfrm>
        </p:grpSpPr>
        <p:sp>
          <p:nvSpPr>
            <p:cNvPr id="5" name="object 5"/>
            <p:cNvSpPr/>
            <p:nvPr/>
          </p:nvSpPr>
          <p:spPr>
            <a:xfrm>
              <a:off x="4357751" y="1285875"/>
              <a:ext cx="4572000" cy="4857750"/>
            </a:xfrm>
            <a:custGeom>
              <a:avLst/>
              <a:gdLst/>
              <a:ahLst/>
              <a:cxnLst/>
              <a:rect l="l" t="t" r="r" b="b"/>
              <a:pathLst>
                <a:path w="4572000" h="4857750">
                  <a:moveTo>
                    <a:pt x="4572000" y="0"/>
                  </a:moveTo>
                  <a:lnTo>
                    <a:pt x="0" y="0"/>
                  </a:lnTo>
                  <a:lnTo>
                    <a:pt x="0" y="4857750"/>
                  </a:lnTo>
                  <a:lnTo>
                    <a:pt x="4572000" y="4857750"/>
                  </a:lnTo>
                  <a:lnTo>
                    <a:pt x="45720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357751" y="1285875"/>
              <a:ext cx="4572000" cy="4857750"/>
            </a:xfrm>
            <a:custGeom>
              <a:avLst/>
              <a:gdLst/>
              <a:ahLst/>
              <a:cxnLst/>
              <a:rect l="l" t="t" r="r" b="b"/>
              <a:pathLst>
                <a:path w="4572000" h="4857750">
                  <a:moveTo>
                    <a:pt x="0" y="4857750"/>
                  </a:moveTo>
                  <a:lnTo>
                    <a:pt x="4572000" y="4857750"/>
                  </a:lnTo>
                  <a:lnTo>
                    <a:pt x="4572000" y="0"/>
                  </a:lnTo>
                  <a:lnTo>
                    <a:pt x="0" y="0"/>
                  </a:lnTo>
                  <a:lnTo>
                    <a:pt x="0" y="4857750"/>
                  </a:lnTo>
                  <a:close/>
                </a:path>
              </a:pathLst>
            </a:custGeom>
            <a:ln w="28575">
              <a:solidFill>
                <a:srgbClr val="808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386326" y="1236824"/>
            <a:ext cx="4490085" cy="4309745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690"/>
              </a:spcBef>
            </a:pPr>
            <a:r>
              <a:rPr sz="2400" spc="-315" dirty="0">
                <a:latin typeface="Arial MT"/>
                <a:cs typeface="Arial MT"/>
              </a:rPr>
              <a:t>D</a:t>
            </a:r>
            <a:r>
              <a:rPr sz="2400" spc="-110" dirty="0">
                <a:latin typeface="Arial MT"/>
                <a:cs typeface="Arial MT"/>
              </a:rPr>
              <a:t>i</a:t>
            </a:r>
            <a:r>
              <a:rPr sz="2400" spc="-250" dirty="0">
                <a:latin typeface="Arial MT"/>
                <a:cs typeface="Arial MT"/>
              </a:rPr>
              <a:t>ag</a:t>
            </a:r>
            <a:r>
              <a:rPr sz="2400" spc="-254" dirty="0">
                <a:latin typeface="Arial MT"/>
                <a:cs typeface="Arial MT"/>
              </a:rPr>
              <a:t>n</a:t>
            </a:r>
            <a:r>
              <a:rPr sz="2400" spc="-190" dirty="0">
                <a:latin typeface="Arial MT"/>
                <a:cs typeface="Arial MT"/>
              </a:rPr>
              <a:t>osi</a:t>
            </a:r>
            <a:r>
              <a:rPr sz="2400" spc="-220" dirty="0">
                <a:latin typeface="Arial MT"/>
                <a:cs typeface="Arial MT"/>
              </a:rPr>
              <a:t>s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40" dirty="0">
                <a:latin typeface="Arial MT"/>
                <a:cs typeface="Arial MT"/>
              </a:rPr>
              <a:t>Medis</a:t>
            </a:r>
            <a:endParaRPr sz="2400">
              <a:latin typeface="Arial MT"/>
              <a:cs typeface="Arial MT"/>
            </a:endParaRPr>
          </a:p>
          <a:p>
            <a:pPr marL="63500">
              <a:lnSpc>
                <a:spcPct val="100000"/>
              </a:lnSpc>
              <a:spcBef>
                <a:spcPts val="495"/>
              </a:spcBef>
            </a:pPr>
            <a:r>
              <a:rPr sz="2000" spc="-225" dirty="0">
                <a:latin typeface="Arial MT"/>
                <a:cs typeface="Arial MT"/>
              </a:rPr>
              <a:t>X=</a:t>
            </a:r>
            <a:r>
              <a:rPr sz="2000" spc="-100" dirty="0">
                <a:latin typeface="Arial MT"/>
                <a:cs typeface="Arial MT"/>
              </a:rPr>
              <a:t> </a:t>
            </a:r>
            <a:r>
              <a:rPr sz="2000" spc="-195" dirty="0">
                <a:latin typeface="Arial MT"/>
                <a:cs typeface="Arial MT"/>
              </a:rPr>
              <a:t>s</a:t>
            </a:r>
            <a:r>
              <a:rPr sz="2000" spc="-240" dirty="0">
                <a:latin typeface="Arial MT"/>
                <a:cs typeface="Arial MT"/>
              </a:rPr>
              <a:t>emu</a:t>
            </a:r>
            <a:r>
              <a:rPr sz="2000" spc="-200" dirty="0">
                <a:latin typeface="Arial MT"/>
                <a:cs typeface="Arial MT"/>
              </a:rPr>
              <a:t>a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spc="-204" dirty="0">
                <a:latin typeface="Arial MT"/>
                <a:cs typeface="Arial MT"/>
              </a:rPr>
              <a:t>ha</a:t>
            </a:r>
            <a:r>
              <a:rPr sz="2000" spc="-195" dirty="0">
                <a:latin typeface="Arial MT"/>
                <a:cs typeface="Arial MT"/>
              </a:rPr>
              <a:t>s</a:t>
            </a:r>
            <a:r>
              <a:rPr sz="2000" spc="-85" dirty="0">
                <a:latin typeface="Arial MT"/>
                <a:cs typeface="Arial MT"/>
              </a:rPr>
              <a:t>i</a:t>
            </a:r>
            <a:r>
              <a:rPr sz="2000" spc="-80" dirty="0">
                <a:latin typeface="Arial MT"/>
                <a:cs typeface="Arial MT"/>
              </a:rPr>
              <a:t>l</a:t>
            </a:r>
            <a:r>
              <a:rPr sz="2000" spc="-100" dirty="0">
                <a:latin typeface="Arial MT"/>
                <a:cs typeface="Arial MT"/>
              </a:rPr>
              <a:t> </a:t>
            </a:r>
            <a:r>
              <a:rPr sz="2000" spc="-155" dirty="0">
                <a:latin typeface="Arial MT"/>
                <a:cs typeface="Arial MT"/>
              </a:rPr>
              <a:t>te</a:t>
            </a:r>
            <a:r>
              <a:rPr sz="2000" spc="-190" dirty="0">
                <a:latin typeface="Arial MT"/>
                <a:cs typeface="Arial MT"/>
              </a:rPr>
              <a:t>s</a:t>
            </a:r>
            <a:r>
              <a:rPr sz="2000" spc="-100" dirty="0">
                <a:latin typeface="Arial MT"/>
                <a:cs typeface="Arial MT"/>
              </a:rPr>
              <a:t>t</a:t>
            </a:r>
            <a:r>
              <a:rPr sz="2000" spc="-114" dirty="0">
                <a:latin typeface="Arial MT"/>
                <a:cs typeface="Arial MT"/>
              </a:rPr>
              <a:t> </a:t>
            </a:r>
            <a:r>
              <a:rPr sz="2000" spc="-240" dirty="0">
                <a:latin typeface="Arial MT"/>
                <a:cs typeface="Arial MT"/>
              </a:rPr>
              <a:t>med</a:t>
            </a:r>
            <a:r>
              <a:rPr sz="2000" spc="-95" dirty="0">
                <a:latin typeface="Arial MT"/>
                <a:cs typeface="Arial MT"/>
              </a:rPr>
              <a:t>i</a:t>
            </a:r>
            <a:r>
              <a:rPr sz="2000" spc="-185" dirty="0">
                <a:latin typeface="Arial MT"/>
                <a:cs typeface="Arial MT"/>
              </a:rPr>
              <a:t>s</a:t>
            </a:r>
            <a:r>
              <a:rPr sz="2000" spc="-100" dirty="0">
                <a:latin typeface="Arial MT"/>
                <a:cs typeface="Arial MT"/>
              </a:rPr>
              <a:t>,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spc="-190" dirty="0">
                <a:latin typeface="Arial MT"/>
                <a:cs typeface="Arial MT"/>
              </a:rPr>
              <a:t>c</a:t>
            </a:r>
            <a:r>
              <a:rPr sz="2000" spc="-105" dirty="0">
                <a:latin typeface="Arial MT"/>
                <a:cs typeface="Arial MT"/>
              </a:rPr>
              <a:t>itr</a:t>
            </a:r>
            <a:r>
              <a:rPr sz="2000" spc="-200" dirty="0">
                <a:latin typeface="Arial MT"/>
                <a:cs typeface="Arial MT"/>
              </a:rPr>
              <a:t>a</a:t>
            </a:r>
            <a:r>
              <a:rPr sz="2000" spc="-100" dirty="0">
                <a:latin typeface="Arial MT"/>
                <a:cs typeface="Arial MT"/>
              </a:rPr>
              <a:t> </a:t>
            </a:r>
            <a:r>
              <a:rPr sz="2000" spc="-204" dirty="0">
                <a:latin typeface="Arial MT"/>
                <a:cs typeface="Arial MT"/>
              </a:rPr>
              <a:t>h</a:t>
            </a:r>
            <a:r>
              <a:rPr sz="2000" spc="-210" dirty="0">
                <a:latin typeface="Arial MT"/>
                <a:cs typeface="Arial MT"/>
              </a:rPr>
              <a:t>a</a:t>
            </a:r>
            <a:r>
              <a:rPr sz="2000" spc="-185" dirty="0">
                <a:latin typeface="Arial MT"/>
                <a:cs typeface="Arial MT"/>
              </a:rPr>
              <a:t>s</a:t>
            </a:r>
            <a:r>
              <a:rPr sz="2000" spc="-95" dirty="0">
                <a:latin typeface="Arial MT"/>
                <a:cs typeface="Arial MT"/>
              </a:rPr>
              <a:t>i</a:t>
            </a:r>
            <a:r>
              <a:rPr sz="2000" spc="-80" dirty="0">
                <a:latin typeface="Arial MT"/>
                <a:cs typeface="Arial MT"/>
              </a:rPr>
              <a:t>l</a:t>
            </a:r>
            <a:r>
              <a:rPr sz="2000" spc="-100" dirty="0">
                <a:latin typeface="Arial MT"/>
                <a:cs typeface="Arial MT"/>
              </a:rPr>
              <a:t> </a:t>
            </a:r>
            <a:r>
              <a:rPr sz="2000" spc="-185" dirty="0">
                <a:latin typeface="Arial MT"/>
                <a:cs typeface="Arial MT"/>
              </a:rPr>
              <a:t>s</a:t>
            </a:r>
            <a:r>
              <a:rPr sz="2000" spc="-195" dirty="0">
                <a:latin typeface="Arial MT"/>
                <a:cs typeface="Arial MT"/>
              </a:rPr>
              <a:t>c</a:t>
            </a:r>
            <a:r>
              <a:rPr sz="2000" spc="-204" dirty="0">
                <a:latin typeface="Arial MT"/>
                <a:cs typeface="Arial MT"/>
              </a:rPr>
              <a:t>an</a:t>
            </a:r>
            <a:endParaRPr sz="2000">
              <a:latin typeface="Arial MT"/>
              <a:cs typeface="Arial MT"/>
            </a:endParaRPr>
          </a:p>
          <a:p>
            <a:pPr marL="63500">
              <a:lnSpc>
                <a:spcPct val="100000"/>
              </a:lnSpc>
              <a:spcBef>
                <a:spcPts val="480"/>
              </a:spcBef>
            </a:pPr>
            <a:r>
              <a:rPr sz="2000" spc="-180" dirty="0">
                <a:latin typeface="Arial MT"/>
                <a:cs typeface="Arial MT"/>
              </a:rPr>
              <a:t>x</a:t>
            </a:r>
            <a:r>
              <a:rPr sz="2000" spc="-105" dirty="0">
                <a:latin typeface="Arial MT"/>
                <a:cs typeface="Arial MT"/>
              </a:rPr>
              <a:t> </a:t>
            </a:r>
            <a:r>
              <a:rPr sz="2000" spc="-175" dirty="0">
                <a:latin typeface="Arial MT"/>
                <a:cs typeface="Arial MT"/>
              </a:rPr>
              <a:t>=(b</a:t>
            </a:r>
            <a:r>
              <a:rPr sz="2000" spc="-90" dirty="0">
                <a:latin typeface="Arial MT"/>
                <a:cs typeface="Arial MT"/>
              </a:rPr>
              <a:t>l</a:t>
            </a:r>
            <a:r>
              <a:rPr sz="2000" spc="-204" dirty="0">
                <a:latin typeface="Arial MT"/>
                <a:cs typeface="Arial MT"/>
              </a:rPr>
              <a:t>oo</a:t>
            </a:r>
            <a:r>
              <a:rPr sz="2000" spc="-200" dirty="0">
                <a:latin typeface="Arial MT"/>
                <a:cs typeface="Arial MT"/>
              </a:rPr>
              <a:t>d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spc="-180" dirty="0">
                <a:latin typeface="Arial MT"/>
                <a:cs typeface="Arial MT"/>
              </a:rPr>
              <a:t>pre</a:t>
            </a:r>
            <a:r>
              <a:rPr sz="2000" spc="-195" dirty="0">
                <a:latin typeface="Arial MT"/>
                <a:cs typeface="Arial MT"/>
              </a:rPr>
              <a:t>s</a:t>
            </a:r>
            <a:r>
              <a:rPr sz="2000" spc="-190" dirty="0">
                <a:latin typeface="Arial MT"/>
                <a:cs typeface="Arial MT"/>
              </a:rPr>
              <a:t>s</a:t>
            </a:r>
            <a:r>
              <a:rPr sz="2000" spc="-180" dirty="0">
                <a:latin typeface="Arial MT"/>
                <a:cs typeface="Arial MT"/>
              </a:rPr>
              <a:t>ure</a:t>
            </a:r>
            <a:r>
              <a:rPr sz="2000" spc="-100" dirty="0">
                <a:latin typeface="Arial MT"/>
                <a:cs typeface="Arial MT"/>
              </a:rPr>
              <a:t>,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spc="-204" dirty="0">
                <a:latin typeface="Arial MT"/>
                <a:cs typeface="Arial MT"/>
              </a:rPr>
              <a:t>g</a:t>
            </a:r>
            <a:r>
              <a:rPr sz="2000" spc="-90" dirty="0">
                <a:latin typeface="Arial MT"/>
                <a:cs typeface="Arial MT"/>
              </a:rPr>
              <a:t>l</a:t>
            </a:r>
            <a:r>
              <a:rPr sz="2000" spc="-204" dirty="0">
                <a:latin typeface="Arial MT"/>
                <a:cs typeface="Arial MT"/>
              </a:rPr>
              <a:t>u</a:t>
            </a:r>
            <a:r>
              <a:rPr sz="2000" spc="-195" dirty="0">
                <a:latin typeface="Arial MT"/>
                <a:cs typeface="Arial MT"/>
              </a:rPr>
              <a:t>c</a:t>
            </a:r>
            <a:r>
              <a:rPr sz="2000" spc="-204" dirty="0">
                <a:latin typeface="Arial MT"/>
                <a:cs typeface="Arial MT"/>
              </a:rPr>
              <a:t>o</a:t>
            </a:r>
            <a:r>
              <a:rPr sz="2000" spc="-195" dirty="0">
                <a:latin typeface="Arial MT"/>
                <a:cs typeface="Arial MT"/>
              </a:rPr>
              <a:t>s</a:t>
            </a:r>
            <a:r>
              <a:rPr sz="2000" spc="-200" dirty="0">
                <a:latin typeface="Arial MT"/>
                <a:cs typeface="Arial MT"/>
              </a:rPr>
              <a:t>e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spc="-85" dirty="0">
                <a:latin typeface="Arial MT"/>
                <a:cs typeface="Arial MT"/>
              </a:rPr>
              <a:t>l</a:t>
            </a:r>
            <a:r>
              <a:rPr sz="2000" spc="-210" dirty="0">
                <a:latin typeface="Arial MT"/>
                <a:cs typeface="Arial MT"/>
              </a:rPr>
              <a:t>e</a:t>
            </a:r>
            <a:r>
              <a:rPr sz="2000" spc="-190" dirty="0">
                <a:latin typeface="Arial MT"/>
                <a:cs typeface="Arial MT"/>
              </a:rPr>
              <a:t>v</a:t>
            </a:r>
            <a:r>
              <a:rPr sz="2000" spc="-204" dirty="0">
                <a:latin typeface="Arial MT"/>
                <a:cs typeface="Arial MT"/>
              </a:rPr>
              <a:t>e</a:t>
            </a:r>
            <a:r>
              <a:rPr sz="2000" spc="-90" dirty="0">
                <a:latin typeface="Arial MT"/>
                <a:cs typeface="Arial MT"/>
              </a:rPr>
              <a:t>l</a:t>
            </a:r>
            <a:r>
              <a:rPr sz="2000" spc="-100" dirty="0">
                <a:latin typeface="Arial MT"/>
                <a:cs typeface="Arial MT"/>
              </a:rPr>
              <a:t>,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200" dirty="0">
                <a:latin typeface="Arial MT"/>
                <a:cs typeface="Arial MT"/>
              </a:rPr>
              <a:t> </a:t>
            </a:r>
            <a:r>
              <a:rPr sz="2000" spc="-195" dirty="0">
                <a:latin typeface="Arial MT"/>
                <a:cs typeface="Arial MT"/>
              </a:rPr>
              <a:t>c</a:t>
            </a:r>
            <a:r>
              <a:rPr sz="2000" spc="-204" dirty="0">
                <a:latin typeface="Arial MT"/>
                <a:cs typeface="Arial MT"/>
              </a:rPr>
              <a:t>ou</a:t>
            </a:r>
            <a:r>
              <a:rPr sz="2000" spc="-210" dirty="0">
                <a:latin typeface="Arial MT"/>
                <a:cs typeface="Arial MT"/>
              </a:rPr>
              <a:t>g</a:t>
            </a:r>
            <a:r>
              <a:rPr sz="2000" spc="-204" dirty="0">
                <a:latin typeface="Arial MT"/>
                <a:cs typeface="Arial MT"/>
              </a:rPr>
              <a:t>h</a:t>
            </a:r>
            <a:r>
              <a:rPr sz="2000" spc="-100" dirty="0">
                <a:latin typeface="Arial MT"/>
                <a:cs typeface="Arial MT"/>
              </a:rPr>
              <a:t>, </a:t>
            </a:r>
            <a:r>
              <a:rPr sz="2000" spc="-190" dirty="0">
                <a:latin typeface="Arial MT"/>
                <a:cs typeface="Arial MT"/>
              </a:rPr>
              <a:t>x</a:t>
            </a:r>
            <a:r>
              <a:rPr sz="2000" spc="-120" dirty="0">
                <a:latin typeface="Arial MT"/>
                <a:cs typeface="Arial MT"/>
              </a:rPr>
              <a:t>-</a:t>
            </a:r>
            <a:endParaRPr sz="2000">
              <a:latin typeface="Arial MT"/>
              <a:cs typeface="Arial MT"/>
            </a:endParaRPr>
          </a:p>
          <a:p>
            <a:pPr marL="406400">
              <a:lnSpc>
                <a:spcPct val="100000"/>
              </a:lnSpc>
            </a:pPr>
            <a:r>
              <a:rPr sz="2000" spc="-180" dirty="0">
                <a:latin typeface="Arial MT"/>
                <a:cs typeface="Arial MT"/>
              </a:rPr>
              <a:t>ray….)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>
              <a:latin typeface="Arial MT"/>
              <a:cs typeface="Arial MT"/>
            </a:endParaRPr>
          </a:p>
          <a:p>
            <a:pPr marL="63500">
              <a:lnSpc>
                <a:spcPct val="100000"/>
              </a:lnSpc>
            </a:pPr>
            <a:r>
              <a:rPr sz="2000" spc="-260" dirty="0">
                <a:latin typeface="Arial MT"/>
                <a:cs typeface="Arial MT"/>
              </a:rPr>
              <a:t>w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spc="-210" dirty="0">
                <a:latin typeface="Arial MT"/>
                <a:cs typeface="Arial MT"/>
              </a:rPr>
              <a:t>merupa</a:t>
            </a:r>
            <a:r>
              <a:rPr sz="2000" spc="-190" dirty="0">
                <a:latin typeface="Arial MT"/>
                <a:cs typeface="Arial MT"/>
              </a:rPr>
              <a:t>k</a:t>
            </a:r>
            <a:r>
              <a:rPr sz="2000" spc="-204" dirty="0">
                <a:latin typeface="Arial MT"/>
                <a:cs typeface="Arial MT"/>
              </a:rPr>
              <a:t>a</a:t>
            </a:r>
            <a:r>
              <a:rPr sz="2000" spc="-200" dirty="0">
                <a:latin typeface="Arial MT"/>
                <a:cs typeface="Arial MT"/>
              </a:rPr>
              <a:t>n</a:t>
            </a:r>
            <a:r>
              <a:rPr sz="2000" spc="-100" dirty="0">
                <a:latin typeface="Arial MT"/>
                <a:cs typeface="Arial MT"/>
              </a:rPr>
              <a:t> </a:t>
            </a:r>
            <a:r>
              <a:rPr sz="2000" spc="-105" dirty="0">
                <a:latin typeface="Arial MT"/>
                <a:cs typeface="Arial MT"/>
              </a:rPr>
              <a:t>t</a:t>
            </a:r>
            <a:r>
              <a:rPr sz="2000" spc="-95" dirty="0">
                <a:latin typeface="Arial MT"/>
                <a:cs typeface="Arial MT"/>
              </a:rPr>
              <a:t>i</a:t>
            </a:r>
            <a:r>
              <a:rPr sz="2000" spc="-204" dirty="0">
                <a:latin typeface="Arial MT"/>
                <a:cs typeface="Arial MT"/>
              </a:rPr>
              <a:t>p</a:t>
            </a:r>
            <a:r>
              <a:rPr sz="2000" spc="-200" dirty="0">
                <a:latin typeface="Arial MT"/>
                <a:cs typeface="Arial MT"/>
              </a:rPr>
              <a:t>e</a:t>
            </a:r>
            <a:r>
              <a:rPr sz="2000" spc="-100" dirty="0">
                <a:latin typeface="Arial MT"/>
                <a:cs typeface="Arial MT"/>
              </a:rPr>
              <a:t> </a:t>
            </a:r>
            <a:r>
              <a:rPr sz="2000" spc="-195" dirty="0">
                <a:latin typeface="Arial MT"/>
                <a:cs typeface="Arial MT"/>
              </a:rPr>
              <a:t>s</a:t>
            </a:r>
            <a:r>
              <a:rPr sz="2000" spc="-204" dirty="0">
                <a:latin typeface="Arial MT"/>
                <a:cs typeface="Arial MT"/>
              </a:rPr>
              <a:t>a</a:t>
            </a:r>
            <a:r>
              <a:rPr sz="2000" spc="-190" dirty="0">
                <a:latin typeface="Arial MT"/>
                <a:cs typeface="Arial MT"/>
              </a:rPr>
              <a:t>k</a:t>
            </a:r>
            <a:r>
              <a:rPr sz="2000" spc="-85" dirty="0">
                <a:latin typeface="Arial MT"/>
                <a:cs typeface="Arial MT"/>
              </a:rPr>
              <a:t>i</a:t>
            </a:r>
            <a:r>
              <a:rPr sz="2000" spc="-100" dirty="0">
                <a:latin typeface="Arial MT"/>
                <a:cs typeface="Arial MT"/>
              </a:rPr>
              <a:t>t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spc="-185" dirty="0">
                <a:latin typeface="Arial MT"/>
                <a:cs typeface="Arial MT"/>
              </a:rPr>
              <a:t>y</a:t>
            </a:r>
            <a:r>
              <a:rPr sz="2000" spc="-210" dirty="0">
                <a:latin typeface="Arial MT"/>
                <a:cs typeface="Arial MT"/>
              </a:rPr>
              <a:t>a</a:t>
            </a:r>
            <a:r>
              <a:rPr sz="2000" spc="-204" dirty="0">
                <a:latin typeface="Arial MT"/>
                <a:cs typeface="Arial MT"/>
              </a:rPr>
              <a:t>n</a:t>
            </a:r>
            <a:r>
              <a:rPr sz="2000" spc="-200" dirty="0">
                <a:latin typeface="Arial MT"/>
                <a:cs typeface="Arial MT"/>
              </a:rPr>
              <a:t>g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spc="-204" dirty="0">
                <a:latin typeface="Arial MT"/>
                <a:cs typeface="Arial MT"/>
              </a:rPr>
              <a:t>d</a:t>
            </a:r>
            <a:r>
              <a:rPr sz="2000" spc="-90" dirty="0">
                <a:latin typeface="Arial MT"/>
                <a:cs typeface="Arial MT"/>
              </a:rPr>
              <a:t>i</a:t>
            </a:r>
            <a:r>
              <a:rPr sz="2000" spc="-155" dirty="0">
                <a:latin typeface="Arial MT"/>
                <a:cs typeface="Arial MT"/>
              </a:rPr>
              <a:t>derita</a:t>
            </a:r>
            <a:endParaRPr sz="2000">
              <a:latin typeface="Arial MT"/>
              <a:cs typeface="Arial MT"/>
            </a:endParaRPr>
          </a:p>
          <a:p>
            <a:pPr marL="406400" marR="55880" indent="114300">
              <a:lnSpc>
                <a:spcPct val="100000"/>
              </a:lnSpc>
              <a:spcBef>
                <a:spcPts val="484"/>
              </a:spcBef>
            </a:pPr>
            <a:r>
              <a:rPr sz="2000" spc="-5" dirty="0">
                <a:latin typeface="Symbol"/>
                <a:cs typeface="Symbol"/>
              </a:rPr>
              <a:t></a:t>
            </a:r>
            <a:r>
              <a:rPr sz="1950" spc="-150" baseline="25641" dirty="0">
                <a:latin typeface="Arial MT"/>
                <a:cs typeface="Arial MT"/>
              </a:rPr>
              <a:t>c</a:t>
            </a:r>
            <a:r>
              <a:rPr sz="2000" spc="-165" dirty="0">
                <a:latin typeface="Arial MT"/>
                <a:cs typeface="Arial MT"/>
              </a:rPr>
              <a:t>={</a:t>
            </a:r>
            <a:r>
              <a:rPr sz="2000" spc="-114" dirty="0">
                <a:latin typeface="Arial MT"/>
                <a:cs typeface="Arial MT"/>
              </a:rPr>
              <a:t>“</a:t>
            </a:r>
            <a:r>
              <a:rPr sz="2000" spc="-145" dirty="0">
                <a:latin typeface="Arial MT"/>
                <a:cs typeface="Arial MT"/>
              </a:rPr>
              <a:t>Flu”,</a:t>
            </a:r>
            <a:r>
              <a:rPr sz="2000" spc="-125" dirty="0">
                <a:latin typeface="Arial MT"/>
                <a:cs typeface="Arial MT"/>
              </a:rPr>
              <a:t> </a:t>
            </a:r>
            <a:r>
              <a:rPr sz="2000" spc="-170" dirty="0">
                <a:latin typeface="Arial MT"/>
                <a:cs typeface="Arial MT"/>
              </a:rPr>
              <a:t>“co</a:t>
            </a:r>
            <a:r>
              <a:rPr sz="2000" spc="-90" dirty="0">
                <a:latin typeface="Arial MT"/>
                <a:cs typeface="Arial MT"/>
              </a:rPr>
              <a:t>l</a:t>
            </a:r>
            <a:r>
              <a:rPr sz="2000" spc="-165" dirty="0">
                <a:latin typeface="Arial MT"/>
                <a:cs typeface="Arial MT"/>
              </a:rPr>
              <a:t>d”</a:t>
            </a:r>
            <a:r>
              <a:rPr sz="2000" spc="-100" dirty="0">
                <a:latin typeface="Arial MT"/>
                <a:cs typeface="Arial MT"/>
              </a:rPr>
              <a:t>, </a:t>
            </a:r>
            <a:r>
              <a:rPr sz="2000" spc="-120" dirty="0">
                <a:latin typeface="Arial MT"/>
                <a:cs typeface="Arial MT"/>
              </a:rPr>
              <a:t>“</a:t>
            </a:r>
            <a:r>
              <a:rPr sz="2000" spc="-170" dirty="0">
                <a:latin typeface="Arial MT"/>
                <a:cs typeface="Arial MT"/>
              </a:rPr>
              <a:t>TB”,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spc="-204" dirty="0">
                <a:latin typeface="Arial MT"/>
                <a:cs typeface="Arial MT"/>
              </a:rPr>
              <a:t>“pneumo</a:t>
            </a:r>
            <a:r>
              <a:rPr sz="2000" spc="-210" dirty="0">
                <a:latin typeface="Arial MT"/>
                <a:cs typeface="Arial MT"/>
              </a:rPr>
              <a:t>n</a:t>
            </a:r>
            <a:r>
              <a:rPr sz="2000" spc="-85" dirty="0">
                <a:latin typeface="Arial MT"/>
                <a:cs typeface="Arial MT"/>
              </a:rPr>
              <a:t>i</a:t>
            </a:r>
            <a:r>
              <a:rPr sz="2000" spc="-210" dirty="0">
                <a:latin typeface="Arial MT"/>
                <a:cs typeface="Arial MT"/>
              </a:rPr>
              <a:t>a</a:t>
            </a:r>
            <a:r>
              <a:rPr sz="2000" spc="-110" dirty="0">
                <a:latin typeface="Arial MT"/>
                <a:cs typeface="Arial MT"/>
              </a:rPr>
              <a:t>”,</a:t>
            </a:r>
            <a:r>
              <a:rPr sz="2000" spc="-120" dirty="0">
                <a:latin typeface="Arial MT"/>
                <a:cs typeface="Arial MT"/>
              </a:rPr>
              <a:t> </a:t>
            </a:r>
            <a:r>
              <a:rPr sz="2000" spc="-145" dirty="0">
                <a:latin typeface="Arial MT"/>
                <a:cs typeface="Arial MT"/>
              </a:rPr>
              <a:t>“lung  </a:t>
            </a:r>
            <a:r>
              <a:rPr sz="2000" spc="-190" dirty="0">
                <a:latin typeface="Arial MT"/>
                <a:cs typeface="Arial MT"/>
              </a:rPr>
              <a:t>cancer”…}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00">
              <a:latin typeface="Arial MT"/>
              <a:cs typeface="Arial MT"/>
            </a:endParaRPr>
          </a:p>
          <a:p>
            <a:pPr marL="63500">
              <a:lnSpc>
                <a:spcPct val="100000"/>
              </a:lnSpc>
            </a:pPr>
            <a:r>
              <a:rPr sz="2000" dirty="0">
                <a:latin typeface="Symbol"/>
                <a:cs typeface="Symbol"/>
              </a:rPr>
              <a:t>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210" dirty="0">
                <a:latin typeface="Arial MT"/>
                <a:cs typeface="Arial MT"/>
              </a:rPr>
              <a:t>merup</a:t>
            </a:r>
            <a:r>
              <a:rPr sz="2000" spc="-204" dirty="0">
                <a:latin typeface="Arial MT"/>
                <a:cs typeface="Arial MT"/>
              </a:rPr>
              <a:t>a</a:t>
            </a:r>
            <a:r>
              <a:rPr sz="2000" spc="-195" dirty="0">
                <a:latin typeface="Arial MT"/>
                <a:cs typeface="Arial MT"/>
              </a:rPr>
              <a:t>k</a:t>
            </a:r>
            <a:r>
              <a:rPr sz="2000" spc="-204" dirty="0">
                <a:latin typeface="Arial MT"/>
                <a:cs typeface="Arial MT"/>
              </a:rPr>
              <a:t>a</a:t>
            </a:r>
            <a:r>
              <a:rPr sz="2000" spc="-200" dirty="0">
                <a:latin typeface="Arial MT"/>
                <a:cs typeface="Arial MT"/>
              </a:rPr>
              <a:t>n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spc="-190" dirty="0">
                <a:latin typeface="Arial MT"/>
                <a:cs typeface="Arial MT"/>
              </a:rPr>
              <a:t>k</a:t>
            </a:r>
            <a:r>
              <a:rPr sz="2000" spc="-204" dirty="0">
                <a:latin typeface="Arial MT"/>
                <a:cs typeface="Arial MT"/>
              </a:rPr>
              <a:t>ep</a:t>
            </a:r>
            <a:r>
              <a:rPr sz="2000" spc="-210" dirty="0">
                <a:latin typeface="Arial MT"/>
                <a:cs typeface="Arial MT"/>
              </a:rPr>
              <a:t>u</a:t>
            </a:r>
            <a:r>
              <a:rPr sz="2000" spc="-155" dirty="0">
                <a:latin typeface="Arial MT"/>
                <a:cs typeface="Arial MT"/>
              </a:rPr>
              <a:t>tu</a:t>
            </a:r>
            <a:r>
              <a:rPr sz="2000" spc="-195" dirty="0">
                <a:latin typeface="Arial MT"/>
                <a:cs typeface="Arial MT"/>
              </a:rPr>
              <a:t>s</a:t>
            </a:r>
            <a:r>
              <a:rPr sz="2000" spc="-204" dirty="0">
                <a:latin typeface="Arial MT"/>
                <a:cs typeface="Arial MT"/>
              </a:rPr>
              <a:t>a</a:t>
            </a:r>
            <a:r>
              <a:rPr sz="2000" spc="-200" dirty="0">
                <a:latin typeface="Arial MT"/>
                <a:cs typeface="Arial MT"/>
              </a:rPr>
              <a:t>n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spc="-204" dirty="0">
                <a:latin typeface="Arial MT"/>
                <a:cs typeface="Arial MT"/>
              </a:rPr>
              <a:t>un</a:t>
            </a:r>
            <a:r>
              <a:rPr sz="2000" spc="-110" dirty="0">
                <a:latin typeface="Arial MT"/>
                <a:cs typeface="Arial MT"/>
              </a:rPr>
              <a:t>t</a:t>
            </a:r>
            <a:r>
              <a:rPr sz="2000" spc="-204" dirty="0">
                <a:latin typeface="Arial MT"/>
                <a:cs typeface="Arial MT"/>
              </a:rPr>
              <a:t>u</a:t>
            </a:r>
            <a:r>
              <a:rPr sz="2000" spc="-180" dirty="0">
                <a:latin typeface="Arial MT"/>
                <a:cs typeface="Arial MT"/>
              </a:rPr>
              <a:t>k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spc="-204" dirty="0">
                <a:latin typeface="Arial MT"/>
                <a:cs typeface="Arial MT"/>
              </a:rPr>
              <a:t>p</a:t>
            </a:r>
            <a:r>
              <a:rPr sz="2000" spc="-210" dirty="0">
                <a:latin typeface="Arial MT"/>
                <a:cs typeface="Arial MT"/>
              </a:rPr>
              <a:t>e</a:t>
            </a:r>
            <a:r>
              <a:rPr sz="2000" spc="-204" dirty="0">
                <a:latin typeface="Arial MT"/>
                <a:cs typeface="Arial MT"/>
              </a:rPr>
              <a:t>na</a:t>
            </a:r>
            <a:r>
              <a:rPr sz="2000" spc="-210" dirty="0">
                <a:latin typeface="Arial MT"/>
                <a:cs typeface="Arial MT"/>
              </a:rPr>
              <a:t>n</a:t>
            </a:r>
            <a:r>
              <a:rPr sz="2000" spc="-204" dirty="0">
                <a:latin typeface="Arial MT"/>
                <a:cs typeface="Arial MT"/>
              </a:rPr>
              <a:t>ga</a:t>
            </a:r>
            <a:r>
              <a:rPr sz="2000" spc="-210" dirty="0">
                <a:latin typeface="Arial MT"/>
                <a:cs typeface="Arial MT"/>
              </a:rPr>
              <a:t>n</a:t>
            </a:r>
            <a:r>
              <a:rPr sz="2000" spc="-204" dirty="0">
                <a:latin typeface="Arial MT"/>
                <a:cs typeface="Arial MT"/>
              </a:rPr>
              <a:t>an</a:t>
            </a:r>
            <a:endParaRPr sz="2000">
              <a:latin typeface="Arial MT"/>
              <a:cs typeface="Arial MT"/>
            </a:endParaRPr>
          </a:p>
          <a:p>
            <a:pPr marL="406400">
              <a:lnSpc>
                <a:spcPct val="100000"/>
              </a:lnSpc>
            </a:pPr>
            <a:r>
              <a:rPr sz="2000" spc="-185" dirty="0">
                <a:latin typeface="Arial MT"/>
                <a:cs typeface="Arial MT"/>
              </a:rPr>
              <a:t>y</a:t>
            </a:r>
            <a:r>
              <a:rPr sz="2000" spc="-210" dirty="0">
                <a:latin typeface="Arial MT"/>
                <a:cs typeface="Arial MT"/>
              </a:rPr>
              <a:t>a</a:t>
            </a:r>
            <a:r>
              <a:rPr sz="2000" spc="-204" dirty="0">
                <a:latin typeface="Arial MT"/>
                <a:cs typeface="Arial MT"/>
              </a:rPr>
              <a:t>n</a:t>
            </a:r>
            <a:r>
              <a:rPr sz="2000" spc="-200" dirty="0">
                <a:latin typeface="Arial MT"/>
                <a:cs typeface="Arial MT"/>
              </a:rPr>
              <a:t>g</a:t>
            </a:r>
            <a:r>
              <a:rPr sz="2000" spc="-100" dirty="0">
                <a:latin typeface="Arial MT"/>
                <a:cs typeface="Arial MT"/>
              </a:rPr>
              <a:t> </a:t>
            </a:r>
            <a:r>
              <a:rPr sz="2000" spc="-210" dirty="0">
                <a:latin typeface="Arial MT"/>
                <a:cs typeface="Arial MT"/>
              </a:rPr>
              <a:t>d</a:t>
            </a:r>
            <a:r>
              <a:rPr sz="2000" spc="-85" dirty="0">
                <a:latin typeface="Arial MT"/>
                <a:cs typeface="Arial MT"/>
              </a:rPr>
              <a:t>i</a:t>
            </a:r>
            <a:r>
              <a:rPr sz="2000" spc="-210" dirty="0">
                <a:latin typeface="Arial MT"/>
                <a:cs typeface="Arial MT"/>
              </a:rPr>
              <a:t>b</a:t>
            </a:r>
            <a:r>
              <a:rPr sz="2000" spc="-140" dirty="0">
                <a:latin typeface="Arial MT"/>
                <a:cs typeface="Arial MT"/>
              </a:rPr>
              <a:t>eri</a:t>
            </a:r>
            <a:r>
              <a:rPr sz="2000" spc="-190" dirty="0">
                <a:latin typeface="Arial MT"/>
                <a:cs typeface="Arial MT"/>
              </a:rPr>
              <a:t>k</a:t>
            </a:r>
            <a:r>
              <a:rPr sz="2000" spc="-204" dirty="0">
                <a:latin typeface="Arial MT"/>
                <a:cs typeface="Arial MT"/>
              </a:rPr>
              <a:t>a</a:t>
            </a:r>
            <a:r>
              <a:rPr sz="2000" spc="-200" dirty="0">
                <a:latin typeface="Arial MT"/>
                <a:cs typeface="Arial MT"/>
              </a:rPr>
              <a:t>n</a:t>
            </a:r>
            <a:r>
              <a:rPr sz="2000" spc="-95" dirty="0">
                <a:latin typeface="Arial MT"/>
                <a:cs typeface="Arial MT"/>
              </a:rPr>
              <a:t> </a:t>
            </a:r>
            <a:r>
              <a:rPr sz="2000" spc="-204" dirty="0">
                <a:latin typeface="Arial MT"/>
                <a:cs typeface="Arial MT"/>
              </a:rPr>
              <a:t>pad</a:t>
            </a:r>
            <a:r>
              <a:rPr sz="2000" spc="-200" dirty="0">
                <a:latin typeface="Arial MT"/>
                <a:cs typeface="Arial MT"/>
              </a:rPr>
              <a:t>a</a:t>
            </a:r>
            <a:r>
              <a:rPr sz="2000" spc="-110" dirty="0">
                <a:latin typeface="Arial MT"/>
                <a:cs typeface="Arial MT"/>
              </a:rPr>
              <a:t> </a:t>
            </a:r>
            <a:r>
              <a:rPr sz="2000" spc="-204" dirty="0">
                <a:latin typeface="Arial MT"/>
                <a:cs typeface="Arial MT"/>
              </a:rPr>
              <a:t>pa</a:t>
            </a:r>
            <a:r>
              <a:rPr sz="2000" spc="-195" dirty="0">
                <a:latin typeface="Arial MT"/>
                <a:cs typeface="Arial MT"/>
              </a:rPr>
              <a:t>s</a:t>
            </a:r>
            <a:r>
              <a:rPr sz="2000" spc="-85" dirty="0">
                <a:latin typeface="Arial MT"/>
                <a:cs typeface="Arial MT"/>
              </a:rPr>
              <a:t>i</a:t>
            </a:r>
            <a:r>
              <a:rPr sz="2000" spc="-210" dirty="0">
                <a:latin typeface="Arial MT"/>
                <a:cs typeface="Arial MT"/>
              </a:rPr>
              <a:t>e</a:t>
            </a:r>
            <a:r>
              <a:rPr sz="2000" spc="-155" dirty="0">
                <a:latin typeface="Arial MT"/>
                <a:cs typeface="Arial MT"/>
              </a:rPr>
              <a:t>n,</a:t>
            </a:r>
            <a:endParaRPr sz="2000">
              <a:latin typeface="Arial MT"/>
              <a:cs typeface="Arial MT"/>
            </a:endParaRPr>
          </a:p>
          <a:p>
            <a:pPr marL="520700">
              <a:lnSpc>
                <a:spcPct val="100000"/>
              </a:lnSpc>
              <a:spcBef>
                <a:spcPts val="480"/>
              </a:spcBef>
            </a:pPr>
            <a:r>
              <a:rPr sz="2000" spc="-5" dirty="0">
                <a:latin typeface="Symbol"/>
                <a:cs typeface="Symbol"/>
              </a:rPr>
              <a:t></a:t>
            </a:r>
            <a:r>
              <a:rPr sz="1950" spc="30" baseline="25641" dirty="0">
                <a:latin typeface="Symbol"/>
                <a:cs typeface="Symbol"/>
              </a:rPr>
              <a:t></a:t>
            </a:r>
            <a:r>
              <a:rPr sz="1950" spc="15" baseline="25641" dirty="0">
                <a:latin typeface="Times New Roman"/>
                <a:cs typeface="Times New Roman"/>
              </a:rPr>
              <a:t> </a:t>
            </a:r>
            <a:r>
              <a:rPr sz="2000" spc="-165" dirty="0">
                <a:latin typeface="Arial MT"/>
                <a:cs typeface="Arial MT"/>
              </a:rPr>
              <a:t>={</a:t>
            </a:r>
            <a:r>
              <a:rPr sz="2000" spc="-114" dirty="0">
                <a:latin typeface="Arial MT"/>
                <a:cs typeface="Arial MT"/>
              </a:rPr>
              <a:t>“</a:t>
            </a:r>
            <a:r>
              <a:rPr sz="2000" spc="-305" dirty="0">
                <a:latin typeface="Arial MT"/>
                <a:cs typeface="Arial MT"/>
              </a:rPr>
              <a:t>T</a:t>
            </a:r>
            <a:r>
              <a:rPr sz="2000" spc="-185" dirty="0">
                <a:latin typeface="Arial MT"/>
                <a:cs typeface="Arial MT"/>
              </a:rPr>
              <a:t>y</a:t>
            </a:r>
            <a:r>
              <a:rPr sz="2000" spc="-95" dirty="0">
                <a:latin typeface="Arial MT"/>
                <a:cs typeface="Arial MT"/>
              </a:rPr>
              <a:t>l</a:t>
            </a:r>
            <a:r>
              <a:rPr sz="2000" spc="-204" dirty="0">
                <a:latin typeface="Arial MT"/>
                <a:cs typeface="Arial MT"/>
              </a:rPr>
              <a:t>eno</a:t>
            </a:r>
            <a:r>
              <a:rPr sz="2000" spc="-95" dirty="0">
                <a:latin typeface="Arial MT"/>
                <a:cs typeface="Arial MT"/>
              </a:rPr>
              <a:t>l</a:t>
            </a:r>
            <a:r>
              <a:rPr sz="2000" spc="-110" dirty="0">
                <a:latin typeface="Arial MT"/>
                <a:cs typeface="Arial MT"/>
              </a:rPr>
              <a:t>”,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210" dirty="0">
                <a:latin typeface="Arial MT"/>
                <a:cs typeface="Arial MT"/>
              </a:rPr>
              <a:t> </a:t>
            </a:r>
            <a:r>
              <a:rPr sz="2000" spc="-195" dirty="0">
                <a:latin typeface="Arial MT"/>
                <a:cs typeface="Arial MT"/>
              </a:rPr>
              <a:t>“Hosp</a:t>
            </a:r>
            <a:r>
              <a:rPr sz="2000" spc="-90" dirty="0">
                <a:latin typeface="Arial MT"/>
                <a:cs typeface="Arial MT"/>
              </a:rPr>
              <a:t>i</a:t>
            </a:r>
            <a:r>
              <a:rPr sz="2000" spc="-155" dirty="0">
                <a:latin typeface="Arial MT"/>
                <a:cs typeface="Arial MT"/>
              </a:rPr>
              <a:t>ta</a:t>
            </a:r>
            <a:r>
              <a:rPr sz="2000" spc="-90" dirty="0">
                <a:latin typeface="Arial MT"/>
                <a:cs typeface="Arial MT"/>
              </a:rPr>
              <a:t>l</a:t>
            </a:r>
            <a:r>
              <a:rPr sz="2000" spc="-85" dirty="0">
                <a:latin typeface="Arial MT"/>
                <a:cs typeface="Arial MT"/>
              </a:rPr>
              <a:t>i</a:t>
            </a:r>
            <a:r>
              <a:rPr sz="2000" spc="-195" dirty="0">
                <a:latin typeface="Arial MT"/>
                <a:cs typeface="Arial MT"/>
              </a:rPr>
              <a:t>z</a:t>
            </a:r>
            <a:r>
              <a:rPr sz="2000" spc="-165" dirty="0">
                <a:latin typeface="Arial MT"/>
                <a:cs typeface="Arial MT"/>
              </a:rPr>
              <a:t>e”</a:t>
            </a:r>
            <a:r>
              <a:rPr sz="2000" spc="-100" dirty="0">
                <a:latin typeface="Arial MT"/>
                <a:cs typeface="Arial MT"/>
              </a:rPr>
              <a:t>, </a:t>
            </a:r>
            <a:r>
              <a:rPr sz="2000" spc="-240" dirty="0">
                <a:latin typeface="Arial MT"/>
                <a:cs typeface="Arial MT"/>
              </a:rPr>
              <a:t>…}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88157" y="264617"/>
            <a:ext cx="35725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Fokus</a:t>
            </a:r>
            <a:r>
              <a:rPr spc="5" dirty="0"/>
              <a:t> </a:t>
            </a:r>
            <a:r>
              <a:rPr dirty="0"/>
              <a:t>Metode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4219447"/>
            <a:ext cx="7523480" cy="19634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55600" marR="5080" indent="-343535">
              <a:lnSpc>
                <a:spcPct val="99100"/>
              </a:lnSpc>
              <a:spcBef>
                <a:spcPts val="135"/>
              </a:spcBef>
              <a:buChar char="•"/>
              <a:tabLst>
                <a:tab pos="355600" algn="l"/>
                <a:tab pos="356235" algn="l"/>
              </a:tabLst>
            </a:pPr>
            <a:r>
              <a:rPr sz="3200" spc="-335" dirty="0">
                <a:latin typeface="Arial MT"/>
                <a:cs typeface="Arial MT"/>
              </a:rPr>
              <a:t>Pada</a:t>
            </a:r>
            <a:r>
              <a:rPr sz="3200" spc="-160" dirty="0">
                <a:latin typeface="Arial MT"/>
                <a:cs typeface="Arial MT"/>
              </a:rPr>
              <a:t> </a:t>
            </a:r>
            <a:r>
              <a:rPr sz="3200" spc="-229" dirty="0">
                <a:latin typeface="Arial MT"/>
                <a:cs typeface="Arial MT"/>
              </a:rPr>
              <a:t>teori</a:t>
            </a:r>
            <a:r>
              <a:rPr sz="3200" spc="-175" dirty="0">
                <a:latin typeface="Arial MT"/>
                <a:cs typeface="Arial MT"/>
              </a:rPr>
              <a:t> </a:t>
            </a:r>
            <a:r>
              <a:rPr sz="3200" spc="-300" dirty="0">
                <a:latin typeface="Arial MT"/>
                <a:cs typeface="Arial MT"/>
              </a:rPr>
              <a:t>keputusan</a:t>
            </a:r>
            <a:r>
              <a:rPr sz="3200" spc="-185" dirty="0">
                <a:latin typeface="Arial MT"/>
                <a:cs typeface="Arial MT"/>
              </a:rPr>
              <a:t> </a:t>
            </a:r>
            <a:r>
              <a:rPr sz="3200" spc="-295" dirty="0">
                <a:latin typeface="Arial MT"/>
                <a:cs typeface="Arial MT"/>
              </a:rPr>
              <a:t>Bayes,</a:t>
            </a:r>
            <a:r>
              <a:rPr sz="3200" spc="-190" dirty="0">
                <a:latin typeface="Arial MT"/>
                <a:cs typeface="Arial MT"/>
              </a:rPr>
              <a:t> </a:t>
            </a:r>
            <a:r>
              <a:rPr sz="3200" spc="-225" dirty="0">
                <a:latin typeface="Arial MT"/>
                <a:cs typeface="Arial MT"/>
              </a:rPr>
              <a:t>kita</a:t>
            </a:r>
            <a:r>
              <a:rPr sz="3200" spc="-180" dirty="0">
                <a:latin typeface="Arial MT"/>
                <a:cs typeface="Arial MT"/>
              </a:rPr>
              <a:t> </a:t>
            </a:r>
            <a:r>
              <a:rPr sz="3200" spc="-270" dirty="0">
                <a:latin typeface="Arial MT"/>
                <a:cs typeface="Arial MT"/>
              </a:rPr>
              <a:t>perhatikan</a:t>
            </a:r>
            <a:r>
              <a:rPr sz="3200" spc="-170" dirty="0">
                <a:latin typeface="Arial MT"/>
                <a:cs typeface="Arial MT"/>
              </a:rPr>
              <a:t> </a:t>
            </a:r>
            <a:r>
              <a:rPr sz="3200" spc="-240" dirty="0">
                <a:latin typeface="Arial MT"/>
                <a:cs typeface="Arial MT"/>
              </a:rPr>
              <a:t>tiga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spc="-260" dirty="0">
                <a:latin typeface="Arial MT"/>
                <a:cs typeface="Arial MT"/>
              </a:rPr>
              <a:t>lan</a:t>
            </a:r>
            <a:r>
              <a:rPr sz="3200" spc="-315" dirty="0">
                <a:latin typeface="Arial MT"/>
                <a:cs typeface="Arial MT"/>
              </a:rPr>
              <a:t>g</a:t>
            </a:r>
            <a:r>
              <a:rPr sz="3200" spc="-310" dirty="0">
                <a:latin typeface="Arial MT"/>
                <a:cs typeface="Arial MT"/>
              </a:rPr>
              <a:t>ka</a:t>
            </a:r>
            <a:r>
              <a:rPr sz="3200" spc="-320" dirty="0">
                <a:latin typeface="Arial MT"/>
                <a:cs typeface="Arial MT"/>
              </a:rPr>
              <a:t>h</a:t>
            </a:r>
            <a:r>
              <a:rPr sz="3200" spc="-175" dirty="0">
                <a:latin typeface="Arial MT"/>
                <a:cs typeface="Arial MT"/>
              </a:rPr>
              <a:t> </a:t>
            </a:r>
            <a:r>
              <a:rPr sz="3200" spc="-254" dirty="0">
                <a:latin typeface="Arial MT"/>
                <a:cs typeface="Arial MT"/>
              </a:rPr>
              <a:t>tera</a:t>
            </a:r>
            <a:r>
              <a:rPr sz="3200" spc="-285" dirty="0">
                <a:latin typeface="Arial MT"/>
                <a:cs typeface="Arial MT"/>
              </a:rPr>
              <a:t>k</a:t>
            </a:r>
            <a:r>
              <a:rPr sz="3200" spc="-229" dirty="0">
                <a:latin typeface="Arial MT"/>
                <a:cs typeface="Arial MT"/>
              </a:rPr>
              <a:t>hi</a:t>
            </a:r>
            <a:r>
              <a:rPr sz="3200" spc="-195" dirty="0">
                <a:latin typeface="Arial MT"/>
                <a:cs typeface="Arial MT"/>
              </a:rPr>
              <a:t>r</a:t>
            </a:r>
            <a:r>
              <a:rPr sz="3200" spc="-175" dirty="0">
                <a:latin typeface="Arial MT"/>
                <a:cs typeface="Arial MT"/>
              </a:rPr>
              <a:t> </a:t>
            </a:r>
            <a:r>
              <a:rPr sz="3200" spc="-315" dirty="0">
                <a:latin typeface="Arial MT"/>
                <a:cs typeface="Arial MT"/>
              </a:rPr>
              <a:t>yan</a:t>
            </a:r>
            <a:r>
              <a:rPr sz="3200" spc="-320" dirty="0">
                <a:latin typeface="Arial MT"/>
                <a:cs typeface="Arial MT"/>
              </a:rPr>
              <a:t>g</a:t>
            </a:r>
            <a:r>
              <a:rPr sz="3200" spc="-175" dirty="0">
                <a:latin typeface="Arial MT"/>
                <a:cs typeface="Arial MT"/>
              </a:rPr>
              <a:t> </a:t>
            </a:r>
            <a:r>
              <a:rPr sz="3200" spc="-355" dirty="0">
                <a:latin typeface="Arial MT"/>
                <a:cs typeface="Arial MT"/>
              </a:rPr>
              <a:t>mengasums</a:t>
            </a:r>
            <a:r>
              <a:rPr sz="3200" spc="-125" dirty="0">
                <a:latin typeface="Arial MT"/>
                <a:cs typeface="Arial MT"/>
              </a:rPr>
              <a:t>i</a:t>
            </a:r>
            <a:r>
              <a:rPr sz="3200" spc="-310" dirty="0">
                <a:latin typeface="Arial MT"/>
                <a:cs typeface="Arial MT"/>
              </a:rPr>
              <a:t>ka</a:t>
            </a:r>
            <a:r>
              <a:rPr sz="3200" spc="-320" dirty="0">
                <a:latin typeface="Arial MT"/>
                <a:cs typeface="Arial MT"/>
              </a:rPr>
              <a:t>n</a:t>
            </a:r>
            <a:r>
              <a:rPr sz="3200" spc="-185" dirty="0">
                <a:latin typeface="Arial MT"/>
                <a:cs typeface="Arial MT"/>
              </a:rPr>
              <a:t> </a:t>
            </a:r>
            <a:r>
              <a:rPr sz="3200" spc="-295" dirty="0">
                <a:latin typeface="Arial MT"/>
                <a:cs typeface="Arial MT"/>
              </a:rPr>
              <a:t>bahwa  </a:t>
            </a:r>
            <a:r>
              <a:rPr sz="3200" spc="-275" dirty="0">
                <a:latin typeface="Arial MT"/>
                <a:cs typeface="Arial MT"/>
              </a:rPr>
              <a:t>observasi</a:t>
            </a:r>
            <a:r>
              <a:rPr sz="3200" spc="-185" dirty="0">
                <a:latin typeface="Arial MT"/>
                <a:cs typeface="Arial MT"/>
              </a:rPr>
              <a:t> </a:t>
            </a:r>
            <a:r>
              <a:rPr sz="3200" spc="-254" dirty="0">
                <a:latin typeface="Arial MT"/>
                <a:cs typeface="Arial MT"/>
              </a:rPr>
              <a:t>telah</a:t>
            </a:r>
            <a:r>
              <a:rPr sz="3200" spc="-180" dirty="0">
                <a:latin typeface="Arial MT"/>
                <a:cs typeface="Arial MT"/>
              </a:rPr>
              <a:t> </a:t>
            </a:r>
            <a:r>
              <a:rPr sz="3200" spc="-275" dirty="0">
                <a:latin typeface="Arial MT"/>
                <a:cs typeface="Arial MT"/>
              </a:rPr>
              <a:t>dilakukan</a:t>
            </a:r>
            <a:r>
              <a:rPr sz="3200" spc="-170" dirty="0">
                <a:latin typeface="Arial MT"/>
                <a:cs typeface="Arial MT"/>
              </a:rPr>
              <a:t> </a:t>
            </a:r>
            <a:r>
              <a:rPr sz="3200" spc="-325" dirty="0">
                <a:latin typeface="Arial MT"/>
                <a:cs typeface="Arial MT"/>
              </a:rPr>
              <a:t>dan</a:t>
            </a:r>
            <a:r>
              <a:rPr sz="3200" spc="-160" dirty="0">
                <a:latin typeface="Arial MT"/>
                <a:cs typeface="Arial MT"/>
              </a:rPr>
              <a:t> </a:t>
            </a:r>
            <a:r>
              <a:rPr sz="3200" spc="-195" dirty="0">
                <a:latin typeface="Arial MT"/>
                <a:cs typeface="Arial MT"/>
              </a:rPr>
              <a:t>fitur</a:t>
            </a:r>
            <a:r>
              <a:rPr sz="3200" spc="-170" dirty="0">
                <a:latin typeface="Arial MT"/>
                <a:cs typeface="Arial MT"/>
              </a:rPr>
              <a:t> </a:t>
            </a:r>
            <a:r>
              <a:rPr sz="3200" spc="-254" dirty="0">
                <a:latin typeface="Arial MT"/>
                <a:cs typeface="Arial MT"/>
              </a:rPr>
              <a:t>telah</a:t>
            </a:r>
            <a:r>
              <a:rPr sz="3200" spc="-180" dirty="0">
                <a:latin typeface="Arial MT"/>
                <a:cs typeface="Arial MT"/>
              </a:rPr>
              <a:t> </a:t>
            </a:r>
            <a:r>
              <a:rPr sz="3200" spc="-215" dirty="0">
                <a:latin typeface="Arial MT"/>
                <a:cs typeface="Arial MT"/>
              </a:rPr>
              <a:t>dipilih </a:t>
            </a:r>
            <a:r>
              <a:rPr sz="3200" spc="-210" dirty="0">
                <a:latin typeface="Arial MT"/>
                <a:cs typeface="Arial MT"/>
              </a:rPr>
              <a:t> </a:t>
            </a:r>
            <a:r>
              <a:rPr sz="3200" spc="-285" dirty="0">
                <a:latin typeface="Arial MT"/>
                <a:cs typeface="Arial MT"/>
              </a:rPr>
              <a:t>sebelumnya</a:t>
            </a:r>
            <a:r>
              <a:rPr sz="3200" spc="-285" dirty="0">
                <a:latin typeface="Calibri"/>
                <a:cs typeface="Calibri"/>
              </a:rPr>
              <a:t>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81000" y="1895475"/>
            <a:ext cx="914400" cy="633730"/>
          </a:xfrm>
          <a:custGeom>
            <a:avLst/>
            <a:gdLst/>
            <a:ahLst/>
            <a:cxnLst/>
            <a:rect l="l" t="t" r="r" b="b"/>
            <a:pathLst>
              <a:path w="914400" h="633730">
                <a:moveTo>
                  <a:pt x="0" y="316738"/>
                </a:moveTo>
                <a:lnTo>
                  <a:pt x="3562" y="276992"/>
                </a:lnTo>
                <a:lnTo>
                  <a:pt x="13963" y="238723"/>
                </a:lnTo>
                <a:lnTo>
                  <a:pt x="30775" y="202228"/>
                </a:lnTo>
                <a:lnTo>
                  <a:pt x="53568" y="167804"/>
                </a:lnTo>
                <a:lnTo>
                  <a:pt x="81915" y="135745"/>
                </a:lnTo>
                <a:lnTo>
                  <a:pt x="115387" y="106349"/>
                </a:lnTo>
                <a:lnTo>
                  <a:pt x="153556" y="79911"/>
                </a:lnTo>
                <a:lnTo>
                  <a:pt x="195993" y="56728"/>
                </a:lnTo>
                <a:lnTo>
                  <a:pt x="242269" y="37095"/>
                </a:lnTo>
                <a:lnTo>
                  <a:pt x="291956" y="21310"/>
                </a:lnTo>
                <a:lnTo>
                  <a:pt x="344626" y="9668"/>
                </a:lnTo>
                <a:lnTo>
                  <a:pt x="399850" y="2466"/>
                </a:lnTo>
                <a:lnTo>
                  <a:pt x="457200" y="0"/>
                </a:lnTo>
                <a:lnTo>
                  <a:pt x="514549" y="2466"/>
                </a:lnTo>
                <a:lnTo>
                  <a:pt x="569773" y="9668"/>
                </a:lnTo>
                <a:lnTo>
                  <a:pt x="622443" y="21310"/>
                </a:lnTo>
                <a:lnTo>
                  <a:pt x="672130" y="37095"/>
                </a:lnTo>
                <a:lnTo>
                  <a:pt x="718406" y="56728"/>
                </a:lnTo>
                <a:lnTo>
                  <a:pt x="760843" y="79911"/>
                </a:lnTo>
                <a:lnTo>
                  <a:pt x="799012" y="106349"/>
                </a:lnTo>
                <a:lnTo>
                  <a:pt x="832484" y="135745"/>
                </a:lnTo>
                <a:lnTo>
                  <a:pt x="860831" y="167804"/>
                </a:lnTo>
                <a:lnTo>
                  <a:pt x="883624" y="202228"/>
                </a:lnTo>
                <a:lnTo>
                  <a:pt x="900436" y="238723"/>
                </a:lnTo>
                <a:lnTo>
                  <a:pt x="910837" y="276992"/>
                </a:lnTo>
                <a:lnTo>
                  <a:pt x="914400" y="316738"/>
                </a:lnTo>
                <a:lnTo>
                  <a:pt x="910837" y="356458"/>
                </a:lnTo>
                <a:lnTo>
                  <a:pt x="900436" y="394710"/>
                </a:lnTo>
                <a:lnTo>
                  <a:pt x="883624" y="431195"/>
                </a:lnTo>
                <a:lnTo>
                  <a:pt x="860831" y="465615"/>
                </a:lnTo>
                <a:lnTo>
                  <a:pt x="832484" y="497675"/>
                </a:lnTo>
                <a:lnTo>
                  <a:pt x="799012" y="527076"/>
                </a:lnTo>
                <a:lnTo>
                  <a:pt x="760843" y="553521"/>
                </a:lnTo>
                <a:lnTo>
                  <a:pt x="718406" y="576713"/>
                </a:lnTo>
                <a:lnTo>
                  <a:pt x="672130" y="596355"/>
                </a:lnTo>
                <a:lnTo>
                  <a:pt x="622443" y="612149"/>
                </a:lnTo>
                <a:lnTo>
                  <a:pt x="569773" y="623799"/>
                </a:lnTo>
                <a:lnTo>
                  <a:pt x="514549" y="631007"/>
                </a:lnTo>
                <a:lnTo>
                  <a:pt x="457200" y="633476"/>
                </a:lnTo>
                <a:lnTo>
                  <a:pt x="399850" y="631007"/>
                </a:lnTo>
                <a:lnTo>
                  <a:pt x="344626" y="623799"/>
                </a:lnTo>
                <a:lnTo>
                  <a:pt x="291956" y="612149"/>
                </a:lnTo>
                <a:lnTo>
                  <a:pt x="242269" y="596355"/>
                </a:lnTo>
                <a:lnTo>
                  <a:pt x="195993" y="576713"/>
                </a:lnTo>
                <a:lnTo>
                  <a:pt x="153556" y="553521"/>
                </a:lnTo>
                <a:lnTo>
                  <a:pt x="115387" y="527076"/>
                </a:lnTo>
                <a:lnTo>
                  <a:pt x="81915" y="497675"/>
                </a:lnTo>
                <a:lnTo>
                  <a:pt x="53568" y="465615"/>
                </a:lnTo>
                <a:lnTo>
                  <a:pt x="30775" y="431195"/>
                </a:lnTo>
                <a:lnTo>
                  <a:pt x="13963" y="394710"/>
                </a:lnTo>
                <a:lnTo>
                  <a:pt x="3562" y="356458"/>
                </a:lnTo>
                <a:lnTo>
                  <a:pt x="0" y="316738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35940" y="2096261"/>
            <a:ext cx="5340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Calibri"/>
                <a:cs typeface="Calibri"/>
              </a:rPr>
              <a:t>subjects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36801" y="1935226"/>
            <a:ext cx="5715000" cy="541655"/>
          </a:xfrm>
          <a:custGeom>
            <a:avLst/>
            <a:gdLst/>
            <a:ahLst/>
            <a:cxnLst/>
            <a:rect l="l" t="t" r="r" b="b"/>
            <a:pathLst>
              <a:path w="5715000" h="541655">
                <a:moveTo>
                  <a:pt x="0" y="266700"/>
                </a:moveTo>
                <a:lnTo>
                  <a:pt x="15126" y="201023"/>
                </a:lnTo>
                <a:lnTo>
                  <a:pt x="58029" y="141311"/>
                </a:lnTo>
                <a:lnTo>
                  <a:pt x="88738" y="114317"/>
                </a:lnTo>
                <a:lnTo>
                  <a:pt x="124998" y="89563"/>
                </a:lnTo>
                <a:lnTo>
                  <a:pt x="166346" y="67300"/>
                </a:lnTo>
                <a:lnTo>
                  <a:pt x="212319" y="47776"/>
                </a:lnTo>
                <a:lnTo>
                  <a:pt x="262451" y="31243"/>
                </a:lnTo>
                <a:lnTo>
                  <a:pt x="316280" y="17948"/>
                </a:lnTo>
                <a:lnTo>
                  <a:pt x="373340" y="8143"/>
                </a:lnTo>
                <a:lnTo>
                  <a:pt x="433168" y="2077"/>
                </a:lnTo>
                <a:lnTo>
                  <a:pt x="495300" y="0"/>
                </a:lnTo>
                <a:lnTo>
                  <a:pt x="557406" y="2077"/>
                </a:lnTo>
                <a:lnTo>
                  <a:pt x="617217" y="8143"/>
                </a:lnTo>
                <a:lnTo>
                  <a:pt x="674267" y="17948"/>
                </a:lnTo>
                <a:lnTo>
                  <a:pt x="728091" y="31243"/>
                </a:lnTo>
                <a:lnTo>
                  <a:pt x="778225" y="47776"/>
                </a:lnTo>
                <a:lnTo>
                  <a:pt x="824202" y="67300"/>
                </a:lnTo>
                <a:lnTo>
                  <a:pt x="865557" y="89563"/>
                </a:lnTo>
                <a:lnTo>
                  <a:pt x="901827" y="114317"/>
                </a:lnTo>
                <a:lnTo>
                  <a:pt x="932545" y="141311"/>
                </a:lnTo>
                <a:lnTo>
                  <a:pt x="975466" y="201023"/>
                </a:lnTo>
                <a:lnTo>
                  <a:pt x="990600" y="266700"/>
                </a:lnTo>
                <a:lnTo>
                  <a:pt x="986739" y="300134"/>
                </a:lnTo>
                <a:lnTo>
                  <a:pt x="957246" y="363051"/>
                </a:lnTo>
                <a:lnTo>
                  <a:pt x="901827" y="419027"/>
                </a:lnTo>
                <a:lnTo>
                  <a:pt x="865557" y="443785"/>
                </a:lnTo>
                <a:lnTo>
                  <a:pt x="824202" y="466056"/>
                </a:lnTo>
                <a:lnTo>
                  <a:pt x="778225" y="485588"/>
                </a:lnTo>
                <a:lnTo>
                  <a:pt x="728091" y="502131"/>
                </a:lnTo>
                <a:lnTo>
                  <a:pt x="674267" y="515435"/>
                </a:lnTo>
                <a:lnTo>
                  <a:pt x="617217" y="525248"/>
                </a:lnTo>
                <a:lnTo>
                  <a:pt x="557406" y="531320"/>
                </a:lnTo>
                <a:lnTo>
                  <a:pt x="495300" y="533400"/>
                </a:lnTo>
                <a:lnTo>
                  <a:pt x="433168" y="531320"/>
                </a:lnTo>
                <a:lnTo>
                  <a:pt x="373340" y="525248"/>
                </a:lnTo>
                <a:lnTo>
                  <a:pt x="316280" y="515435"/>
                </a:lnTo>
                <a:lnTo>
                  <a:pt x="262451" y="502131"/>
                </a:lnTo>
                <a:lnTo>
                  <a:pt x="212319" y="485588"/>
                </a:lnTo>
                <a:lnTo>
                  <a:pt x="166346" y="466056"/>
                </a:lnTo>
                <a:lnTo>
                  <a:pt x="124998" y="443785"/>
                </a:lnTo>
                <a:lnTo>
                  <a:pt x="88738" y="419027"/>
                </a:lnTo>
                <a:lnTo>
                  <a:pt x="58029" y="392032"/>
                </a:lnTo>
                <a:lnTo>
                  <a:pt x="15126" y="332335"/>
                </a:lnTo>
                <a:lnTo>
                  <a:pt x="0" y="266700"/>
                </a:lnTo>
                <a:close/>
              </a:path>
              <a:path w="5715000" h="541655">
                <a:moveTo>
                  <a:pt x="1541399" y="274574"/>
                </a:moveTo>
                <a:lnTo>
                  <a:pt x="1556365" y="203665"/>
                </a:lnTo>
                <a:lnTo>
                  <a:pt x="1598605" y="139953"/>
                </a:lnTo>
                <a:lnTo>
                  <a:pt x="1628705" y="111590"/>
                </a:lnTo>
                <a:lnTo>
                  <a:pt x="1664128" y="85978"/>
                </a:lnTo>
                <a:lnTo>
                  <a:pt x="1704374" y="63436"/>
                </a:lnTo>
                <a:lnTo>
                  <a:pt x="1748945" y="44280"/>
                </a:lnTo>
                <a:lnTo>
                  <a:pt x="1797341" y="28828"/>
                </a:lnTo>
                <a:lnTo>
                  <a:pt x="1849065" y="17399"/>
                </a:lnTo>
                <a:lnTo>
                  <a:pt x="1903617" y="10308"/>
                </a:lnTo>
                <a:lnTo>
                  <a:pt x="1960499" y="7874"/>
                </a:lnTo>
                <a:lnTo>
                  <a:pt x="2017380" y="10308"/>
                </a:lnTo>
                <a:lnTo>
                  <a:pt x="2071932" y="17399"/>
                </a:lnTo>
                <a:lnTo>
                  <a:pt x="2123656" y="28828"/>
                </a:lnTo>
                <a:lnTo>
                  <a:pt x="2172052" y="44280"/>
                </a:lnTo>
                <a:lnTo>
                  <a:pt x="2216623" y="63436"/>
                </a:lnTo>
                <a:lnTo>
                  <a:pt x="2256869" y="85978"/>
                </a:lnTo>
                <a:lnTo>
                  <a:pt x="2292292" y="111590"/>
                </a:lnTo>
                <a:lnTo>
                  <a:pt x="2322392" y="139953"/>
                </a:lnTo>
                <a:lnTo>
                  <a:pt x="2346672" y="170751"/>
                </a:lnTo>
                <a:lnTo>
                  <a:pt x="2375774" y="238378"/>
                </a:lnTo>
                <a:lnTo>
                  <a:pt x="2379599" y="274574"/>
                </a:lnTo>
                <a:lnTo>
                  <a:pt x="2375774" y="310769"/>
                </a:lnTo>
                <a:lnTo>
                  <a:pt x="2346672" y="378396"/>
                </a:lnTo>
                <a:lnTo>
                  <a:pt x="2322392" y="409194"/>
                </a:lnTo>
                <a:lnTo>
                  <a:pt x="2292292" y="437557"/>
                </a:lnTo>
                <a:lnTo>
                  <a:pt x="2256869" y="463169"/>
                </a:lnTo>
                <a:lnTo>
                  <a:pt x="2216623" y="485711"/>
                </a:lnTo>
                <a:lnTo>
                  <a:pt x="2172052" y="504867"/>
                </a:lnTo>
                <a:lnTo>
                  <a:pt x="2123656" y="520319"/>
                </a:lnTo>
                <a:lnTo>
                  <a:pt x="2071932" y="531749"/>
                </a:lnTo>
                <a:lnTo>
                  <a:pt x="2017380" y="538839"/>
                </a:lnTo>
                <a:lnTo>
                  <a:pt x="1960499" y="541274"/>
                </a:lnTo>
                <a:lnTo>
                  <a:pt x="1903617" y="538839"/>
                </a:lnTo>
                <a:lnTo>
                  <a:pt x="1849065" y="531749"/>
                </a:lnTo>
                <a:lnTo>
                  <a:pt x="1797341" y="520319"/>
                </a:lnTo>
                <a:lnTo>
                  <a:pt x="1748945" y="504867"/>
                </a:lnTo>
                <a:lnTo>
                  <a:pt x="1704374" y="485711"/>
                </a:lnTo>
                <a:lnTo>
                  <a:pt x="1664128" y="463169"/>
                </a:lnTo>
                <a:lnTo>
                  <a:pt x="1628705" y="437557"/>
                </a:lnTo>
                <a:lnTo>
                  <a:pt x="1598605" y="409194"/>
                </a:lnTo>
                <a:lnTo>
                  <a:pt x="1574325" y="378396"/>
                </a:lnTo>
                <a:lnTo>
                  <a:pt x="1545223" y="310769"/>
                </a:lnTo>
                <a:lnTo>
                  <a:pt x="1541399" y="274574"/>
                </a:lnTo>
                <a:close/>
              </a:path>
              <a:path w="5715000" h="541655">
                <a:moveTo>
                  <a:pt x="3128899" y="256286"/>
                </a:moveTo>
                <a:lnTo>
                  <a:pt x="3145116" y="199039"/>
                </a:lnTo>
                <a:lnTo>
                  <a:pt x="3191115" y="146982"/>
                </a:lnTo>
                <a:lnTo>
                  <a:pt x="3224037" y="123445"/>
                </a:lnTo>
                <a:lnTo>
                  <a:pt x="3262912" y="101860"/>
                </a:lnTo>
                <a:lnTo>
                  <a:pt x="3307241" y="82446"/>
                </a:lnTo>
                <a:lnTo>
                  <a:pt x="3356527" y="65419"/>
                </a:lnTo>
                <a:lnTo>
                  <a:pt x="3410272" y="51000"/>
                </a:lnTo>
                <a:lnTo>
                  <a:pt x="3467978" y="39405"/>
                </a:lnTo>
                <a:lnTo>
                  <a:pt x="3529147" y="30852"/>
                </a:lnTo>
                <a:lnTo>
                  <a:pt x="3593282" y="25561"/>
                </a:lnTo>
                <a:lnTo>
                  <a:pt x="3659886" y="23749"/>
                </a:lnTo>
                <a:lnTo>
                  <a:pt x="3726491" y="25561"/>
                </a:lnTo>
                <a:lnTo>
                  <a:pt x="3790632" y="30852"/>
                </a:lnTo>
                <a:lnTo>
                  <a:pt x="3851811" y="39405"/>
                </a:lnTo>
                <a:lnTo>
                  <a:pt x="3909528" y="51000"/>
                </a:lnTo>
                <a:lnTo>
                  <a:pt x="3963286" y="65419"/>
                </a:lnTo>
                <a:lnTo>
                  <a:pt x="4012586" y="82446"/>
                </a:lnTo>
                <a:lnTo>
                  <a:pt x="4056930" y="101860"/>
                </a:lnTo>
                <a:lnTo>
                  <a:pt x="4095819" y="123445"/>
                </a:lnTo>
                <a:lnTo>
                  <a:pt x="4128755" y="146982"/>
                </a:lnTo>
                <a:lnTo>
                  <a:pt x="4174774" y="199039"/>
                </a:lnTo>
                <a:lnTo>
                  <a:pt x="4191000" y="256286"/>
                </a:lnTo>
                <a:lnTo>
                  <a:pt x="4186860" y="285474"/>
                </a:lnTo>
                <a:lnTo>
                  <a:pt x="4155239" y="340371"/>
                </a:lnTo>
                <a:lnTo>
                  <a:pt x="4095819" y="389181"/>
                </a:lnTo>
                <a:lnTo>
                  <a:pt x="4056930" y="410762"/>
                </a:lnTo>
                <a:lnTo>
                  <a:pt x="4012586" y="430169"/>
                </a:lnTo>
                <a:lnTo>
                  <a:pt x="3963286" y="447186"/>
                </a:lnTo>
                <a:lnTo>
                  <a:pt x="3909528" y="461596"/>
                </a:lnTo>
                <a:lnTo>
                  <a:pt x="3851811" y="473182"/>
                </a:lnTo>
                <a:lnTo>
                  <a:pt x="3790632" y="481726"/>
                </a:lnTo>
                <a:lnTo>
                  <a:pt x="3726491" y="487012"/>
                </a:lnTo>
                <a:lnTo>
                  <a:pt x="3659886" y="488823"/>
                </a:lnTo>
                <a:lnTo>
                  <a:pt x="3593282" y="487012"/>
                </a:lnTo>
                <a:lnTo>
                  <a:pt x="3529147" y="481726"/>
                </a:lnTo>
                <a:lnTo>
                  <a:pt x="3467978" y="473182"/>
                </a:lnTo>
                <a:lnTo>
                  <a:pt x="3410272" y="461596"/>
                </a:lnTo>
                <a:lnTo>
                  <a:pt x="3356527" y="447186"/>
                </a:lnTo>
                <a:lnTo>
                  <a:pt x="3307241" y="430169"/>
                </a:lnTo>
                <a:lnTo>
                  <a:pt x="3262912" y="410762"/>
                </a:lnTo>
                <a:lnTo>
                  <a:pt x="3224037" y="389181"/>
                </a:lnTo>
                <a:lnTo>
                  <a:pt x="3191115" y="365645"/>
                </a:lnTo>
                <a:lnTo>
                  <a:pt x="3145116" y="313574"/>
                </a:lnTo>
                <a:lnTo>
                  <a:pt x="3128899" y="256286"/>
                </a:lnTo>
                <a:close/>
              </a:path>
              <a:path w="5715000" h="541655">
                <a:moveTo>
                  <a:pt x="4876800" y="266700"/>
                </a:moveTo>
                <a:lnTo>
                  <a:pt x="4891766" y="195791"/>
                </a:lnTo>
                <a:lnTo>
                  <a:pt x="4934006" y="132079"/>
                </a:lnTo>
                <a:lnTo>
                  <a:pt x="4964106" y="103716"/>
                </a:lnTo>
                <a:lnTo>
                  <a:pt x="4999529" y="78104"/>
                </a:lnTo>
                <a:lnTo>
                  <a:pt x="5039775" y="55562"/>
                </a:lnTo>
                <a:lnTo>
                  <a:pt x="5084346" y="36406"/>
                </a:lnTo>
                <a:lnTo>
                  <a:pt x="5132742" y="20954"/>
                </a:lnTo>
                <a:lnTo>
                  <a:pt x="5184466" y="9525"/>
                </a:lnTo>
                <a:lnTo>
                  <a:pt x="5239018" y="2434"/>
                </a:lnTo>
                <a:lnTo>
                  <a:pt x="5295900" y="0"/>
                </a:lnTo>
                <a:lnTo>
                  <a:pt x="5352754" y="2434"/>
                </a:lnTo>
                <a:lnTo>
                  <a:pt x="5407289" y="9525"/>
                </a:lnTo>
                <a:lnTo>
                  <a:pt x="5459003" y="20954"/>
                </a:lnTo>
                <a:lnTo>
                  <a:pt x="5507397" y="36406"/>
                </a:lnTo>
                <a:lnTo>
                  <a:pt x="5551970" y="55562"/>
                </a:lnTo>
                <a:lnTo>
                  <a:pt x="5592222" y="78104"/>
                </a:lnTo>
                <a:lnTo>
                  <a:pt x="5627654" y="103716"/>
                </a:lnTo>
                <a:lnTo>
                  <a:pt x="5657765" y="132079"/>
                </a:lnTo>
                <a:lnTo>
                  <a:pt x="5682055" y="162877"/>
                </a:lnTo>
                <a:lnTo>
                  <a:pt x="5711172" y="230504"/>
                </a:lnTo>
                <a:lnTo>
                  <a:pt x="5715000" y="266700"/>
                </a:lnTo>
                <a:lnTo>
                  <a:pt x="5711172" y="302868"/>
                </a:lnTo>
                <a:lnTo>
                  <a:pt x="5682055" y="370468"/>
                </a:lnTo>
                <a:lnTo>
                  <a:pt x="5657765" y="401263"/>
                </a:lnTo>
                <a:lnTo>
                  <a:pt x="5627654" y="429629"/>
                </a:lnTo>
                <a:lnTo>
                  <a:pt x="5592222" y="455247"/>
                </a:lnTo>
                <a:lnTo>
                  <a:pt x="5551970" y="477798"/>
                </a:lnTo>
                <a:lnTo>
                  <a:pt x="5507397" y="496965"/>
                </a:lnTo>
                <a:lnTo>
                  <a:pt x="5459003" y="512427"/>
                </a:lnTo>
                <a:lnTo>
                  <a:pt x="5407289" y="523866"/>
                </a:lnTo>
                <a:lnTo>
                  <a:pt x="5352754" y="530963"/>
                </a:lnTo>
                <a:lnTo>
                  <a:pt x="5295900" y="533400"/>
                </a:lnTo>
                <a:lnTo>
                  <a:pt x="5239018" y="530963"/>
                </a:lnTo>
                <a:lnTo>
                  <a:pt x="5184466" y="523866"/>
                </a:lnTo>
                <a:lnTo>
                  <a:pt x="5132742" y="512427"/>
                </a:lnTo>
                <a:lnTo>
                  <a:pt x="5084346" y="496965"/>
                </a:lnTo>
                <a:lnTo>
                  <a:pt x="5039775" y="477798"/>
                </a:lnTo>
                <a:lnTo>
                  <a:pt x="4999529" y="455247"/>
                </a:lnTo>
                <a:lnTo>
                  <a:pt x="4964106" y="429629"/>
                </a:lnTo>
                <a:lnTo>
                  <a:pt x="4934006" y="401263"/>
                </a:lnTo>
                <a:lnTo>
                  <a:pt x="4909726" y="370468"/>
                </a:lnTo>
                <a:lnTo>
                  <a:pt x="4880624" y="302868"/>
                </a:lnTo>
                <a:lnTo>
                  <a:pt x="4876800" y="2667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497326" y="2020061"/>
            <a:ext cx="5619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Calibri"/>
                <a:cs typeface="Calibri"/>
              </a:rPr>
              <a:t>Features</a:t>
            </a:r>
            <a:endParaRPr sz="1200">
              <a:latin typeface="Calibri"/>
              <a:cs typeface="Calibri"/>
            </a:endParaRPr>
          </a:p>
          <a:p>
            <a:pPr marR="34290" algn="ctr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x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15795" y="2035809"/>
            <a:ext cx="7886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1465" marR="5080" indent="-2794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Calibri"/>
                <a:cs typeface="Calibri"/>
              </a:rPr>
              <a:t>O</a:t>
            </a:r>
            <a:r>
              <a:rPr sz="1200" dirty="0">
                <a:latin typeface="Calibri"/>
                <a:cs typeface="Calibri"/>
              </a:rPr>
              <a:t>b</a:t>
            </a:r>
            <a:r>
              <a:rPr sz="1200" spc="-5" dirty="0">
                <a:latin typeface="Calibri"/>
                <a:cs typeface="Calibri"/>
              </a:rPr>
              <a:t>se</a:t>
            </a:r>
            <a:r>
              <a:rPr sz="1200" spc="10" dirty="0">
                <a:latin typeface="Calibri"/>
                <a:cs typeface="Calibri"/>
              </a:rPr>
              <a:t>r</a:t>
            </a:r>
            <a:r>
              <a:rPr sz="1200" spc="-15" dirty="0">
                <a:latin typeface="Calibri"/>
                <a:cs typeface="Calibri"/>
              </a:rPr>
              <a:t>v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5" dirty="0">
                <a:latin typeface="Calibri"/>
                <a:cs typeface="Calibri"/>
              </a:rPr>
              <a:t>b</a:t>
            </a:r>
            <a:r>
              <a:rPr sz="1200" dirty="0">
                <a:latin typeface="Calibri"/>
                <a:cs typeface="Calibri"/>
              </a:rPr>
              <a:t>les  X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69683" y="2035809"/>
            <a:ext cx="550545" cy="393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Decision</a:t>
            </a:r>
            <a:endParaRPr sz="1200">
              <a:latin typeface="Calibri"/>
              <a:cs typeface="Calibri"/>
            </a:endParaRPr>
          </a:p>
          <a:p>
            <a:pPr marR="3175" algn="ctr">
              <a:lnSpc>
                <a:spcPct val="100000"/>
              </a:lnSpc>
              <a:spcBef>
                <a:spcPts val="10"/>
              </a:spcBef>
            </a:pPr>
            <a:r>
              <a:rPr sz="1200" dirty="0">
                <a:latin typeface="Symbol"/>
                <a:cs typeface="Symbol"/>
              </a:rPr>
              <a:t>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16829" y="2023109"/>
            <a:ext cx="7334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1465" marR="5080" indent="-2794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Inner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beli</a:t>
            </a:r>
            <a:r>
              <a:rPr sz="1200" spc="-10" dirty="0">
                <a:latin typeface="Calibri"/>
                <a:cs typeface="Calibri"/>
              </a:rPr>
              <a:t>e</a:t>
            </a:r>
            <a:r>
              <a:rPr sz="1200" dirty="0">
                <a:latin typeface="Calibri"/>
                <a:cs typeface="Calibri"/>
              </a:rPr>
              <a:t>f  w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062037" y="2165350"/>
            <a:ext cx="5651500" cy="1259205"/>
            <a:chOff x="1062037" y="2165350"/>
            <a:chExt cx="5651500" cy="1259205"/>
          </a:xfrm>
        </p:grpSpPr>
        <p:sp>
          <p:nvSpPr>
            <p:cNvPr id="12" name="object 12"/>
            <p:cNvSpPr/>
            <p:nvPr/>
          </p:nvSpPr>
          <p:spPr>
            <a:xfrm>
              <a:off x="1303401" y="2165349"/>
              <a:ext cx="5410200" cy="109855"/>
            </a:xfrm>
            <a:custGeom>
              <a:avLst/>
              <a:gdLst/>
              <a:ahLst/>
              <a:cxnLst/>
              <a:rect l="l" t="t" r="r" b="b"/>
              <a:pathLst>
                <a:path w="5410200" h="109855">
                  <a:moveTo>
                    <a:pt x="533400" y="66675"/>
                  </a:moveTo>
                  <a:lnTo>
                    <a:pt x="504736" y="52324"/>
                  </a:lnTo>
                  <a:lnTo>
                    <a:pt x="447675" y="23749"/>
                  </a:lnTo>
                  <a:lnTo>
                    <a:pt x="447624" y="52324"/>
                  </a:lnTo>
                  <a:lnTo>
                    <a:pt x="0" y="52324"/>
                  </a:lnTo>
                  <a:lnTo>
                    <a:pt x="0" y="80899"/>
                  </a:lnTo>
                  <a:lnTo>
                    <a:pt x="447586" y="80899"/>
                  </a:lnTo>
                  <a:lnTo>
                    <a:pt x="447548" y="109474"/>
                  </a:lnTo>
                  <a:lnTo>
                    <a:pt x="504863" y="80899"/>
                  </a:lnTo>
                  <a:lnTo>
                    <a:pt x="533400" y="66675"/>
                  </a:lnTo>
                  <a:close/>
                </a:path>
                <a:path w="5410200" h="109855">
                  <a:moveTo>
                    <a:pt x="2057273" y="58801"/>
                  </a:moveTo>
                  <a:lnTo>
                    <a:pt x="2028609" y="44450"/>
                  </a:lnTo>
                  <a:lnTo>
                    <a:pt x="1971548" y="15875"/>
                  </a:lnTo>
                  <a:lnTo>
                    <a:pt x="1971548" y="44450"/>
                  </a:lnTo>
                  <a:lnTo>
                    <a:pt x="1523873" y="44450"/>
                  </a:lnTo>
                  <a:lnTo>
                    <a:pt x="1523873" y="73025"/>
                  </a:lnTo>
                  <a:lnTo>
                    <a:pt x="1971548" y="73025"/>
                  </a:lnTo>
                  <a:lnTo>
                    <a:pt x="1971548" y="101600"/>
                  </a:lnTo>
                  <a:lnTo>
                    <a:pt x="2028774" y="73025"/>
                  </a:lnTo>
                  <a:lnTo>
                    <a:pt x="2057273" y="58801"/>
                  </a:lnTo>
                  <a:close/>
                </a:path>
                <a:path w="5410200" h="109855">
                  <a:moveTo>
                    <a:pt x="3638473" y="71501"/>
                  </a:moveTo>
                  <a:lnTo>
                    <a:pt x="3593719" y="71501"/>
                  </a:lnTo>
                  <a:lnTo>
                    <a:pt x="3579444" y="71501"/>
                  </a:lnTo>
                  <a:lnTo>
                    <a:pt x="3578860" y="99822"/>
                  </a:lnTo>
                  <a:lnTo>
                    <a:pt x="3638473" y="71501"/>
                  </a:lnTo>
                  <a:close/>
                </a:path>
                <a:path w="5410200" h="109855">
                  <a:moveTo>
                    <a:pt x="3665474" y="58674"/>
                  </a:moveTo>
                  <a:lnTo>
                    <a:pt x="3580638" y="14097"/>
                  </a:lnTo>
                  <a:lnTo>
                    <a:pt x="3580041" y="42633"/>
                  </a:lnTo>
                  <a:lnTo>
                    <a:pt x="2911729" y="28575"/>
                  </a:lnTo>
                  <a:lnTo>
                    <a:pt x="2911094" y="57150"/>
                  </a:lnTo>
                  <a:lnTo>
                    <a:pt x="3579444" y="71208"/>
                  </a:lnTo>
                  <a:lnTo>
                    <a:pt x="3593719" y="71208"/>
                  </a:lnTo>
                  <a:lnTo>
                    <a:pt x="3639096" y="71208"/>
                  </a:lnTo>
                  <a:lnTo>
                    <a:pt x="3665474" y="58674"/>
                  </a:lnTo>
                  <a:close/>
                </a:path>
                <a:path w="5410200" h="109855">
                  <a:moveTo>
                    <a:pt x="5410073" y="42926"/>
                  </a:moveTo>
                  <a:lnTo>
                    <a:pt x="5381409" y="28575"/>
                  </a:lnTo>
                  <a:lnTo>
                    <a:pt x="5324348" y="0"/>
                  </a:lnTo>
                  <a:lnTo>
                    <a:pt x="5324348" y="28575"/>
                  </a:lnTo>
                  <a:lnTo>
                    <a:pt x="4724273" y="28575"/>
                  </a:lnTo>
                  <a:lnTo>
                    <a:pt x="4724273" y="57150"/>
                  </a:lnTo>
                  <a:lnTo>
                    <a:pt x="5324348" y="57150"/>
                  </a:lnTo>
                  <a:lnTo>
                    <a:pt x="5324348" y="85725"/>
                  </a:lnTo>
                  <a:lnTo>
                    <a:pt x="5381574" y="57150"/>
                  </a:lnTo>
                  <a:lnTo>
                    <a:pt x="5410073" y="429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66800" y="2809875"/>
              <a:ext cx="990600" cy="609600"/>
            </a:xfrm>
            <a:custGeom>
              <a:avLst/>
              <a:gdLst/>
              <a:ahLst/>
              <a:cxnLst/>
              <a:rect l="l" t="t" r="r" b="b"/>
              <a:pathLst>
                <a:path w="990600" h="609600">
                  <a:moveTo>
                    <a:pt x="990600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990600" y="609600"/>
                  </a:lnTo>
                  <a:lnTo>
                    <a:pt x="9906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66800" y="2809875"/>
              <a:ext cx="990600" cy="609600"/>
            </a:xfrm>
            <a:custGeom>
              <a:avLst/>
              <a:gdLst/>
              <a:ahLst/>
              <a:cxnLst/>
              <a:rect l="l" t="t" r="r" b="b"/>
              <a:pathLst>
                <a:path w="990600" h="609600">
                  <a:moveTo>
                    <a:pt x="0" y="609600"/>
                  </a:moveTo>
                  <a:lnTo>
                    <a:pt x="990600" y="609600"/>
                  </a:lnTo>
                  <a:lnTo>
                    <a:pt x="990600" y="0"/>
                  </a:lnTo>
                  <a:lnTo>
                    <a:pt x="0" y="0"/>
                  </a:lnTo>
                  <a:lnTo>
                    <a:pt x="0" y="6096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066800" y="2809875"/>
            <a:ext cx="990600" cy="609600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221615" marR="215900" indent="16510">
              <a:lnSpc>
                <a:spcPct val="100000"/>
              </a:lnSpc>
              <a:spcBef>
                <a:spcPts val="630"/>
              </a:spcBef>
            </a:pPr>
            <a:r>
              <a:rPr sz="1400" spc="-10" dirty="0">
                <a:latin typeface="Calibri"/>
                <a:cs typeface="Calibri"/>
              </a:rPr>
              <a:t>control </a:t>
            </a:r>
            <a:r>
              <a:rPr sz="1400" spc="-30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se</a:t>
            </a:r>
            <a:r>
              <a:rPr sz="1400" spc="-10" dirty="0">
                <a:latin typeface="Calibri"/>
                <a:cs typeface="Calibri"/>
              </a:rPr>
              <a:t>n</a:t>
            </a:r>
            <a:r>
              <a:rPr sz="1400" spc="-5" dirty="0">
                <a:latin typeface="Calibri"/>
                <a:cs typeface="Calibri"/>
              </a:rPr>
              <a:t>s</a:t>
            </a:r>
            <a:r>
              <a:rPr sz="1400" spc="5" dirty="0">
                <a:latin typeface="Calibri"/>
                <a:cs typeface="Calibri"/>
              </a:rPr>
              <a:t>o</a:t>
            </a:r>
            <a:r>
              <a:rPr sz="1400" spc="-25" dirty="0">
                <a:latin typeface="Calibri"/>
                <a:cs typeface="Calibri"/>
              </a:rPr>
              <a:t>r</a:t>
            </a:r>
            <a:r>
              <a:rPr sz="1400" dirty="0">
                <a:latin typeface="Calibri"/>
                <a:cs typeface="Calibri"/>
              </a:rPr>
              <a:t>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586037" y="2805112"/>
            <a:ext cx="1000125" cy="619125"/>
            <a:chOff x="2586037" y="2805112"/>
            <a:chExt cx="1000125" cy="619125"/>
          </a:xfrm>
        </p:grpSpPr>
        <p:sp>
          <p:nvSpPr>
            <p:cNvPr id="17" name="object 17"/>
            <p:cNvSpPr/>
            <p:nvPr/>
          </p:nvSpPr>
          <p:spPr>
            <a:xfrm>
              <a:off x="2590800" y="2809875"/>
              <a:ext cx="990600" cy="609600"/>
            </a:xfrm>
            <a:custGeom>
              <a:avLst/>
              <a:gdLst/>
              <a:ahLst/>
              <a:cxnLst/>
              <a:rect l="l" t="t" r="r" b="b"/>
              <a:pathLst>
                <a:path w="990600" h="609600">
                  <a:moveTo>
                    <a:pt x="990600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990600" y="609600"/>
                  </a:lnTo>
                  <a:lnTo>
                    <a:pt x="9906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590800" y="2809875"/>
              <a:ext cx="990600" cy="609600"/>
            </a:xfrm>
            <a:custGeom>
              <a:avLst/>
              <a:gdLst/>
              <a:ahLst/>
              <a:cxnLst/>
              <a:rect l="l" t="t" r="r" b="b"/>
              <a:pathLst>
                <a:path w="990600" h="609600">
                  <a:moveTo>
                    <a:pt x="0" y="609600"/>
                  </a:moveTo>
                  <a:lnTo>
                    <a:pt x="990600" y="609600"/>
                  </a:lnTo>
                  <a:lnTo>
                    <a:pt x="990600" y="0"/>
                  </a:lnTo>
                  <a:lnTo>
                    <a:pt x="0" y="0"/>
                  </a:lnTo>
                  <a:lnTo>
                    <a:pt x="0" y="6096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635757" y="2770377"/>
            <a:ext cx="864235" cy="6667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35560" algn="ctr">
              <a:lnSpc>
                <a:spcPct val="100000"/>
              </a:lnSpc>
              <a:spcBef>
                <a:spcPts val="105"/>
              </a:spcBef>
            </a:pPr>
            <a:r>
              <a:rPr sz="1400" spc="-5" dirty="0">
                <a:latin typeface="Calibri"/>
                <a:cs typeface="Calibri"/>
              </a:rPr>
              <a:t>selecting 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</a:t>
            </a:r>
            <a:r>
              <a:rPr sz="1400" spc="-20" dirty="0">
                <a:latin typeface="Calibri"/>
                <a:cs typeface="Calibri"/>
              </a:rPr>
              <a:t>nf</a:t>
            </a:r>
            <a:r>
              <a:rPr sz="1400" spc="-5" dirty="0">
                <a:latin typeface="Calibri"/>
                <a:cs typeface="Calibri"/>
              </a:rPr>
              <a:t>o</a:t>
            </a:r>
            <a:r>
              <a:rPr sz="1400" dirty="0">
                <a:latin typeface="Calibri"/>
                <a:cs typeface="Calibri"/>
              </a:rPr>
              <a:t>r</a:t>
            </a:r>
            <a:r>
              <a:rPr sz="1400" spc="-10" dirty="0">
                <a:latin typeface="Calibri"/>
                <a:cs typeface="Calibri"/>
              </a:rPr>
              <a:t>m</a:t>
            </a:r>
            <a:r>
              <a:rPr sz="1400" spc="-15" dirty="0">
                <a:latin typeface="Calibri"/>
                <a:cs typeface="Calibri"/>
              </a:rPr>
              <a:t>a</a:t>
            </a:r>
            <a:r>
              <a:rPr sz="1400" dirty="0">
                <a:latin typeface="Calibri"/>
                <a:cs typeface="Calibri"/>
              </a:rPr>
              <a:t>ti</a:t>
            </a:r>
            <a:r>
              <a:rPr sz="1400" spc="-15" dirty="0">
                <a:latin typeface="Calibri"/>
                <a:cs typeface="Calibri"/>
              </a:rPr>
              <a:t>v</a:t>
            </a:r>
            <a:r>
              <a:rPr sz="1400" dirty="0">
                <a:latin typeface="Calibri"/>
                <a:cs typeface="Calibri"/>
              </a:rPr>
              <a:t>e  </a:t>
            </a:r>
            <a:r>
              <a:rPr sz="1400" spc="-10" dirty="0">
                <a:latin typeface="Calibri"/>
                <a:cs typeface="Calibri"/>
              </a:rPr>
              <a:t>features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110037" y="2797238"/>
            <a:ext cx="1000125" cy="619125"/>
            <a:chOff x="4110037" y="2797238"/>
            <a:chExt cx="1000125" cy="619125"/>
          </a:xfrm>
        </p:grpSpPr>
        <p:sp>
          <p:nvSpPr>
            <p:cNvPr id="21" name="object 21"/>
            <p:cNvSpPr/>
            <p:nvPr/>
          </p:nvSpPr>
          <p:spPr>
            <a:xfrm>
              <a:off x="4114800" y="2802001"/>
              <a:ext cx="990600" cy="609600"/>
            </a:xfrm>
            <a:custGeom>
              <a:avLst/>
              <a:gdLst/>
              <a:ahLst/>
              <a:cxnLst/>
              <a:rect l="l" t="t" r="r" b="b"/>
              <a:pathLst>
                <a:path w="990600" h="609600">
                  <a:moveTo>
                    <a:pt x="990600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990600" y="609600"/>
                  </a:lnTo>
                  <a:lnTo>
                    <a:pt x="9906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114800" y="2802001"/>
              <a:ext cx="990600" cy="609600"/>
            </a:xfrm>
            <a:custGeom>
              <a:avLst/>
              <a:gdLst/>
              <a:ahLst/>
              <a:cxnLst/>
              <a:rect l="l" t="t" r="r" b="b"/>
              <a:pathLst>
                <a:path w="990600" h="609600">
                  <a:moveTo>
                    <a:pt x="0" y="609600"/>
                  </a:moveTo>
                  <a:lnTo>
                    <a:pt x="990600" y="609600"/>
                  </a:lnTo>
                  <a:lnTo>
                    <a:pt x="990600" y="0"/>
                  </a:lnTo>
                  <a:lnTo>
                    <a:pt x="0" y="0"/>
                  </a:lnTo>
                  <a:lnTo>
                    <a:pt x="0" y="6096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4114800" y="2802001"/>
            <a:ext cx="990600" cy="609600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158115" marR="147955" indent="-3175">
              <a:lnSpc>
                <a:spcPct val="100000"/>
              </a:lnSpc>
              <a:spcBef>
                <a:spcPts val="630"/>
              </a:spcBef>
            </a:pPr>
            <a:r>
              <a:rPr sz="1400" spc="-10" dirty="0">
                <a:latin typeface="Calibri"/>
                <a:cs typeface="Calibri"/>
              </a:rPr>
              <a:t>s</a:t>
            </a:r>
            <a:r>
              <a:rPr sz="1400" spc="-15" dirty="0">
                <a:latin typeface="Calibri"/>
                <a:cs typeface="Calibri"/>
              </a:rPr>
              <a:t>ta</a:t>
            </a:r>
            <a:r>
              <a:rPr sz="1400" dirty="0">
                <a:latin typeface="Calibri"/>
                <a:cs typeface="Calibri"/>
              </a:rPr>
              <a:t>ti</a:t>
            </a:r>
            <a:r>
              <a:rPr sz="1400" spc="-10" dirty="0">
                <a:latin typeface="Calibri"/>
                <a:cs typeface="Calibri"/>
              </a:rPr>
              <a:t>s</a:t>
            </a:r>
            <a:r>
              <a:rPr sz="1400" dirty="0">
                <a:latin typeface="Calibri"/>
                <a:cs typeface="Calibri"/>
              </a:rPr>
              <a:t>ti</a:t>
            </a:r>
            <a:r>
              <a:rPr sz="1400" spc="-20" dirty="0">
                <a:latin typeface="Calibri"/>
                <a:cs typeface="Calibri"/>
              </a:rPr>
              <a:t>c</a:t>
            </a:r>
            <a:r>
              <a:rPr sz="1400" dirty="0">
                <a:latin typeface="Calibri"/>
                <a:cs typeface="Calibri"/>
              </a:rPr>
              <a:t>al  i</a:t>
            </a:r>
            <a:r>
              <a:rPr sz="1400" spc="-15" dirty="0">
                <a:latin typeface="Calibri"/>
                <a:cs typeface="Calibri"/>
              </a:rPr>
              <a:t>n</a:t>
            </a:r>
            <a:r>
              <a:rPr sz="1400" spc="-35" dirty="0">
                <a:latin typeface="Calibri"/>
                <a:cs typeface="Calibri"/>
              </a:rPr>
              <a:t>f</a:t>
            </a:r>
            <a:r>
              <a:rPr sz="1400" dirty="0">
                <a:latin typeface="Calibri"/>
                <a:cs typeface="Calibri"/>
              </a:rPr>
              <a:t>e</a:t>
            </a:r>
            <a:r>
              <a:rPr sz="1400" spc="-25" dirty="0">
                <a:latin typeface="Calibri"/>
                <a:cs typeface="Calibri"/>
              </a:rPr>
              <a:t>r</a:t>
            </a:r>
            <a:r>
              <a:rPr sz="1400" dirty="0">
                <a:latin typeface="Calibri"/>
                <a:cs typeface="Calibri"/>
              </a:rPr>
              <a:t>e</a:t>
            </a:r>
            <a:r>
              <a:rPr sz="1400" spc="-10" dirty="0">
                <a:latin typeface="Calibri"/>
                <a:cs typeface="Calibri"/>
              </a:rPr>
              <a:t>nc</a:t>
            </a:r>
            <a:r>
              <a:rPr sz="1400" dirty="0">
                <a:latin typeface="Calibri"/>
                <a:cs typeface="Calibri"/>
              </a:rPr>
              <a:t>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786437" y="2805112"/>
            <a:ext cx="1152525" cy="619125"/>
            <a:chOff x="5786437" y="2805112"/>
            <a:chExt cx="1152525" cy="619125"/>
          </a:xfrm>
        </p:grpSpPr>
        <p:sp>
          <p:nvSpPr>
            <p:cNvPr id="25" name="object 25"/>
            <p:cNvSpPr/>
            <p:nvPr/>
          </p:nvSpPr>
          <p:spPr>
            <a:xfrm>
              <a:off x="5791200" y="2809875"/>
              <a:ext cx="1143000" cy="609600"/>
            </a:xfrm>
            <a:custGeom>
              <a:avLst/>
              <a:gdLst/>
              <a:ahLst/>
              <a:cxnLst/>
              <a:rect l="l" t="t" r="r" b="b"/>
              <a:pathLst>
                <a:path w="1143000" h="609600">
                  <a:moveTo>
                    <a:pt x="1143000" y="0"/>
                  </a:moveTo>
                  <a:lnTo>
                    <a:pt x="0" y="0"/>
                  </a:lnTo>
                  <a:lnTo>
                    <a:pt x="0" y="609600"/>
                  </a:lnTo>
                  <a:lnTo>
                    <a:pt x="1143000" y="609600"/>
                  </a:lnTo>
                  <a:lnTo>
                    <a:pt x="11430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791200" y="2809875"/>
              <a:ext cx="1143000" cy="609600"/>
            </a:xfrm>
            <a:custGeom>
              <a:avLst/>
              <a:gdLst/>
              <a:ahLst/>
              <a:cxnLst/>
              <a:rect l="l" t="t" r="r" b="b"/>
              <a:pathLst>
                <a:path w="1143000" h="609600">
                  <a:moveTo>
                    <a:pt x="0" y="609600"/>
                  </a:moveTo>
                  <a:lnTo>
                    <a:pt x="1143000" y="609600"/>
                  </a:lnTo>
                  <a:lnTo>
                    <a:pt x="1143000" y="0"/>
                  </a:lnTo>
                  <a:lnTo>
                    <a:pt x="0" y="0"/>
                  </a:lnTo>
                  <a:lnTo>
                    <a:pt x="0" y="6096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5791200" y="2809875"/>
            <a:ext cx="1143000" cy="609600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101600" marR="92710" indent="161290">
              <a:lnSpc>
                <a:spcPct val="100000"/>
              </a:lnSpc>
              <a:spcBef>
                <a:spcPts val="630"/>
              </a:spcBef>
            </a:pPr>
            <a:r>
              <a:rPr sz="1400" spc="-10" dirty="0">
                <a:latin typeface="Calibri"/>
                <a:cs typeface="Calibri"/>
              </a:rPr>
              <a:t>risk/cost 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mi</a:t>
            </a:r>
            <a:r>
              <a:rPr sz="1400" spc="-10" dirty="0">
                <a:latin typeface="Calibri"/>
                <a:cs typeface="Calibri"/>
              </a:rPr>
              <a:t>n</a:t>
            </a:r>
            <a:r>
              <a:rPr sz="1400" dirty="0">
                <a:latin typeface="Calibri"/>
                <a:cs typeface="Calibri"/>
              </a:rPr>
              <a:t>imi</a:t>
            </a:r>
            <a:r>
              <a:rPr sz="1400" spc="-30" dirty="0">
                <a:latin typeface="Calibri"/>
                <a:cs typeface="Calibri"/>
              </a:rPr>
              <a:t>z</a:t>
            </a:r>
            <a:r>
              <a:rPr sz="1400" spc="-15" dirty="0">
                <a:latin typeface="Calibri"/>
                <a:cs typeface="Calibri"/>
              </a:rPr>
              <a:t>a</a:t>
            </a:r>
            <a:r>
              <a:rPr sz="1400" dirty="0">
                <a:latin typeface="Calibri"/>
                <a:cs typeface="Calibri"/>
              </a:rPr>
              <a:t>tion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519237" y="1281112"/>
            <a:ext cx="6638925" cy="2447925"/>
            <a:chOff x="1519237" y="1281112"/>
            <a:chExt cx="6638925" cy="2447925"/>
          </a:xfrm>
        </p:grpSpPr>
        <p:sp>
          <p:nvSpPr>
            <p:cNvPr id="29" name="object 29"/>
            <p:cNvSpPr/>
            <p:nvPr/>
          </p:nvSpPr>
          <p:spPr>
            <a:xfrm>
              <a:off x="1524000" y="2276475"/>
              <a:ext cx="76200" cy="533400"/>
            </a:xfrm>
            <a:custGeom>
              <a:avLst/>
              <a:gdLst/>
              <a:ahLst/>
              <a:cxnLst/>
              <a:rect l="l" t="t" r="r" b="b"/>
              <a:pathLst>
                <a:path w="76200" h="533400">
                  <a:moveTo>
                    <a:pt x="38100" y="0"/>
                  </a:moveTo>
                  <a:lnTo>
                    <a:pt x="0" y="133350"/>
                  </a:lnTo>
                  <a:lnTo>
                    <a:pt x="19050" y="133350"/>
                  </a:lnTo>
                  <a:lnTo>
                    <a:pt x="19050" y="533400"/>
                  </a:lnTo>
                  <a:lnTo>
                    <a:pt x="57150" y="533400"/>
                  </a:lnTo>
                  <a:lnTo>
                    <a:pt x="57150" y="133350"/>
                  </a:lnTo>
                  <a:lnTo>
                    <a:pt x="76200" y="13335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524000" y="2276475"/>
              <a:ext cx="76200" cy="533400"/>
            </a:xfrm>
            <a:custGeom>
              <a:avLst/>
              <a:gdLst/>
              <a:ahLst/>
              <a:cxnLst/>
              <a:rect l="l" t="t" r="r" b="b"/>
              <a:pathLst>
                <a:path w="76200" h="533400">
                  <a:moveTo>
                    <a:pt x="0" y="133350"/>
                  </a:moveTo>
                  <a:lnTo>
                    <a:pt x="38100" y="0"/>
                  </a:lnTo>
                  <a:lnTo>
                    <a:pt x="76200" y="133350"/>
                  </a:lnTo>
                  <a:lnTo>
                    <a:pt x="57150" y="133350"/>
                  </a:lnTo>
                  <a:lnTo>
                    <a:pt x="57150" y="533400"/>
                  </a:lnTo>
                  <a:lnTo>
                    <a:pt x="19050" y="533400"/>
                  </a:lnTo>
                  <a:lnTo>
                    <a:pt x="19050" y="133350"/>
                  </a:lnTo>
                  <a:lnTo>
                    <a:pt x="0" y="13335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324600" y="2268600"/>
              <a:ext cx="76200" cy="533400"/>
            </a:xfrm>
            <a:custGeom>
              <a:avLst/>
              <a:gdLst/>
              <a:ahLst/>
              <a:cxnLst/>
              <a:rect l="l" t="t" r="r" b="b"/>
              <a:pathLst>
                <a:path w="76200" h="533400">
                  <a:moveTo>
                    <a:pt x="38100" y="0"/>
                  </a:moveTo>
                  <a:lnTo>
                    <a:pt x="0" y="133350"/>
                  </a:lnTo>
                  <a:lnTo>
                    <a:pt x="19050" y="133350"/>
                  </a:lnTo>
                  <a:lnTo>
                    <a:pt x="19050" y="533400"/>
                  </a:lnTo>
                  <a:lnTo>
                    <a:pt x="57150" y="533400"/>
                  </a:lnTo>
                  <a:lnTo>
                    <a:pt x="57150" y="133350"/>
                  </a:lnTo>
                  <a:lnTo>
                    <a:pt x="76200" y="13335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324600" y="2268600"/>
              <a:ext cx="76200" cy="533400"/>
            </a:xfrm>
            <a:custGeom>
              <a:avLst/>
              <a:gdLst/>
              <a:ahLst/>
              <a:cxnLst/>
              <a:rect l="l" t="t" r="r" b="b"/>
              <a:pathLst>
                <a:path w="76200" h="533400">
                  <a:moveTo>
                    <a:pt x="0" y="133350"/>
                  </a:moveTo>
                  <a:lnTo>
                    <a:pt x="38100" y="0"/>
                  </a:lnTo>
                  <a:lnTo>
                    <a:pt x="76200" y="133350"/>
                  </a:lnTo>
                  <a:lnTo>
                    <a:pt x="57150" y="133350"/>
                  </a:lnTo>
                  <a:lnTo>
                    <a:pt x="57150" y="533400"/>
                  </a:lnTo>
                  <a:lnTo>
                    <a:pt x="19050" y="533400"/>
                  </a:lnTo>
                  <a:lnTo>
                    <a:pt x="19050" y="133350"/>
                  </a:lnTo>
                  <a:lnTo>
                    <a:pt x="0" y="13335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495800" y="2224150"/>
              <a:ext cx="76200" cy="533400"/>
            </a:xfrm>
            <a:custGeom>
              <a:avLst/>
              <a:gdLst/>
              <a:ahLst/>
              <a:cxnLst/>
              <a:rect l="l" t="t" r="r" b="b"/>
              <a:pathLst>
                <a:path w="76200" h="533400">
                  <a:moveTo>
                    <a:pt x="38100" y="0"/>
                  </a:moveTo>
                  <a:lnTo>
                    <a:pt x="0" y="133350"/>
                  </a:lnTo>
                  <a:lnTo>
                    <a:pt x="19050" y="133350"/>
                  </a:lnTo>
                  <a:lnTo>
                    <a:pt x="19050" y="533400"/>
                  </a:lnTo>
                  <a:lnTo>
                    <a:pt x="57150" y="533400"/>
                  </a:lnTo>
                  <a:lnTo>
                    <a:pt x="57150" y="133350"/>
                  </a:lnTo>
                  <a:lnTo>
                    <a:pt x="76200" y="13335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495800" y="2224150"/>
              <a:ext cx="76200" cy="533400"/>
            </a:xfrm>
            <a:custGeom>
              <a:avLst/>
              <a:gdLst/>
              <a:ahLst/>
              <a:cxnLst/>
              <a:rect l="l" t="t" r="r" b="b"/>
              <a:pathLst>
                <a:path w="76200" h="533400">
                  <a:moveTo>
                    <a:pt x="0" y="133350"/>
                  </a:moveTo>
                  <a:lnTo>
                    <a:pt x="38100" y="0"/>
                  </a:lnTo>
                  <a:lnTo>
                    <a:pt x="76200" y="133350"/>
                  </a:lnTo>
                  <a:lnTo>
                    <a:pt x="57150" y="133350"/>
                  </a:lnTo>
                  <a:lnTo>
                    <a:pt x="57150" y="533400"/>
                  </a:lnTo>
                  <a:lnTo>
                    <a:pt x="19050" y="533400"/>
                  </a:lnTo>
                  <a:lnTo>
                    <a:pt x="19050" y="133350"/>
                  </a:lnTo>
                  <a:lnTo>
                    <a:pt x="0" y="13335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048000" y="2276475"/>
              <a:ext cx="76200" cy="533400"/>
            </a:xfrm>
            <a:custGeom>
              <a:avLst/>
              <a:gdLst/>
              <a:ahLst/>
              <a:cxnLst/>
              <a:rect l="l" t="t" r="r" b="b"/>
              <a:pathLst>
                <a:path w="76200" h="533400">
                  <a:moveTo>
                    <a:pt x="38100" y="0"/>
                  </a:moveTo>
                  <a:lnTo>
                    <a:pt x="0" y="133350"/>
                  </a:lnTo>
                  <a:lnTo>
                    <a:pt x="19050" y="133350"/>
                  </a:lnTo>
                  <a:lnTo>
                    <a:pt x="19050" y="533400"/>
                  </a:lnTo>
                  <a:lnTo>
                    <a:pt x="57150" y="533400"/>
                  </a:lnTo>
                  <a:lnTo>
                    <a:pt x="57150" y="133350"/>
                  </a:lnTo>
                  <a:lnTo>
                    <a:pt x="76200" y="13335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048000" y="2276475"/>
              <a:ext cx="76200" cy="533400"/>
            </a:xfrm>
            <a:custGeom>
              <a:avLst/>
              <a:gdLst/>
              <a:ahLst/>
              <a:cxnLst/>
              <a:rect l="l" t="t" r="r" b="b"/>
              <a:pathLst>
                <a:path w="76200" h="533400">
                  <a:moveTo>
                    <a:pt x="0" y="133350"/>
                  </a:moveTo>
                  <a:lnTo>
                    <a:pt x="38100" y="0"/>
                  </a:lnTo>
                  <a:lnTo>
                    <a:pt x="76200" y="133350"/>
                  </a:lnTo>
                  <a:lnTo>
                    <a:pt x="57150" y="133350"/>
                  </a:lnTo>
                  <a:lnTo>
                    <a:pt x="57150" y="533400"/>
                  </a:lnTo>
                  <a:lnTo>
                    <a:pt x="19050" y="533400"/>
                  </a:lnTo>
                  <a:lnTo>
                    <a:pt x="19050" y="133350"/>
                  </a:lnTo>
                  <a:lnTo>
                    <a:pt x="0" y="13335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200400" y="1285875"/>
              <a:ext cx="4953000" cy="2438400"/>
            </a:xfrm>
            <a:custGeom>
              <a:avLst/>
              <a:gdLst/>
              <a:ahLst/>
              <a:cxnLst/>
              <a:rect l="l" t="t" r="r" b="b"/>
              <a:pathLst>
                <a:path w="4953000" h="2438400">
                  <a:moveTo>
                    <a:pt x="0" y="1219200"/>
                  </a:moveTo>
                  <a:lnTo>
                    <a:pt x="3124" y="1157418"/>
                  </a:lnTo>
                  <a:lnTo>
                    <a:pt x="12397" y="1096434"/>
                  </a:lnTo>
                  <a:lnTo>
                    <a:pt x="27672" y="1036321"/>
                  </a:lnTo>
                  <a:lnTo>
                    <a:pt x="48799" y="977151"/>
                  </a:lnTo>
                  <a:lnTo>
                    <a:pt x="75631" y="918998"/>
                  </a:lnTo>
                  <a:lnTo>
                    <a:pt x="108017" y="861935"/>
                  </a:lnTo>
                  <a:lnTo>
                    <a:pt x="145811" y="806035"/>
                  </a:lnTo>
                  <a:lnTo>
                    <a:pt x="188863" y="751371"/>
                  </a:lnTo>
                  <a:lnTo>
                    <a:pt x="237025" y="698016"/>
                  </a:lnTo>
                  <a:lnTo>
                    <a:pt x="290149" y="646044"/>
                  </a:lnTo>
                  <a:lnTo>
                    <a:pt x="318525" y="620599"/>
                  </a:lnTo>
                  <a:lnTo>
                    <a:pt x="348086" y="595527"/>
                  </a:lnTo>
                  <a:lnTo>
                    <a:pt x="378813" y="570837"/>
                  </a:lnTo>
                  <a:lnTo>
                    <a:pt x="410687" y="546539"/>
                  </a:lnTo>
                  <a:lnTo>
                    <a:pt x="443690" y="522641"/>
                  </a:lnTo>
                  <a:lnTo>
                    <a:pt x="477804" y="499152"/>
                  </a:lnTo>
                  <a:lnTo>
                    <a:pt x="513010" y="476082"/>
                  </a:lnTo>
                  <a:lnTo>
                    <a:pt x="549289" y="453441"/>
                  </a:lnTo>
                  <a:lnTo>
                    <a:pt x="586622" y="431236"/>
                  </a:lnTo>
                  <a:lnTo>
                    <a:pt x="624992" y="409477"/>
                  </a:lnTo>
                  <a:lnTo>
                    <a:pt x="664380" y="388173"/>
                  </a:lnTo>
                  <a:lnTo>
                    <a:pt x="704766" y="367334"/>
                  </a:lnTo>
                  <a:lnTo>
                    <a:pt x="746133" y="346969"/>
                  </a:lnTo>
                  <a:lnTo>
                    <a:pt x="788462" y="327086"/>
                  </a:lnTo>
                  <a:lnTo>
                    <a:pt x="831734" y="307695"/>
                  </a:lnTo>
                  <a:lnTo>
                    <a:pt x="875932" y="288805"/>
                  </a:lnTo>
                  <a:lnTo>
                    <a:pt x="921035" y="270425"/>
                  </a:lnTo>
                  <a:lnTo>
                    <a:pt x="967026" y="252564"/>
                  </a:lnTo>
                  <a:lnTo>
                    <a:pt x="1013886" y="235232"/>
                  </a:lnTo>
                  <a:lnTo>
                    <a:pt x="1061597" y="218437"/>
                  </a:lnTo>
                  <a:lnTo>
                    <a:pt x="1110140" y="202189"/>
                  </a:lnTo>
                  <a:lnTo>
                    <a:pt x="1159496" y="186497"/>
                  </a:lnTo>
                  <a:lnTo>
                    <a:pt x="1209647" y="171369"/>
                  </a:lnTo>
                  <a:lnTo>
                    <a:pt x="1260574" y="156816"/>
                  </a:lnTo>
                  <a:lnTo>
                    <a:pt x="1312259" y="142846"/>
                  </a:lnTo>
                  <a:lnTo>
                    <a:pt x="1364683" y="129469"/>
                  </a:lnTo>
                  <a:lnTo>
                    <a:pt x="1417828" y="116692"/>
                  </a:lnTo>
                  <a:lnTo>
                    <a:pt x="1471675" y="104527"/>
                  </a:lnTo>
                  <a:lnTo>
                    <a:pt x="1526206" y="92981"/>
                  </a:lnTo>
                  <a:lnTo>
                    <a:pt x="1581401" y="82065"/>
                  </a:lnTo>
                  <a:lnTo>
                    <a:pt x="1637243" y="71786"/>
                  </a:lnTo>
                  <a:lnTo>
                    <a:pt x="1693712" y="62154"/>
                  </a:lnTo>
                  <a:lnTo>
                    <a:pt x="1750791" y="53179"/>
                  </a:lnTo>
                  <a:lnTo>
                    <a:pt x="1808460" y="44870"/>
                  </a:lnTo>
                  <a:lnTo>
                    <a:pt x="1866702" y="37234"/>
                  </a:lnTo>
                  <a:lnTo>
                    <a:pt x="1925497" y="30283"/>
                  </a:lnTo>
                  <a:lnTo>
                    <a:pt x="1984827" y="24025"/>
                  </a:lnTo>
                  <a:lnTo>
                    <a:pt x="2044673" y="18469"/>
                  </a:lnTo>
                  <a:lnTo>
                    <a:pt x="2105018" y="13623"/>
                  </a:lnTo>
                  <a:lnTo>
                    <a:pt x="2165841" y="9499"/>
                  </a:lnTo>
                  <a:lnTo>
                    <a:pt x="2227126" y="6103"/>
                  </a:lnTo>
                  <a:lnTo>
                    <a:pt x="2288852" y="3447"/>
                  </a:lnTo>
                  <a:lnTo>
                    <a:pt x="2351003" y="1538"/>
                  </a:lnTo>
                  <a:lnTo>
                    <a:pt x="2413558" y="386"/>
                  </a:lnTo>
                  <a:lnTo>
                    <a:pt x="2476500" y="0"/>
                  </a:lnTo>
                  <a:lnTo>
                    <a:pt x="2539441" y="386"/>
                  </a:lnTo>
                  <a:lnTo>
                    <a:pt x="2601996" y="1538"/>
                  </a:lnTo>
                  <a:lnTo>
                    <a:pt x="2664147" y="3447"/>
                  </a:lnTo>
                  <a:lnTo>
                    <a:pt x="2725873" y="6103"/>
                  </a:lnTo>
                  <a:lnTo>
                    <a:pt x="2787158" y="9499"/>
                  </a:lnTo>
                  <a:lnTo>
                    <a:pt x="2847981" y="13623"/>
                  </a:lnTo>
                  <a:lnTo>
                    <a:pt x="2908326" y="18469"/>
                  </a:lnTo>
                  <a:lnTo>
                    <a:pt x="2968172" y="24025"/>
                  </a:lnTo>
                  <a:lnTo>
                    <a:pt x="3027502" y="30283"/>
                  </a:lnTo>
                  <a:lnTo>
                    <a:pt x="3086297" y="37234"/>
                  </a:lnTo>
                  <a:lnTo>
                    <a:pt x="3144539" y="44870"/>
                  </a:lnTo>
                  <a:lnTo>
                    <a:pt x="3202208" y="53179"/>
                  </a:lnTo>
                  <a:lnTo>
                    <a:pt x="3259287" y="62154"/>
                  </a:lnTo>
                  <a:lnTo>
                    <a:pt x="3315756" y="71786"/>
                  </a:lnTo>
                  <a:lnTo>
                    <a:pt x="3371598" y="82065"/>
                  </a:lnTo>
                  <a:lnTo>
                    <a:pt x="3426793" y="92981"/>
                  </a:lnTo>
                  <a:lnTo>
                    <a:pt x="3481324" y="104527"/>
                  </a:lnTo>
                  <a:lnTo>
                    <a:pt x="3535171" y="116692"/>
                  </a:lnTo>
                  <a:lnTo>
                    <a:pt x="3588316" y="129469"/>
                  </a:lnTo>
                  <a:lnTo>
                    <a:pt x="3640740" y="142846"/>
                  </a:lnTo>
                  <a:lnTo>
                    <a:pt x="3692425" y="156816"/>
                  </a:lnTo>
                  <a:lnTo>
                    <a:pt x="3743352" y="171369"/>
                  </a:lnTo>
                  <a:lnTo>
                    <a:pt x="3793503" y="186497"/>
                  </a:lnTo>
                  <a:lnTo>
                    <a:pt x="3842859" y="202189"/>
                  </a:lnTo>
                  <a:lnTo>
                    <a:pt x="3891402" y="218437"/>
                  </a:lnTo>
                  <a:lnTo>
                    <a:pt x="3939113" y="235232"/>
                  </a:lnTo>
                  <a:lnTo>
                    <a:pt x="3985973" y="252564"/>
                  </a:lnTo>
                  <a:lnTo>
                    <a:pt x="4031964" y="270425"/>
                  </a:lnTo>
                  <a:lnTo>
                    <a:pt x="4077067" y="288805"/>
                  </a:lnTo>
                  <a:lnTo>
                    <a:pt x="4121265" y="307695"/>
                  </a:lnTo>
                  <a:lnTo>
                    <a:pt x="4164537" y="327086"/>
                  </a:lnTo>
                  <a:lnTo>
                    <a:pt x="4206866" y="346969"/>
                  </a:lnTo>
                  <a:lnTo>
                    <a:pt x="4248233" y="367334"/>
                  </a:lnTo>
                  <a:lnTo>
                    <a:pt x="4288619" y="388173"/>
                  </a:lnTo>
                  <a:lnTo>
                    <a:pt x="4328007" y="409477"/>
                  </a:lnTo>
                  <a:lnTo>
                    <a:pt x="4366377" y="431236"/>
                  </a:lnTo>
                  <a:lnTo>
                    <a:pt x="4403710" y="453441"/>
                  </a:lnTo>
                  <a:lnTo>
                    <a:pt x="4439989" y="476082"/>
                  </a:lnTo>
                  <a:lnTo>
                    <a:pt x="4475195" y="499152"/>
                  </a:lnTo>
                  <a:lnTo>
                    <a:pt x="4509309" y="522641"/>
                  </a:lnTo>
                  <a:lnTo>
                    <a:pt x="4542312" y="546539"/>
                  </a:lnTo>
                  <a:lnTo>
                    <a:pt x="4574186" y="570837"/>
                  </a:lnTo>
                  <a:lnTo>
                    <a:pt x="4604913" y="595527"/>
                  </a:lnTo>
                  <a:lnTo>
                    <a:pt x="4634474" y="620599"/>
                  </a:lnTo>
                  <a:lnTo>
                    <a:pt x="4662850" y="646044"/>
                  </a:lnTo>
                  <a:lnTo>
                    <a:pt x="4715974" y="698016"/>
                  </a:lnTo>
                  <a:lnTo>
                    <a:pt x="4764136" y="751371"/>
                  </a:lnTo>
                  <a:lnTo>
                    <a:pt x="4807188" y="806035"/>
                  </a:lnTo>
                  <a:lnTo>
                    <a:pt x="4844982" y="861935"/>
                  </a:lnTo>
                  <a:lnTo>
                    <a:pt x="4877368" y="918998"/>
                  </a:lnTo>
                  <a:lnTo>
                    <a:pt x="4904200" y="977151"/>
                  </a:lnTo>
                  <a:lnTo>
                    <a:pt x="4925327" y="1036321"/>
                  </a:lnTo>
                  <a:lnTo>
                    <a:pt x="4940602" y="1096434"/>
                  </a:lnTo>
                  <a:lnTo>
                    <a:pt x="4949875" y="1157418"/>
                  </a:lnTo>
                  <a:lnTo>
                    <a:pt x="4953000" y="1219200"/>
                  </a:lnTo>
                  <a:lnTo>
                    <a:pt x="4952215" y="1250185"/>
                  </a:lnTo>
                  <a:lnTo>
                    <a:pt x="4945998" y="1311577"/>
                  </a:lnTo>
                  <a:lnTo>
                    <a:pt x="4933705" y="1372135"/>
                  </a:lnTo>
                  <a:lnTo>
                    <a:pt x="4915485" y="1431786"/>
                  </a:lnTo>
                  <a:lnTo>
                    <a:pt x="4891488" y="1490456"/>
                  </a:lnTo>
                  <a:lnTo>
                    <a:pt x="4861860" y="1548074"/>
                  </a:lnTo>
                  <a:lnTo>
                    <a:pt x="4826751" y="1604564"/>
                  </a:lnTo>
                  <a:lnTo>
                    <a:pt x="4786310" y="1659855"/>
                  </a:lnTo>
                  <a:lnTo>
                    <a:pt x="4740684" y="1713874"/>
                  </a:lnTo>
                  <a:lnTo>
                    <a:pt x="4690023" y="1766547"/>
                  </a:lnTo>
                  <a:lnTo>
                    <a:pt x="4634474" y="1817800"/>
                  </a:lnTo>
                  <a:lnTo>
                    <a:pt x="4604913" y="1842872"/>
                  </a:lnTo>
                  <a:lnTo>
                    <a:pt x="4574186" y="1867562"/>
                  </a:lnTo>
                  <a:lnTo>
                    <a:pt x="4542312" y="1891860"/>
                  </a:lnTo>
                  <a:lnTo>
                    <a:pt x="4509309" y="1915758"/>
                  </a:lnTo>
                  <a:lnTo>
                    <a:pt x="4475195" y="1939247"/>
                  </a:lnTo>
                  <a:lnTo>
                    <a:pt x="4439989" y="1962317"/>
                  </a:lnTo>
                  <a:lnTo>
                    <a:pt x="4403710" y="1984958"/>
                  </a:lnTo>
                  <a:lnTo>
                    <a:pt x="4366377" y="2007163"/>
                  </a:lnTo>
                  <a:lnTo>
                    <a:pt x="4328007" y="2028922"/>
                  </a:lnTo>
                  <a:lnTo>
                    <a:pt x="4288619" y="2050226"/>
                  </a:lnTo>
                  <a:lnTo>
                    <a:pt x="4248233" y="2071065"/>
                  </a:lnTo>
                  <a:lnTo>
                    <a:pt x="4206866" y="2091430"/>
                  </a:lnTo>
                  <a:lnTo>
                    <a:pt x="4164537" y="2111313"/>
                  </a:lnTo>
                  <a:lnTo>
                    <a:pt x="4121265" y="2130704"/>
                  </a:lnTo>
                  <a:lnTo>
                    <a:pt x="4077067" y="2149594"/>
                  </a:lnTo>
                  <a:lnTo>
                    <a:pt x="4031964" y="2167974"/>
                  </a:lnTo>
                  <a:lnTo>
                    <a:pt x="3985973" y="2185835"/>
                  </a:lnTo>
                  <a:lnTo>
                    <a:pt x="3939113" y="2203167"/>
                  </a:lnTo>
                  <a:lnTo>
                    <a:pt x="3891402" y="2219962"/>
                  </a:lnTo>
                  <a:lnTo>
                    <a:pt x="3842859" y="2236210"/>
                  </a:lnTo>
                  <a:lnTo>
                    <a:pt x="3793503" y="2251902"/>
                  </a:lnTo>
                  <a:lnTo>
                    <a:pt x="3743352" y="2267030"/>
                  </a:lnTo>
                  <a:lnTo>
                    <a:pt x="3692425" y="2281583"/>
                  </a:lnTo>
                  <a:lnTo>
                    <a:pt x="3640740" y="2295553"/>
                  </a:lnTo>
                  <a:lnTo>
                    <a:pt x="3588316" y="2308930"/>
                  </a:lnTo>
                  <a:lnTo>
                    <a:pt x="3535171" y="2321707"/>
                  </a:lnTo>
                  <a:lnTo>
                    <a:pt x="3481324" y="2333872"/>
                  </a:lnTo>
                  <a:lnTo>
                    <a:pt x="3426793" y="2345418"/>
                  </a:lnTo>
                  <a:lnTo>
                    <a:pt x="3371598" y="2356334"/>
                  </a:lnTo>
                  <a:lnTo>
                    <a:pt x="3315756" y="2366613"/>
                  </a:lnTo>
                  <a:lnTo>
                    <a:pt x="3259287" y="2376245"/>
                  </a:lnTo>
                  <a:lnTo>
                    <a:pt x="3202208" y="2385220"/>
                  </a:lnTo>
                  <a:lnTo>
                    <a:pt x="3144539" y="2393529"/>
                  </a:lnTo>
                  <a:lnTo>
                    <a:pt x="3086297" y="2401165"/>
                  </a:lnTo>
                  <a:lnTo>
                    <a:pt x="3027502" y="2408116"/>
                  </a:lnTo>
                  <a:lnTo>
                    <a:pt x="2968172" y="2414374"/>
                  </a:lnTo>
                  <a:lnTo>
                    <a:pt x="2908326" y="2419930"/>
                  </a:lnTo>
                  <a:lnTo>
                    <a:pt x="2847981" y="2424776"/>
                  </a:lnTo>
                  <a:lnTo>
                    <a:pt x="2787158" y="2428900"/>
                  </a:lnTo>
                  <a:lnTo>
                    <a:pt x="2725873" y="2432296"/>
                  </a:lnTo>
                  <a:lnTo>
                    <a:pt x="2664147" y="2434952"/>
                  </a:lnTo>
                  <a:lnTo>
                    <a:pt x="2601996" y="2436861"/>
                  </a:lnTo>
                  <a:lnTo>
                    <a:pt x="2539441" y="2438013"/>
                  </a:lnTo>
                  <a:lnTo>
                    <a:pt x="2476500" y="2438400"/>
                  </a:lnTo>
                  <a:lnTo>
                    <a:pt x="2413558" y="2438013"/>
                  </a:lnTo>
                  <a:lnTo>
                    <a:pt x="2351003" y="2436861"/>
                  </a:lnTo>
                  <a:lnTo>
                    <a:pt x="2288852" y="2434952"/>
                  </a:lnTo>
                  <a:lnTo>
                    <a:pt x="2227126" y="2432296"/>
                  </a:lnTo>
                  <a:lnTo>
                    <a:pt x="2165841" y="2428900"/>
                  </a:lnTo>
                  <a:lnTo>
                    <a:pt x="2105018" y="2424776"/>
                  </a:lnTo>
                  <a:lnTo>
                    <a:pt x="2044673" y="2419930"/>
                  </a:lnTo>
                  <a:lnTo>
                    <a:pt x="1984827" y="2414374"/>
                  </a:lnTo>
                  <a:lnTo>
                    <a:pt x="1925497" y="2408116"/>
                  </a:lnTo>
                  <a:lnTo>
                    <a:pt x="1866702" y="2401165"/>
                  </a:lnTo>
                  <a:lnTo>
                    <a:pt x="1808460" y="2393529"/>
                  </a:lnTo>
                  <a:lnTo>
                    <a:pt x="1750791" y="2385220"/>
                  </a:lnTo>
                  <a:lnTo>
                    <a:pt x="1693712" y="2376245"/>
                  </a:lnTo>
                  <a:lnTo>
                    <a:pt x="1637243" y="2366613"/>
                  </a:lnTo>
                  <a:lnTo>
                    <a:pt x="1581401" y="2356334"/>
                  </a:lnTo>
                  <a:lnTo>
                    <a:pt x="1526206" y="2345418"/>
                  </a:lnTo>
                  <a:lnTo>
                    <a:pt x="1471675" y="2333872"/>
                  </a:lnTo>
                  <a:lnTo>
                    <a:pt x="1417828" y="2321707"/>
                  </a:lnTo>
                  <a:lnTo>
                    <a:pt x="1364683" y="2308930"/>
                  </a:lnTo>
                  <a:lnTo>
                    <a:pt x="1312259" y="2295553"/>
                  </a:lnTo>
                  <a:lnTo>
                    <a:pt x="1260574" y="2281583"/>
                  </a:lnTo>
                  <a:lnTo>
                    <a:pt x="1209647" y="2267030"/>
                  </a:lnTo>
                  <a:lnTo>
                    <a:pt x="1159496" y="2251902"/>
                  </a:lnTo>
                  <a:lnTo>
                    <a:pt x="1110140" y="2236210"/>
                  </a:lnTo>
                  <a:lnTo>
                    <a:pt x="1061597" y="2219962"/>
                  </a:lnTo>
                  <a:lnTo>
                    <a:pt x="1013886" y="2203167"/>
                  </a:lnTo>
                  <a:lnTo>
                    <a:pt x="967026" y="2185835"/>
                  </a:lnTo>
                  <a:lnTo>
                    <a:pt x="921035" y="2167974"/>
                  </a:lnTo>
                  <a:lnTo>
                    <a:pt x="875932" y="2149594"/>
                  </a:lnTo>
                  <a:lnTo>
                    <a:pt x="831734" y="2130704"/>
                  </a:lnTo>
                  <a:lnTo>
                    <a:pt x="788462" y="2111313"/>
                  </a:lnTo>
                  <a:lnTo>
                    <a:pt x="746133" y="2091430"/>
                  </a:lnTo>
                  <a:lnTo>
                    <a:pt x="704766" y="2071065"/>
                  </a:lnTo>
                  <a:lnTo>
                    <a:pt x="664380" y="2050226"/>
                  </a:lnTo>
                  <a:lnTo>
                    <a:pt x="624992" y="2028922"/>
                  </a:lnTo>
                  <a:lnTo>
                    <a:pt x="586622" y="2007163"/>
                  </a:lnTo>
                  <a:lnTo>
                    <a:pt x="549289" y="1984958"/>
                  </a:lnTo>
                  <a:lnTo>
                    <a:pt x="513010" y="1962317"/>
                  </a:lnTo>
                  <a:lnTo>
                    <a:pt x="477804" y="1939247"/>
                  </a:lnTo>
                  <a:lnTo>
                    <a:pt x="443690" y="1915758"/>
                  </a:lnTo>
                  <a:lnTo>
                    <a:pt x="410687" y="1891860"/>
                  </a:lnTo>
                  <a:lnTo>
                    <a:pt x="378813" y="1867562"/>
                  </a:lnTo>
                  <a:lnTo>
                    <a:pt x="348086" y="1842872"/>
                  </a:lnTo>
                  <a:lnTo>
                    <a:pt x="318525" y="1817800"/>
                  </a:lnTo>
                  <a:lnTo>
                    <a:pt x="290149" y="1792355"/>
                  </a:lnTo>
                  <a:lnTo>
                    <a:pt x="237025" y="1740383"/>
                  </a:lnTo>
                  <a:lnTo>
                    <a:pt x="188863" y="1687028"/>
                  </a:lnTo>
                  <a:lnTo>
                    <a:pt x="145811" y="1632364"/>
                  </a:lnTo>
                  <a:lnTo>
                    <a:pt x="108017" y="1576464"/>
                  </a:lnTo>
                  <a:lnTo>
                    <a:pt x="75631" y="1519401"/>
                  </a:lnTo>
                  <a:lnTo>
                    <a:pt x="48799" y="1461248"/>
                  </a:lnTo>
                  <a:lnTo>
                    <a:pt x="27672" y="1402078"/>
                  </a:lnTo>
                  <a:lnTo>
                    <a:pt x="12397" y="1341965"/>
                  </a:lnTo>
                  <a:lnTo>
                    <a:pt x="3124" y="1280981"/>
                  </a:lnTo>
                  <a:lnTo>
                    <a:pt x="0" y="12192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365629" y="264617"/>
            <a:ext cx="44132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Keputusan</a:t>
            </a:r>
            <a:r>
              <a:rPr spc="5" dirty="0"/>
              <a:t> </a:t>
            </a:r>
            <a:r>
              <a:rPr dirty="0"/>
              <a:t>Bayes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10540" y="1285112"/>
            <a:ext cx="8091170" cy="5160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0" marR="30480" indent="-343535">
              <a:lnSpc>
                <a:spcPct val="100000"/>
              </a:lnSpc>
              <a:spcBef>
                <a:spcPts val="95"/>
              </a:spcBef>
              <a:buChar char="•"/>
              <a:tabLst>
                <a:tab pos="381000" algn="l"/>
                <a:tab pos="381635" algn="l"/>
              </a:tabLst>
            </a:pPr>
            <a:r>
              <a:rPr sz="2200" spc="-5" dirty="0">
                <a:latin typeface="Calibri"/>
                <a:cs typeface="Calibri"/>
              </a:rPr>
              <a:t>Keputusan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akan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dibuat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ketika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semua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distribusi dari probabilitas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dari </a:t>
            </a:r>
            <a:r>
              <a:rPr sz="2200" spc="-4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data</a:t>
            </a:r>
            <a:r>
              <a:rPr sz="2200" spc="-5" dirty="0">
                <a:latin typeface="Calibri"/>
                <a:cs typeface="Calibri"/>
              </a:rPr>
              <a:t> diketahui,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Sehingga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keputusan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akan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menjadi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optimal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ketika 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distribusi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data</a:t>
            </a:r>
            <a:r>
              <a:rPr sz="2200" spc="-5" dirty="0">
                <a:latin typeface="Calibri"/>
                <a:cs typeface="Calibri"/>
              </a:rPr>
              <a:t> diketahui.</a:t>
            </a:r>
            <a:endParaRPr sz="2200">
              <a:latin typeface="Calibri"/>
              <a:cs typeface="Calibri"/>
            </a:endParaRPr>
          </a:p>
          <a:p>
            <a:pPr marL="381000" indent="-343535">
              <a:lnSpc>
                <a:spcPct val="100000"/>
              </a:lnSpc>
              <a:spcBef>
                <a:spcPts val="545"/>
              </a:spcBef>
              <a:buChar char="•"/>
              <a:tabLst>
                <a:tab pos="381000" algn="l"/>
                <a:tab pos="381635" algn="l"/>
              </a:tabLst>
            </a:pPr>
            <a:r>
              <a:rPr sz="2200" spc="-5" dirty="0">
                <a:latin typeface="Calibri"/>
                <a:cs typeface="Calibri"/>
              </a:rPr>
              <a:t>Misalkan</a:t>
            </a:r>
            <a:r>
              <a:rPr sz="2200" spc="-10" dirty="0">
                <a:latin typeface="Calibri"/>
                <a:cs typeface="Calibri"/>
              </a:rPr>
              <a:t> untuk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kasus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dua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kelas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yang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telah terdefinisi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: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35" dirty="0">
                <a:latin typeface="Symbol"/>
                <a:cs typeface="Symbol"/>
              </a:rPr>
              <a:t></a:t>
            </a:r>
            <a:r>
              <a:rPr sz="2175" spc="-52" baseline="-21072" dirty="0">
                <a:latin typeface="Times New Roman"/>
                <a:cs typeface="Times New Roman"/>
              </a:rPr>
              <a:t>1</a:t>
            </a:r>
            <a:r>
              <a:rPr sz="2175" spc="375" baseline="-21072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dan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spc="-35" dirty="0">
                <a:latin typeface="Symbol"/>
                <a:cs typeface="Symbol"/>
              </a:rPr>
              <a:t></a:t>
            </a:r>
            <a:r>
              <a:rPr sz="2175" spc="-52" baseline="-21072" dirty="0">
                <a:latin typeface="Times New Roman"/>
                <a:cs typeface="Times New Roman"/>
              </a:rPr>
              <a:t>2</a:t>
            </a:r>
            <a:endParaRPr sz="2175" baseline="-21072">
              <a:latin typeface="Times New Roman"/>
              <a:cs typeface="Times New Roman"/>
            </a:endParaRPr>
          </a:p>
          <a:p>
            <a:pPr marL="781685" marR="596900" indent="-287020">
              <a:lnSpc>
                <a:spcPct val="100000"/>
              </a:lnSpc>
              <a:spcBef>
                <a:spcPts val="535"/>
              </a:spcBef>
              <a:tabLst>
                <a:tab pos="781685" algn="l"/>
              </a:tabLst>
            </a:pPr>
            <a:r>
              <a:rPr sz="2000" dirty="0">
                <a:latin typeface="Times New Roman"/>
                <a:cs typeface="Times New Roman"/>
              </a:rPr>
              <a:t>–	</a:t>
            </a:r>
            <a:r>
              <a:rPr sz="2000" spc="-5" dirty="0">
                <a:latin typeface="Times New Roman"/>
                <a:cs typeface="Times New Roman"/>
              </a:rPr>
              <a:t>Probabilitas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Prior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untuk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observasi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baru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yang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belum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diketahui </a:t>
            </a:r>
            <a:r>
              <a:rPr sz="2000" spc="-48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didefiniskan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dengan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 marL="800100" marR="1569720">
              <a:lnSpc>
                <a:spcPct val="120100"/>
              </a:lnSpc>
            </a:pPr>
            <a:r>
              <a:rPr sz="2200" spc="-10" dirty="0">
                <a:latin typeface="Times New Roman"/>
                <a:cs typeface="Times New Roman"/>
              </a:rPr>
              <a:t>P(</a:t>
            </a:r>
            <a:r>
              <a:rPr sz="2200" spc="-10" dirty="0">
                <a:latin typeface="Symbol"/>
                <a:cs typeface="Symbol"/>
              </a:rPr>
              <a:t></a:t>
            </a:r>
            <a:r>
              <a:rPr sz="2175" spc="-15" baseline="-21072" dirty="0">
                <a:latin typeface="Times New Roman"/>
                <a:cs typeface="Times New Roman"/>
              </a:rPr>
              <a:t>1</a:t>
            </a:r>
            <a:r>
              <a:rPr sz="2200" spc="-10" dirty="0">
                <a:latin typeface="Times New Roman"/>
                <a:cs typeface="Times New Roman"/>
              </a:rPr>
              <a:t>)</a:t>
            </a:r>
            <a:r>
              <a:rPr sz="2200" spc="6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: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probabilitas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observasi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data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baru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dari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class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1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P(</a:t>
            </a:r>
            <a:r>
              <a:rPr sz="2200" spc="-10" dirty="0">
                <a:latin typeface="Symbol"/>
                <a:cs typeface="Symbol"/>
              </a:rPr>
              <a:t></a:t>
            </a:r>
            <a:r>
              <a:rPr sz="2175" spc="-15" baseline="-21072" dirty="0">
                <a:latin typeface="Times New Roman"/>
                <a:cs typeface="Times New Roman"/>
              </a:rPr>
              <a:t>2</a:t>
            </a:r>
            <a:r>
              <a:rPr sz="2200" spc="-10" dirty="0">
                <a:latin typeface="Times New Roman"/>
                <a:cs typeface="Times New Roman"/>
              </a:rPr>
              <a:t>)</a:t>
            </a:r>
            <a:r>
              <a:rPr sz="2200" spc="6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: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probabilitas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observasi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data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baru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dari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class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2</a:t>
            </a:r>
            <a:endParaRPr sz="2200">
              <a:latin typeface="Times New Roman"/>
              <a:cs typeface="Times New Roman"/>
            </a:endParaRPr>
          </a:p>
          <a:p>
            <a:pPr marL="1866900">
              <a:lnSpc>
                <a:spcPct val="100000"/>
              </a:lnSpc>
              <a:spcBef>
                <a:spcPts val="530"/>
              </a:spcBef>
            </a:pPr>
            <a:r>
              <a:rPr sz="2200" i="1" spc="-15" dirty="0">
                <a:latin typeface="Times New Roman"/>
                <a:cs typeface="Times New Roman"/>
              </a:rPr>
              <a:t>P</a:t>
            </a:r>
            <a:r>
              <a:rPr sz="2200" spc="-15" dirty="0">
                <a:latin typeface="Times New Roman"/>
                <a:cs typeface="Times New Roman"/>
              </a:rPr>
              <a:t>(</a:t>
            </a:r>
            <a:r>
              <a:rPr sz="2200" spc="-15" dirty="0">
                <a:latin typeface="Symbol"/>
                <a:cs typeface="Symbol"/>
              </a:rPr>
              <a:t></a:t>
            </a:r>
            <a:r>
              <a:rPr sz="2175" i="1" spc="-22" baseline="-21072" dirty="0">
                <a:latin typeface="Times New Roman"/>
                <a:cs typeface="Times New Roman"/>
              </a:rPr>
              <a:t>1</a:t>
            </a:r>
            <a:r>
              <a:rPr sz="2175" i="1" spc="352" baseline="-21072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)</a:t>
            </a:r>
            <a:r>
              <a:rPr sz="2200" i="1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+</a:t>
            </a:r>
            <a:r>
              <a:rPr sz="2200" i="1" spc="-10" dirty="0">
                <a:latin typeface="Times New Roman"/>
                <a:cs typeface="Times New Roman"/>
              </a:rPr>
              <a:t> P(</a:t>
            </a:r>
            <a:r>
              <a:rPr sz="2200" spc="-10" dirty="0">
                <a:latin typeface="Symbol"/>
                <a:cs typeface="Symbol"/>
              </a:rPr>
              <a:t></a:t>
            </a:r>
            <a:r>
              <a:rPr sz="2175" i="1" spc="-15" baseline="-21072" dirty="0">
                <a:latin typeface="Times New Roman"/>
                <a:cs typeface="Times New Roman"/>
              </a:rPr>
              <a:t>2</a:t>
            </a:r>
            <a:r>
              <a:rPr sz="2175" i="1" spc="352" baseline="-21072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)</a:t>
            </a:r>
            <a:r>
              <a:rPr sz="2200" i="1" spc="-10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=</a:t>
            </a:r>
            <a:r>
              <a:rPr sz="2200" i="1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1</a:t>
            </a:r>
            <a:endParaRPr sz="2200">
              <a:latin typeface="Times New Roman"/>
              <a:cs typeface="Times New Roman"/>
            </a:endParaRPr>
          </a:p>
          <a:p>
            <a:pPr marL="628015">
              <a:lnSpc>
                <a:spcPct val="100000"/>
              </a:lnSpc>
              <a:spcBef>
                <a:spcPts val="475"/>
              </a:spcBef>
            </a:pP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Probabilitas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tersebut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mencerminkan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pengetahuan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sebelumnya.</a:t>
            </a:r>
            <a:endParaRPr sz="2000">
              <a:latin typeface="Times New Roman"/>
              <a:cs typeface="Times New Roman"/>
            </a:endParaRPr>
          </a:p>
          <a:p>
            <a:pPr marL="399415" lvl="1" indent="-229870">
              <a:lnSpc>
                <a:spcPct val="100000"/>
              </a:lnSpc>
              <a:spcBef>
                <a:spcPts val="520"/>
              </a:spcBef>
              <a:buChar char="•"/>
              <a:tabLst>
                <a:tab pos="399415" algn="l"/>
                <a:tab pos="400050" algn="l"/>
              </a:tabLst>
            </a:pPr>
            <a:r>
              <a:rPr sz="2200" spc="-5" dirty="0">
                <a:latin typeface="Times New Roman"/>
                <a:cs typeface="Times New Roman"/>
              </a:rPr>
              <a:t>Aturan keputusan untuk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objek baru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(x)</a:t>
            </a:r>
            <a:r>
              <a:rPr sz="2200" spc="1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:</a:t>
            </a:r>
            <a:endParaRPr sz="2200">
              <a:latin typeface="Times New Roman"/>
              <a:cs typeface="Times New Roman"/>
            </a:endParaRPr>
          </a:p>
          <a:p>
            <a:pPr marL="399415" marR="108585">
              <a:lnSpc>
                <a:spcPct val="99800"/>
              </a:lnSpc>
              <a:spcBef>
                <a:spcPts val="545"/>
              </a:spcBef>
            </a:pPr>
            <a:r>
              <a:rPr sz="2200" spc="-5" dirty="0">
                <a:latin typeface="Times New Roman"/>
                <a:cs typeface="Times New Roman"/>
              </a:rPr>
              <a:t>Objek x akan diklasifikasikan sebagai class 1 Jika </a:t>
            </a:r>
            <a:r>
              <a:rPr sz="2200" i="1" spc="-10" dirty="0">
                <a:latin typeface="Times New Roman"/>
                <a:cs typeface="Times New Roman"/>
              </a:rPr>
              <a:t>P</a:t>
            </a:r>
            <a:r>
              <a:rPr sz="2200" spc="-10" dirty="0">
                <a:latin typeface="Times New Roman"/>
                <a:cs typeface="Times New Roman"/>
              </a:rPr>
              <a:t>(</a:t>
            </a:r>
            <a:r>
              <a:rPr sz="2200" spc="-10" dirty="0">
                <a:latin typeface="Symbol"/>
                <a:cs typeface="Symbol"/>
              </a:rPr>
              <a:t></a:t>
            </a:r>
            <a:r>
              <a:rPr sz="2175" i="1" spc="-15" baseline="-21072" dirty="0">
                <a:latin typeface="Times New Roman"/>
                <a:cs typeface="Times New Roman"/>
              </a:rPr>
              <a:t>1</a:t>
            </a:r>
            <a:r>
              <a:rPr sz="2175" i="1" spc="-7" baseline="-21072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) &gt; </a:t>
            </a:r>
            <a:r>
              <a:rPr sz="2200" i="1" spc="-10" dirty="0">
                <a:latin typeface="Times New Roman"/>
                <a:cs typeface="Times New Roman"/>
              </a:rPr>
              <a:t>P(</a:t>
            </a:r>
            <a:r>
              <a:rPr sz="2200" spc="-10" dirty="0">
                <a:latin typeface="Symbol"/>
                <a:cs typeface="Symbol"/>
              </a:rPr>
              <a:t></a:t>
            </a:r>
            <a:r>
              <a:rPr sz="2175" i="1" spc="-15" baseline="-21072" dirty="0">
                <a:latin typeface="Times New Roman"/>
                <a:cs typeface="Times New Roman"/>
              </a:rPr>
              <a:t>2</a:t>
            </a:r>
            <a:r>
              <a:rPr sz="2175" i="1" spc="-7" baseline="-21072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imes New Roman"/>
                <a:cs typeface="Times New Roman"/>
              </a:rPr>
              <a:t>) </a:t>
            </a:r>
            <a:r>
              <a:rPr sz="2200" i="1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dengan</a:t>
            </a:r>
            <a:r>
              <a:rPr sz="2200" dirty="0">
                <a:latin typeface="Times New Roman"/>
                <a:cs typeface="Times New Roman"/>
              </a:rPr>
              <a:t> syarat</a:t>
            </a:r>
            <a:r>
              <a:rPr sz="2200" spc="-5" dirty="0">
                <a:latin typeface="Times New Roman"/>
                <a:cs typeface="Times New Roman"/>
              </a:rPr>
              <a:t> bahwa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tidak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ada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fitur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yang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bisa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digali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dari</a:t>
            </a:r>
            <a:r>
              <a:rPr sz="2200" spc="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objek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baru </a:t>
            </a:r>
            <a:r>
              <a:rPr sz="2200" spc="-53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tersebut.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Teori</a:t>
            </a:r>
            <a:r>
              <a:rPr spc="35" dirty="0"/>
              <a:t> </a:t>
            </a:r>
            <a:r>
              <a:rPr dirty="0"/>
              <a:t>Keputusan</a:t>
            </a:r>
            <a:r>
              <a:rPr spc="35" dirty="0"/>
              <a:t> </a:t>
            </a:r>
            <a:r>
              <a:rPr dirty="0"/>
              <a:t>Bayes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35940" y="3843020"/>
            <a:ext cx="7628255" cy="903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</a:pPr>
            <a:r>
              <a:rPr sz="2400" spc="-5" dirty="0">
                <a:latin typeface="Calibri"/>
                <a:cs typeface="Calibri"/>
              </a:rPr>
              <a:t>Tingkat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kepercayaan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terhadap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class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</a:t>
            </a:r>
            <a:r>
              <a:rPr sz="2400" spc="-5" dirty="0">
                <a:latin typeface="Calibri"/>
                <a:cs typeface="Calibri"/>
              </a:rPr>
              <a:t> dihitung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menggunakan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aturan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Bayes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09600" y="1406525"/>
            <a:ext cx="7388225" cy="541655"/>
          </a:xfrm>
          <a:custGeom>
            <a:avLst/>
            <a:gdLst/>
            <a:ahLst/>
            <a:cxnLst/>
            <a:rect l="l" t="t" r="r" b="b"/>
            <a:pathLst>
              <a:path w="7388225" h="541655">
                <a:moveTo>
                  <a:pt x="2955925" y="261112"/>
                </a:moveTo>
                <a:lnTo>
                  <a:pt x="2972142" y="203865"/>
                </a:lnTo>
                <a:lnTo>
                  <a:pt x="3018141" y="151808"/>
                </a:lnTo>
                <a:lnTo>
                  <a:pt x="3051063" y="128271"/>
                </a:lnTo>
                <a:lnTo>
                  <a:pt x="3089938" y="106686"/>
                </a:lnTo>
                <a:lnTo>
                  <a:pt x="3134267" y="87272"/>
                </a:lnTo>
                <a:lnTo>
                  <a:pt x="3183553" y="70245"/>
                </a:lnTo>
                <a:lnTo>
                  <a:pt x="3237298" y="55826"/>
                </a:lnTo>
                <a:lnTo>
                  <a:pt x="3295004" y="44231"/>
                </a:lnTo>
                <a:lnTo>
                  <a:pt x="3356173" y="35678"/>
                </a:lnTo>
                <a:lnTo>
                  <a:pt x="3420308" y="30387"/>
                </a:lnTo>
                <a:lnTo>
                  <a:pt x="3486912" y="28575"/>
                </a:lnTo>
                <a:lnTo>
                  <a:pt x="3553517" y="30387"/>
                </a:lnTo>
                <a:lnTo>
                  <a:pt x="3617658" y="35678"/>
                </a:lnTo>
                <a:lnTo>
                  <a:pt x="3678837" y="44231"/>
                </a:lnTo>
                <a:lnTo>
                  <a:pt x="3736554" y="55826"/>
                </a:lnTo>
                <a:lnTo>
                  <a:pt x="3790312" y="70245"/>
                </a:lnTo>
                <a:lnTo>
                  <a:pt x="3839612" y="87272"/>
                </a:lnTo>
                <a:lnTo>
                  <a:pt x="3883956" y="106686"/>
                </a:lnTo>
                <a:lnTo>
                  <a:pt x="3922845" y="128271"/>
                </a:lnTo>
                <a:lnTo>
                  <a:pt x="3955781" y="151808"/>
                </a:lnTo>
                <a:lnTo>
                  <a:pt x="4001800" y="203865"/>
                </a:lnTo>
                <a:lnTo>
                  <a:pt x="4018026" y="261112"/>
                </a:lnTo>
                <a:lnTo>
                  <a:pt x="4013886" y="290302"/>
                </a:lnTo>
                <a:lnTo>
                  <a:pt x="3982265" y="345214"/>
                </a:lnTo>
                <a:lnTo>
                  <a:pt x="3922845" y="394049"/>
                </a:lnTo>
                <a:lnTo>
                  <a:pt x="3883956" y="415644"/>
                </a:lnTo>
                <a:lnTo>
                  <a:pt x="3839612" y="435066"/>
                </a:lnTo>
                <a:lnTo>
                  <a:pt x="3790312" y="452097"/>
                </a:lnTo>
                <a:lnTo>
                  <a:pt x="3736554" y="466521"/>
                </a:lnTo>
                <a:lnTo>
                  <a:pt x="3678837" y="478118"/>
                </a:lnTo>
                <a:lnTo>
                  <a:pt x="3617658" y="486671"/>
                </a:lnTo>
                <a:lnTo>
                  <a:pt x="3553517" y="491963"/>
                </a:lnTo>
                <a:lnTo>
                  <a:pt x="3486912" y="493775"/>
                </a:lnTo>
                <a:lnTo>
                  <a:pt x="3420308" y="491963"/>
                </a:lnTo>
                <a:lnTo>
                  <a:pt x="3356173" y="486671"/>
                </a:lnTo>
                <a:lnTo>
                  <a:pt x="3295004" y="478118"/>
                </a:lnTo>
                <a:lnTo>
                  <a:pt x="3237298" y="466521"/>
                </a:lnTo>
                <a:lnTo>
                  <a:pt x="3183553" y="452097"/>
                </a:lnTo>
                <a:lnTo>
                  <a:pt x="3134267" y="435066"/>
                </a:lnTo>
                <a:lnTo>
                  <a:pt x="3089938" y="415644"/>
                </a:lnTo>
                <a:lnTo>
                  <a:pt x="3051063" y="394049"/>
                </a:lnTo>
                <a:lnTo>
                  <a:pt x="3018141" y="370500"/>
                </a:lnTo>
                <a:lnTo>
                  <a:pt x="2972142" y="318408"/>
                </a:lnTo>
                <a:lnTo>
                  <a:pt x="2955925" y="261112"/>
                </a:lnTo>
                <a:close/>
              </a:path>
              <a:path w="7388225" h="541655">
                <a:moveTo>
                  <a:pt x="0" y="274700"/>
                </a:moveTo>
                <a:lnTo>
                  <a:pt x="14971" y="203792"/>
                </a:lnTo>
                <a:lnTo>
                  <a:pt x="57220" y="140080"/>
                </a:lnTo>
                <a:lnTo>
                  <a:pt x="87326" y="111717"/>
                </a:lnTo>
                <a:lnTo>
                  <a:pt x="122753" y="86105"/>
                </a:lnTo>
                <a:lnTo>
                  <a:pt x="163002" y="63563"/>
                </a:lnTo>
                <a:lnTo>
                  <a:pt x="207574" y="44407"/>
                </a:lnTo>
                <a:lnTo>
                  <a:pt x="255969" y="28955"/>
                </a:lnTo>
                <a:lnTo>
                  <a:pt x="307688" y="17525"/>
                </a:lnTo>
                <a:lnTo>
                  <a:pt x="362231" y="10435"/>
                </a:lnTo>
                <a:lnTo>
                  <a:pt x="419100" y="8000"/>
                </a:lnTo>
                <a:lnTo>
                  <a:pt x="475968" y="10435"/>
                </a:lnTo>
                <a:lnTo>
                  <a:pt x="530511" y="17525"/>
                </a:lnTo>
                <a:lnTo>
                  <a:pt x="582230" y="28955"/>
                </a:lnTo>
                <a:lnTo>
                  <a:pt x="630625" y="44407"/>
                </a:lnTo>
                <a:lnTo>
                  <a:pt x="675197" y="63563"/>
                </a:lnTo>
                <a:lnTo>
                  <a:pt x="715446" y="86105"/>
                </a:lnTo>
                <a:lnTo>
                  <a:pt x="750873" y="111717"/>
                </a:lnTo>
                <a:lnTo>
                  <a:pt x="780979" y="140080"/>
                </a:lnTo>
                <a:lnTo>
                  <a:pt x="805264" y="170878"/>
                </a:lnTo>
                <a:lnTo>
                  <a:pt x="834374" y="238505"/>
                </a:lnTo>
                <a:lnTo>
                  <a:pt x="838200" y="274700"/>
                </a:lnTo>
                <a:lnTo>
                  <a:pt x="834374" y="310869"/>
                </a:lnTo>
                <a:lnTo>
                  <a:pt x="805264" y="378469"/>
                </a:lnTo>
                <a:lnTo>
                  <a:pt x="780979" y="409264"/>
                </a:lnTo>
                <a:lnTo>
                  <a:pt x="750873" y="437630"/>
                </a:lnTo>
                <a:lnTo>
                  <a:pt x="715446" y="463248"/>
                </a:lnTo>
                <a:lnTo>
                  <a:pt x="675197" y="485799"/>
                </a:lnTo>
                <a:lnTo>
                  <a:pt x="630625" y="504966"/>
                </a:lnTo>
                <a:lnTo>
                  <a:pt x="582230" y="520428"/>
                </a:lnTo>
                <a:lnTo>
                  <a:pt x="530511" y="531867"/>
                </a:lnTo>
                <a:lnTo>
                  <a:pt x="475968" y="538964"/>
                </a:lnTo>
                <a:lnTo>
                  <a:pt x="419100" y="541401"/>
                </a:lnTo>
                <a:lnTo>
                  <a:pt x="362231" y="538964"/>
                </a:lnTo>
                <a:lnTo>
                  <a:pt x="307688" y="531867"/>
                </a:lnTo>
                <a:lnTo>
                  <a:pt x="255969" y="520428"/>
                </a:lnTo>
                <a:lnTo>
                  <a:pt x="207574" y="504966"/>
                </a:lnTo>
                <a:lnTo>
                  <a:pt x="163002" y="485799"/>
                </a:lnTo>
                <a:lnTo>
                  <a:pt x="122753" y="463248"/>
                </a:lnTo>
                <a:lnTo>
                  <a:pt x="87326" y="437630"/>
                </a:lnTo>
                <a:lnTo>
                  <a:pt x="57220" y="409264"/>
                </a:lnTo>
                <a:lnTo>
                  <a:pt x="32935" y="378469"/>
                </a:lnTo>
                <a:lnTo>
                  <a:pt x="3825" y="310869"/>
                </a:lnTo>
                <a:lnTo>
                  <a:pt x="0" y="274700"/>
                </a:lnTo>
                <a:close/>
              </a:path>
              <a:path w="7388225" h="541655">
                <a:moveTo>
                  <a:pt x="6550025" y="266700"/>
                </a:moveTo>
                <a:lnTo>
                  <a:pt x="6564991" y="195791"/>
                </a:lnTo>
                <a:lnTo>
                  <a:pt x="6607231" y="132079"/>
                </a:lnTo>
                <a:lnTo>
                  <a:pt x="6637331" y="103716"/>
                </a:lnTo>
                <a:lnTo>
                  <a:pt x="6672754" y="78104"/>
                </a:lnTo>
                <a:lnTo>
                  <a:pt x="6713000" y="55562"/>
                </a:lnTo>
                <a:lnTo>
                  <a:pt x="6757571" y="36406"/>
                </a:lnTo>
                <a:lnTo>
                  <a:pt x="6805967" y="20954"/>
                </a:lnTo>
                <a:lnTo>
                  <a:pt x="6857691" y="9525"/>
                </a:lnTo>
                <a:lnTo>
                  <a:pt x="6912243" y="2434"/>
                </a:lnTo>
                <a:lnTo>
                  <a:pt x="6969125" y="0"/>
                </a:lnTo>
                <a:lnTo>
                  <a:pt x="7026006" y="2434"/>
                </a:lnTo>
                <a:lnTo>
                  <a:pt x="7080558" y="9525"/>
                </a:lnTo>
                <a:lnTo>
                  <a:pt x="7132282" y="20954"/>
                </a:lnTo>
                <a:lnTo>
                  <a:pt x="7180678" y="36406"/>
                </a:lnTo>
                <a:lnTo>
                  <a:pt x="7225249" y="55562"/>
                </a:lnTo>
                <a:lnTo>
                  <a:pt x="7265495" y="78104"/>
                </a:lnTo>
                <a:lnTo>
                  <a:pt x="7300918" y="103716"/>
                </a:lnTo>
                <a:lnTo>
                  <a:pt x="7331018" y="132079"/>
                </a:lnTo>
                <a:lnTo>
                  <a:pt x="7355298" y="162877"/>
                </a:lnTo>
                <a:lnTo>
                  <a:pt x="7384400" y="230504"/>
                </a:lnTo>
                <a:lnTo>
                  <a:pt x="7388225" y="266700"/>
                </a:lnTo>
                <a:lnTo>
                  <a:pt x="7384400" y="302895"/>
                </a:lnTo>
                <a:lnTo>
                  <a:pt x="7355298" y="370522"/>
                </a:lnTo>
                <a:lnTo>
                  <a:pt x="7331018" y="401320"/>
                </a:lnTo>
                <a:lnTo>
                  <a:pt x="7300918" y="429683"/>
                </a:lnTo>
                <a:lnTo>
                  <a:pt x="7265495" y="455295"/>
                </a:lnTo>
                <a:lnTo>
                  <a:pt x="7225249" y="477837"/>
                </a:lnTo>
                <a:lnTo>
                  <a:pt x="7180678" y="496993"/>
                </a:lnTo>
                <a:lnTo>
                  <a:pt x="7132282" y="512445"/>
                </a:lnTo>
                <a:lnTo>
                  <a:pt x="7080558" y="523875"/>
                </a:lnTo>
                <a:lnTo>
                  <a:pt x="7026006" y="530965"/>
                </a:lnTo>
                <a:lnTo>
                  <a:pt x="6969125" y="533400"/>
                </a:lnTo>
                <a:lnTo>
                  <a:pt x="6912243" y="530965"/>
                </a:lnTo>
                <a:lnTo>
                  <a:pt x="6857691" y="523875"/>
                </a:lnTo>
                <a:lnTo>
                  <a:pt x="6805967" y="512445"/>
                </a:lnTo>
                <a:lnTo>
                  <a:pt x="6757571" y="496993"/>
                </a:lnTo>
                <a:lnTo>
                  <a:pt x="6713000" y="477837"/>
                </a:lnTo>
                <a:lnTo>
                  <a:pt x="6672754" y="455295"/>
                </a:lnTo>
                <a:lnTo>
                  <a:pt x="6637331" y="429683"/>
                </a:lnTo>
                <a:lnTo>
                  <a:pt x="6607231" y="401320"/>
                </a:lnTo>
                <a:lnTo>
                  <a:pt x="6582951" y="370522"/>
                </a:lnTo>
                <a:lnTo>
                  <a:pt x="6553849" y="302895"/>
                </a:lnTo>
                <a:lnTo>
                  <a:pt x="6550025" y="2667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28268" y="1491234"/>
            <a:ext cx="5619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Calibri"/>
                <a:cs typeface="Calibri"/>
              </a:rPr>
              <a:t>Features</a:t>
            </a:r>
            <a:endParaRPr sz="1200">
              <a:latin typeface="Calibri"/>
              <a:cs typeface="Calibri"/>
            </a:endParaRPr>
          </a:p>
          <a:p>
            <a:pPr marR="34290" algn="ctr">
              <a:lnSpc>
                <a:spcPct val="100000"/>
              </a:lnSpc>
            </a:pPr>
            <a:r>
              <a:rPr sz="1200" dirty="0">
                <a:latin typeface="Times New Roman"/>
                <a:cs typeface="Times New Roman"/>
              </a:rPr>
              <a:t>x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15961" y="1506982"/>
            <a:ext cx="550545" cy="3930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Decision</a:t>
            </a:r>
            <a:endParaRPr sz="1200">
              <a:latin typeface="Calibri"/>
              <a:cs typeface="Calibri"/>
            </a:endParaRPr>
          </a:p>
          <a:p>
            <a:pPr marR="36830" algn="ctr">
              <a:lnSpc>
                <a:spcPct val="100000"/>
              </a:lnSpc>
              <a:spcBef>
                <a:spcPts val="10"/>
              </a:spcBef>
            </a:pPr>
            <a:r>
              <a:rPr sz="1200" spc="-10" dirty="0">
                <a:latin typeface="Symbol"/>
                <a:cs typeface="Symbol"/>
              </a:rPr>
              <a:t></a:t>
            </a:r>
            <a:r>
              <a:rPr sz="1200" spc="-10" dirty="0">
                <a:latin typeface="Times New Roman"/>
                <a:cs typeface="Times New Roman"/>
              </a:rPr>
              <a:t>x</a:t>
            </a:r>
            <a:r>
              <a:rPr sz="1200" spc="-10" dirty="0">
                <a:latin typeface="Symbol"/>
                <a:cs typeface="Symbol"/>
              </a:rPr>
              <a:t></a:t>
            </a:r>
            <a:endParaRPr sz="120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60775" y="1467358"/>
            <a:ext cx="7334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7960" marR="5080" indent="-17526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Inner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beli</a:t>
            </a:r>
            <a:r>
              <a:rPr sz="1200" spc="-10" dirty="0">
                <a:latin typeface="Calibri"/>
                <a:cs typeface="Calibri"/>
              </a:rPr>
              <a:t>e</a:t>
            </a:r>
            <a:r>
              <a:rPr sz="1200" dirty="0">
                <a:latin typeface="Calibri"/>
                <a:cs typeface="Calibri"/>
              </a:rPr>
              <a:t>f  </a:t>
            </a:r>
            <a:r>
              <a:rPr sz="1200" spc="-5" dirty="0">
                <a:latin typeface="Calibri"/>
                <a:cs typeface="Calibri"/>
              </a:rPr>
              <a:t>p(w|x)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447800" y="1209738"/>
            <a:ext cx="5715000" cy="923925"/>
            <a:chOff x="1447800" y="1209738"/>
            <a:chExt cx="5715000" cy="923925"/>
          </a:xfrm>
        </p:grpSpPr>
        <p:sp>
          <p:nvSpPr>
            <p:cNvPr id="13" name="object 13"/>
            <p:cNvSpPr/>
            <p:nvPr/>
          </p:nvSpPr>
          <p:spPr>
            <a:xfrm>
              <a:off x="1447800" y="1628774"/>
              <a:ext cx="457200" cy="85725"/>
            </a:xfrm>
            <a:custGeom>
              <a:avLst/>
              <a:gdLst/>
              <a:ahLst/>
              <a:cxnLst/>
              <a:rect l="l" t="t" r="r" b="b"/>
              <a:pathLst>
                <a:path w="457200" h="85725">
                  <a:moveTo>
                    <a:pt x="371475" y="0"/>
                  </a:moveTo>
                  <a:lnTo>
                    <a:pt x="371475" y="85725"/>
                  </a:lnTo>
                  <a:lnTo>
                    <a:pt x="428709" y="57150"/>
                  </a:lnTo>
                  <a:lnTo>
                    <a:pt x="385699" y="57150"/>
                  </a:lnTo>
                  <a:lnTo>
                    <a:pt x="385699" y="28575"/>
                  </a:lnTo>
                  <a:lnTo>
                    <a:pt x="428540" y="28575"/>
                  </a:lnTo>
                  <a:lnTo>
                    <a:pt x="371475" y="0"/>
                  </a:lnTo>
                  <a:close/>
                </a:path>
                <a:path w="457200" h="85725">
                  <a:moveTo>
                    <a:pt x="371475" y="28575"/>
                  </a:moveTo>
                  <a:lnTo>
                    <a:pt x="0" y="28575"/>
                  </a:lnTo>
                  <a:lnTo>
                    <a:pt x="0" y="57150"/>
                  </a:lnTo>
                  <a:lnTo>
                    <a:pt x="371475" y="57150"/>
                  </a:lnTo>
                  <a:lnTo>
                    <a:pt x="371475" y="28575"/>
                  </a:lnTo>
                  <a:close/>
                </a:path>
                <a:path w="457200" h="85725">
                  <a:moveTo>
                    <a:pt x="428540" y="28575"/>
                  </a:moveTo>
                  <a:lnTo>
                    <a:pt x="385699" y="28575"/>
                  </a:lnTo>
                  <a:lnTo>
                    <a:pt x="385699" y="57150"/>
                  </a:lnTo>
                  <a:lnTo>
                    <a:pt x="428709" y="57150"/>
                  </a:lnTo>
                  <a:lnTo>
                    <a:pt x="457200" y="42925"/>
                  </a:lnTo>
                  <a:lnTo>
                    <a:pt x="428540" y="285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905000" y="1214500"/>
              <a:ext cx="1066800" cy="914400"/>
            </a:xfrm>
            <a:custGeom>
              <a:avLst/>
              <a:gdLst/>
              <a:ahLst/>
              <a:cxnLst/>
              <a:rect l="l" t="t" r="r" b="b"/>
              <a:pathLst>
                <a:path w="1066800" h="914400">
                  <a:moveTo>
                    <a:pt x="1066800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1066800" y="914400"/>
                  </a:lnTo>
                  <a:lnTo>
                    <a:pt x="10668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905000" y="1214500"/>
              <a:ext cx="1066800" cy="914400"/>
            </a:xfrm>
            <a:custGeom>
              <a:avLst/>
              <a:gdLst/>
              <a:ahLst/>
              <a:cxnLst/>
              <a:rect l="l" t="t" r="r" b="b"/>
              <a:pathLst>
                <a:path w="1066800" h="914400">
                  <a:moveTo>
                    <a:pt x="0" y="914400"/>
                  </a:moveTo>
                  <a:lnTo>
                    <a:pt x="1066800" y="914400"/>
                  </a:lnTo>
                  <a:lnTo>
                    <a:pt x="1066800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400546" y="1630552"/>
              <a:ext cx="762635" cy="85725"/>
            </a:xfrm>
            <a:custGeom>
              <a:avLst/>
              <a:gdLst/>
              <a:ahLst/>
              <a:cxnLst/>
              <a:rect l="l" t="t" r="r" b="b"/>
              <a:pathLst>
                <a:path w="762634" h="85725">
                  <a:moveTo>
                    <a:pt x="735438" y="28321"/>
                  </a:moveTo>
                  <a:lnTo>
                    <a:pt x="690499" y="28321"/>
                  </a:lnTo>
                  <a:lnTo>
                    <a:pt x="691133" y="56896"/>
                  </a:lnTo>
                  <a:lnTo>
                    <a:pt x="676826" y="57193"/>
                  </a:lnTo>
                  <a:lnTo>
                    <a:pt x="677418" y="85725"/>
                  </a:lnTo>
                  <a:lnTo>
                    <a:pt x="762253" y="41021"/>
                  </a:lnTo>
                  <a:lnTo>
                    <a:pt x="735438" y="28321"/>
                  </a:lnTo>
                  <a:close/>
                </a:path>
                <a:path w="762634" h="85725">
                  <a:moveTo>
                    <a:pt x="676233" y="28617"/>
                  </a:moveTo>
                  <a:lnTo>
                    <a:pt x="0" y="42672"/>
                  </a:lnTo>
                  <a:lnTo>
                    <a:pt x="507" y="71247"/>
                  </a:lnTo>
                  <a:lnTo>
                    <a:pt x="676826" y="57193"/>
                  </a:lnTo>
                  <a:lnTo>
                    <a:pt x="676233" y="28617"/>
                  </a:lnTo>
                  <a:close/>
                </a:path>
                <a:path w="762634" h="85725">
                  <a:moveTo>
                    <a:pt x="690499" y="28321"/>
                  </a:moveTo>
                  <a:lnTo>
                    <a:pt x="676233" y="28617"/>
                  </a:lnTo>
                  <a:lnTo>
                    <a:pt x="676826" y="57193"/>
                  </a:lnTo>
                  <a:lnTo>
                    <a:pt x="691133" y="56896"/>
                  </a:lnTo>
                  <a:lnTo>
                    <a:pt x="690499" y="28321"/>
                  </a:lnTo>
                  <a:close/>
                </a:path>
                <a:path w="762634" h="85725">
                  <a:moveTo>
                    <a:pt x="675639" y="0"/>
                  </a:moveTo>
                  <a:lnTo>
                    <a:pt x="676233" y="28617"/>
                  </a:lnTo>
                  <a:lnTo>
                    <a:pt x="690499" y="28321"/>
                  </a:lnTo>
                  <a:lnTo>
                    <a:pt x="735438" y="28321"/>
                  </a:lnTo>
                  <a:lnTo>
                    <a:pt x="67563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905000" y="1214500"/>
            <a:ext cx="1066800" cy="914400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1550">
              <a:latin typeface="Times New Roman"/>
              <a:cs typeface="Times New Roman"/>
            </a:endParaRPr>
          </a:p>
          <a:p>
            <a:pPr marL="194310" marR="185420" indent="-1905">
              <a:lnSpc>
                <a:spcPct val="100000"/>
              </a:lnSpc>
            </a:pPr>
            <a:r>
              <a:rPr sz="1400" spc="-10" dirty="0">
                <a:latin typeface="Calibri"/>
                <a:cs typeface="Calibri"/>
              </a:rPr>
              <a:t>s</a:t>
            </a:r>
            <a:r>
              <a:rPr sz="1400" spc="-15" dirty="0">
                <a:latin typeface="Calibri"/>
                <a:cs typeface="Calibri"/>
              </a:rPr>
              <a:t>ta</a:t>
            </a:r>
            <a:r>
              <a:rPr sz="1400" dirty="0">
                <a:latin typeface="Calibri"/>
                <a:cs typeface="Calibri"/>
              </a:rPr>
              <a:t>ti</a:t>
            </a:r>
            <a:r>
              <a:rPr sz="1400" spc="-10" dirty="0">
                <a:latin typeface="Calibri"/>
                <a:cs typeface="Calibri"/>
              </a:rPr>
              <a:t>s</a:t>
            </a:r>
            <a:r>
              <a:rPr sz="1400" dirty="0">
                <a:latin typeface="Calibri"/>
                <a:cs typeface="Calibri"/>
              </a:rPr>
              <a:t>ti</a:t>
            </a:r>
            <a:r>
              <a:rPr sz="1400" spc="-20" dirty="0">
                <a:latin typeface="Calibri"/>
                <a:cs typeface="Calibri"/>
              </a:rPr>
              <a:t>c</a:t>
            </a:r>
            <a:r>
              <a:rPr sz="1400" dirty="0">
                <a:latin typeface="Calibri"/>
                <a:cs typeface="Calibri"/>
              </a:rPr>
              <a:t>al  </a:t>
            </a:r>
            <a:r>
              <a:rPr sz="1400" spc="-10" dirty="0">
                <a:latin typeface="Calibri"/>
                <a:cs typeface="Calibri"/>
              </a:rPr>
              <a:t>I</a:t>
            </a:r>
            <a:r>
              <a:rPr sz="1400" spc="-20" dirty="0">
                <a:latin typeface="Calibri"/>
                <a:cs typeface="Calibri"/>
              </a:rPr>
              <a:t>n</a:t>
            </a:r>
            <a:r>
              <a:rPr sz="1400" spc="-35" dirty="0">
                <a:latin typeface="Calibri"/>
                <a:cs typeface="Calibri"/>
              </a:rPr>
              <a:t>f</a:t>
            </a:r>
            <a:r>
              <a:rPr sz="1400" dirty="0">
                <a:latin typeface="Calibri"/>
                <a:cs typeface="Calibri"/>
              </a:rPr>
              <a:t>e</a:t>
            </a:r>
            <a:r>
              <a:rPr sz="1400" spc="-25" dirty="0">
                <a:latin typeface="Calibri"/>
                <a:cs typeface="Calibri"/>
              </a:rPr>
              <a:t>r</a:t>
            </a:r>
            <a:r>
              <a:rPr sz="1400" dirty="0">
                <a:latin typeface="Calibri"/>
                <a:cs typeface="Calibri"/>
              </a:rPr>
              <a:t>e</a:t>
            </a:r>
            <a:r>
              <a:rPr sz="1400" spc="-10" dirty="0">
                <a:latin typeface="Calibri"/>
                <a:cs typeface="Calibri"/>
              </a:rPr>
              <a:t>nc</a:t>
            </a:r>
            <a:r>
              <a:rPr sz="1400" dirty="0">
                <a:latin typeface="Calibri"/>
                <a:cs typeface="Calibri"/>
              </a:rPr>
              <a:t>e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329237" y="1277937"/>
            <a:ext cx="1228725" cy="847725"/>
            <a:chOff x="5329237" y="1277937"/>
            <a:chExt cx="1228725" cy="847725"/>
          </a:xfrm>
        </p:grpSpPr>
        <p:sp>
          <p:nvSpPr>
            <p:cNvPr id="19" name="object 19"/>
            <p:cNvSpPr/>
            <p:nvPr/>
          </p:nvSpPr>
          <p:spPr>
            <a:xfrm>
              <a:off x="5334000" y="1282700"/>
              <a:ext cx="1219200" cy="838200"/>
            </a:xfrm>
            <a:custGeom>
              <a:avLst/>
              <a:gdLst/>
              <a:ahLst/>
              <a:cxnLst/>
              <a:rect l="l" t="t" r="r" b="b"/>
              <a:pathLst>
                <a:path w="1219200" h="838200">
                  <a:moveTo>
                    <a:pt x="1219200" y="0"/>
                  </a:moveTo>
                  <a:lnTo>
                    <a:pt x="0" y="0"/>
                  </a:lnTo>
                  <a:lnTo>
                    <a:pt x="0" y="838200"/>
                  </a:lnTo>
                  <a:lnTo>
                    <a:pt x="1219200" y="838200"/>
                  </a:lnTo>
                  <a:lnTo>
                    <a:pt x="121920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334000" y="1282700"/>
              <a:ext cx="1219200" cy="838200"/>
            </a:xfrm>
            <a:custGeom>
              <a:avLst/>
              <a:gdLst/>
              <a:ahLst/>
              <a:cxnLst/>
              <a:rect l="l" t="t" r="r" b="b"/>
              <a:pathLst>
                <a:path w="1219200" h="838200">
                  <a:moveTo>
                    <a:pt x="0" y="838200"/>
                  </a:moveTo>
                  <a:lnTo>
                    <a:pt x="1219200" y="838200"/>
                  </a:lnTo>
                  <a:lnTo>
                    <a:pt x="1219200" y="0"/>
                  </a:lnTo>
                  <a:lnTo>
                    <a:pt x="0" y="0"/>
                  </a:lnTo>
                  <a:lnTo>
                    <a:pt x="0" y="8382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334000" y="1282700"/>
            <a:ext cx="1219200" cy="83820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1300">
              <a:latin typeface="Times New Roman"/>
              <a:cs typeface="Times New Roman"/>
            </a:endParaRPr>
          </a:p>
          <a:p>
            <a:pPr marL="139700" marR="131445" indent="161290">
              <a:lnSpc>
                <a:spcPct val="100000"/>
              </a:lnSpc>
            </a:pPr>
            <a:r>
              <a:rPr sz="1400" spc="-10" dirty="0">
                <a:latin typeface="Calibri"/>
                <a:cs typeface="Calibri"/>
              </a:rPr>
              <a:t>risk/cost 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</a:t>
            </a:r>
            <a:r>
              <a:rPr sz="1400" dirty="0">
                <a:latin typeface="Calibri"/>
                <a:cs typeface="Calibri"/>
              </a:rPr>
              <a:t>ini</a:t>
            </a:r>
            <a:r>
              <a:rPr sz="1400" spc="-10" dirty="0">
                <a:latin typeface="Calibri"/>
                <a:cs typeface="Calibri"/>
              </a:rPr>
              <a:t>m</a:t>
            </a:r>
            <a:r>
              <a:rPr sz="1400" dirty="0">
                <a:latin typeface="Calibri"/>
                <a:cs typeface="Calibri"/>
              </a:rPr>
              <a:t>i</a:t>
            </a:r>
            <a:r>
              <a:rPr sz="1400" spc="-25" dirty="0">
                <a:latin typeface="Calibri"/>
                <a:cs typeface="Calibri"/>
              </a:rPr>
              <a:t>z</a:t>
            </a:r>
            <a:r>
              <a:rPr sz="1400" spc="-15" dirty="0">
                <a:latin typeface="Calibri"/>
                <a:cs typeface="Calibri"/>
              </a:rPr>
              <a:t>a</a:t>
            </a:r>
            <a:r>
              <a:rPr sz="1400" dirty="0">
                <a:latin typeface="Calibri"/>
                <a:cs typeface="Calibri"/>
              </a:rPr>
              <a:t>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971419" y="1628774"/>
            <a:ext cx="2362835" cy="99695"/>
          </a:xfrm>
          <a:custGeom>
            <a:avLst/>
            <a:gdLst/>
            <a:ahLst/>
            <a:cxnLst/>
            <a:rect l="l" t="t" r="r" b="b"/>
            <a:pathLst>
              <a:path w="2362835" h="99694">
                <a:moveTo>
                  <a:pt x="575500" y="71120"/>
                </a:moveTo>
                <a:lnTo>
                  <a:pt x="530225" y="71120"/>
                </a:lnTo>
                <a:lnTo>
                  <a:pt x="515988" y="71120"/>
                </a:lnTo>
                <a:lnTo>
                  <a:pt x="515239" y="99314"/>
                </a:lnTo>
                <a:lnTo>
                  <a:pt x="575500" y="71120"/>
                </a:lnTo>
                <a:close/>
              </a:path>
              <a:path w="2362835" h="99694">
                <a:moveTo>
                  <a:pt x="602107" y="58674"/>
                </a:moveTo>
                <a:lnTo>
                  <a:pt x="517525" y="13589"/>
                </a:lnTo>
                <a:lnTo>
                  <a:pt x="516750" y="42176"/>
                </a:lnTo>
                <a:lnTo>
                  <a:pt x="762" y="28575"/>
                </a:lnTo>
                <a:lnTo>
                  <a:pt x="0" y="57150"/>
                </a:lnTo>
                <a:lnTo>
                  <a:pt x="515988" y="70751"/>
                </a:lnTo>
                <a:lnTo>
                  <a:pt x="530225" y="70751"/>
                </a:lnTo>
                <a:lnTo>
                  <a:pt x="576300" y="70751"/>
                </a:lnTo>
                <a:lnTo>
                  <a:pt x="602107" y="58674"/>
                </a:lnTo>
                <a:close/>
              </a:path>
              <a:path w="2362835" h="99694">
                <a:moveTo>
                  <a:pt x="2362581" y="42926"/>
                </a:moveTo>
                <a:lnTo>
                  <a:pt x="2333917" y="28575"/>
                </a:lnTo>
                <a:lnTo>
                  <a:pt x="2276856" y="0"/>
                </a:lnTo>
                <a:lnTo>
                  <a:pt x="2276856" y="28575"/>
                </a:lnTo>
                <a:lnTo>
                  <a:pt x="1676781" y="28575"/>
                </a:lnTo>
                <a:lnTo>
                  <a:pt x="1676781" y="57150"/>
                </a:lnTo>
                <a:lnTo>
                  <a:pt x="2276856" y="57150"/>
                </a:lnTo>
                <a:lnTo>
                  <a:pt x="2276856" y="85725"/>
                </a:lnTo>
                <a:lnTo>
                  <a:pt x="2334082" y="57150"/>
                </a:lnTo>
                <a:lnTo>
                  <a:pt x="2362581" y="4292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295400" y="2738437"/>
            <a:ext cx="2286000" cy="944880"/>
          </a:xfrm>
          <a:prstGeom prst="rect">
            <a:avLst/>
          </a:prstGeom>
          <a:solidFill>
            <a:srgbClr val="B1B1B1"/>
          </a:solidFill>
          <a:ln w="28575">
            <a:solidFill>
              <a:srgbClr val="80808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248285" marR="332105" indent="-157480">
              <a:lnSpc>
                <a:spcPct val="100000"/>
              </a:lnSpc>
              <a:spcBef>
                <a:spcPts val="330"/>
              </a:spcBef>
            </a:pPr>
            <a:r>
              <a:rPr sz="1800" spc="-290" dirty="0">
                <a:latin typeface="Arial MT"/>
                <a:cs typeface="Arial MT"/>
              </a:rPr>
              <a:t>T</a:t>
            </a:r>
            <a:r>
              <a:rPr sz="1800" spc="-210" dirty="0">
                <a:latin typeface="Arial MT"/>
                <a:cs typeface="Arial MT"/>
              </a:rPr>
              <a:t>wo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spc="-150" dirty="0">
                <a:latin typeface="Arial MT"/>
                <a:cs typeface="Arial MT"/>
              </a:rPr>
              <a:t>pr</a:t>
            </a:r>
            <a:r>
              <a:rPr sz="1800" spc="-195" dirty="0">
                <a:latin typeface="Arial MT"/>
                <a:cs typeface="Arial MT"/>
              </a:rPr>
              <a:t>o</a:t>
            </a:r>
            <a:r>
              <a:rPr sz="1800" spc="-190" dirty="0">
                <a:latin typeface="Arial MT"/>
                <a:cs typeface="Arial MT"/>
              </a:rPr>
              <a:t>b</a:t>
            </a:r>
            <a:r>
              <a:rPr sz="1800" spc="-195" dirty="0">
                <a:latin typeface="Arial MT"/>
                <a:cs typeface="Arial MT"/>
              </a:rPr>
              <a:t>a</a:t>
            </a:r>
            <a:r>
              <a:rPr sz="1800" spc="-190" dirty="0">
                <a:latin typeface="Arial MT"/>
                <a:cs typeface="Arial MT"/>
              </a:rPr>
              <a:t>b</a:t>
            </a:r>
            <a:r>
              <a:rPr sz="1800" spc="-85" dirty="0">
                <a:latin typeface="Arial MT"/>
                <a:cs typeface="Arial MT"/>
              </a:rPr>
              <a:t>i</a:t>
            </a:r>
            <a:r>
              <a:rPr sz="1800" spc="-80" dirty="0">
                <a:latin typeface="Arial MT"/>
                <a:cs typeface="Arial MT"/>
              </a:rPr>
              <a:t>l</a:t>
            </a:r>
            <a:r>
              <a:rPr sz="1800" spc="-85" dirty="0">
                <a:latin typeface="Arial MT"/>
                <a:cs typeface="Arial MT"/>
              </a:rPr>
              <a:t>i</a:t>
            </a:r>
            <a:r>
              <a:rPr sz="1800" spc="-95" dirty="0">
                <a:latin typeface="Arial MT"/>
                <a:cs typeface="Arial MT"/>
              </a:rPr>
              <a:t>t</a:t>
            </a:r>
            <a:r>
              <a:rPr sz="1800" spc="-165" dirty="0">
                <a:latin typeface="Arial MT"/>
                <a:cs typeface="Arial MT"/>
              </a:rPr>
              <a:t>y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90" dirty="0">
                <a:latin typeface="Arial MT"/>
                <a:cs typeface="Arial MT"/>
              </a:rPr>
              <a:t>t</a:t>
            </a:r>
            <a:r>
              <a:rPr sz="1800" spc="-190" dirty="0">
                <a:latin typeface="Arial MT"/>
                <a:cs typeface="Arial MT"/>
              </a:rPr>
              <a:t>ab</a:t>
            </a:r>
            <a:r>
              <a:rPr sz="1800" spc="-85" dirty="0">
                <a:latin typeface="Arial MT"/>
                <a:cs typeface="Arial MT"/>
              </a:rPr>
              <a:t>l</a:t>
            </a:r>
            <a:r>
              <a:rPr sz="1800" spc="-130" dirty="0">
                <a:latin typeface="Arial MT"/>
                <a:cs typeface="Arial MT"/>
              </a:rPr>
              <a:t>es:  </a:t>
            </a:r>
            <a:r>
              <a:rPr sz="1800" spc="-150" dirty="0">
                <a:latin typeface="Arial MT"/>
                <a:cs typeface="Arial MT"/>
              </a:rPr>
              <a:t>a)</a:t>
            </a:r>
            <a:r>
              <a:rPr sz="1800" spc="-90" dirty="0">
                <a:latin typeface="Arial MT"/>
                <a:cs typeface="Arial MT"/>
              </a:rPr>
              <a:t>. </a:t>
            </a:r>
            <a:r>
              <a:rPr sz="1800" spc="-135" dirty="0">
                <a:latin typeface="Arial MT"/>
                <a:cs typeface="Arial MT"/>
              </a:rPr>
              <a:t>Pri</a:t>
            </a:r>
            <a:r>
              <a:rPr sz="1800" spc="-195" dirty="0">
                <a:latin typeface="Arial MT"/>
                <a:cs typeface="Arial MT"/>
              </a:rPr>
              <a:t>o</a:t>
            </a:r>
            <a:r>
              <a:rPr sz="1800" spc="-110" dirty="0">
                <a:latin typeface="Arial MT"/>
                <a:cs typeface="Arial MT"/>
              </a:rPr>
              <a:t>r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spc="-165" dirty="0">
                <a:latin typeface="Arial MT"/>
                <a:cs typeface="Arial MT"/>
              </a:rPr>
              <a:t>p(w)</a:t>
            </a:r>
            <a:endParaRPr sz="1800">
              <a:latin typeface="Arial MT"/>
              <a:cs typeface="Arial MT"/>
            </a:endParaRPr>
          </a:p>
          <a:p>
            <a:pPr marL="248285">
              <a:lnSpc>
                <a:spcPct val="100000"/>
              </a:lnSpc>
            </a:pPr>
            <a:r>
              <a:rPr sz="1800" spc="-150" dirty="0">
                <a:latin typeface="Arial MT"/>
                <a:cs typeface="Arial MT"/>
              </a:rPr>
              <a:t>b)</a:t>
            </a:r>
            <a:r>
              <a:rPr sz="1800" spc="-90" dirty="0">
                <a:latin typeface="Arial MT"/>
                <a:cs typeface="Arial MT"/>
              </a:rPr>
              <a:t>. </a:t>
            </a:r>
            <a:r>
              <a:rPr sz="1800" spc="-190" dirty="0">
                <a:latin typeface="Arial MT"/>
                <a:cs typeface="Arial MT"/>
              </a:rPr>
              <a:t>L</a:t>
            </a:r>
            <a:r>
              <a:rPr sz="1800" spc="-85" dirty="0">
                <a:latin typeface="Arial MT"/>
                <a:cs typeface="Arial MT"/>
              </a:rPr>
              <a:t>i</a:t>
            </a:r>
            <a:r>
              <a:rPr sz="1800" spc="-165" dirty="0">
                <a:latin typeface="Arial MT"/>
                <a:cs typeface="Arial MT"/>
              </a:rPr>
              <a:t>k</a:t>
            </a:r>
            <a:r>
              <a:rPr sz="1800" spc="-190" dirty="0">
                <a:latin typeface="Arial MT"/>
                <a:cs typeface="Arial MT"/>
              </a:rPr>
              <a:t>e</a:t>
            </a:r>
            <a:r>
              <a:rPr sz="1800" spc="-85" dirty="0">
                <a:latin typeface="Arial MT"/>
                <a:cs typeface="Arial MT"/>
              </a:rPr>
              <a:t>l</a:t>
            </a:r>
            <a:r>
              <a:rPr sz="1800" spc="-80" dirty="0">
                <a:latin typeface="Arial MT"/>
                <a:cs typeface="Arial MT"/>
              </a:rPr>
              <a:t>i</a:t>
            </a:r>
            <a:r>
              <a:rPr sz="1800" spc="-195" dirty="0">
                <a:latin typeface="Arial MT"/>
                <a:cs typeface="Arial MT"/>
              </a:rPr>
              <a:t>h</a:t>
            </a:r>
            <a:r>
              <a:rPr sz="1800" spc="-190" dirty="0">
                <a:latin typeface="Arial MT"/>
                <a:cs typeface="Arial MT"/>
              </a:rPr>
              <a:t>o</a:t>
            </a:r>
            <a:r>
              <a:rPr sz="1800" spc="-195" dirty="0">
                <a:latin typeface="Arial MT"/>
                <a:cs typeface="Arial MT"/>
              </a:rPr>
              <a:t>o</a:t>
            </a:r>
            <a:r>
              <a:rPr sz="1800" spc="-185" dirty="0">
                <a:latin typeface="Arial MT"/>
                <a:cs typeface="Arial MT"/>
              </a:rPr>
              <a:t>d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155" dirty="0">
                <a:latin typeface="Arial MT"/>
                <a:cs typeface="Arial MT"/>
              </a:rPr>
              <a:t>p(x|w)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800600" y="2738437"/>
            <a:ext cx="2133600" cy="944880"/>
          </a:xfrm>
          <a:prstGeom prst="rect">
            <a:avLst/>
          </a:prstGeom>
          <a:solidFill>
            <a:srgbClr val="B1B1B1"/>
          </a:solidFill>
          <a:ln w="28575">
            <a:solidFill>
              <a:srgbClr val="808080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248920" marR="262890" indent="-10795">
              <a:lnSpc>
                <a:spcPct val="100000"/>
              </a:lnSpc>
              <a:spcBef>
                <a:spcPts val="330"/>
              </a:spcBef>
            </a:pPr>
            <a:r>
              <a:rPr sz="1800" spc="-220" dirty="0">
                <a:latin typeface="Arial MT"/>
                <a:cs typeface="Arial MT"/>
              </a:rPr>
              <a:t>A </a:t>
            </a:r>
            <a:r>
              <a:rPr sz="1800" spc="-250" dirty="0">
                <a:latin typeface="Arial MT"/>
                <a:cs typeface="Arial MT"/>
              </a:rPr>
              <a:t> </a:t>
            </a:r>
            <a:r>
              <a:rPr sz="1800" spc="-114" dirty="0">
                <a:latin typeface="Arial MT"/>
                <a:cs typeface="Arial MT"/>
              </a:rPr>
              <a:t>ris</a:t>
            </a:r>
            <a:r>
              <a:rPr sz="1800" spc="-160" dirty="0">
                <a:latin typeface="Arial MT"/>
                <a:cs typeface="Arial MT"/>
              </a:rPr>
              <a:t>k</a:t>
            </a:r>
            <a:r>
              <a:rPr sz="1800" spc="-155" dirty="0">
                <a:latin typeface="Arial MT"/>
                <a:cs typeface="Arial MT"/>
              </a:rPr>
              <a:t>/cos</a:t>
            </a:r>
            <a:r>
              <a:rPr sz="1800" spc="-90" dirty="0">
                <a:latin typeface="Arial MT"/>
                <a:cs typeface="Arial MT"/>
              </a:rPr>
              <a:t>t</a:t>
            </a:r>
            <a:r>
              <a:rPr sz="1800" spc="-105" dirty="0">
                <a:latin typeface="Arial MT"/>
                <a:cs typeface="Arial MT"/>
              </a:rPr>
              <a:t> </a:t>
            </a:r>
            <a:r>
              <a:rPr sz="1800" spc="-90" dirty="0">
                <a:latin typeface="Arial MT"/>
                <a:cs typeface="Arial MT"/>
              </a:rPr>
              <a:t>f</a:t>
            </a:r>
            <a:r>
              <a:rPr sz="1800" spc="-190" dirty="0">
                <a:latin typeface="Arial MT"/>
                <a:cs typeface="Arial MT"/>
              </a:rPr>
              <a:t>u</a:t>
            </a:r>
            <a:r>
              <a:rPr sz="1800" spc="-135" dirty="0">
                <a:latin typeface="Arial MT"/>
                <a:cs typeface="Arial MT"/>
              </a:rPr>
              <a:t>ncti</a:t>
            </a:r>
            <a:r>
              <a:rPr sz="1800" spc="-190" dirty="0">
                <a:latin typeface="Arial MT"/>
                <a:cs typeface="Arial MT"/>
              </a:rPr>
              <a:t>o</a:t>
            </a:r>
            <a:r>
              <a:rPr sz="1800" spc="-120" dirty="0">
                <a:latin typeface="Arial MT"/>
                <a:cs typeface="Arial MT"/>
              </a:rPr>
              <a:t>n  (is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spc="-185" dirty="0">
                <a:latin typeface="Arial MT"/>
                <a:cs typeface="Arial MT"/>
              </a:rPr>
              <a:t>a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spc="-165" dirty="0">
                <a:latin typeface="Arial MT"/>
                <a:cs typeface="Arial MT"/>
              </a:rPr>
              <a:t>tw</a:t>
            </a:r>
            <a:r>
              <a:rPr sz="1800" spc="-190" dirty="0">
                <a:latin typeface="Arial MT"/>
                <a:cs typeface="Arial MT"/>
              </a:rPr>
              <a:t>o</a:t>
            </a:r>
            <a:r>
              <a:rPr sz="1800" spc="-110" dirty="0">
                <a:latin typeface="Arial MT"/>
                <a:cs typeface="Arial MT"/>
              </a:rPr>
              <a:t>-</a:t>
            </a:r>
            <a:r>
              <a:rPr sz="1800" spc="-195" dirty="0">
                <a:latin typeface="Arial MT"/>
                <a:cs typeface="Arial MT"/>
              </a:rPr>
              <a:t>way</a:t>
            </a:r>
            <a:r>
              <a:rPr sz="1800" spc="-90" dirty="0">
                <a:latin typeface="Arial MT"/>
                <a:cs typeface="Arial MT"/>
              </a:rPr>
              <a:t> t</a:t>
            </a:r>
            <a:r>
              <a:rPr sz="1800" spc="-190" dirty="0">
                <a:latin typeface="Arial MT"/>
                <a:cs typeface="Arial MT"/>
              </a:rPr>
              <a:t>ab</a:t>
            </a:r>
            <a:r>
              <a:rPr sz="1800" spc="-85" dirty="0">
                <a:latin typeface="Arial MT"/>
                <a:cs typeface="Arial MT"/>
              </a:rPr>
              <a:t>l</a:t>
            </a:r>
            <a:r>
              <a:rPr sz="1800" spc="-150" dirty="0">
                <a:latin typeface="Arial MT"/>
                <a:cs typeface="Arial MT"/>
              </a:rPr>
              <a:t>e)</a:t>
            </a:r>
            <a:endParaRPr sz="1800">
              <a:latin typeface="Arial MT"/>
              <a:cs typeface="Arial MT"/>
            </a:endParaRPr>
          </a:p>
          <a:p>
            <a:pPr marL="563245">
              <a:lnSpc>
                <a:spcPct val="100000"/>
              </a:lnSpc>
            </a:pPr>
            <a:r>
              <a:rPr sz="1800" dirty="0">
                <a:latin typeface="Symbol"/>
                <a:cs typeface="Symbol"/>
              </a:rPr>
              <a:t>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Symbol"/>
                <a:cs typeface="Symbol"/>
              </a:rPr>
              <a:t>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175" dirty="0">
                <a:latin typeface="Arial MT"/>
                <a:cs typeface="Arial MT"/>
              </a:rPr>
              <a:t>w)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357437" y="2124138"/>
            <a:ext cx="3590925" cy="619125"/>
            <a:chOff x="2357437" y="2124138"/>
            <a:chExt cx="3590925" cy="619125"/>
          </a:xfrm>
        </p:grpSpPr>
        <p:sp>
          <p:nvSpPr>
            <p:cNvPr id="26" name="object 26"/>
            <p:cNvSpPr/>
            <p:nvPr/>
          </p:nvSpPr>
          <p:spPr>
            <a:xfrm>
              <a:off x="2362200" y="2128901"/>
              <a:ext cx="76200" cy="609600"/>
            </a:xfrm>
            <a:custGeom>
              <a:avLst/>
              <a:gdLst/>
              <a:ahLst/>
              <a:cxnLst/>
              <a:rect l="l" t="t" r="r" b="b"/>
              <a:pathLst>
                <a:path w="76200" h="609600">
                  <a:moveTo>
                    <a:pt x="38100" y="0"/>
                  </a:moveTo>
                  <a:lnTo>
                    <a:pt x="0" y="152400"/>
                  </a:lnTo>
                  <a:lnTo>
                    <a:pt x="19050" y="152400"/>
                  </a:lnTo>
                  <a:lnTo>
                    <a:pt x="19050" y="609600"/>
                  </a:lnTo>
                  <a:lnTo>
                    <a:pt x="57150" y="609600"/>
                  </a:lnTo>
                  <a:lnTo>
                    <a:pt x="57150" y="152400"/>
                  </a:lnTo>
                  <a:lnTo>
                    <a:pt x="76200" y="1524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362200" y="2128901"/>
              <a:ext cx="76200" cy="609600"/>
            </a:xfrm>
            <a:custGeom>
              <a:avLst/>
              <a:gdLst/>
              <a:ahLst/>
              <a:cxnLst/>
              <a:rect l="l" t="t" r="r" b="b"/>
              <a:pathLst>
                <a:path w="76200" h="609600">
                  <a:moveTo>
                    <a:pt x="0" y="152400"/>
                  </a:moveTo>
                  <a:lnTo>
                    <a:pt x="38100" y="0"/>
                  </a:lnTo>
                  <a:lnTo>
                    <a:pt x="76200" y="152400"/>
                  </a:lnTo>
                  <a:lnTo>
                    <a:pt x="57150" y="152400"/>
                  </a:lnTo>
                  <a:lnTo>
                    <a:pt x="57150" y="609600"/>
                  </a:lnTo>
                  <a:lnTo>
                    <a:pt x="19050" y="609600"/>
                  </a:lnTo>
                  <a:lnTo>
                    <a:pt x="19050" y="152400"/>
                  </a:lnTo>
                  <a:lnTo>
                    <a:pt x="0" y="1524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867400" y="2128901"/>
              <a:ext cx="76200" cy="609600"/>
            </a:xfrm>
            <a:custGeom>
              <a:avLst/>
              <a:gdLst/>
              <a:ahLst/>
              <a:cxnLst/>
              <a:rect l="l" t="t" r="r" b="b"/>
              <a:pathLst>
                <a:path w="76200" h="609600">
                  <a:moveTo>
                    <a:pt x="38100" y="0"/>
                  </a:moveTo>
                  <a:lnTo>
                    <a:pt x="0" y="152400"/>
                  </a:lnTo>
                  <a:lnTo>
                    <a:pt x="19050" y="152400"/>
                  </a:lnTo>
                  <a:lnTo>
                    <a:pt x="19050" y="609600"/>
                  </a:lnTo>
                  <a:lnTo>
                    <a:pt x="57150" y="609600"/>
                  </a:lnTo>
                  <a:lnTo>
                    <a:pt x="57150" y="152400"/>
                  </a:lnTo>
                  <a:lnTo>
                    <a:pt x="76200" y="1524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867400" y="2128901"/>
              <a:ext cx="76200" cy="609600"/>
            </a:xfrm>
            <a:custGeom>
              <a:avLst/>
              <a:gdLst/>
              <a:ahLst/>
              <a:cxnLst/>
              <a:rect l="l" t="t" r="r" b="b"/>
              <a:pathLst>
                <a:path w="76200" h="609600">
                  <a:moveTo>
                    <a:pt x="0" y="152400"/>
                  </a:moveTo>
                  <a:lnTo>
                    <a:pt x="38100" y="0"/>
                  </a:lnTo>
                  <a:lnTo>
                    <a:pt x="76200" y="152400"/>
                  </a:lnTo>
                  <a:lnTo>
                    <a:pt x="57150" y="152400"/>
                  </a:lnTo>
                  <a:lnTo>
                    <a:pt x="57150" y="609600"/>
                  </a:lnTo>
                  <a:lnTo>
                    <a:pt x="19050" y="609600"/>
                  </a:lnTo>
                  <a:lnTo>
                    <a:pt x="19050" y="152400"/>
                  </a:lnTo>
                  <a:lnTo>
                    <a:pt x="0" y="15240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/>
          <p:nvPr/>
        </p:nvSpPr>
        <p:spPr>
          <a:xfrm>
            <a:off x="3740095" y="4786594"/>
            <a:ext cx="1290320" cy="0"/>
          </a:xfrm>
          <a:custGeom>
            <a:avLst/>
            <a:gdLst/>
            <a:ahLst/>
            <a:cxnLst/>
            <a:rect l="l" t="t" r="r" b="b"/>
            <a:pathLst>
              <a:path w="1290320">
                <a:moveTo>
                  <a:pt x="0" y="0"/>
                </a:moveTo>
                <a:lnTo>
                  <a:pt x="1289879" y="0"/>
                </a:lnTo>
              </a:path>
            </a:pathLst>
          </a:custGeom>
          <a:ln w="987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2676396" y="4425163"/>
            <a:ext cx="238506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3000" i="1" spc="37" baseline="-34722" dirty="0">
                <a:latin typeface="Times New Roman"/>
                <a:cs typeface="Times New Roman"/>
              </a:rPr>
              <a:t>p</a:t>
            </a:r>
            <a:r>
              <a:rPr sz="3000" spc="82" baseline="-34722" dirty="0">
                <a:latin typeface="Times New Roman"/>
                <a:cs typeface="Times New Roman"/>
              </a:rPr>
              <a:t>(</a:t>
            </a:r>
            <a:r>
              <a:rPr sz="3000" i="1" spc="37" baseline="-34722" dirty="0">
                <a:latin typeface="Times New Roman"/>
                <a:cs typeface="Times New Roman"/>
              </a:rPr>
              <a:t>w</a:t>
            </a:r>
            <a:r>
              <a:rPr sz="3000" i="1" spc="-442" baseline="-34722" dirty="0">
                <a:latin typeface="Times New Roman"/>
                <a:cs typeface="Times New Roman"/>
              </a:rPr>
              <a:t> </a:t>
            </a:r>
            <a:r>
              <a:rPr sz="3000" spc="7" baseline="-34722" dirty="0">
                <a:latin typeface="Times New Roman"/>
                <a:cs typeface="Times New Roman"/>
              </a:rPr>
              <a:t>|</a:t>
            </a:r>
            <a:r>
              <a:rPr sz="3000" spc="-97" baseline="-34722" dirty="0">
                <a:latin typeface="Times New Roman"/>
                <a:cs typeface="Times New Roman"/>
              </a:rPr>
              <a:t> </a:t>
            </a:r>
            <a:r>
              <a:rPr sz="3000" i="1" spc="22" baseline="-34722" dirty="0">
                <a:latin typeface="Times New Roman"/>
                <a:cs typeface="Times New Roman"/>
              </a:rPr>
              <a:t>x</a:t>
            </a:r>
            <a:r>
              <a:rPr sz="3000" spc="15" baseline="-34722" dirty="0">
                <a:latin typeface="Times New Roman"/>
                <a:cs typeface="Times New Roman"/>
              </a:rPr>
              <a:t>)</a:t>
            </a:r>
            <a:r>
              <a:rPr sz="3000" spc="127" baseline="-34722" dirty="0">
                <a:latin typeface="Times New Roman"/>
                <a:cs typeface="Times New Roman"/>
              </a:rPr>
              <a:t> </a:t>
            </a:r>
            <a:r>
              <a:rPr sz="3000" spc="30" baseline="-34722" dirty="0">
                <a:latin typeface="Symbol"/>
                <a:cs typeface="Symbol"/>
              </a:rPr>
              <a:t></a:t>
            </a:r>
            <a:r>
              <a:rPr sz="3000" baseline="-34722" dirty="0">
                <a:latin typeface="Times New Roman"/>
                <a:cs typeface="Times New Roman"/>
              </a:rPr>
              <a:t> </a:t>
            </a:r>
            <a:r>
              <a:rPr sz="3000" spc="-44" baseline="-34722" dirty="0">
                <a:latin typeface="Times New Roman"/>
                <a:cs typeface="Times New Roman"/>
              </a:rPr>
              <a:t> </a:t>
            </a:r>
            <a:r>
              <a:rPr sz="2000" i="1" spc="25" dirty="0">
                <a:latin typeface="Times New Roman"/>
                <a:cs typeface="Times New Roman"/>
              </a:rPr>
              <a:t>p</a:t>
            </a:r>
            <a:r>
              <a:rPr sz="2000" spc="114" dirty="0">
                <a:latin typeface="Times New Roman"/>
                <a:cs typeface="Times New Roman"/>
              </a:rPr>
              <a:t>(</a:t>
            </a:r>
            <a:r>
              <a:rPr sz="2000" i="1" spc="15" dirty="0">
                <a:latin typeface="Times New Roman"/>
                <a:cs typeface="Times New Roman"/>
              </a:rPr>
              <a:t>x</a:t>
            </a:r>
            <a:r>
              <a:rPr sz="2000" i="1" spc="-204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Times New Roman"/>
                <a:cs typeface="Times New Roman"/>
              </a:rPr>
              <a:t>|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i="1" spc="-65" dirty="0">
                <a:latin typeface="Times New Roman"/>
                <a:cs typeface="Times New Roman"/>
              </a:rPr>
              <a:t>w</a:t>
            </a:r>
            <a:r>
              <a:rPr sz="2000" spc="10" dirty="0">
                <a:latin typeface="Times New Roman"/>
                <a:cs typeface="Times New Roman"/>
              </a:rPr>
              <a:t>)</a:t>
            </a:r>
            <a:r>
              <a:rPr sz="2000" spc="-245" dirty="0">
                <a:latin typeface="Times New Roman"/>
                <a:cs typeface="Times New Roman"/>
              </a:rPr>
              <a:t> </a:t>
            </a:r>
            <a:r>
              <a:rPr sz="2000" i="1" spc="25" dirty="0">
                <a:latin typeface="Times New Roman"/>
                <a:cs typeface="Times New Roman"/>
              </a:rPr>
              <a:t>p</a:t>
            </a:r>
            <a:r>
              <a:rPr sz="2000" spc="55" dirty="0">
                <a:latin typeface="Times New Roman"/>
                <a:cs typeface="Times New Roman"/>
              </a:rPr>
              <a:t>(</a:t>
            </a:r>
            <a:r>
              <a:rPr sz="2000" i="1" spc="-70" dirty="0">
                <a:latin typeface="Times New Roman"/>
                <a:cs typeface="Times New Roman"/>
              </a:rPr>
              <a:t>w</a:t>
            </a:r>
            <a:r>
              <a:rPr sz="2000" spc="10" dirty="0"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840838" y="5615854"/>
            <a:ext cx="88265" cy="1911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50" i="1" spc="25" dirty="0">
                <a:latin typeface="Times New Roman"/>
                <a:cs typeface="Times New Roman"/>
              </a:rPr>
              <a:t>k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10540" y="4648007"/>
            <a:ext cx="5238115" cy="161417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R="1118870" algn="r">
              <a:lnSpc>
                <a:spcPct val="100000"/>
              </a:lnSpc>
              <a:spcBef>
                <a:spcPts val="1105"/>
              </a:spcBef>
            </a:pPr>
            <a:r>
              <a:rPr sz="2000" i="1" spc="40" dirty="0">
                <a:latin typeface="Times New Roman"/>
                <a:cs typeface="Times New Roman"/>
              </a:rPr>
              <a:t>p</a:t>
            </a:r>
            <a:r>
              <a:rPr sz="2000" spc="40" dirty="0">
                <a:latin typeface="Times New Roman"/>
                <a:cs typeface="Times New Roman"/>
              </a:rPr>
              <a:t>(</a:t>
            </a:r>
            <a:r>
              <a:rPr sz="2000" i="1" spc="40" dirty="0">
                <a:latin typeface="Times New Roman"/>
                <a:cs typeface="Times New Roman"/>
              </a:rPr>
              <a:t>x</a:t>
            </a:r>
            <a:r>
              <a:rPr sz="2000" spc="40" dirty="0">
                <a:latin typeface="Times New Roman"/>
                <a:cs typeface="Times New Roman"/>
              </a:rPr>
              <a:t>)</a:t>
            </a:r>
            <a:endParaRPr sz="20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200"/>
              </a:spcBef>
            </a:pPr>
            <a:r>
              <a:rPr sz="2400" spc="-5" dirty="0">
                <a:latin typeface="Calibri"/>
                <a:cs typeface="Calibri"/>
              </a:rPr>
              <a:t>Tingkat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resiko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dihitung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dengan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:</a:t>
            </a:r>
            <a:endParaRPr sz="2400">
              <a:latin typeface="Calibri"/>
              <a:cs typeface="Calibri"/>
            </a:endParaRPr>
          </a:p>
          <a:p>
            <a:pPr marL="2221865">
              <a:lnSpc>
                <a:spcPct val="100000"/>
              </a:lnSpc>
              <a:spcBef>
                <a:spcPts val="270"/>
              </a:spcBef>
            </a:pPr>
            <a:r>
              <a:rPr sz="1850" i="1" spc="25" dirty="0">
                <a:latin typeface="Times New Roman"/>
                <a:cs typeface="Times New Roman"/>
              </a:rPr>
              <a:t>R</a:t>
            </a:r>
            <a:r>
              <a:rPr sz="1850" spc="-110" dirty="0">
                <a:latin typeface="Times New Roman"/>
                <a:cs typeface="Times New Roman"/>
              </a:rPr>
              <a:t>(</a:t>
            </a:r>
            <a:r>
              <a:rPr sz="1950" spc="25" dirty="0">
                <a:latin typeface="Symbol"/>
                <a:cs typeface="Symbol"/>
              </a:rPr>
              <a:t></a:t>
            </a:r>
            <a:r>
              <a:rPr sz="1575" spc="22" baseline="-23809" dirty="0">
                <a:latin typeface="Times New Roman"/>
                <a:cs typeface="Times New Roman"/>
              </a:rPr>
              <a:t>i</a:t>
            </a:r>
            <a:r>
              <a:rPr sz="1575" baseline="-23809" dirty="0">
                <a:latin typeface="Times New Roman"/>
                <a:cs typeface="Times New Roman"/>
              </a:rPr>
              <a:t> </a:t>
            </a:r>
            <a:r>
              <a:rPr sz="1575" spc="-44" baseline="-23809" dirty="0">
                <a:latin typeface="Times New Roman"/>
                <a:cs typeface="Times New Roman"/>
              </a:rPr>
              <a:t> </a:t>
            </a:r>
            <a:r>
              <a:rPr sz="1850" spc="5" dirty="0">
                <a:latin typeface="Times New Roman"/>
                <a:cs typeface="Times New Roman"/>
              </a:rPr>
              <a:t>|</a:t>
            </a:r>
            <a:r>
              <a:rPr sz="1850" spc="-50" dirty="0">
                <a:latin typeface="Times New Roman"/>
                <a:cs typeface="Times New Roman"/>
              </a:rPr>
              <a:t> </a:t>
            </a:r>
            <a:r>
              <a:rPr sz="1850" i="1" spc="25" dirty="0">
                <a:latin typeface="Times New Roman"/>
                <a:cs typeface="Times New Roman"/>
              </a:rPr>
              <a:t>x</a:t>
            </a:r>
            <a:r>
              <a:rPr sz="1850" spc="15" dirty="0">
                <a:latin typeface="Times New Roman"/>
                <a:cs typeface="Times New Roman"/>
              </a:rPr>
              <a:t>)</a:t>
            </a:r>
            <a:r>
              <a:rPr sz="1850" spc="95" dirty="0">
                <a:latin typeface="Times New Roman"/>
                <a:cs typeface="Times New Roman"/>
              </a:rPr>
              <a:t> </a:t>
            </a:r>
            <a:r>
              <a:rPr sz="1850" spc="25" dirty="0">
                <a:latin typeface="Symbol"/>
                <a:cs typeface="Symbol"/>
              </a:rPr>
              <a:t></a:t>
            </a:r>
            <a:r>
              <a:rPr sz="1850" spc="65" dirty="0">
                <a:latin typeface="Times New Roman"/>
                <a:cs typeface="Times New Roman"/>
              </a:rPr>
              <a:t> </a:t>
            </a:r>
            <a:r>
              <a:rPr sz="4200" spc="225" baseline="-7936" dirty="0">
                <a:latin typeface="Symbol"/>
                <a:cs typeface="Symbol"/>
              </a:rPr>
              <a:t></a:t>
            </a:r>
            <a:r>
              <a:rPr sz="1950" spc="55" dirty="0">
                <a:latin typeface="Symbol"/>
                <a:cs typeface="Symbol"/>
              </a:rPr>
              <a:t></a:t>
            </a:r>
            <a:r>
              <a:rPr sz="1850" spc="-105" dirty="0">
                <a:latin typeface="Times New Roman"/>
                <a:cs typeface="Times New Roman"/>
              </a:rPr>
              <a:t>(</a:t>
            </a:r>
            <a:r>
              <a:rPr sz="1950" spc="20" dirty="0">
                <a:latin typeface="Symbol"/>
                <a:cs typeface="Symbol"/>
              </a:rPr>
              <a:t></a:t>
            </a:r>
            <a:r>
              <a:rPr sz="1575" spc="22" baseline="-23809" dirty="0">
                <a:latin typeface="Times New Roman"/>
                <a:cs typeface="Times New Roman"/>
              </a:rPr>
              <a:t>i</a:t>
            </a:r>
            <a:r>
              <a:rPr sz="1575" baseline="-23809" dirty="0">
                <a:latin typeface="Times New Roman"/>
                <a:cs typeface="Times New Roman"/>
              </a:rPr>
              <a:t> </a:t>
            </a:r>
            <a:r>
              <a:rPr sz="1575" spc="-44" baseline="-23809" dirty="0">
                <a:latin typeface="Times New Roman"/>
                <a:cs typeface="Times New Roman"/>
              </a:rPr>
              <a:t> </a:t>
            </a:r>
            <a:r>
              <a:rPr sz="1850" spc="5" dirty="0">
                <a:latin typeface="Times New Roman"/>
                <a:cs typeface="Times New Roman"/>
              </a:rPr>
              <a:t>|</a:t>
            </a:r>
            <a:r>
              <a:rPr sz="1850" spc="-110" dirty="0">
                <a:latin typeface="Times New Roman"/>
                <a:cs typeface="Times New Roman"/>
              </a:rPr>
              <a:t> </a:t>
            </a:r>
            <a:r>
              <a:rPr sz="1850" spc="240" dirty="0">
                <a:latin typeface="Times New Roman"/>
                <a:cs typeface="Times New Roman"/>
              </a:rPr>
              <a:t>w</a:t>
            </a:r>
            <a:r>
              <a:rPr sz="1575" spc="22" baseline="-23809" dirty="0">
                <a:latin typeface="Times New Roman"/>
                <a:cs typeface="Times New Roman"/>
              </a:rPr>
              <a:t>j</a:t>
            </a:r>
            <a:r>
              <a:rPr sz="1575" spc="-179" baseline="-23809" dirty="0">
                <a:latin typeface="Times New Roman"/>
                <a:cs typeface="Times New Roman"/>
              </a:rPr>
              <a:t> </a:t>
            </a:r>
            <a:r>
              <a:rPr sz="1850" spc="-40" dirty="0">
                <a:latin typeface="Times New Roman"/>
                <a:cs typeface="Times New Roman"/>
              </a:rPr>
              <a:t>)</a:t>
            </a:r>
            <a:r>
              <a:rPr sz="1850" spc="40" dirty="0">
                <a:latin typeface="Times New Roman"/>
                <a:cs typeface="Times New Roman"/>
              </a:rPr>
              <a:t>p</a:t>
            </a:r>
            <a:r>
              <a:rPr sz="1850" spc="-35" dirty="0">
                <a:latin typeface="Times New Roman"/>
                <a:cs typeface="Times New Roman"/>
              </a:rPr>
              <a:t>(</a:t>
            </a:r>
            <a:r>
              <a:rPr sz="1850" spc="200" dirty="0">
                <a:latin typeface="Times New Roman"/>
                <a:cs typeface="Times New Roman"/>
              </a:rPr>
              <a:t>w</a:t>
            </a:r>
            <a:r>
              <a:rPr sz="1575" spc="22" baseline="-23809" dirty="0">
                <a:latin typeface="Times New Roman"/>
                <a:cs typeface="Times New Roman"/>
              </a:rPr>
              <a:t>j</a:t>
            </a:r>
            <a:r>
              <a:rPr sz="1575" baseline="-23809" dirty="0">
                <a:latin typeface="Times New Roman"/>
                <a:cs typeface="Times New Roman"/>
              </a:rPr>
              <a:t> </a:t>
            </a:r>
            <a:r>
              <a:rPr sz="1575" spc="-150" baseline="-23809" dirty="0">
                <a:latin typeface="Times New Roman"/>
                <a:cs typeface="Times New Roman"/>
              </a:rPr>
              <a:t> </a:t>
            </a:r>
            <a:r>
              <a:rPr sz="1850" spc="5" dirty="0">
                <a:latin typeface="Times New Roman"/>
                <a:cs typeface="Times New Roman"/>
              </a:rPr>
              <a:t>|</a:t>
            </a:r>
            <a:r>
              <a:rPr sz="1850" spc="-50" dirty="0">
                <a:latin typeface="Times New Roman"/>
                <a:cs typeface="Times New Roman"/>
              </a:rPr>
              <a:t> </a:t>
            </a:r>
            <a:r>
              <a:rPr sz="1850" i="1" spc="25" dirty="0">
                <a:latin typeface="Times New Roman"/>
                <a:cs typeface="Times New Roman"/>
              </a:rPr>
              <a:t>x</a:t>
            </a:r>
            <a:r>
              <a:rPr sz="1850" spc="15" dirty="0">
                <a:latin typeface="Times New Roman"/>
                <a:cs typeface="Times New Roman"/>
              </a:rPr>
              <a:t>)</a:t>
            </a:r>
            <a:endParaRPr sz="1850">
              <a:latin typeface="Times New Roman"/>
              <a:cs typeface="Times New Roman"/>
            </a:endParaRPr>
          </a:p>
          <a:p>
            <a:pPr marL="1545590" algn="ctr">
              <a:lnSpc>
                <a:spcPct val="100000"/>
              </a:lnSpc>
              <a:spcBef>
                <a:spcPts val="125"/>
              </a:spcBef>
            </a:pPr>
            <a:r>
              <a:rPr sz="1050" spc="-10" dirty="0">
                <a:latin typeface="Times New Roman"/>
                <a:cs typeface="Times New Roman"/>
              </a:rPr>
              <a:t>j</a:t>
            </a:r>
            <a:r>
              <a:rPr sz="1050" spc="-10" dirty="0">
                <a:latin typeface="Symbol"/>
                <a:cs typeface="Symbol"/>
              </a:rPr>
              <a:t></a:t>
            </a:r>
            <a:r>
              <a:rPr sz="1050" spc="-10" dirty="0">
                <a:latin typeface="Times New Roman"/>
                <a:cs typeface="Times New Roman"/>
              </a:rPr>
              <a:t>1</a:t>
            </a:r>
            <a:endParaRPr sz="1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Teori</a:t>
            </a:r>
            <a:r>
              <a:rPr spc="35" dirty="0"/>
              <a:t> </a:t>
            </a:r>
            <a:r>
              <a:rPr dirty="0"/>
              <a:t>Keputusan</a:t>
            </a:r>
            <a:r>
              <a:rPr spc="35" dirty="0"/>
              <a:t> </a:t>
            </a:r>
            <a:r>
              <a:rPr dirty="0"/>
              <a:t>Bayes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23240" y="1275969"/>
            <a:ext cx="7704455" cy="2562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8300" marR="17780" indent="-343535">
              <a:lnSpc>
                <a:spcPct val="100200"/>
              </a:lnSpc>
              <a:spcBef>
                <a:spcPts val="95"/>
              </a:spcBef>
              <a:buChar char="•"/>
              <a:tabLst>
                <a:tab pos="368300" algn="l"/>
                <a:tab pos="368935" algn="l"/>
                <a:tab pos="3354704" algn="l"/>
                <a:tab pos="3871595" algn="l"/>
              </a:tabLst>
            </a:pPr>
            <a:r>
              <a:rPr sz="3200" dirty="0">
                <a:latin typeface="Calibri"/>
                <a:cs typeface="Calibri"/>
              </a:rPr>
              <a:t>Kita</a:t>
            </a:r>
            <a:r>
              <a:rPr sz="3200" spc="-5" dirty="0">
                <a:latin typeface="Calibri"/>
                <a:cs typeface="Calibri"/>
              </a:rPr>
              <a:t> mendefiniskan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fitur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untuk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setiap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objek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dengan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:</a:t>
            </a:r>
            <a:r>
              <a:rPr sz="3200" spc="-290" dirty="0">
                <a:latin typeface="Calibri"/>
                <a:cs typeface="Calibri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P(x| </a:t>
            </a:r>
            <a:r>
              <a:rPr sz="3200" spc="5" dirty="0">
                <a:latin typeface="Symbol"/>
                <a:cs typeface="Symbol"/>
              </a:rPr>
              <a:t></a:t>
            </a:r>
            <a:r>
              <a:rPr sz="3150" spc="7" baseline="-21164" dirty="0">
                <a:latin typeface="Times New Roman"/>
                <a:cs typeface="Times New Roman"/>
              </a:rPr>
              <a:t>1</a:t>
            </a:r>
            <a:r>
              <a:rPr sz="3200" spc="5" dirty="0">
                <a:latin typeface="Times New Roman"/>
                <a:cs typeface="Times New Roman"/>
              </a:rPr>
              <a:t>)	</a:t>
            </a:r>
            <a:r>
              <a:rPr sz="3200" dirty="0">
                <a:latin typeface="Times New Roman"/>
                <a:cs typeface="Times New Roman"/>
              </a:rPr>
              <a:t>&amp;	P(x|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5" dirty="0">
                <a:latin typeface="Symbol"/>
                <a:cs typeface="Symbol"/>
              </a:rPr>
              <a:t></a:t>
            </a:r>
            <a:r>
              <a:rPr sz="3150" spc="7" baseline="-21164" dirty="0">
                <a:latin typeface="Times New Roman"/>
                <a:cs typeface="Times New Roman"/>
              </a:rPr>
              <a:t>2</a:t>
            </a:r>
            <a:r>
              <a:rPr sz="3200" spc="5" dirty="0">
                <a:latin typeface="Times New Roman"/>
                <a:cs typeface="Times New Roman"/>
              </a:rPr>
              <a:t>)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: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class-specific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density (Probabilitas kodisional objek (x) 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terhadap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kelas (</a:t>
            </a:r>
            <a:r>
              <a:rPr sz="3200" dirty="0">
                <a:latin typeface="Symbol"/>
                <a:cs typeface="Symbol"/>
              </a:rPr>
              <a:t></a:t>
            </a:r>
            <a:r>
              <a:rPr sz="3150" baseline="-21164" dirty="0">
                <a:latin typeface="Times New Roman"/>
                <a:cs typeface="Times New Roman"/>
              </a:rPr>
              <a:t>j</a:t>
            </a:r>
            <a:r>
              <a:rPr sz="3200" dirty="0">
                <a:latin typeface="Times New Roman"/>
                <a:cs typeface="Times New Roman"/>
              </a:rPr>
              <a:t>)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/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Likelihood)</a:t>
            </a:r>
            <a:endParaRPr sz="3200">
              <a:latin typeface="Times New Roman"/>
              <a:cs typeface="Times New Roman"/>
            </a:endParaRPr>
          </a:p>
          <a:p>
            <a:pPr marL="368300" indent="-343535">
              <a:lnSpc>
                <a:spcPct val="100000"/>
              </a:lnSpc>
              <a:spcBef>
                <a:spcPts val="745"/>
              </a:spcBef>
              <a:buChar char="•"/>
              <a:tabLst>
                <a:tab pos="368300" algn="l"/>
                <a:tab pos="368935" algn="l"/>
              </a:tabLst>
            </a:pPr>
            <a:r>
              <a:rPr sz="3200" spc="-5" dirty="0">
                <a:latin typeface="Calibri"/>
                <a:cs typeface="Calibri"/>
              </a:rPr>
              <a:t>Aturan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Bayes: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3100" y="3922712"/>
            <a:ext cx="4572000" cy="585787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1857375" y="4572063"/>
            <a:ext cx="4495800" cy="1806575"/>
            <a:chOff x="1857375" y="4572063"/>
            <a:chExt cx="4495800" cy="1806575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67051" y="5500687"/>
              <a:ext cx="3505200" cy="87788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57375" y="4572063"/>
              <a:ext cx="4495800" cy="92868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319908" y="264617"/>
            <a:ext cx="45034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Aturan</a:t>
            </a:r>
            <a:r>
              <a:rPr spc="-10" dirty="0"/>
              <a:t> </a:t>
            </a:r>
            <a:r>
              <a:rPr dirty="0"/>
              <a:t>Keputusan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35940" y="1294257"/>
            <a:ext cx="74479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  <a:tab pos="356235" algn="l"/>
              </a:tabLst>
            </a:pPr>
            <a:r>
              <a:rPr sz="2400" spc="-215" dirty="0">
                <a:latin typeface="Arial MT"/>
                <a:cs typeface="Arial MT"/>
              </a:rPr>
              <a:t>Aturan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229" dirty="0">
                <a:latin typeface="Arial MT"/>
                <a:cs typeface="Arial MT"/>
              </a:rPr>
              <a:t>keputusan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45" dirty="0">
                <a:latin typeface="Arial MT"/>
                <a:cs typeface="Arial MT"/>
              </a:rPr>
              <a:t>merupakan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200" dirty="0">
                <a:latin typeface="Arial MT"/>
                <a:cs typeface="Arial MT"/>
              </a:rPr>
              <a:t>fungsi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245" dirty="0">
                <a:latin typeface="Arial MT"/>
                <a:cs typeface="Arial MT"/>
              </a:rPr>
              <a:t>mapping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85" dirty="0">
                <a:latin typeface="Arial MT"/>
                <a:cs typeface="Arial MT"/>
              </a:rPr>
              <a:t>dari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225" dirty="0">
                <a:latin typeface="Arial MT"/>
                <a:cs typeface="Arial MT"/>
              </a:rPr>
              <a:t>ruang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50" dirty="0">
                <a:latin typeface="Arial MT"/>
                <a:cs typeface="Arial MT"/>
              </a:rPr>
              <a:t>fitur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235" dirty="0">
                <a:latin typeface="Arial MT"/>
                <a:cs typeface="Arial MT"/>
              </a:rPr>
              <a:t>ke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79144" y="1660016"/>
            <a:ext cx="44430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50" dirty="0">
                <a:latin typeface="Arial MT"/>
                <a:cs typeface="Arial MT"/>
              </a:rPr>
              <a:t>h</a:t>
            </a:r>
            <a:r>
              <a:rPr sz="2400" spc="-110" dirty="0">
                <a:latin typeface="Arial MT"/>
                <a:cs typeface="Arial MT"/>
              </a:rPr>
              <a:t>i</a:t>
            </a:r>
            <a:r>
              <a:rPr sz="2400" spc="-270" dirty="0">
                <a:latin typeface="Arial MT"/>
                <a:cs typeface="Arial MT"/>
              </a:rPr>
              <a:t>mpuna</a:t>
            </a:r>
            <a:r>
              <a:rPr sz="2400" spc="-245" dirty="0">
                <a:latin typeface="Arial MT"/>
                <a:cs typeface="Arial MT"/>
              </a:rPr>
              <a:t>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225" dirty="0">
                <a:latin typeface="Arial MT"/>
                <a:cs typeface="Arial MT"/>
              </a:rPr>
              <a:t>keputus</a:t>
            </a:r>
            <a:r>
              <a:rPr sz="2400" spc="-254" dirty="0">
                <a:latin typeface="Arial MT"/>
                <a:cs typeface="Arial MT"/>
              </a:rPr>
              <a:t>a</a:t>
            </a:r>
            <a:r>
              <a:rPr sz="2400" spc="-245" dirty="0">
                <a:latin typeface="Arial MT"/>
                <a:cs typeface="Arial MT"/>
              </a:rPr>
              <a:t>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40" dirty="0">
                <a:latin typeface="Arial MT"/>
                <a:cs typeface="Arial MT"/>
              </a:rPr>
              <a:t>yan</a:t>
            </a:r>
            <a:r>
              <a:rPr sz="2400" spc="-245" dirty="0">
                <a:latin typeface="Arial MT"/>
                <a:cs typeface="Arial MT"/>
              </a:rPr>
              <a:t>g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240" dirty="0">
                <a:latin typeface="Arial MT"/>
                <a:cs typeface="Arial MT"/>
              </a:rPr>
              <a:t>aka</a:t>
            </a:r>
            <a:r>
              <a:rPr sz="2400" spc="-245" dirty="0">
                <a:latin typeface="Arial MT"/>
                <a:cs typeface="Arial MT"/>
              </a:rPr>
              <a:t>n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250" dirty="0">
                <a:latin typeface="Arial MT"/>
                <a:cs typeface="Arial MT"/>
              </a:rPr>
              <a:t>d</a:t>
            </a:r>
            <a:r>
              <a:rPr sz="2400" spc="-110" dirty="0">
                <a:latin typeface="Arial MT"/>
                <a:cs typeface="Arial MT"/>
              </a:rPr>
              <a:t>i</a:t>
            </a:r>
            <a:r>
              <a:rPr sz="2400" spc="-215" dirty="0">
                <a:latin typeface="Arial MT"/>
                <a:cs typeface="Arial MT"/>
              </a:rPr>
              <a:t>ambil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99100" y="1716087"/>
            <a:ext cx="2076450" cy="427355"/>
          </a:xfrm>
          <a:prstGeom prst="rect">
            <a:avLst/>
          </a:prstGeom>
          <a:solidFill>
            <a:srgbClr val="B1B1B1"/>
          </a:solidFill>
          <a:ln w="19050">
            <a:solidFill>
              <a:srgbClr val="808080"/>
            </a:solidFill>
          </a:ln>
        </p:spPr>
        <p:txBody>
          <a:bodyPr vert="horz" wrap="square" lIns="0" tIns="8255" rIns="0" bIns="0" rtlCol="0">
            <a:spAutoFit/>
          </a:bodyPr>
          <a:lstStyle/>
          <a:p>
            <a:pPr marL="28575">
              <a:lnSpc>
                <a:spcPct val="100000"/>
              </a:lnSpc>
              <a:spcBef>
                <a:spcPts val="65"/>
              </a:spcBef>
            </a:pPr>
            <a:r>
              <a:rPr sz="2350" spc="110" dirty="0">
                <a:latin typeface="Symbol"/>
                <a:cs typeface="Symbol"/>
              </a:rPr>
              <a:t></a:t>
            </a:r>
            <a:r>
              <a:rPr sz="2200" spc="135" dirty="0">
                <a:latin typeface="Times New Roman"/>
                <a:cs typeface="Times New Roman"/>
              </a:rPr>
              <a:t>(</a:t>
            </a:r>
            <a:r>
              <a:rPr sz="2200" i="1" spc="15" dirty="0">
                <a:latin typeface="Times New Roman"/>
                <a:cs typeface="Times New Roman"/>
              </a:rPr>
              <a:t>x</a:t>
            </a:r>
            <a:r>
              <a:rPr sz="2200" spc="100" dirty="0">
                <a:latin typeface="Times New Roman"/>
                <a:cs typeface="Times New Roman"/>
              </a:rPr>
              <a:t>)</a:t>
            </a:r>
            <a:r>
              <a:rPr sz="2200" spc="30" dirty="0">
                <a:latin typeface="Times New Roman"/>
                <a:cs typeface="Times New Roman"/>
              </a:rPr>
              <a:t>:</a:t>
            </a:r>
            <a:r>
              <a:rPr sz="2200" dirty="0">
                <a:latin typeface="Times New Roman"/>
                <a:cs typeface="Times New Roman"/>
              </a:rPr>
              <a:t> </a:t>
            </a:r>
            <a:r>
              <a:rPr sz="2200" spc="-245" dirty="0">
                <a:latin typeface="Times New Roman"/>
                <a:cs typeface="Times New Roman"/>
              </a:rPr>
              <a:t> </a:t>
            </a:r>
            <a:r>
              <a:rPr sz="2200" spc="30" dirty="0">
                <a:latin typeface="Symbol"/>
                <a:cs typeface="Symbol"/>
              </a:rPr>
              <a:t></a:t>
            </a:r>
            <a:r>
              <a:rPr sz="1950" spc="30" baseline="40598" dirty="0">
                <a:latin typeface="Times New Roman"/>
                <a:cs typeface="Times New Roman"/>
              </a:rPr>
              <a:t>d</a:t>
            </a:r>
            <a:r>
              <a:rPr sz="1950" spc="195" baseline="40598" dirty="0">
                <a:latin typeface="Times New Roman"/>
                <a:cs typeface="Times New Roman"/>
              </a:rPr>
              <a:t> </a:t>
            </a:r>
            <a:r>
              <a:rPr sz="2200" spc="105" dirty="0">
                <a:latin typeface="Symbol"/>
                <a:cs typeface="Symbol"/>
              </a:rPr>
              <a:t></a:t>
            </a:r>
            <a:r>
              <a:rPr sz="2200" spc="-305" dirty="0">
                <a:latin typeface="Times New Roman"/>
                <a:cs typeface="Times New Roman"/>
              </a:rPr>
              <a:t> </a:t>
            </a:r>
            <a:r>
              <a:rPr sz="2200" spc="-50" dirty="0">
                <a:latin typeface="Symbol"/>
                <a:cs typeface="Symbol"/>
              </a:rPr>
              <a:t></a:t>
            </a:r>
            <a:r>
              <a:rPr sz="2025" spc="-7" baseline="39094" dirty="0">
                <a:latin typeface="Symbol"/>
                <a:cs typeface="Symbol"/>
              </a:rPr>
              <a:t></a:t>
            </a:r>
            <a:endParaRPr sz="2025" baseline="39094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97840" y="2464752"/>
            <a:ext cx="8027670" cy="251333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93700" indent="-343535">
              <a:lnSpc>
                <a:spcPct val="100000"/>
              </a:lnSpc>
              <a:spcBef>
                <a:spcPts val="675"/>
              </a:spcBef>
              <a:buChar char="•"/>
              <a:tabLst>
                <a:tab pos="393700" algn="l"/>
                <a:tab pos="394335" algn="l"/>
              </a:tabLst>
            </a:pPr>
            <a:r>
              <a:rPr sz="2400" spc="-290" dirty="0">
                <a:latin typeface="Arial MT"/>
                <a:cs typeface="Arial MT"/>
              </a:rPr>
              <a:t>K</a:t>
            </a:r>
            <a:r>
              <a:rPr sz="2400" spc="-250" dirty="0">
                <a:latin typeface="Arial MT"/>
                <a:cs typeface="Arial MT"/>
              </a:rPr>
              <a:t>e</a:t>
            </a:r>
            <a:r>
              <a:rPr sz="2400" spc="-215" dirty="0">
                <a:latin typeface="Arial MT"/>
                <a:cs typeface="Arial MT"/>
              </a:rPr>
              <a:t>putu</a:t>
            </a:r>
            <a:r>
              <a:rPr sz="2400" spc="-225" dirty="0">
                <a:latin typeface="Arial MT"/>
                <a:cs typeface="Arial MT"/>
              </a:rPr>
              <a:t>s</a:t>
            </a:r>
            <a:r>
              <a:rPr sz="2400" spc="-245" dirty="0">
                <a:latin typeface="Arial MT"/>
                <a:cs typeface="Arial MT"/>
              </a:rPr>
              <a:t>a</a:t>
            </a:r>
            <a:r>
              <a:rPr sz="2400" spc="-240" dirty="0">
                <a:latin typeface="Arial MT"/>
                <a:cs typeface="Arial MT"/>
              </a:rPr>
              <a:t>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235" dirty="0">
                <a:latin typeface="Arial MT"/>
                <a:cs typeface="Arial MT"/>
              </a:rPr>
              <a:t>ya</a:t>
            </a:r>
            <a:r>
              <a:rPr sz="2400" spc="-250" dirty="0">
                <a:latin typeface="Arial MT"/>
                <a:cs typeface="Arial MT"/>
              </a:rPr>
              <a:t>n</a:t>
            </a:r>
            <a:r>
              <a:rPr sz="2400" spc="-240" dirty="0">
                <a:latin typeface="Arial MT"/>
                <a:cs typeface="Arial MT"/>
              </a:rPr>
              <a:t>g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235" dirty="0">
                <a:latin typeface="Arial MT"/>
                <a:cs typeface="Arial MT"/>
              </a:rPr>
              <a:t>ac</a:t>
            </a:r>
            <a:r>
              <a:rPr sz="2400" spc="-250" dirty="0">
                <a:latin typeface="Arial MT"/>
                <a:cs typeface="Arial MT"/>
              </a:rPr>
              <a:t>a</a:t>
            </a:r>
            <a:r>
              <a:rPr sz="2400" spc="-215" dirty="0">
                <a:latin typeface="Arial MT"/>
                <a:cs typeface="Arial MT"/>
              </a:rPr>
              <a:t>k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145" dirty="0">
                <a:latin typeface="Arial MT"/>
                <a:cs typeface="Arial MT"/>
              </a:rPr>
              <a:t>(r</a:t>
            </a:r>
            <a:r>
              <a:rPr sz="2400" spc="-245" dirty="0">
                <a:latin typeface="Arial MT"/>
                <a:cs typeface="Arial MT"/>
              </a:rPr>
              <a:t>an</a:t>
            </a:r>
            <a:r>
              <a:rPr sz="2400" spc="-250" dirty="0">
                <a:latin typeface="Arial MT"/>
                <a:cs typeface="Arial MT"/>
              </a:rPr>
              <a:t>d</a:t>
            </a:r>
            <a:r>
              <a:rPr sz="2400" spc="-305" dirty="0">
                <a:latin typeface="Arial MT"/>
                <a:cs typeface="Arial MT"/>
              </a:rPr>
              <a:t>om</a:t>
            </a:r>
            <a:r>
              <a:rPr sz="2400" spc="-145" dirty="0">
                <a:latin typeface="Arial MT"/>
                <a:cs typeface="Arial MT"/>
              </a:rPr>
              <a:t>)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160" dirty="0">
                <a:latin typeface="Arial MT"/>
                <a:cs typeface="Arial MT"/>
              </a:rPr>
              <a:t>tid</a:t>
            </a:r>
            <a:r>
              <a:rPr sz="2400" spc="-250" dirty="0">
                <a:latin typeface="Arial MT"/>
                <a:cs typeface="Arial MT"/>
              </a:rPr>
              <a:t>a</a:t>
            </a:r>
            <a:r>
              <a:rPr sz="2400" spc="-215" dirty="0">
                <a:latin typeface="Arial MT"/>
                <a:cs typeface="Arial MT"/>
              </a:rPr>
              <a:t>k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235" dirty="0">
                <a:latin typeface="Arial MT"/>
                <a:cs typeface="Arial MT"/>
              </a:rPr>
              <a:t>ak</a:t>
            </a:r>
            <a:r>
              <a:rPr sz="2400" spc="-250" dirty="0">
                <a:latin typeface="Arial MT"/>
                <a:cs typeface="Arial MT"/>
              </a:rPr>
              <a:t>a</a:t>
            </a:r>
            <a:r>
              <a:rPr sz="2400" spc="-240" dirty="0">
                <a:latin typeface="Arial MT"/>
                <a:cs typeface="Arial MT"/>
              </a:rPr>
              <a:t>n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204" dirty="0">
                <a:latin typeface="Arial MT"/>
                <a:cs typeface="Arial MT"/>
              </a:rPr>
              <a:t>opt</a:t>
            </a:r>
            <a:r>
              <a:rPr sz="2400" spc="-110" dirty="0">
                <a:latin typeface="Arial MT"/>
                <a:cs typeface="Arial MT"/>
              </a:rPr>
              <a:t>i</a:t>
            </a:r>
            <a:r>
              <a:rPr sz="2400" spc="-240" dirty="0">
                <a:latin typeface="Arial MT"/>
                <a:cs typeface="Arial MT"/>
              </a:rPr>
              <a:t>mal</a:t>
            </a:r>
            <a:endParaRPr sz="2400">
              <a:latin typeface="Arial MT"/>
              <a:cs typeface="Arial MT"/>
            </a:endParaRPr>
          </a:p>
          <a:p>
            <a:pPr marL="393700" marR="561975" indent="-343535">
              <a:lnSpc>
                <a:spcPct val="100000"/>
              </a:lnSpc>
              <a:spcBef>
                <a:spcPts val="580"/>
              </a:spcBef>
              <a:buChar char="•"/>
              <a:tabLst>
                <a:tab pos="393700" algn="l"/>
                <a:tab pos="394335" algn="l"/>
              </a:tabLst>
            </a:pPr>
            <a:r>
              <a:rPr sz="2400" spc="-235" dirty="0">
                <a:latin typeface="Arial MT"/>
                <a:cs typeface="Arial MT"/>
              </a:rPr>
              <a:t>Keputusan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40" dirty="0">
                <a:latin typeface="Arial MT"/>
                <a:cs typeface="Arial MT"/>
              </a:rPr>
              <a:t>yang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204" dirty="0">
                <a:latin typeface="Arial MT"/>
                <a:cs typeface="Arial MT"/>
              </a:rPr>
              <a:t>dibuat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225" dirty="0">
                <a:latin typeface="Arial MT"/>
                <a:cs typeface="Arial MT"/>
              </a:rPr>
              <a:t>berdasarkan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00" dirty="0">
                <a:latin typeface="Arial MT"/>
                <a:cs typeface="Arial MT"/>
              </a:rPr>
              <a:t>fungsi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240" dirty="0">
                <a:latin typeface="Arial MT"/>
                <a:cs typeface="Arial MT"/>
              </a:rPr>
              <a:t>yang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240" dirty="0">
                <a:latin typeface="Arial MT"/>
                <a:cs typeface="Arial MT"/>
              </a:rPr>
              <a:t>meminimalkan </a:t>
            </a:r>
            <a:r>
              <a:rPr sz="2400" spc="-655" dirty="0">
                <a:latin typeface="Arial MT"/>
                <a:cs typeface="Arial MT"/>
              </a:rPr>
              <a:t> </a:t>
            </a:r>
            <a:r>
              <a:rPr sz="2400" spc="-195" dirty="0">
                <a:latin typeface="Arial MT"/>
                <a:cs typeface="Arial MT"/>
              </a:rPr>
              <a:t>resiko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120" dirty="0">
                <a:latin typeface="Arial MT"/>
                <a:cs typeface="Arial MT"/>
              </a:rPr>
              <a:t>/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229" dirty="0">
                <a:latin typeface="Arial MT"/>
                <a:cs typeface="Arial MT"/>
              </a:rPr>
              <a:t>averag</a:t>
            </a:r>
            <a:r>
              <a:rPr sz="2400" spc="-245" dirty="0">
                <a:latin typeface="Arial MT"/>
                <a:cs typeface="Arial MT"/>
              </a:rPr>
              <a:t>e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204" dirty="0">
                <a:latin typeface="Arial MT"/>
                <a:cs typeface="Arial MT"/>
              </a:rPr>
              <a:t>cost</a:t>
            </a:r>
            <a:endParaRPr sz="2400">
              <a:latin typeface="Arial MT"/>
              <a:cs typeface="Arial MT"/>
            </a:endParaRPr>
          </a:p>
          <a:p>
            <a:pPr marL="589915" algn="ctr">
              <a:lnSpc>
                <a:spcPts val="2120"/>
              </a:lnSpc>
            </a:pPr>
            <a:r>
              <a:rPr sz="1800" i="1" spc="40" dirty="0">
                <a:latin typeface="Times New Roman"/>
                <a:cs typeface="Times New Roman"/>
              </a:rPr>
              <a:t>R</a:t>
            </a:r>
            <a:r>
              <a:rPr sz="1800" i="1" spc="105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Symbol"/>
                <a:cs typeface="Symbol"/>
              </a:rPr>
              <a:t>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4125" spc="22" baseline="-13131" dirty="0">
                <a:latin typeface="Symbol"/>
                <a:cs typeface="Symbol"/>
              </a:rPr>
              <a:t></a:t>
            </a:r>
            <a:r>
              <a:rPr sz="4125" spc="-577" baseline="-13131" dirty="0">
                <a:latin typeface="Times New Roman"/>
                <a:cs typeface="Times New Roman"/>
              </a:rPr>
              <a:t> </a:t>
            </a:r>
            <a:r>
              <a:rPr sz="1800" i="1" spc="40" dirty="0">
                <a:latin typeface="Times New Roman"/>
                <a:cs typeface="Times New Roman"/>
              </a:rPr>
              <a:t>R</a:t>
            </a:r>
            <a:r>
              <a:rPr sz="1800" spc="-105" dirty="0">
                <a:latin typeface="Times New Roman"/>
                <a:cs typeface="Times New Roman"/>
              </a:rPr>
              <a:t>(</a:t>
            </a:r>
            <a:r>
              <a:rPr sz="1900" spc="135" dirty="0">
                <a:latin typeface="Symbol"/>
                <a:cs typeface="Symbol"/>
              </a:rPr>
              <a:t></a:t>
            </a:r>
            <a:r>
              <a:rPr sz="1800" spc="120" dirty="0">
                <a:latin typeface="Times New Roman"/>
                <a:cs typeface="Times New Roman"/>
              </a:rPr>
              <a:t>(</a:t>
            </a:r>
            <a:r>
              <a:rPr sz="1800" i="1" spc="30" dirty="0">
                <a:latin typeface="Times New Roman"/>
                <a:cs typeface="Times New Roman"/>
              </a:rPr>
              <a:t>x</a:t>
            </a:r>
            <a:r>
              <a:rPr sz="1800" spc="20" dirty="0">
                <a:latin typeface="Times New Roman"/>
                <a:cs typeface="Times New Roman"/>
              </a:rPr>
              <a:t>)</a:t>
            </a:r>
            <a:r>
              <a:rPr sz="1800" spc="-185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Times New Roman"/>
                <a:cs typeface="Times New Roman"/>
              </a:rPr>
              <a:t>|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i="1" spc="35" dirty="0">
                <a:latin typeface="Times New Roman"/>
                <a:cs typeface="Times New Roman"/>
              </a:rPr>
              <a:t>x</a:t>
            </a:r>
            <a:r>
              <a:rPr sz="1800" spc="20" dirty="0">
                <a:latin typeface="Times New Roman"/>
                <a:cs typeface="Times New Roman"/>
              </a:rPr>
              <a:t>)</a:t>
            </a:r>
            <a:r>
              <a:rPr sz="1800" spc="-215" dirty="0">
                <a:latin typeface="Times New Roman"/>
                <a:cs typeface="Times New Roman"/>
              </a:rPr>
              <a:t> </a:t>
            </a:r>
            <a:r>
              <a:rPr sz="1800" i="1" spc="45" dirty="0">
                <a:latin typeface="Times New Roman"/>
                <a:cs typeface="Times New Roman"/>
              </a:rPr>
              <a:t>p</a:t>
            </a:r>
            <a:r>
              <a:rPr sz="1800" spc="120" dirty="0">
                <a:latin typeface="Times New Roman"/>
                <a:cs typeface="Times New Roman"/>
              </a:rPr>
              <a:t>(</a:t>
            </a:r>
            <a:r>
              <a:rPr sz="1800" i="1" spc="35" dirty="0">
                <a:latin typeface="Times New Roman"/>
                <a:cs typeface="Times New Roman"/>
              </a:rPr>
              <a:t>x</a:t>
            </a:r>
            <a:r>
              <a:rPr sz="1800" spc="20" dirty="0">
                <a:latin typeface="Times New Roman"/>
                <a:cs typeface="Times New Roman"/>
              </a:rPr>
              <a:t>)</a:t>
            </a:r>
            <a:r>
              <a:rPr sz="1800" spc="65" dirty="0">
                <a:latin typeface="Times New Roman"/>
                <a:cs typeface="Times New Roman"/>
              </a:rPr>
              <a:t> </a:t>
            </a:r>
            <a:r>
              <a:rPr sz="1800" spc="55" dirty="0">
                <a:latin typeface="Times New Roman"/>
                <a:cs typeface="Times New Roman"/>
              </a:rPr>
              <a:t>dx</a:t>
            </a:r>
            <a:endParaRPr sz="1800">
              <a:latin typeface="Times New Roman"/>
              <a:cs typeface="Times New Roman"/>
            </a:endParaRPr>
          </a:p>
          <a:p>
            <a:pPr marL="393700" marR="55880" indent="-343535">
              <a:lnSpc>
                <a:spcPct val="100000"/>
              </a:lnSpc>
              <a:spcBef>
                <a:spcPts val="1914"/>
              </a:spcBef>
              <a:buChar char="•"/>
              <a:tabLst>
                <a:tab pos="393700" algn="l"/>
                <a:tab pos="394335" algn="l"/>
              </a:tabLst>
            </a:pPr>
            <a:r>
              <a:rPr sz="2400" spc="-220" dirty="0">
                <a:latin typeface="Arial MT"/>
                <a:cs typeface="Arial MT"/>
              </a:rPr>
              <a:t>Fungsi </a:t>
            </a:r>
            <a:r>
              <a:rPr sz="2400" spc="-200" dirty="0">
                <a:latin typeface="Arial MT"/>
                <a:cs typeface="Arial MT"/>
              </a:rPr>
              <a:t>tersebut </a:t>
            </a:r>
            <a:r>
              <a:rPr sz="2400" spc="-240" dirty="0">
                <a:latin typeface="Arial MT"/>
                <a:cs typeface="Arial MT"/>
              </a:rPr>
              <a:t>akan</a:t>
            </a:r>
            <a:r>
              <a:rPr sz="2400" spc="-235" dirty="0">
                <a:latin typeface="Arial MT"/>
                <a:cs typeface="Arial MT"/>
              </a:rPr>
              <a:t> </a:t>
            </a:r>
            <a:r>
              <a:rPr sz="2400" spc="-220" dirty="0">
                <a:latin typeface="Arial MT"/>
                <a:cs typeface="Arial MT"/>
              </a:rPr>
              <a:t>minimal </a:t>
            </a:r>
            <a:r>
              <a:rPr sz="2400" spc="-195" dirty="0">
                <a:latin typeface="Arial MT"/>
                <a:cs typeface="Arial MT"/>
              </a:rPr>
              <a:t>ketika </a:t>
            </a:r>
            <a:r>
              <a:rPr sz="2400" spc="-229" dirty="0">
                <a:latin typeface="Arial MT"/>
                <a:cs typeface="Arial MT"/>
              </a:rPr>
              <a:t>keputusan</a:t>
            </a:r>
            <a:r>
              <a:rPr sz="2400" spc="204" dirty="0">
                <a:latin typeface="Arial MT"/>
                <a:cs typeface="Arial MT"/>
              </a:rPr>
              <a:t> </a:t>
            </a:r>
            <a:r>
              <a:rPr sz="2400" spc="-240" dirty="0">
                <a:latin typeface="Arial MT"/>
                <a:cs typeface="Arial MT"/>
              </a:rPr>
              <a:t>yang</a:t>
            </a:r>
            <a:r>
              <a:rPr sz="2400" spc="185" dirty="0">
                <a:latin typeface="Arial MT"/>
                <a:cs typeface="Arial MT"/>
              </a:rPr>
              <a:t> </a:t>
            </a:r>
            <a:r>
              <a:rPr sz="2400" spc="-175" dirty="0">
                <a:latin typeface="Arial MT"/>
                <a:cs typeface="Arial MT"/>
              </a:rPr>
              <a:t>kita </a:t>
            </a:r>
            <a:r>
              <a:rPr sz="2400" spc="-215" dirty="0">
                <a:latin typeface="Arial MT"/>
                <a:cs typeface="Arial MT"/>
              </a:rPr>
              <a:t>ambil </a:t>
            </a:r>
            <a:r>
              <a:rPr sz="2400" spc="-210" dirty="0">
                <a:latin typeface="Arial MT"/>
                <a:cs typeface="Arial MT"/>
              </a:rPr>
              <a:t> </a:t>
            </a:r>
            <a:r>
              <a:rPr sz="2400" spc="-204" dirty="0">
                <a:latin typeface="Arial MT"/>
                <a:cs typeface="Arial MT"/>
              </a:rPr>
              <a:t>dibuat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20" dirty="0">
                <a:latin typeface="Arial MT"/>
                <a:cs typeface="Arial MT"/>
              </a:rPr>
              <a:t>untuk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240" dirty="0">
                <a:latin typeface="Arial MT"/>
                <a:cs typeface="Arial MT"/>
              </a:rPr>
              <a:t>meminimalkan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204" dirty="0">
                <a:latin typeface="Arial MT"/>
                <a:cs typeface="Arial MT"/>
              </a:rPr>
              <a:t>cost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85" dirty="0">
                <a:latin typeface="Arial MT"/>
                <a:cs typeface="Arial MT"/>
              </a:rPr>
              <a:t>/resiko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220" dirty="0">
                <a:latin typeface="Arial MT"/>
                <a:cs typeface="Arial MT"/>
              </a:rPr>
              <a:t>untuk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200" dirty="0">
                <a:latin typeface="Arial MT"/>
                <a:cs typeface="Arial MT"/>
              </a:rPr>
              <a:t>setiap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204" dirty="0">
                <a:latin typeface="Arial MT"/>
                <a:cs typeface="Arial MT"/>
              </a:rPr>
              <a:t>instance/data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20" dirty="0">
                <a:latin typeface="Arial MT"/>
                <a:cs typeface="Arial MT"/>
              </a:rPr>
              <a:t>x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524000" y="5214937"/>
            <a:ext cx="5943600" cy="765175"/>
          </a:xfrm>
          <a:custGeom>
            <a:avLst/>
            <a:gdLst/>
            <a:ahLst/>
            <a:cxnLst/>
            <a:rect l="l" t="t" r="r" b="b"/>
            <a:pathLst>
              <a:path w="5943600" h="765175">
                <a:moveTo>
                  <a:pt x="5943600" y="0"/>
                </a:moveTo>
                <a:lnTo>
                  <a:pt x="0" y="0"/>
                </a:lnTo>
                <a:lnTo>
                  <a:pt x="0" y="765175"/>
                </a:lnTo>
                <a:lnTo>
                  <a:pt x="5943600" y="765175"/>
                </a:lnTo>
                <a:lnTo>
                  <a:pt x="5943600" y="0"/>
                </a:lnTo>
                <a:close/>
              </a:path>
            </a:pathLst>
          </a:custGeom>
          <a:solidFill>
            <a:srgbClr val="B1B1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334761" y="5215918"/>
            <a:ext cx="84455" cy="215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250" i="1" spc="5" dirty="0">
                <a:latin typeface="Times New Roman"/>
                <a:cs typeface="Times New Roman"/>
              </a:rPr>
              <a:t>k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90526" y="5735839"/>
            <a:ext cx="226695" cy="215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250" i="1" spc="95" dirty="0">
                <a:latin typeface="Times New Roman"/>
                <a:cs typeface="Times New Roman"/>
              </a:rPr>
              <a:t>j</a:t>
            </a:r>
            <a:r>
              <a:rPr sz="1250" spc="-95" dirty="0">
                <a:latin typeface="Symbol"/>
                <a:cs typeface="Symbol"/>
              </a:rPr>
              <a:t></a:t>
            </a:r>
            <a:r>
              <a:rPr sz="1250" spc="5" dirty="0">
                <a:latin typeface="Times New Roman"/>
                <a:cs typeface="Times New Roman"/>
              </a:rPr>
              <a:t>1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16134" y="5236159"/>
            <a:ext cx="5811520" cy="5124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  <a:tabLst>
                <a:tab pos="2595245" algn="l"/>
              </a:tabLst>
            </a:pPr>
            <a:r>
              <a:rPr sz="2250" spc="125" dirty="0">
                <a:latin typeface="Symbol"/>
                <a:cs typeface="Symbol"/>
              </a:rPr>
              <a:t></a:t>
            </a:r>
            <a:r>
              <a:rPr sz="2100" spc="135" dirty="0">
                <a:latin typeface="Times New Roman"/>
                <a:cs typeface="Times New Roman"/>
              </a:rPr>
              <a:t>(</a:t>
            </a:r>
            <a:r>
              <a:rPr sz="2100" i="1" spc="30" dirty="0">
                <a:latin typeface="Times New Roman"/>
                <a:cs typeface="Times New Roman"/>
              </a:rPr>
              <a:t>x</a:t>
            </a:r>
            <a:r>
              <a:rPr sz="2100" spc="20" dirty="0">
                <a:latin typeface="Times New Roman"/>
                <a:cs typeface="Times New Roman"/>
              </a:rPr>
              <a:t>)</a:t>
            </a:r>
            <a:r>
              <a:rPr sz="2100" spc="-90" dirty="0">
                <a:latin typeface="Times New Roman"/>
                <a:cs typeface="Times New Roman"/>
              </a:rPr>
              <a:t> </a:t>
            </a:r>
            <a:r>
              <a:rPr sz="2100" spc="235" dirty="0">
                <a:latin typeface="Symbol"/>
                <a:cs typeface="Symbol"/>
              </a:rPr>
              <a:t></a:t>
            </a:r>
            <a:r>
              <a:rPr sz="2100" spc="-50" dirty="0">
                <a:latin typeface="Times New Roman"/>
                <a:cs typeface="Times New Roman"/>
              </a:rPr>
              <a:t>a</a:t>
            </a:r>
            <a:r>
              <a:rPr sz="2100" spc="-40" dirty="0">
                <a:latin typeface="Times New Roman"/>
                <a:cs typeface="Times New Roman"/>
              </a:rPr>
              <a:t>r</a:t>
            </a:r>
            <a:r>
              <a:rPr sz="2100" spc="30" dirty="0">
                <a:latin typeface="Times New Roman"/>
                <a:cs typeface="Times New Roman"/>
              </a:rPr>
              <a:t>g</a:t>
            </a:r>
            <a:r>
              <a:rPr sz="2100" spc="-220" dirty="0">
                <a:latin typeface="Times New Roman"/>
                <a:cs typeface="Times New Roman"/>
              </a:rPr>
              <a:t> </a:t>
            </a:r>
            <a:r>
              <a:rPr sz="2100" spc="-85" dirty="0">
                <a:latin typeface="Times New Roman"/>
                <a:cs typeface="Times New Roman"/>
              </a:rPr>
              <a:t>m</a:t>
            </a:r>
            <a:r>
              <a:rPr sz="2100" spc="-145" dirty="0">
                <a:latin typeface="Times New Roman"/>
                <a:cs typeface="Times New Roman"/>
              </a:rPr>
              <a:t>i</a:t>
            </a:r>
            <a:r>
              <a:rPr sz="2100" spc="30" dirty="0">
                <a:latin typeface="Times New Roman"/>
                <a:cs typeface="Times New Roman"/>
              </a:rPr>
              <a:t>n</a:t>
            </a:r>
            <a:r>
              <a:rPr sz="2100" dirty="0">
                <a:latin typeface="Times New Roman"/>
                <a:cs typeface="Times New Roman"/>
              </a:rPr>
              <a:t> </a:t>
            </a:r>
            <a:r>
              <a:rPr sz="2100" spc="-125" dirty="0">
                <a:latin typeface="Times New Roman"/>
                <a:cs typeface="Times New Roman"/>
              </a:rPr>
              <a:t> </a:t>
            </a:r>
            <a:r>
              <a:rPr sz="2100" i="1" spc="35" dirty="0">
                <a:latin typeface="Times New Roman"/>
                <a:cs typeface="Times New Roman"/>
              </a:rPr>
              <a:t>R</a:t>
            </a:r>
            <a:r>
              <a:rPr sz="2100" spc="-125" dirty="0">
                <a:latin typeface="Times New Roman"/>
                <a:cs typeface="Times New Roman"/>
              </a:rPr>
              <a:t>(</a:t>
            </a:r>
            <a:r>
              <a:rPr sz="2250" spc="-55" dirty="0">
                <a:latin typeface="Symbol"/>
                <a:cs typeface="Symbol"/>
              </a:rPr>
              <a:t></a:t>
            </a:r>
            <a:r>
              <a:rPr sz="2250" spc="-60" dirty="0">
                <a:latin typeface="Times New Roman"/>
                <a:cs typeface="Times New Roman"/>
              </a:rPr>
              <a:t> </a:t>
            </a:r>
            <a:r>
              <a:rPr sz="2100" spc="10" dirty="0">
                <a:latin typeface="Times New Roman"/>
                <a:cs typeface="Times New Roman"/>
              </a:rPr>
              <a:t>|</a:t>
            </a:r>
            <a:r>
              <a:rPr sz="2100" spc="-55" dirty="0">
                <a:latin typeface="Times New Roman"/>
                <a:cs typeface="Times New Roman"/>
              </a:rPr>
              <a:t> </a:t>
            </a:r>
            <a:r>
              <a:rPr sz="2100" i="1" spc="30" dirty="0">
                <a:latin typeface="Times New Roman"/>
                <a:cs typeface="Times New Roman"/>
              </a:rPr>
              <a:t>x</a:t>
            </a:r>
            <a:r>
              <a:rPr sz="2100" spc="20" dirty="0">
                <a:latin typeface="Times New Roman"/>
                <a:cs typeface="Times New Roman"/>
              </a:rPr>
              <a:t>)</a:t>
            </a:r>
            <a:r>
              <a:rPr sz="2100" dirty="0">
                <a:latin typeface="Times New Roman"/>
                <a:cs typeface="Times New Roman"/>
              </a:rPr>
              <a:t>	</a:t>
            </a:r>
            <a:r>
              <a:rPr sz="2100" spc="35" dirty="0">
                <a:latin typeface="Symbol"/>
                <a:cs typeface="Symbol"/>
              </a:rPr>
              <a:t></a:t>
            </a:r>
            <a:r>
              <a:rPr sz="2100" spc="-135" dirty="0">
                <a:latin typeface="Times New Roman"/>
                <a:cs typeface="Times New Roman"/>
              </a:rPr>
              <a:t> </a:t>
            </a:r>
            <a:r>
              <a:rPr sz="2100" spc="-50" dirty="0">
                <a:latin typeface="Times New Roman"/>
                <a:cs typeface="Times New Roman"/>
              </a:rPr>
              <a:t>a</a:t>
            </a:r>
            <a:r>
              <a:rPr sz="2100" spc="-40" dirty="0">
                <a:latin typeface="Times New Roman"/>
                <a:cs typeface="Times New Roman"/>
              </a:rPr>
              <a:t>r</a:t>
            </a:r>
            <a:r>
              <a:rPr sz="2100" spc="30" dirty="0">
                <a:latin typeface="Times New Roman"/>
                <a:cs typeface="Times New Roman"/>
              </a:rPr>
              <a:t>g</a:t>
            </a:r>
            <a:r>
              <a:rPr sz="2100" spc="-220" dirty="0">
                <a:latin typeface="Times New Roman"/>
                <a:cs typeface="Times New Roman"/>
              </a:rPr>
              <a:t> </a:t>
            </a:r>
            <a:r>
              <a:rPr sz="2100" spc="-85" dirty="0">
                <a:latin typeface="Times New Roman"/>
                <a:cs typeface="Times New Roman"/>
              </a:rPr>
              <a:t>m</a:t>
            </a:r>
            <a:r>
              <a:rPr sz="2100" spc="-145" dirty="0">
                <a:latin typeface="Times New Roman"/>
                <a:cs typeface="Times New Roman"/>
              </a:rPr>
              <a:t>i</a:t>
            </a:r>
            <a:r>
              <a:rPr sz="2100" spc="30" dirty="0">
                <a:latin typeface="Times New Roman"/>
                <a:cs typeface="Times New Roman"/>
              </a:rPr>
              <a:t>n</a:t>
            </a:r>
            <a:r>
              <a:rPr sz="2100" spc="-65" dirty="0">
                <a:latin typeface="Times New Roman"/>
                <a:cs typeface="Times New Roman"/>
              </a:rPr>
              <a:t> </a:t>
            </a:r>
            <a:r>
              <a:rPr sz="4800" spc="254" baseline="-8680" dirty="0">
                <a:latin typeface="Symbol"/>
                <a:cs typeface="Symbol"/>
              </a:rPr>
              <a:t></a:t>
            </a:r>
            <a:r>
              <a:rPr sz="2250" spc="50" dirty="0">
                <a:latin typeface="Symbol"/>
                <a:cs typeface="Symbol"/>
              </a:rPr>
              <a:t></a:t>
            </a:r>
            <a:r>
              <a:rPr sz="2100" spc="-120" dirty="0">
                <a:latin typeface="Times New Roman"/>
                <a:cs typeface="Times New Roman"/>
              </a:rPr>
              <a:t>(</a:t>
            </a:r>
            <a:r>
              <a:rPr sz="2250" spc="-55" dirty="0">
                <a:latin typeface="Symbol"/>
                <a:cs typeface="Symbol"/>
              </a:rPr>
              <a:t></a:t>
            </a:r>
            <a:r>
              <a:rPr sz="2250" spc="-60" dirty="0">
                <a:latin typeface="Times New Roman"/>
                <a:cs typeface="Times New Roman"/>
              </a:rPr>
              <a:t> </a:t>
            </a:r>
            <a:r>
              <a:rPr sz="2100" spc="10" dirty="0">
                <a:latin typeface="Times New Roman"/>
                <a:cs typeface="Times New Roman"/>
              </a:rPr>
              <a:t>|</a:t>
            </a:r>
            <a:r>
              <a:rPr sz="2100" spc="-315" dirty="0">
                <a:latin typeface="Times New Roman"/>
                <a:cs typeface="Times New Roman"/>
              </a:rPr>
              <a:t> </a:t>
            </a:r>
            <a:r>
              <a:rPr sz="2100" i="1" spc="130" dirty="0">
                <a:latin typeface="Times New Roman"/>
                <a:cs typeface="Times New Roman"/>
              </a:rPr>
              <a:t>w</a:t>
            </a:r>
            <a:r>
              <a:rPr sz="1875" i="1" baseline="-22222" dirty="0">
                <a:latin typeface="Times New Roman"/>
                <a:cs typeface="Times New Roman"/>
              </a:rPr>
              <a:t>j</a:t>
            </a:r>
            <a:r>
              <a:rPr sz="1875" i="1" spc="-60" baseline="-22222" dirty="0">
                <a:latin typeface="Times New Roman"/>
                <a:cs typeface="Times New Roman"/>
              </a:rPr>
              <a:t> </a:t>
            </a:r>
            <a:r>
              <a:rPr sz="2100" spc="20" dirty="0">
                <a:latin typeface="Times New Roman"/>
                <a:cs typeface="Times New Roman"/>
              </a:rPr>
              <a:t>)</a:t>
            </a:r>
            <a:r>
              <a:rPr sz="2100" spc="-245" dirty="0">
                <a:latin typeface="Times New Roman"/>
                <a:cs typeface="Times New Roman"/>
              </a:rPr>
              <a:t> </a:t>
            </a:r>
            <a:r>
              <a:rPr sz="2100" i="1" spc="45" dirty="0">
                <a:latin typeface="Times New Roman"/>
                <a:cs typeface="Times New Roman"/>
              </a:rPr>
              <a:t>p</a:t>
            </a:r>
            <a:r>
              <a:rPr sz="2100" spc="70" dirty="0">
                <a:latin typeface="Times New Roman"/>
                <a:cs typeface="Times New Roman"/>
              </a:rPr>
              <a:t>(</a:t>
            </a:r>
            <a:r>
              <a:rPr sz="2100" i="1" spc="130" dirty="0">
                <a:latin typeface="Times New Roman"/>
                <a:cs typeface="Times New Roman"/>
              </a:rPr>
              <a:t>w</a:t>
            </a:r>
            <a:r>
              <a:rPr sz="1875" i="1" baseline="-22222" dirty="0">
                <a:latin typeface="Times New Roman"/>
                <a:cs typeface="Times New Roman"/>
              </a:rPr>
              <a:t>j </a:t>
            </a:r>
            <a:r>
              <a:rPr sz="1875" i="1" spc="-37" baseline="-22222" dirty="0">
                <a:latin typeface="Times New Roman"/>
                <a:cs typeface="Times New Roman"/>
              </a:rPr>
              <a:t> </a:t>
            </a:r>
            <a:r>
              <a:rPr sz="2100" spc="10" dirty="0">
                <a:latin typeface="Times New Roman"/>
                <a:cs typeface="Times New Roman"/>
              </a:rPr>
              <a:t>|</a:t>
            </a:r>
            <a:r>
              <a:rPr sz="2100" spc="-55" dirty="0">
                <a:latin typeface="Times New Roman"/>
                <a:cs typeface="Times New Roman"/>
              </a:rPr>
              <a:t> </a:t>
            </a:r>
            <a:r>
              <a:rPr sz="2100" i="1" spc="30" dirty="0">
                <a:latin typeface="Times New Roman"/>
                <a:cs typeface="Times New Roman"/>
              </a:rPr>
              <a:t>x</a:t>
            </a:r>
            <a:r>
              <a:rPr sz="2100" spc="20" dirty="0">
                <a:latin typeface="Times New Roman"/>
                <a:cs typeface="Times New Roman"/>
              </a:rPr>
              <a:t>)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11124" y="5641354"/>
            <a:ext cx="2301240" cy="215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2058670" algn="l"/>
              </a:tabLst>
            </a:pPr>
            <a:r>
              <a:rPr sz="1875" spc="-30" baseline="-24444" dirty="0">
                <a:latin typeface="Symbol"/>
                <a:cs typeface="Symbol"/>
              </a:rPr>
              <a:t></a:t>
            </a:r>
            <a:r>
              <a:rPr sz="900" spc="-20" dirty="0">
                <a:latin typeface="Symbol"/>
                <a:cs typeface="Symbol"/>
              </a:rPr>
              <a:t></a:t>
            </a:r>
            <a:r>
              <a:rPr sz="900" spc="-20" dirty="0">
                <a:latin typeface="Times New Roman"/>
                <a:cs typeface="Times New Roman"/>
              </a:rPr>
              <a:t>	</a:t>
            </a:r>
            <a:r>
              <a:rPr sz="1875" spc="-22" baseline="-24444" dirty="0">
                <a:latin typeface="Symbol"/>
                <a:cs typeface="Symbol"/>
              </a:rPr>
              <a:t></a:t>
            </a:r>
            <a:r>
              <a:rPr sz="900" spc="-15" dirty="0">
                <a:latin typeface="Symbol"/>
                <a:cs typeface="Symbol"/>
              </a:rPr>
              <a:t></a:t>
            </a:r>
            <a:endParaRPr sz="900">
              <a:latin typeface="Symbol"/>
              <a:cs typeface="Symbo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519174" y="5210175"/>
            <a:ext cx="5953125" cy="774700"/>
          </a:xfrm>
          <a:custGeom>
            <a:avLst/>
            <a:gdLst/>
            <a:ahLst/>
            <a:cxnLst/>
            <a:rect l="l" t="t" r="r" b="b"/>
            <a:pathLst>
              <a:path w="5953125" h="774700">
                <a:moveTo>
                  <a:pt x="0" y="774700"/>
                </a:moveTo>
                <a:lnTo>
                  <a:pt x="5953125" y="774700"/>
                </a:lnTo>
                <a:lnTo>
                  <a:pt x="5953125" y="0"/>
                </a:lnTo>
                <a:lnTo>
                  <a:pt x="0" y="0"/>
                </a:lnTo>
                <a:lnTo>
                  <a:pt x="0" y="774700"/>
                </a:lnTo>
                <a:close/>
              </a:path>
            </a:pathLst>
          </a:custGeom>
          <a:ln w="9525">
            <a:solidFill>
              <a:srgbClr val="80808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70226" y="264617"/>
            <a:ext cx="40043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Bayessian</a:t>
            </a:r>
            <a:r>
              <a:rPr spc="-45" dirty="0"/>
              <a:t> </a:t>
            </a:r>
            <a:r>
              <a:rPr dirty="0"/>
              <a:t>Error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94257"/>
            <a:ext cx="79883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  <a:tab pos="356235" algn="l"/>
              </a:tabLst>
            </a:pPr>
            <a:r>
              <a:rPr sz="2400" spc="-260" dirty="0">
                <a:latin typeface="Arial MT"/>
                <a:cs typeface="Arial MT"/>
              </a:rPr>
              <a:t>Pada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229" dirty="0">
                <a:latin typeface="Arial MT"/>
                <a:cs typeface="Arial MT"/>
              </a:rPr>
              <a:t>kasus</a:t>
            </a:r>
            <a:r>
              <a:rPr sz="2400" spc="-95" dirty="0">
                <a:latin typeface="Arial MT"/>
                <a:cs typeface="Arial MT"/>
              </a:rPr>
              <a:t> </a:t>
            </a:r>
            <a:r>
              <a:rPr sz="2400" spc="-220" dirty="0">
                <a:latin typeface="Arial MT"/>
                <a:cs typeface="Arial MT"/>
              </a:rPr>
              <a:t>khusus,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90" dirty="0">
                <a:latin typeface="Arial MT"/>
                <a:cs typeface="Arial MT"/>
              </a:rPr>
              <a:t>seperti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175" dirty="0">
                <a:latin typeface="Arial MT"/>
                <a:cs typeface="Arial MT"/>
              </a:rPr>
              <a:t>klasifikasi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90" dirty="0">
                <a:latin typeface="Arial MT"/>
                <a:cs typeface="Arial MT"/>
              </a:rPr>
              <a:t>ikan,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200" dirty="0">
                <a:latin typeface="Arial MT"/>
                <a:cs typeface="Arial MT"/>
              </a:rPr>
              <a:t>aksi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240" dirty="0">
                <a:latin typeface="Arial MT"/>
                <a:cs typeface="Arial MT"/>
              </a:rPr>
              <a:t>yang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204" dirty="0">
                <a:latin typeface="Arial MT"/>
                <a:cs typeface="Arial MT"/>
              </a:rPr>
              <a:t>diambil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225" dirty="0">
                <a:latin typeface="Arial MT"/>
                <a:cs typeface="Arial MT"/>
              </a:rPr>
              <a:t>adalah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79144" y="1660016"/>
            <a:ext cx="42475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0" dirty="0">
                <a:latin typeface="Arial MT"/>
                <a:cs typeface="Arial MT"/>
              </a:rPr>
              <a:t>klas</a:t>
            </a:r>
            <a:r>
              <a:rPr sz="2400" spc="-114" dirty="0">
                <a:latin typeface="Arial MT"/>
                <a:cs typeface="Arial MT"/>
              </a:rPr>
              <a:t>i</a:t>
            </a:r>
            <a:r>
              <a:rPr sz="2400" spc="-185" dirty="0">
                <a:latin typeface="Arial MT"/>
                <a:cs typeface="Arial MT"/>
              </a:rPr>
              <a:t>fikas</a:t>
            </a:r>
            <a:r>
              <a:rPr sz="2400" spc="-100" dirty="0">
                <a:latin typeface="Arial MT"/>
                <a:cs typeface="Arial MT"/>
              </a:rPr>
              <a:t>i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240" dirty="0">
                <a:latin typeface="Arial MT"/>
                <a:cs typeface="Arial MT"/>
              </a:rPr>
              <a:t>yan</a:t>
            </a:r>
            <a:r>
              <a:rPr sz="2400" spc="-245" dirty="0">
                <a:latin typeface="Arial MT"/>
                <a:cs typeface="Arial MT"/>
              </a:rPr>
              <a:t>g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250" dirty="0">
                <a:latin typeface="Arial MT"/>
                <a:cs typeface="Arial MT"/>
              </a:rPr>
              <a:t>d</a:t>
            </a:r>
            <a:r>
              <a:rPr sz="2400" spc="-110" dirty="0">
                <a:latin typeface="Arial MT"/>
                <a:cs typeface="Arial MT"/>
              </a:rPr>
              <a:t>i</a:t>
            </a:r>
            <a:r>
              <a:rPr sz="2400" spc="-235" dirty="0">
                <a:latin typeface="Arial MT"/>
                <a:cs typeface="Arial MT"/>
              </a:rPr>
              <a:t>asumsik</a:t>
            </a:r>
            <a:r>
              <a:rPr sz="2400" spc="-254" dirty="0">
                <a:latin typeface="Arial MT"/>
                <a:cs typeface="Arial MT"/>
              </a:rPr>
              <a:t>a</a:t>
            </a:r>
            <a:r>
              <a:rPr sz="2400" spc="-245" dirty="0">
                <a:latin typeface="Arial MT"/>
                <a:cs typeface="Arial MT"/>
              </a:rPr>
              <a:t>n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spc="-215" dirty="0">
                <a:latin typeface="Arial MT"/>
                <a:cs typeface="Arial MT"/>
              </a:rPr>
              <a:t>ero</a:t>
            </a:r>
            <a:r>
              <a:rPr sz="2400" spc="-145" dirty="0">
                <a:latin typeface="Arial MT"/>
                <a:cs typeface="Arial MT"/>
              </a:rPr>
              <a:t>r</a:t>
            </a:r>
            <a:r>
              <a:rPr sz="2400" spc="-120" dirty="0">
                <a:latin typeface="Arial MT"/>
                <a:cs typeface="Arial MT"/>
              </a:rPr>
              <a:t> :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204" dirty="0">
                <a:latin typeface="Arial MT"/>
                <a:cs typeface="Arial MT"/>
              </a:rPr>
              <a:t>0/1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0540" y="2539441"/>
            <a:ext cx="47701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0" indent="-343535">
              <a:lnSpc>
                <a:spcPct val="100000"/>
              </a:lnSpc>
              <a:spcBef>
                <a:spcPts val="100"/>
              </a:spcBef>
              <a:buChar char="•"/>
              <a:tabLst>
                <a:tab pos="381000" algn="l"/>
                <a:tab pos="381635" algn="l"/>
                <a:tab pos="3900170" algn="l"/>
              </a:tabLst>
            </a:pPr>
            <a:r>
              <a:rPr sz="2400" spc="-225" dirty="0">
                <a:latin typeface="Arial MT"/>
                <a:cs typeface="Arial MT"/>
              </a:rPr>
              <a:t>Resiko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175" dirty="0">
                <a:latin typeface="Arial MT"/>
                <a:cs typeface="Arial MT"/>
              </a:rPr>
              <a:t>klasifikasi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215" dirty="0">
                <a:latin typeface="Arial MT"/>
                <a:cs typeface="Arial MT"/>
              </a:rPr>
              <a:t>x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229" dirty="0">
                <a:latin typeface="Arial MT"/>
                <a:cs typeface="Arial MT"/>
              </a:rPr>
              <a:t>ke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204" dirty="0">
                <a:latin typeface="Arial MT"/>
                <a:cs typeface="Arial MT"/>
              </a:rPr>
              <a:t>class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35" dirty="0">
                <a:latin typeface="Symbol"/>
                <a:cs typeface="Symbol"/>
              </a:rPr>
              <a:t></a:t>
            </a:r>
            <a:r>
              <a:rPr sz="2400" spc="-52" baseline="-20833" dirty="0">
                <a:latin typeface="Arial MT"/>
                <a:cs typeface="Arial MT"/>
              </a:rPr>
              <a:t>i	</a:t>
            </a:r>
            <a:r>
              <a:rPr sz="2400" spc="-210" dirty="0">
                <a:latin typeface="Arial MT"/>
                <a:cs typeface="Arial MT"/>
              </a:rPr>
              <a:t>adalah,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9144" y="3782059"/>
            <a:ext cx="21520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0" dirty="0">
                <a:latin typeface="Arial MT"/>
                <a:cs typeface="Arial MT"/>
              </a:rPr>
              <a:t>posterio</a:t>
            </a:r>
            <a:r>
              <a:rPr sz="2400" spc="-145" dirty="0">
                <a:latin typeface="Arial MT"/>
                <a:cs typeface="Arial MT"/>
              </a:rPr>
              <a:t>r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275" dirty="0">
                <a:latin typeface="Arial MT"/>
                <a:cs typeface="Arial MT"/>
              </a:rPr>
              <a:t>maximum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680468" y="1663892"/>
            <a:ext cx="1049020" cy="78803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77470">
              <a:lnSpc>
                <a:spcPct val="100000"/>
              </a:lnSpc>
              <a:spcBef>
                <a:spcPts val="755"/>
              </a:spcBef>
              <a:tabLst>
                <a:tab pos="358775" algn="l"/>
              </a:tabLst>
            </a:pPr>
            <a:r>
              <a:rPr sz="1850" i="1" spc="-30" dirty="0">
                <a:latin typeface="Times New Roman"/>
                <a:cs typeface="Times New Roman"/>
              </a:rPr>
              <a:t>i</a:t>
            </a:r>
            <a:r>
              <a:rPr sz="1850" i="1" spc="15" dirty="0">
                <a:latin typeface="Times New Roman"/>
                <a:cs typeface="Times New Roman"/>
              </a:rPr>
              <a:t>f</a:t>
            </a:r>
            <a:r>
              <a:rPr sz="1850" i="1" dirty="0">
                <a:latin typeface="Times New Roman"/>
                <a:cs typeface="Times New Roman"/>
              </a:rPr>
              <a:t>	</a:t>
            </a:r>
            <a:r>
              <a:rPr sz="1950" spc="25" dirty="0">
                <a:latin typeface="Symbol"/>
                <a:cs typeface="Symbol"/>
              </a:rPr>
              <a:t></a:t>
            </a:r>
            <a:r>
              <a:rPr sz="1650" i="1" baseline="-22727" dirty="0">
                <a:latin typeface="Times New Roman"/>
                <a:cs typeface="Times New Roman"/>
              </a:rPr>
              <a:t>i </a:t>
            </a:r>
            <a:r>
              <a:rPr sz="1650" i="1" spc="104" baseline="-22727" dirty="0">
                <a:latin typeface="Times New Roman"/>
                <a:cs typeface="Times New Roman"/>
              </a:rPr>
              <a:t> </a:t>
            </a:r>
            <a:r>
              <a:rPr sz="1850" spc="30" dirty="0">
                <a:latin typeface="Symbol"/>
                <a:cs typeface="Symbol"/>
              </a:rPr>
              <a:t></a:t>
            </a:r>
            <a:r>
              <a:rPr sz="1850" spc="-235" dirty="0">
                <a:latin typeface="Times New Roman"/>
                <a:cs typeface="Times New Roman"/>
              </a:rPr>
              <a:t> </a:t>
            </a:r>
            <a:r>
              <a:rPr sz="1850" i="1" spc="114" dirty="0">
                <a:latin typeface="Times New Roman"/>
                <a:cs typeface="Times New Roman"/>
              </a:rPr>
              <a:t>w</a:t>
            </a:r>
            <a:r>
              <a:rPr sz="1650" i="1" baseline="-22727" dirty="0">
                <a:latin typeface="Times New Roman"/>
                <a:cs typeface="Times New Roman"/>
              </a:rPr>
              <a:t>j</a:t>
            </a:r>
            <a:endParaRPr sz="1650" baseline="-22727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660"/>
              </a:spcBef>
              <a:tabLst>
                <a:tab pos="318770" algn="l"/>
              </a:tabLst>
            </a:pPr>
            <a:r>
              <a:rPr sz="1850" i="1" spc="-30" dirty="0">
                <a:latin typeface="Times New Roman"/>
                <a:cs typeface="Times New Roman"/>
              </a:rPr>
              <a:t>i</a:t>
            </a:r>
            <a:r>
              <a:rPr sz="1850" i="1" spc="15" dirty="0">
                <a:latin typeface="Times New Roman"/>
                <a:cs typeface="Times New Roman"/>
              </a:rPr>
              <a:t>f</a:t>
            </a:r>
            <a:r>
              <a:rPr sz="1850" i="1" dirty="0">
                <a:latin typeface="Times New Roman"/>
                <a:cs typeface="Times New Roman"/>
              </a:rPr>
              <a:t>	</a:t>
            </a:r>
            <a:r>
              <a:rPr sz="1950" spc="25" dirty="0">
                <a:latin typeface="Symbol"/>
                <a:cs typeface="Symbol"/>
              </a:rPr>
              <a:t></a:t>
            </a:r>
            <a:r>
              <a:rPr sz="1650" i="1" baseline="-22727" dirty="0">
                <a:latin typeface="Times New Roman"/>
                <a:cs typeface="Times New Roman"/>
              </a:rPr>
              <a:t>i </a:t>
            </a:r>
            <a:r>
              <a:rPr sz="1650" i="1" spc="104" baseline="-22727" dirty="0">
                <a:latin typeface="Times New Roman"/>
                <a:cs typeface="Times New Roman"/>
              </a:rPr>
              <a:t> </a:t>
            </a:r>
            <a:r>
              <a:rPr sz="1850" spc="30" dirty="0">
                <a:latin typeface="Symbol"/>
                <a:cs typeface="Symbol"/>
              </a:rPr>
              <a:t></a:t>
            </a:r>
            <a:r>
              <a:rPr sz="1850" spc="-204" dirty="0">
                <a:latin typeface="Times New Roman"/>
                <a:cs typeface="Times New Roman"/>
              </a:rPr>
              <a:t> </a:t>
            </a:r>
            <a:r>
              <a:rPr sz="1850" i="1" spc="114" dirty="0">
                <a:latin typeface="Times New Roman"/>
                <a:cs typeface="Times New Roman"/>
              </a:rPr>
              <a:t>w</a:t>
            </a:r>
            <a:r>
              <a:rPr sz="1650" i="1" baseline="-22727" dirty="0">
                <a:latin typeface="Times New Roman"/>
                <a:cs typeface="Times New Roman"/>
              </a:rPr>
              <a:t>j</a:t>
            </a:r>
            <a:endParaRPr sz="1650" baseline="-22727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208036" y="1663892"/>
            <a:ext cx="1312545" cy="78803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55"/>
              </a:spcBef>
            </a:pPr>
            <a:r>
              <a:rPr sz="1950" spc="65" dirty="0">
                <a:latin typeface="Symbol"/>
                <a:cs typeface="Symbol"/>
              </a:rPr>
              <a:t></a:t>
            </a:r>
            <a:r>
              <a:rPr sz="1850" spc="-110" dirty="0">
                <a:latin typeface="Times New Roman"/>
                <a:cs typeface="Times New Roman"/>
              </a:rPr>
              <a:t>(</a:t>
            </a:r>
            <a:r>
              <a:rPr sz="1950" spc="20" dirty="0">
                <a:latin typeface="Symbol"/>
                <a:cs typeface="Symbol"/>
              </a:rPr>
              <a:t></a:t>
            </a:r>
            <a:r>
              <a:rPr sz="1650" i="1" baseline="-22727" dirty="0">
                <a:latin typeface="Times New Roman"/>
                <a:cs typeface="Times New Roman"/>
              </a:rPr>
              <a:t>i </a:t>
            </a:r>
            <a:r>
              <a:rPr sz="1650" i="1" spc="-60" baseline="-22727" dirty="0">
                <a:latin typeface="Times New Roman"/>
                <a:cs typeface="Times New Roman"/>
              </a:rPr>
              <a:t> </a:t>
            </a:r>
            <a:r>
              <a:rPr sz="1850" spc="10" dirty="0">
                <a:latin typeface="Times New Roman"/>
                <a:cs typeface="Times New Roman"/>
              </a:rPr>
              <a:t>|</a:t>
            </a:r>
            <a:r>
              <a:rPr sz="1850" spc="-280" dirty="0">
                <a:latin typeface="Times New Roman"/>
                <a:cs typeface="Times New Roman"/>
              </a:rPr>
              <a:t> </a:t>
            </a:r>
            <a:r>
              <a:rPr sz="1850" i="1" spc="114" dirty="0">
                <a:latin typeface="Times New Roman"/>
                <a:cs typeface="Times New Roman"/>
              </a:rPr>
              <a:t>w</a:t>
            </a:r>
            <a:r>
              <a:rPr sz="1650" i="1" baseline="-22727" dirty="0">
                <a:latin typeface="Times New Roman"/>
                <a:cs typeface="Times New Roman"/>
              </a:rPr>
              <a:t>j</a:t>
            </a:r>
            <a:r>
              <a:rPr sz="1650" i="1" spc="-44" baseline="-22727" dirty="0">
                <a:latin typeface="Times New Roman"/>
                <a:cs typeface="Times New Roman"/>
              </a:rPr>
              <a:t> </a:t>
            </a:r>
            <a:r>
              <a:rPr sz="1850" spc="15" dirty="0">
                <a:latin typeface="Times New Roman"/>
                <a:cs typeface="Times New Roman"/>
              </a:rPr>
              <a:t>)</a:t>
            </a:r>
            <a:r>
              <a:rPr sz="1850" spc="95" dirty="0">
                <a:latin typeface="Times New Roman"/>
                <a:cs typeface="Times New Roman"/>
              </a:rPr>
              <a:t> </a:t>
            </a:r>
            <a:r>
              <a:rPr sz="1850" spc="30" dirty="0">
                <a:latin typeface="Symbol"/>
                <a:cs typeface="Symbol"/>
              </a:rPr>
              <a:t></a:t>
            </a:r>
            <a:r>
              <a:rPr sz="1850" spc="-120" dirty="0">
                <a:latin typeface="Times New Roman"/>
                <a:cs typeface="Times New Roman"/>
              </a:rPr>
              <a:t> </a:t>
            </a:r>
            <a:r>
              <a:rPr sz="1850" spc="25" dirty="0">
                <a:latin typeface="Times New Roman"/>
                <a:cs typeface="Times New Roman"/>
              </a:rPr>
              <a:t>0</a:t>
            </a:r>
            <a:endParaRPr sz="185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660"/>
              </a:spcBef>
            </a:pPr>
            <a:r>
              <a:rPr sz="1950" spc="65" dirty="0">
                <a:latin typeface="Symbol"/>
                <a:cs typeface="Symbol"/>
              </a:rPr>
              <a:t></a:t>
            </a:r>
            <a:r>
              <a:rPr sz="1850" spc="-110" dirty="0">
                <a:latin typeface="Times New Roman"/>
                <a:cs typeface="Times New Roman"/>
              </a:rPr>
              <a:t>(</a:t>
            </a:r>
            <a:r>
              <a:rPr sz="1950" spc="20" dirty="0">
                <a:latin typeface="Symbol"/>
                <a:cs typeface="Symbol"/>
              </a:rPr>
              <a:t></a:t>
            </a:r>
            <a:r>
              <a:rPr sz="1650" i="1" baseline="-22727" dirty="0">
                <a:latin typeface="Times New Roman"/>
                <a:cs typeface="Times New Roman"/>
              </a:rPr>
              <a:t>i </a:t>
            </a:r>
            <a:r>
              <a:rPr sz="1650" i="1" spc="-60" baseline="-22727" dirty="0">
                <a:latin typeface="Times New Roman"/>
                <a:cs typeface="Times New Roman"/>
              </a:rPr>
              <a:t> </a:t>
            </a:r>
            <a:r>
              <a:rPr sz="1850" spc="10" dirty="0">
                <a:latin typeface="Times New Roman"/>
                <a:cs typeface="Times New Roman"/>
              </a:rPr>
              <a:t>|</a:t>
            </a:r>
            <a:r>
              <a:rPr sz="1850" spc="-280" dirty="0">
                <a:latin typeface="Times New Roman"/>
                <a:cs typeface="Times New Roman"/>
              </a:rPr>
              <a:t> </a:t>
            </a:r>
            <a:r>
              <a:rPr sz="1850" i="1" spc="114" dirty="0">
                <a:latin typeface="Times New Roman"/>
                <a:cs typeface="Times New Roman"/>
              </a:rPr>
              <a:t>w</a:t>
            </a:r>
            <a:r>
              <a:rPr sz="1650" i="1" baseline="-22727" dirty="0">
                <a:latin typeface="Times New Roman"/>
                <a:cs typeface="Times New Roman"/>
              </a:rPr>
              <a:t>j</a:t>
            </a:r>
            <a:r>
              <a:rPr sz="1650" i="1" spc="-44" baseline="-22727" dirty="0">
                <a:latin typeface="Times New Roman"/>
                <a:cs typeface="Times New Roman"/>
              </a:rPr>
              <a:t> </a:t>
            </a:r>
            <a:r>
              <a:rPr sz="1850" spc="15" dirty="0">
                <a:latin typeface="Times New Roman"/>
                <a:cs typeface="Times New Roman"/>
              </a:rPr>
              <a:t>)</a:t>
            </a:r>
            <a:r>
              <a:rPr sz="1850" spc="95" dirty="0">
                <a:latin typeface="Times New Roman"/>
                <a:cs typeface="Times New Roman"/>
              </a:rPr>
              <a:t> </a:t>
            </a:r>
            <a:r>
              <a:rPr sz="1850" spc="30" dirty="0">
                <a:latin typeface="Symbol"/>
                <a:cs typeface="Symbol"/>
              </a:rPr>
              <a:t></a:t>
            </a:r>
            <a:r>
              <a:rPr sz="1850" spc="-290" dirty="0">
                <a:latin typeface="Times New Roman"/>
                <a:cs typeface="Times New Roman"/>
              </a:rPr>
              <a:t> </a:t>
            </a:r>
            <a:r>
              <a:rPr sz="1850" spc="25" dirty="0">
                <a:latin typeface="Times New Roman"/>
                <a:cs typeface="Times New Roman"/>
              </a:rPr>
              <a:t>1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04627" y="2679968"/>
            <a:ext cx="346964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1137920" algn="l"/>
              </a:tabLst>
            </a:pPr>
            <a:r>
              <a:rPr sz="1850" i="1" spc="25" dirty="0">
                <a:latin typeface="Times New Roman"/>
                <a:cs typeface="Times New Roman"/>
              </a:rPr>
              <a:t>R</a:t>
            </a:r>
            <a:r>
              <a:rPr sz="1850" spc="-110" dirty="0">
                <a:latin typeface="Times New Roman"/>
                <a:cs typeface="Times New Roman"/>
              </a:rPr>
              <a:t>(</a:t>
            </a:r>
            <a:r>
              <a:rPr sz="1950" spc="20" dirty="0">
                <a:latin typeface="Symbol"/>
                <a:cs typeface="Symbol"/>
              </a:rPr>
              <a:t></a:t>
            </a:r>
            <a:r>
              <a:rPr sz="1575" spc="22" baseline="-23809" dirty="0">
                <a:latin typeface="Times New Roman"/>
                <a:cs typeface="Times New Roman"/>
              </a:rPr>
              <a:t>i</a:t>
            </a:r>
            <a:r>
              <a:rPr sz="1575" baseline="-23809" dirty="0">
                <a:latin typeface="Times New Roman"/>
                <a:cs typeface="Times New Roman"/>
              </a:rPr>
              <a:t> </a:t>
            </a:r>
            <a:r>
              <a:rPr sz="1575" spc="-52" baseline="-23809" dirty="0">
                <a:latin typeface="Times New Roman"/>
                <a:cs typeface="Times New Roman"/>
              </a:rPr>
              <a:t> </a:t>
            </a:r>
            <a:r>
              <a:rPr sz="1850" spc="10" dirty="0">
                <a:latin typeface="Times New Roman"/>
                <a:cs typeface="Times New Roman"/>
              </a:rPr>
              <a:t>|</a:t>
            </a:r>
            <a:r>
              <a:rPr sz="1850" spc="-55" dirty="0">
                <a:latin typeface="Times New Roman"/>
                <a:cs typeface="Times New Roman"/>
              </a:rPr>
              <a:t> </a:t>
            </a:r>
            <a:r>
              <a:rPr sz="1850" i="1" spc="20" dirty="0">
                <a:latin typeface="Times New Roman"/>
                <a:cs typeface="Times New Roman"/>
              </a:rPr>
              <a:t>x</a:t>
            </a:r>
            <a:r>
              <a:rPr sz="1850" spc="20" dirty="0">
                <a:latin typeface="Times New Roman"/>
                <a:cs typeface="Times New Roman"/>
              </a:rPr>
              <a:t>)</a:t>
            </a:r>
            <a:r>
              <a:rPr sz="1850" spc="85" dirty="0">
                <a:latin typeface="Times New Roman"/>
                <a:cs typeface="Times New Roman"/>
              </a:rPr>
              <a:t> </a:t>
            </a:r>
            <a:r>
              <a:rPr sz="1850" spc="30" dirty="0">
                <a:latin typeface="Symbol"/>
                <a:cs typeface="Symbol"/>
              </a:rPr>
              <a:t></a:t>
            </a:r>
            <a:r>
              <a:rPr sz="1850" dirty="0">
                <a:latin typeface="Times New Roman"/>
                <a:cs typeface="Times New Roman"/>
              </a:rPr>
              <a:t>	</a:t>
            </a:r>
            <a:r>
              <a:rPr sz="4200" spc="262" baseline="-7936" dirty="0">
                <a:latin typeface="Symbol"/>
                <a:cs typeface="Symbol"/>
              </a:rPr>
              <a:t></a:t>
            </a:r>
            <a:r>
              <a:rPr sz="1850" spc="40" dirty="0">
                <a:latin typeface="Times New Roman"/>
                <a:cs typeface="Times New Roman"/>
              </a:rPr>
              <a:t>p</a:t>
            </a:r>
            <a:r>
              <a:rPr sz="1850" spc="-35" dirty="0">
                <a:latin typeface="Times New Roman"/>
                <a:cs typeface="Times New Roman"/>
              </a:rPr>
              <a:t>(</a:t>
            </a:r>
            <a:r>
              <a:rPr sz="1850" spc="180" dirty="0">
                <a:latin typeface="Times New Roman"/>
                <a:cs typeface="Times New Roman"/>
              </a:rPr>
              <a:t>w</a:t>
            </a:r>
            <a:r>
              <a:rPr sz="1575" spc="22" baseline="-23809" dirty="0">
                <a:latin typeface="Times New Roman"/>
                <a:cs typeface="Times New Roman"/>
              </a:rPr>
              <a:t>j</a:t>
            </a:r>
            <a:r>
              <a:rPr sz="1575" baseline="-23809" dirty="0">
                <a:latin typeface="Times New Roman"/>
                <a:cs typeface="Times New Roman"/>
              </a:rPr>
              <a:t> </a:t>
            </a:r>
            <a:r>
              <a:rPr sz="1575" spc="-157" baseline="-23809" dirty="0">
                <a:latin typeface="Times New Roman"/>
                <a:cs typeface="Times New Roman"/>
              </a:rPr>
              <a:t> </a:t>
            </a:r>
            <a:r>
              <a:rPr sz="1850" spc="10" dirty="0">
                <a:latin typeface="Times New Roman"/>
                <a:cs typeface="Times New Roman"/>
              </a:rPr>
              <a:t>|</a:t>
            </a:r>
            <a:r>
              <a:rPr sz="1850" spc="-55" dirty="0">
                <a:latin typeface="Times New Roman"/>
                <a:cs typeface="Times New Roman"/>
              </a:rPr>
              <a:t> </a:t>
            </a:r>
            <a:r>
              <a:rPr sz="1850" i="1" spc="20" dirty="0">
                <a:latin typeface="Times New Roman"/>
                <a:cs typeface="Times New Roman"/>
              </a:rPr>
              <a:t>x</a:t>
            </a:r>
            <a:r>
              <a:rPr sz="1850" spc="20" dirty="0">
                <a:latin typeface="Times New Roman"/>
                <a:cs typeface="Times New Roman"/>
              </a:rPr>
              <a:t>)</a:t>
            </a:r>
            <a:r>
              <a:rPr sz="1850" spc="-250" dirty="0">
                <a:latin typeface="Times New Roman"/>
                <a:cs typeface="Times New Roman"/>
              </a:rPr>
              <a:t> </a:t>
            </a:r>
            <a:r>
              <a:rPr sz="1850" spc="195" dirty="0">
                <a:latin typeface="Symbol"/>
                <a:cs typeface="Symbol"/>
              </a:rPr>
              <a:t></a:t>
            </a:r>
            <a:r>
              <a:rPr sz="1850" spc="120" dirty="0">
                <a:latin typeface="Times New Roman"/>
                <a:cs typeface="Times New Roman"/>
              </a:rPr>
              <a:t>1</a:t>
            </a:r>
            <a:r>
              <a:rPr sz="1850" spc="30" dirty="0">
                <a:latin typeface="Symbol"/>
                <a:cs typeface="Symbol"/>
              </a:rPr>
              <a:t></a:t>
            </a:r>
            <a:r>
              <a:rPr sz="1850" spc="15" dirty="0">
                <a:latin typeface="Times New Roman"/>
                <a:cs typeface="Times New Roman"/>
              </a:rPr>
              <a:t> </a:t>
            </a:r>
            <a:r>
              <a:rPr sz="1850" i="1" spc="30" dirty="0">
                <a:latin typeface="Times New Roman"/>
                <a:cs typeface="Times New Roman"/>
              </a:rPr>
              <a:t>p</a:t>
            </a:r>
            <a:r>
              <a:rPr sz="1850" spc="-110" dirty="0">
                <a:latin typeface="Times New Roman"/>
                <a:cs typeface="Times New Roman"/>
              </a:rPr>
              <a:t>(</a:t>
            </a:r>
            <a:r>
              <a:rPr sz="1950" spc="20" dirty="0">
                <a:latin typeface="Symbol"/>
                <a:cs typeface="Symbol"/>
              </a:rPr>
              <a:t></a:t>
            </a:r>
            <a:r>
              <a:rPr sz="1575" spc="22" baseline="-23809" dirty="0">
                <a:latin typeface="Times New Roman"/>
                <a:cs typeface="Times New Roman"/>
              </a:rPr>
              <a:t>i</a:t>
            </a:r>
            <a:r>
              <a:rPr sz="1575" baseline="-23809" dirty="0">
                <a:latin typeface="Times New Roman"/>
                <a:cs typeface="Times New Roman"/>
              </a:rPr>
              <a:t> </a:t>
            </a:r>
            <a:r>
              <a:rPr sz="1575" spc="-52" baseline="-23809" dirty="0">
                <a:latin typeface="Times New Roman"/>
                <a:cs typeface="Times New Roman"/>
              </a:rPr>
              <a:t> </a:t>
            </a:r>
            <a:r>
              <a:rPr sz="1850" spc="10" dirty="0">
                <a:latin typeface="Times New Roman"/>
                <a:cs typeface="Times New Roman"/>
              </a:rPr>
              <a:t>|</a:t>
            </a:r>
            <a:r>
              <a:rPr sz="1850" spc="-50" dirty="0">
                <a:latin typeface="Times New Roman"/>
                <a:cs typeface="Times New Roman"/>
              </a:rPr>
              <a:t> </a:t>
            </a:r>
            <a:r>
              <a:rPr sz="1850" i="1" spc="20" dirty="0">
                <a:latin typeface="Times New Roman"/>
                <a:cs typeface="Times New Roman"/>
              </a:rPr>
              <a:t>x</a:t>
            </a:r>
            <a:r>
              <a:rPr sz="1850" spc="20" dirty="0">
                <a:latin typeface="Times New Roman"/>
                <a:cs typeface="Times New Roman"/>
              </a:rPr>
              <a:t>)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0540" y="3048089"/>
            <a:ext cx="7837170" cy="75946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R="1401445" algn="r">
              <a:lnSpc>
                <a:spcPct val="100000"/>
              </a:lnSpc>
              <a:spcBef>
                <a:spcPts val="590"/>
              </a:spcBef>
            </a:pPr>
            <a:r>
              <a:rPr sz="1050" spc="180" dirty="0">
                <a:latin typeface="Times New Roman"/>
                <a:cs typeface="Times New Roman"/>
              </a:rPr>
              <a:t>w</a:t>
            </a:r>
            <a:r>
              <a:rPr sz="1125" spc="15" baseline="-18518" dirty="0">
                <a:latin typeface="Times New Roman"/>
                <a:cs typeface="Times New Roman"/>
              </a:rPr>
              <a:t>j</a:t>
            </a:r>
            <a:r>
              <a:rPr sz="1125" spc="-82" baseline="-18518" dirty="0">
                <a:latin typeface="Times New Roman"/>
                <a:cs typeface="Times New Roman"/>
              </a:rPr>
              <a:t> </a:t>
            </a:r>
            <a:r>
              <a:rPr sz="1050" spc="-5" dirty="0">
                <a:latin typeface="Symbol"/>
                <a:cs typeface="Symbol"/>
              </a:rPr>
              <a:t></a:t>
            </a:r>
            <a:r>
              <a:rPr sz="1150" spc="10" dirty="0">
                <a:latin typeface="Symbol"/>
                <a:cs typeface="Symbol"/>
              </a:rPr>
              <a:t></a:t>
            </a:r>
            <a:r>
              <a:rPr sz="1125" spc="15" baseline="-18518" dirty="0">
                <a:latin typeface="Times New Roman"/>
                <a:cs typeface="Times New Roman"/>
              </a:rPr>
              <a:t>i</a:t>
            </a:r>
            <a:endParaRPr sz="1125" baseline="-18518">
              <a:latin typeface="Times New Roman"/>
              <a:cs typeface="Times New Roman"/>
            </a:endParaRPr>
          </a:p>
          <a:p>
            <a:pPr marL="381000" indent="-343535">
              <a:lnSpc>
                <a:spcPct val="100000"/>
              </a:lnSpc>
              <a:spcBef>
                <a:spcPts val="1025"/>
              </a:spcBef>
              <a:buChar char="•"/>
              <a:tabLst>
                <a:tab pos="381000" algn="l"/>
                <a:tab pos="381635" algn="l"/>
              </a:tabLst>
            </a:pPr>
            <a:r>
              <a:rPr sz="2400" spc="-290" dirty="0">
                <a:latin typeface="Arial MT"/>
                <a:cs typeface="Arial MT"/>
              </a:rPr>
              <a:t>K</a:t>
            </a:r>
            <a:r>
              <a:rPr sz="2400" spc="-254" dirty="0">
                <a:latin typeface="Arial MT"/>
                <a:cs typeface="Arial MT"/>
              </a:rPr>
              <a:t>e</a:t>
            </a:r>
            <a:r>
              <a:rPr sz="2400" spc="-225" dirty="0">
                <a:latin typeface="Arial MT"/>
                <a:cs typeface="Arial MT"/>
              </a:rPr>
              <a:t>putusa</a:t>
            </a:r>
            <a:r>
              <a:rPr sz="2400" spc="-245" dirty="0">
                <a:latin typeface="Arial MT"/>
                <a:cs typeface="Arial MT"/>
              </a:rPr>
              <a:t>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225" dirty="0">
                <a:latin typeface="Arial MT"/>
                <a:cs typeface="Arial MT"/>
              </a:rPr>
              <a:t>optima</a:t>
            </a:r>
            <a:r>
              <a:rPr sz="2400" spc="-100" dirty="0">
                <a:latin typeface="Arial MT"/>
                <a:cs typeface="Arial MT"/>
              </a:rPr>
              <a:t>l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250" dirty="0">
                <a:latin typeface="Arial MT"/>
                <a:cs typeface="Arial MT"/>
              </a:rPr>
              <a:t>ad</a:t>
            </a:r>
            <a:r>
              <a:rPr sz="2400" spc="-254" dirty="0">
                <a:latin typeface="Arial MT"/>
                <a:cs typeface="Arial MT"/>
              </a:rPr>
              <a:t>a</a:t>
            </a:r>
            <a:r>
              <a:rPr sz="2400" spc="-105" dirty="0">
                <a:latin typeface="Arial MT"/>
                <a:cs typeface="Arial MT"/>
              </a:rPr>
              <a:t>l</a:t>
            </a:r>
            <a:r>
              <a:rPr sz="2400" spc="-254" dirty="0">
                <a:latin typeface="Arial MT"/>
                <a:cs typeface="Arial MT"/>
              </a:rPr>
              <a:t>a</a:t>
            </a:r>
            <a:r>
              <a:rPr sz="2400" spc="-245" dirty="0">
                <a:latin typeface="Arial MT"/>
                <a:cs typeface="Arial MT"/>
              </a:rPr>
              <a:t>h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305" dirty="0">
                <a:latin typeface="Arial MT"/>
                <a:cs typeface="Arial MT"/>
              </a:rPr>
              <a:t>me</a:t>
            </a:r>
            <a:r>
              <a:rPr sz="2400" spc="-360" dirty="0">
                <a:latin typeface="Arial MT"/>
                <a:cs typeface="Arial MT"/>
              </a:rPr>
              <a:t>m</a:t>
            </a:r>
            <a:r>
              <a:rPr sz="2400" spc="-105" dirty="0">
                <a:latin typeface="Arial MT"/>
                <a:cs typeface="Arial MT"/>
              </a:rPr>
              <a:t>i</a:t>
            </a:r>
            <a:r>
              <a:rPr sz="2400" spc="-110" dirty="0">
                <a:latin typeface="Arial MT"/>
                <a:cs typeface="Arial MT"/>
              </a:rPr>
              <a:t>l</a:t>
            </a:r>
            <a:r>
              <a:rPr sz="2400" spc="-105" dirty="0">
                <a:latin typeface="Arial MT"/>
                <a:cs typeface="Arial MT"/>
              </a:rPr>
              <a:t>i</a:t>
            </a:r>
            <a:r>
              <a:rPr sz="2400" spc="-245" dirty="0">
                <a:latin typeface="Arial MT"/>
                <a:cs typeface="Arial MT"/>
              </a:rPr>
              <a:t>h</a:t>
            </a:r>
            <a:r>
              <a:rPr sz="2400" spc="-114" dirty="0">
                <a:latin typeface="Arial MT"/>
                <a:cs typeface="Arial MT"/>
              </a:rPr>
              <a:t> </a:t>
            </a:r>
            <a:r>
              <a:rPr sz="2400" spc="-200" dirty="0">
                <a:latin typeface="Arial MT"/>
                <a:cs typeface="Arial MT"/>
              </a:rPr>
              <a:t>clas</a:t>
            </a:r>
            <a:r>
              <a:rPr sz="2400" spc="-220" dirty="0">
                <a:latin typeface="Arial MT"/>
                <a:cs typeface="Arial MT"/>
              </a:rPr>
              <a:t>s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240" dirty="0">
                <a:latin typeface="Arial MT"/>
                <a:cs typeface="Arial MT"/>
              </a:rPr>
              <a:t>yan</a:t>
            </a:r>
            <a:r>
              <a:rPr sz="2400" spc="-245" dirty="0">
                <a:latin typeface="Arial MT"/>
                <a:cs typeface="Arial MT"/>
              </a:rPr>
              <a:t>g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305" dirty="0">
                <a:latin typeface="Arial MT"/>
                <a:cs typeface="Arial MT"/>
              </a:rPr>
              <a:t>me</a:t>
            </a:r>
            <a:r>
              <a:rPr sz="2400" spc="-360" dirty="0">
                <a:latin typeface="Arial MT"/>
                <a:cs typeface="Arial MT"/>
              </a:rPr>
              <a:t>m</a:t>
            </a:r>
            <a:r>
              <a:rPr sz="2400" spc="-105" dirty="0">
                <a:latin typeface="Arial MT"/>
                <a:cs typeface="Arial MT"/>
              </a:rPr>
              <a:t>i</a:t>
            </a:r>
            <a:r>
              <a:rPr sz="2400" spc="-110" dirty="0">
                <a:latin typeface="Arial MT"/>
                <a:cs typeface="Arial MT"/>
              </a:rPr>
              <a:t>l</a:t>
            </a:r>
            <a:r>
              <a:rPr sz="2400" spc="-165" dirty="0">
                <a:latin typeface="Arial MT"/>
                <a:cs typeface="Arial MT"/>
              </a:rPr>
              <a:t>ik</a:t>
            </a:r>
            <a:r>
              <a:rPr sz="2400" spc="-100" dirty="0">
                <a:latin typeface="Arial MT"/>
                <a:cs typeface="Arial MT"/>
              </a:rPr>
              <a:t>i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229" dirty="0">
                <a:latin typeface="Arial MT"/>
                <a:cs typeface="Arial MT"/>
              </a:rPr>
              <a:t>proba</a:t>
            </a:r>
            <a:r>
              <a:rPr sz="2400" spc="-254" dirty="0">
                <a:latin typeface="Arial MT"/>
                <a:cs typeface="Arial MT"/>
              </a:rPr>
              <a:t>b</a:t>
            </a:r>
            <a:r>
              <a:rPr sz="2400" spc="-105" dirty="0">
                <a:latin typeface="Arial MT"/>
                <a:cs typeface="Arial MT"/>
              </a:rPr>
              <a:t>i</a:t>
            </a:r>
            <a:r>
              <a:rPr sz="2400" spc="-110" dirty="0">
                <a:latin typeface="Arial MT"/>
                <a:cs typeface="Arial MT"/>
              </a:rPr>
              <a:t>l</a:t>
            </a:r>
            <a:r>
              <a:rPr sz="2400" spc="-175" dirty="0">
                <a:latin typeface="Arial MT"/>
                <a:cs typeface="Arial MT"/>
              </a:rPr>
              <a:t>itas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95673" y="3924236"/>
            <a:ext cx="4970780" cy="579755"/>
          </a:xfrm>
          <a:prstGeom prst="rect">
            <a:avLst/>
          </a:prstGeom>
          <a:solidFill>
            <a:srgbClr val="B1B1B1"/>
          </a:solidFill>
          <a:ln w="9525">
            <a:solidFill>
              <a:srgbClr val="80808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21920">
              <a:lnSpc>
                <a:spcPts val="2325"/>
              </a:lnSpc>
            </a:pPr>
            <a:r>
              <a:rPr sz="2200" spc="-55" dirty="0">
                <a:latin typeface="Symbol"/>
                <a:cs typeface="Symbol"/>
              </a:rPr>
              <a:t></a:t>
            </a:r>
            <a:r>
              <a:rPr sz="2200" spc="-340" dirty="0">
                <a:latin typeface="Times New Roman"/>
                <a:cs typeface="Times New Roman"/>
              </a:rPr>
              <a:t> </a:t>
            </a:r>
            <a:r>
              <a:rPr sz="2100" spc="55" dirty="0">
                <a:latin typeface="Times New Roman"/>
                <a:cs typeface="Times New Roman"/>
              </a:rPr>
              <a:t>(</a:t>
            </a:r>
            <a:r>
              <a:rPr sz="2100" i="1" spc="55" dirty="0">
                <a:latin typeface="Times New Roman"/>
                <a:cs typeface="Times New Roman"/>
              </a:rPr>
              <a:t>x</a:t>
            </a:r>
            <a:r>
              <a:rPr sz="2100" spc="55" dirty="0">
                <a:latin typeface="Times New Roman"/>
                <a:cs typeface="Times New Roman"/>
              </a:rPr>
              <a:t>)</a:t>
            </a:r>
            <a:r>
              <a:rPr sz="2100" spc="-70" dirty="0">
                <a:latin typeface="Times New Roman"/>
                <a:cs typeface="Times New Roman"/>
              </a:rPr>
              <a:t> </a:t>
            </a:r>
            <a:r>
              <a:rPr sz="2100" spc="35" dirty="0">
                <a:latin typeface="Symbol"/>
                <a:cs typeface="Symbol"/>
              </a:rPr>
              <a:t></a:t>
            </a:r>
            <a:r>
              <a:rPr sz="2100" spc="35" dirty="0">
                <a:latin typeface="Times New Roman"/>
                <a:cs typeface="Times New Roman"/>
              </a:rPr>
              <a:t>arg</a:t>
            </a:r>
            <a:r>
              <a:rPr sz="2100" spc="-200" dirty="0">
                <a:latin typeface="Times New Roman"/>
                <a:cs typeface="Times New Roman"/>
              </a:rPr>
              <a:t> </a:t>
            </a:r>
            <a:r>
              <a:rPr sz="2100" spc="-75" dirty="0">
                <a:latin typeface="Times New Roman"/>
                <a:cs typeface="Times New Roman"/>
              </a:rPr>
              <a:t>min</a:t>
            </a:r>
            <a:r>
              <a:rPr sz="2100" spc="-55" dirty="0">
                <a:latin typeface="Times New Roman"/>
                <a:cs typeface="Times New Roman"/>
              </a:rPr>
              <a:t> </a:t>
            </a:r>
            <a:r>
              <a:rPr sz="2100" spc="-15" dirty="0">
                <a:latin typeface="Times New Roman"/>
                <a:cs typeface="Times New Roman"/>
              </a:rPr>
              <a:t>(1</a:t>
            </a:r>
            <a:r>
              <a:rPr sz="2100" spc="-15" dirty="0">
                <a:latin typeface="Symbol"/>
                <a:cs typeface="Symbol"/>
              </a:rPr>
              <a:t></a:t>
            </a:r>
            <a:r>
              <a:rPr sz="2100" spc="60" dirty="0">
                <a:latin typeface="Times New Roman"/>
                <a:cs typeface="Times New Roman"/>
              </a:rPr>
              <a:t> </a:t>
            </a:r>
            <a:r>
              <a:rPr sz="2100" i="1" spc="-45" dirty="0">
                <a:latin typeface="Times New Roman"/>
                <a:cs typeface="Times New Roman"/>
              </a:rPr>
              <a:t>p</a:t>
            </a:r>
            <a:r>
              <a:rPr sz="2100" spc="-45" dirty="0">
                <a:latin typeface="Times New Roman"/>
                <a:cs typeface="Times New Roman"/>
              </a:rPr>
              <a:t>(</a:t>
            </a:r>
            <a:r>
              <a:rPr sz="2200" spc="-45" dirty="0">
                <a:latin typeface="Symbol"/>
                <a:cs typeface="Symbol"/>
              </a:rPr>
              <a:t>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|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i="1" spc="-5" dirty="0">
                <a:latin typeface="Times New Roman"/>
                <a:cs typeface="Times New Roman"/>
              </a:rPr>
              <a:t>x</a:t>
            </a:r>
            <a:r>
              <a:rPr sz="2100" spc="-5" dirty="0">
                <a:latin typeface="Times New Roman"/>
                <a:cs typeface="Times New Roman"/>
              </a:rPr>
              <a:t>))</a:t>
            </a:r>
            <a:r>
              <a:rPr sz="2100" spc="-50" dirty="0">
                <a:latin typeface="Times New Roman"/>
                <a:cs typeface="Times New Roman"/>
              </a:rPr>
              <a:t> </a:t>
            </a:r>
            <a:r>
              <a:rPr sz="2100" spc="5" dirty="0">
                <a:latin typeface="Symbol"/>
                <a:cs typeface="Symbol"/>
              </a:rPr>
              <a:t></a:t>
            </a:r>
            <a:r>
              <a:rPr sz="2100" spc="-110" dirty="0">
                <a:latin typeface="Times New Roman"/>
                <a:cs typeface="Times New Roman"/>
              </a:rPr>
              <a:t> </a:t>
            </a:r>
            <a:r>
              <a:rPr sz="2100" spc="-30" dirty="0">
                <a:latin typeface="Times New Roman"/>
                <a:cs typeface="Times New Roman"/>
              </a:rPr>
              <a:t>arg</a:t>
            </a:r>
            <a:r>
              <a:rPr sz="2100" spc="-190" dirty="0">
                <a:latin typeface="Times New Roman"/>
                <a:cs typeface="Times New Roman"/>
              </a:rPr>
              <a:t> </a:t>
            </a:r>
            <a:r>
              <a:rPr sz="2100" spc="-45" dirty="0">
                <a:latin typeface="Times New Roman"/>
                <a:cs typeface="Times New Roman"/>
              </a:rPr>
              <a:t>max</a:t>
            </a:r>
            <a:r>
              <a:rPr sz="2100" spc="110" dirty="0">
                <a:latin typeface="Times New Roman"/>
                <a:cs typeface="Times New Roman"/>
              </a:rPr>
              <a:t> </a:t>
            </a:r>
            <a:r>
              <a:rPr sz="2100" i="1" spc="-45" dirty="0">
                <a:latin typeface="Times New Roman"/>
                <a:cs typeface="Times New Roman"/>
              </a:rPr>
              <a:t>p</a:t>
            </a:r>
            <a:r>
              <a:rPr sz="2100" spc="-45" dirty="0">
                <a:latin typeface="Times New Roman"/>
                <a:cs typeface="Times New Roman"/>
              </a:rPr>
              <a:t>(</a:t>
            </a:r>
            <a:r>
              <a:rPr sz="2200" spc="-45" dirty="0">
                <a:latin typeface="Symbol"/>
                <a:cs typeface="Symbol"/>
              </a:rPr>
              <a:t>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|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i="1" spc="15" dirty="0">
                <a:latin typeface="Times New Roman"/>
                <a:cs typeface="Times New Roman"/>
              </a:rPr>
              <a:t>x</a:t>
            </a:r>
            <a:r>
              <a:rPr sz="2100" spc="15" dirty="0">
                <a:latin typeface="Times New Roman"/>
                <a:cs typeface="Times New Roman"/>
              </a:rPr>
              <a:t>)</a:t>
            </a:r>
            <a:endParaRPr sz="2100">
              <a:latin typeface="Times New Roman"/>
              <a:cs typeface="Times New Roman"/>
            </a:endParaRPr>
          </a:p>
          <a:p>
            <a:pPr marL="280670" algn="ctr">
              <a:lnSpc>
                <a:spcPts val="1235"/>
              </a:lnSpc>
              <a:tabLst>
                <a:tab pos="2682875" algn="l"/>
              </a:tabLst>
            </a:pPr>
            <a:r>
              <a:rPr sz="1800" spc="-7" baseline="-25462" dirty="0">
                <a:latin typeface="Symbol"/>
                <a:cs typeface="Symbol"/>
              </a:rPr>
              <a:t></a:t>
            </a:r>
            <a:r>
              <a:rPr sz="900" spc="-5" dirty="0">
                <a:latin typeface="Symbol"/>
                <a:cs typeface="Symbol"/>
              </a:rPr>
              <a:t></a:t>
            </a:r>
            <a:r>
              <a:rPr sz="900" spc="-5" dirty="0">
                <a:latin typeface="Times New Roman"/>
                <a:cs typeface="Times New Roman"/>
              </a:rPr>
              <a:t>	</a:t>
            </a:r>
            <a:r>
              <a:rPr sz="1800" spc="-7" baseline="-25462" dirty="0">
                <a:latin typeface="Symbol"/>
                <a:cs typeface="Symbol"/>
              </a:rPr>
              <a:t></a:t>
            </a:r>
            <a:r>
              <a:rPr sz="900" spc="-5" dirty="0">
                <a:latin typeface="Symbol"/>
                <a:cs typeface="Symbol"/>
              </a:rPr>
              <a:t></a:t>
            </a:r>
            <a:endParaRPr sz="90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23240" y="4659883"/>
            <a:ext cx="6907530" cy="1253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8300" indent="-343535">
              <a:lnSpc>
                <a:spcPct val="100000"/>
              </a:lnSpc>
              <a:spcBef>
                <a:spcPts val="100"/>
              </a:spcBef>
              <a:buChar char="•"/>
              <a:tabLst>
                <a:tab pos="368300" algn="l"/>
                <a:tab pos="368935" algn="l"/>
              </a:tabLst>
            </a:pPr>
            <a:r>
              <a:rPr sz="2400" spc="-195" dirty="0">
                <a:latin typeface="Arial MT"/>
                <a:cs typeface="Arial MT"/>
              </a:rPr>
              <a:t>Total</a:t>
            </a:r>
            <a:r>
              <a:rPr sz="2400" spc="-110" dirty="0">
                <a:latin typeface="Arial MT"/>
                <a:cs typeface="Arial MT"/>
              </a:rPr>
              <a:t> </a:t>
            </a:r>
            <a:r>
              <a:rPr sz="2400" spc="-195" dirty="0">
                <a:latin typeface="Arial MT"/>
                <a:cs typeface="Arial MT"/>
              </a:rPr>
              <a:t>resiko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220" dirty="0">
                <a:latin typeface="Arial MT"/>
                <a:cs typeface="Arial MT"/>
              </a:rPr>
              <a:t>untuk</a:t>
            </a:r>
            <a:r>
              <a:rPr sz="2400" spc="-90" dirty="0">
                <a:latin typeface="Arial MT"/>
                <a:cs typeface="Arial MT"/>
              </a:rPr>
              <a:t> </a:t>
            </a:r>
            <a:r>
              <a:rPr sz="2400" spc="-210" dirty="0">
                <a:latin typeface="Arial MT"/>
                <a:cs typeface="Arial MT"/>
              </a:rPr>
              <a:t>aturan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229" dirty="0">
                <a:latin typeface="Arial MT"/>
                <a:cs typeface="Arial MT"/>
              </a:rPr>
              <a:t>keputusan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220" dirty="0">
                <a:latin typeface="Arial MT"/>
                <a:cs typeface="Arial MT"/>
              </a:rPr>
              <a:t>(Bayesian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185" dirty="0">
                <a:latin typeface="Arial MT"/>
                <a:cs typeface="Arial MT"/>
              </a:rPr>
              <a:t>error)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000">
              <a:latin typeface="Arial MT"/>
              <a:cs typeface="Arial MT"/>
            </a:endParaRPr>
          </a:p>
          <a:p>
            <a:pPr marL="1083945">
              <a:lnSpc>
                <a:spcPct val="100000"/>
              </a:lnSpc>
            </a:pPr>
            <a:r>
              <a:rPr sz="1850" i="1" spc="25" dirty="0">
                <a:latin typeface="Times New Roman"/>
                <a:cs typeface="Times New Roman"/>
              </a:rPr>
              <a:t>R</a:t>
            </a:r>
            <a:r>
              <a:rPr sz="1850" i="1" spc="-70" dirty="0">
                <a:latin typeface="Times New Roman"/>
                <a:cs typeface="Times New Roman"/>
              </a:rPr>
              <a:t> </a:t>
            </a:r>
            <a:r>
              <a:rPr sz="1850" spc="25" dirty="0">
                <a:latin typeface="Symbol"/>
                <a:cs typeface="Symbol"/>
              </a:rPr>
              <a:t></a:t>
            </a:r>
            <a:r>
              <a:rPr sz="1850" spc="140" dirty="0">
                <a:latin typeface="Times New Roman"/>
                <a:cs typeface="Times New Roman"/>
              </a:rPr>
              <a:t> </a:t>
            </a:r>
            <a:r>
              <a:rPr sz="1850" i="1" spc="30" dirty="0">
                <a:latin typeface="Times New Roman"/>
                <a:cs typeface="Times New Roman"/>
              </a:rPr>
              <a:t>p</a:t>
            </a:r>
            <a:r>
              <a:rPr sz="1850" spc="5" dirty="0">
                <a:latin typeface="Times New Roman"/>
                <a:cs typeface="Times New Roman"/>
              </a:rPr>
              <a:t>(</a:t>
            </a:r>
            <a:r>
              <a:rPr sz="1850" i="1" spc="-45" dirty="0">
                <a:latin typeface="Times New Roman"/>
                <a:cs typeface="Times New Roman"/>
              </a:rPr>
              <a:t>e</a:t>
            </a:r>
            <a:r>
              <a:rPr sz="1850" i="1" spc="-50" dirty="0">
                <a:latin typeface="Times New Roman"/>
                <a:cs typeface="Times New Roman"/>
              </a:rPr>
              <a:t>r</a:t>
            </a:r>
            <a:r>
              <a:rPr sz="1850" i="1" spc="-45" dirty="0">
                <a:latin typeface="Times New Roman"/>
                <a:cs typeface="Times New Roman"/>
              </a:rPr>
              <a:t>r</a:t>
            </a:r>
            <a:r>
              <a:rPr sz="1850" i="1" spc="-55" dirty="0">
                <a:latin typeface="Times New Roman"/>
                <a:cs typeface="Times New Roman"/>
              </a:rPr>
              <a:t>o</a:t>
            </a:r>
            <a:r>
              <a:rPr sz="1850" i="1" spc="15" dirty="0">
                <a:latin typeface="Times New Roman"/>
                <a:cs typeface="Times New Roman"/>
              </a:rPr>
              <a:t>r</a:t>
            </a:r>
            <a:r>
              <a:rPr sz="1850" i="1" spc="-280" dirty="0">
                <a:latin typeface="Times New Roman"/>
                <a:cs typeface="Times New Roman"/>
              </a:rPr>
              <a:t> </a:t>
            </a:r>
            <a:r>
              <a:rPr sz="1850" spc="15" dirty="0">
                <a:latin typeface="Times New Roman"/>
                <a:cs typeface="Times New Roman"/>
              </a:rPr>
              <a:t>)</a:t>
            </a:r>
            <a:r>
              <a:rPr sz="1850" spc="-75" dirty="0">
                <a:latin typeface="Times New Roman"/>
                <a:cs typeface="Times New Roman"/>
              </a:rPr>
              <a:t> </a:t>
            </a:r>
            <a:r>
              <a:rPr sz="1850" spc="25" dirty="0">
                <a:latin typeface="Symbol"/>
                <a:cs typeface="Symbol"/>
              </a:rPr>
              <a:t></a:t>
            </a:r>
            <a:r>
              <a:rPr sz="1850" spc="-65" dirty="0">
                <a:latin typeface="Times New Roman"/>
                <a:cs typeface="Times New Roman"/>
              </a:rPr>
              <a:t> </a:t>
            </a:r>
            <a:r>
              <a:rPr sz="4125" spc="37" baseline="-13131" dirty="0">
                <a:latin typeface="Symbol"/>
                <a:cs typeface="Symbol"/>
              </a:rPr>
              <a:t></a:t>
            </a:r>
            <a:r>
              <a:rPr sz="4125" spc="-315" baseline="-13131" dirty="0">
                <a:latin typeface="Times New Roman"/>
                <a:cs typeface="Times New Roman"/>
              </a:rPr>
              <a:t> </a:t>
            </a:r>
            <a:r>
              <a:rPr sz="1850" i="1" spc="30" dirty="0">
                <a:latin typeface="Times New Roman"/>
                <a:cs typeface="Times New Roman"/>
              </a:rPr>
              <a:t>p</a:t>
            </a:r>
            <a:r>
              <a:rPr sz="1850" spc="5" dirty="0">
                <a:latin typeface="Times New Roman"/>
                <a:cs typeface="Times New Roman"/>
              </a:rPr>
              <a:t>(</a:t>
            </a:r>
            <a:r>
              <a:rPr sz="1850" i="1" spc="-45" dirty="0">
                <a:latin typeface="Times New Roman"/>
                <a:cs typeface="Times New Roman"/>
              </a:rPr>
              <a:t>e</a:t>
            </a:r>
            <a:r>
              <a:rPr sz="1850" i="1" spc="-50" dirty="0">
                <a:latin typeface="Times New Roman"/>
                <a:cs typeface="Times New Roman"/>
              </a:rPr>
              <a:t>r</a:t>
            </a:r>
            <a:r>
              <a:rPr sz="1850" i="1" spc="-45" dirty="0">
                <a:latin typeface="Times New Roman"/>
                <a:cs typeface="Times New Roman"/>
              </a:rPr>
              <a:t>r</a:t>
            </a:r>
            <a:r>
              <a:rPr sz="1850" i="1" spc="-55" dirty="0">
                <a:latin typeface="Times New Roman"/>
                <a:cs typeface="Times New Roman"/>
              </a:rPr>
              <a:t>o</a:t>
            </a:r>
            <a:r>
              <a:rPr sz="1850" i="1" spc="15" dirty="0">
                <a:latin typeface="Times New Roman"/>
                <a:cs typeface="Times New Roman"/>
              </a:rPr>
              <a:t>r</a:t>
            </a:r>
            <a:r>
              <a:rPr sz="1850" i="1" dirty="0">
                <a:latin typeface="Times New Roman"/>
                <a:cs typeface="Times New Roman"/>
              </a:rPr>
              <a:t> </a:t>
            </a:r>
            <a:r>
              <a:rPr sz="1850" spc="5" dirty="0">
                <a:latin typeface="Times New Roman"/>
                <a:cs typeface="Times New Roman"/>
              </a:rPr>
              <a:t>|</a:t>
            </a:r>
            <a:r>
              <a:rPr sz="1850" spc="-50" dirty="0">
                <a:latin typeface="Times New Roman"/>
                <a:cs typeface="Times New Roman"/>
              </a:rPr>
              <a:t> </a:t>
            </a:r>
            <a:r>
              <a:rPr sz="1850" i="1" spc="30" dirty="0">
                <a:latin typeface="Times New Roman"/>
                <a:cs typeface="Times New Roman"/>
              </a:rPr>
              <a:t>x</a:t>
            </a:r>
            <a:r>
              <a:rPr sz="1850" spc="15" dirty="0">
                <a:latin typeface="Times New Roman"/>
                <a:cs typeface="Times New Roman"/>
              </a:rPr>
              <a:t>)</a:t>
            </a:r>
            <a:r>
              <a:rPr sz="1850" spc="-220" dirty="0">
                <a:latin typeface="Times New Roman"/>
                <a:cs typeface="Times New Roman"/>
              </a:rPr>
              <a:t> </a:t>
            </a:r>
            <a:r>
              <a:rPr sz="1850" i="1" spc="30" dirty="0">
                <a:latin typeface="Times New Roman"/>
                <a:cs typeface="Times New Roman"/>
              </a:rPr>
              <a:t>p</a:t>
            </a:r>
            <a:r>
              <a:rPr sz="1850" spc="120" dirty="0">
                <a:latin typeface="Times New Roman"/>
                <a:cs typeface="Times New Roman"/>
              </a:rPr>
              <a:t>(</a:t>
            </a:r>
            <a:r>
              <a:rPr sz="1850" i="1" spc="25" dirty="0">
                <a:latin typeface="Times New Roman"/>
                <a:cs typeface="Times New Roman"/>
              </a:rPr>
              <a:t>x</a:t>
            </a:r>
            <a:r>
              <a:rPr sz="1850" spc="30" dirty="0">
                <a:latin typeface="Times New Roman"/>
                <a:cs typeface="Times New Roman"/>
              </a:rPr>
              <a:t>)</a:t>
            </a:r>
            <a:r>
              <a:rPr sz="1850" i="1" spc="40" dirty="0">
                <a:latin typeface="Times New Roman"/>
                <a:cs typeface="Times New Roman"/>
              </a:rPr>
              <a:t>d</a:t>
            </a:r>
            <a:r>
              <a:rPr sz="1850" i="1" spc="20" dirty="0">
                <a:latin typeface="Times New Roman"/>
                <a:cs typeface="Times New Roman"/>
              </a:rPr>
              <a:t>x</a:t>
            </a:r>
            <a:r>
              <a:rPr sz="1850" i="1" spc="45" dirty="0">
                <a:latin typeface="Times New Roman"/>
                <a:cs typeface="Times New Roman"/>
              </a:rPr>
              <a:t> </a:t>
            </a:r>
            <a:r>
              <a:rPr sz="1850" spc="25" dirty="0">
                <a:latin typeface="Symbol"/>
                <a:cs typeface="Symbol"/>
              </a:rPr>
              <a:t></a:t>
            </a:r>
            <a:r>
              <a:rPr sz="1850" spc="110" dirty="0">
                <a:latin typeface="Times New Roman"/>
                <a:cs typeface="Times New Roman"/>
              </a:rPr>
              <a:t> </a:t>
            </a:r>
            <a:r>
              <a:rPr sz="4125" spc="367" baseline="-13131" dirty="0">
                <a:latin typeface="Symbol"/>
                <a:cs typeface="Symbol"/>
              </a:rPr>
              <a:t></a:t>
            </a:r>
            <a:r>
              <a:rPr sz="1850" spc="-165" dirty="0">
                <a:latin typeface="Times New Roman"/>
                <a:cs typeface="Times New Roman"/>
              </a:rPr>
              <a:t>(</a:t>
            </a:r>
            <a:r>
              <a:rPr sz="1850" spc="114" dirty="0">
                <a:latin typeface="Times New Roman"/>
                <a:cs typeface="Times New Roman"/>
              </a:rPr>
              <a:t>1</a:t>
            </a:r>
            <a:r>
              <a:rPr sz="1850" spc="25" dirty="0">
                <a:latin typeface="Symbol"/>
                <a:cs typeface="Symbol"/>
              </a:rPr>
              <a:t></a:t>
            </a:r>
            <a:r>
              <a:rPr sz="1850" spc="25" dirty="0">
                <a:latin typeface="Times New Roman"/>
                <a:cs typeface="Times New Roman"/>
              </a:rPr>
              <a:t> </a:t>
            </a:r>
            <a:r>
              <a:rPr sz="1850" i="1" spc="35" dirty="0">
                <a:latin typeface="Times New Roman"/>
                <a:cs typeface="Times New Roman"/>
              </a:rPr>
              <a:t>p</a:t>
            </a:r>
            <a:r>
              <a:rPr sz="1850" spc="-110" dirty="0">
                <a:latin typeface="Times New Roman"/>
                <a:cs typeface="Times New Roman"/>
              </a:rPr>
              <a:t>(</a:t>
            </a:r>
            <a:r>
              <a:rPr sz="1950" spc="125" dirty="0">
                <a:latin typeface="Symbol"/>
                <a:cs typeface="Symbol"/>
              </a:rPr>
              <a:t></a:t>
            </a:r>
            <a:r>
              <a:rPr sz="1850" spc="120" dirty="0">
                <a:latin typeface="Times New Roman"/>
                <a:cs typeface="Times New Roman"/>
              </a:rPr>
              <a:t>(</a:t>
            </a:r>
            <a:r>
              <a:rPr sz="1850" i="1" spc="25" dirty="0">
                <a:latin typeface="Times New Roman"/>
                <a:cs typeface="Times New Roman"/>
              </a:rPr>
              <a:t>x</a:t>
            </a:r>
            <a:r>
              <a:rPr sz="1850" spc="15" dirty="0">
                <a:latin typeface="Times New Roman"/>
                <a:cs typeface="Times New Roman"/>
              </a:rPr>
              <a:t>)</a:t>
            </a:r>
            <a:r>
              <a:rPr sz="1850" spc="-195" dirty="0">
                <a:latin typeface="Times New Roman"/>
                <a:cs typeface="Times New Roman"/>
              </a:rPr>
              <a:t> </a:t>
            </a:r>
            <a:r>
              <a:rPr sz="1850" spc="5" dirty="0">
                <a:latin typeface="Times New Roman"/>
                <a:cs typeface="Times New Roman"/>
              </a:rPr>
              <a:t>|</a:t>
            </a:r>
            <a:r>
              <a:rPr sz="1850" spc="-50" dirty="0">
                <a:latin typeface="Times New Roman"/>
                <a:cs typeface="Times New Roman"/>
              </a:rPr>
              <a:t> </a:t>
            </a:r>
            <a:r>
              <a:rPr sz="1850" i="1" spc="30" dirty="0">
                <a:latin typeface="Times New Roman"/>
                <a:cs typeface="Times New Roman"/>
              </a:rPr>
              <a:t>x</a:t>
            </a:r>
            <a:r>
              <a:rPr sz="1850" dirty="0">
                <a:latin typeface="Times New Roman"/>
                <a:cs typeface="Times New Roman"/>
              </a:rPr>
              <a:t>)</a:t>
            </a:r>
            <a:r>
              <a:rPr sz="1850" spc="15" dirty="0">
                <a:latin typeface="Times New Roman"/>
                <a:cs typeface="Times New Roman"/>
              </a:rPr>
              <a:t>)</a:t>
            </a:r>
            <a:r>
              <a:rPr sz="1850" spc="-220" dirty="0">
                <a:latin typeface="Times New Roman"/>
                <a:cs typeface="Times New Roman"/>
              </a:rPr>
              <a:t> </a:t>
            </a:r>
            <a:r>
              <a:rPr sz="1850" i="1" spc="35" dirty="0">
                <a:latin typeface="Times New Roman"/>
                <a:cs typeface="Times New Roman"/>
              </a:rPr>
              <a:t>p</a:t>
            </a:r>
            <a:r>
              <a:rPr sz="1850" spc="114" dirty="0">
                <a:latin typeface="Times New Roman"/>
                <a:cs typeface="Times New Roman"/>
              </a:rPr>
              <a:t>(</a:t>
            </a:r>
            <a:r>
              <a:rPr sz="1850" i="1" spc="30" dirty="0">
                <a:latin typeface="Times New Roman"/>
                <a:cs typeface="Times New Roman"/>
              </a:rPr>
              <a:t>x</a:t>
            </a:r>
            <a:r>
              <a:rPr sz="1850" spc="30" dirty="0">
                <a:latin typeface="Times New Roman"/>
                <a:cs typeface="Times New Roman"/>
              </a:rPr>
              <a:t>)</a:t>
            </a:r>
            <a:r>
              <a:rPr sz="1850" i="1" spc="40" dirty="0">
                <a:latin typeface="Times New Roman"/>
                <a:cs typeface="Times New Roman"/>
              </a:rPr>
              <a:t>dx</a:t>
            </a:r>
            <a:endParaRPr sz="1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0302" y="259207"/>
            <a:ext cx="47815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Fase</a:t>
            </a:r>
            <a:r>
              <a:rPr spc="30" dirty="0"/>
              <a:t> </a:t>
            </a:r>
            <a:r>
              <a:rPr dirty="0"/>
              <a:t>Data</a:t>
            </a:r>
            <a:r>
              <a:rPr spc="35" dirty="0"/>
              <a:t> </a:t>
            </a:r>
            <a:r>
              <a:rPr spc="-10" dirty="0"/>
              <a:t>Training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4591" y="1333881"/>
            <a:ext cx="7842884" cy="940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Microsoft Sans Serif"/>
                <a:cs typeface="Microsoft Sans Serif"/>
              </a:rPr>
              <a:t>Contoh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Dataset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(Ikan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Salmon &amp;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Sea Bass)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:</a:t>
            </a:r>
            <a:endParaRPr sz="2000">
              <a:latin typeface="Microsoft Sans Serif"/>
              <a:cs typeface="Microsoft Sans Serif"/>
            </a:endParaRPr>
          </a:p>
          <a:p>
            <a:pPr marL="355600" marR="5080">
              <a:lnSpc>
                <a:spcPct val="100000"/>
              </a:lnSpc>
            </a:pPr>
            <a:r>
              <a:rPr sz="2000" spc="-5" dirty="0">
                <a:latin typeface="Microsoft Sans Serif"/>
                <a:cs typeface="Microsoft Sans Serif"/>
              </a:rPr>
              <a:t>(Misal</a:t>
            </a:r>
            <a:r>
              <a:rPr sz="200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hanya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menggunakan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1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fitur,</a:t>
            </a:r>
            <a:r>
              <a:rPr sz="200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yaitu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“Width”)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Wingdings"/>
                <a:cs typeface="Wingdings"/>
              </a:rPr>
              <a:t>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menggunakan </a:t>
            </a:r>
            <a:r>
              <a:rPr sz="2000" spc="-5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konsep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Risk/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Cost.</a:t>
            </a:r>
            <a:endParaRPr sz="2000">
              <a:latin typeface="Microsoft Sans Serif"/>
              <a:cs typeface="Microsoft Sans Serif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62025" y="2338387"/>
          <a:ext cx="2962275" cy="252262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0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6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1876">
                <a:tc>
                  <a:txBody>
                    <a:bodyPr/>
                    <a:lstStyle/>
                    <a:p>
                      <a:pPr marL="19685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900" spc="340" dirty="0">
                          <a:latin typeface="Calibri"/>
                          <a:cs typeface="Calibri"/>
                        </a:rPr>
                        <a:t>No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BADFE2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900" spc="245" dirty="0">
                          <a:latin typeface="Calibri"/>
                          <a:cs typeface="Calibri"/>
                        </a:rPr>
                        <a:t>(Width)</a:t>
                      </a:r>
                      <a:r>
                        <a:rPr sz="900" spc="10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235" dirty="0">
                          <a:latin typeface="Calibri"/>
                          <a:cs typeface="Calibri"/>
                        </a:rPr>
                        <a:t>sebagai</a:t>
                      </a:r>
                      <a:r>
                        <a:rPr sz="900" spc="1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215" dirty="0">
                          <a:latin typeface="Calibri"/>
                          <a:cs typeface="Calibri"/>
                        </a:rPr>
                        <a:t>Fitur</a:t>
                      </a:r>
                      <a:r>
                        <a:rPr sz="9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270" dirty="0">
                          <a:latin typeface="Calibri"/>
                          <a:cs typeface="Calibri"/>
                        </a:rPr>
                        <a:t>1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BADFE2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20002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900" spc="240" dirty="0">
                          <a:latin typeface="Calibri"/>
                          <a:cs typeface="Calibri"/>
                        </a:rPr>
                        <a:t>Kelas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120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BADFE2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7101"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1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9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14300" algn="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900" spc="275" dirty="0">
                          <a:latin typeface="Calibri"/>
                          <a:cs typeface="Calibri"/>
                        </a:rPr>
                        <a:t>Salmon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7101"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900" spc="210" dirty="0">
                          <a:latin typeface="Calibri"/>
                          <a:cs typeface="Calibri"/>
                        </a:rPr>
                        <a:t>11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900" spc="275" dirty="0">
                          <a:latin typeface="Calibri"/>
                          <a:cs typeface="Calibri"/>
                        </a:rPr>
                        <a:t>Sea</a:t>
                      </a:r>
                      <a:r>
                        <a:rPr sz="9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229" dirty="0">
                          <a:latin typeface="Calibri"/>
                          <a:cs typeface="Calibri"/>
                        </a:rPr>
                        <a:t>Bass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6997">
                <a:tc>
                  <a:txBody>
                    <a:bodyPr/>
                    <a:lstStyle/>
                    <a:p>
                      <a:pPr marL="11430" algn="ctr">
                        <a:lnSpc>
                          <a:spcPts val="1080"/>
                        </a:lnSpc>
                        <a:spcBef>
                          <a:spcPts val="55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3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0" algn="ctr">
                        <a:lnSpc>
                          <a:spcPts val="1080"/>
                        </a:lnSpc>
                        <a:spcBef>
                          <a:spcPts val="55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9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ts val="1080"/>
                        </a:lnSpc>
                        <a:spcBef>
                          <a:spcPts val="55"/>
                        </a:spcBef>
                      </a:pPr>
                      <a:r>
                        <a:rPr sz="900" spc="275" dirty="0">
                          <a:latin typeface="Calibri"/>
                          <a:cs typeface="Calibri"/>
                        </a:rPr>
                        <a:t>Sea</a:t>
                      </a:r>
                      <a:r>
                        <a:rPr sz="9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229" dirty="0">
                          <a:latin typeface="Calibri"/>
                          <a:cs typeface="Calibri"/>
                        </a:rPr>
                        <a:t>Bass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6945">
                <a:tc>
                  <a:txBody>
                    <a:bodyPr/>
                    <a:lstStyle/>
                    <a:p>
                      <a:pPr marL="11430" algn="ctr">
                        <a:lnSpc>
                          <a:spcPts val="1080"/>
                        </a:lnSpc>
                        <a:spcBef>
                          <a:spcPts val="55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4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80"/>
                        </a:lnSpc>
                        <a:spcBef>
                          <a:spcPts val="55"/>
                        </a:spcBef>
                      </a:pPr>
                      <a:r>
                        <a:rPr sz="900" spc="210" dirty="0">
                          <a:latin typeface="Calibri"/>
                          <a:cs typeface="Calibri"/>
                        </a:rPr>
                        <a:t>12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14300" algn="r">
                        <a:lnSpc>
                          <a:spcPts val="1080"/>
                        </a:lnSpc>
                        <a:spcBef>
                          <a:spcPts val="55"/>
                        </a:spcBef>
                      </a:pPr>
                      <a:r>
                        <a:rPr sz="900" spc="275" dirty="0">
                          <a:latin typeface="Calibri"/>
                          <a:cs typeface="Calibri"/>
                        </a:rPr>
                        <a:t>Salmon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7101">
                <a:tc>
                  <a:txBody>
                    <a:bodyPr/>
                    <a:lstStyle/>
                    <a:p>
                      <a:pPr marL="13970" algn="ctr">
                        <a:lnSpc>
                          <a:spcPts val="1080"/>
                        </a:lnSpc>
                        <a:spcBef>
                          <a:spcPts val="6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.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7101">
                <a:tc>
                  <a:txBody>
                    <a:bodyPr/>
                    <a:lstStyle/>
                    <a:p>
                      <a:pPr marL="13970" algn="ctr">
                        <a:lnSpc>
                          <a:spcPts val="1080"/>
                        </a:lnSpc>
                        <a:spcBef>
                          <a:spcPts val="6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.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7101">
                <a:tc>
                  <a:txBody>
                    <a:bodyPr/>
                    <a:lstStyle/>
                    <a:p>
                      <a:pPr marL="13970" algn="ctr">
                        <a:lnSpc>
                          <a:spcPts val="1080"/>
                        </a:lnSpc>
                        <a:spcBef>
                          <a:spcPts val="60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.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7101"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.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7117"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.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710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6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710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5710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5710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1838">
                <a:tc>
                  <a:txBody>
                    <a:bodyPr/>
                    <a:lstStyle/>
                    <a:p>
                      <a:pPr marL="26670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900" dirty="0">
                          <a:latin typeface="Calibri"/>
                          <a:cs typeface="Calibri"/>
                        </a:rPr>
                        <a:t>M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BADF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900" spc="210" dirty="0">
                          <a:latin typeface="Calibri"/>
                          <a:cs typeface="Calibri"/>
                        </a:rPr>
                        <a:t>15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BADF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900" spc="275" dirty="0">
                          <a:latin typeface="Calibri"/>
                          <a:cs typeface="Calibri"/>
                        </a:rPr>
                        <a:t>Sea</a:t>
                      </a:r>
                      <a:r>
                        <a:rPr sz="9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900" spc="229" dirty="0">
                          <a:latin typeface="Calibri"/>
                          <a:cs typeface="Calibri"/>
                        </a:rPr>
                        <a:t>Bass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BADFE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1550" y="2347848"/>
            <a:ext cx="2965450" cy="2520950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4140200" y="2349373"/>
            <a:ext cx="4716780" cy="2592705"/>
            <a:chOff x="4140200" y="2349373"/>
            <a:chExt cx="4716780" cy="259270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59401" y="2349373"/>
              <a:ext cx="3997325" cy="2592451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4140200" y="2652960"/>
              <a:ext cx="719455" cy="257175"/>
            </a:xfrm>
            <a:custGeom>
              <a:avLst/>
              <a:gdLst/>
              <a:ahLst/>
              <a:cxnLst/>
              <a:rect l="l" t="t" r="r" b="b"/>
              <a:pathLst>
                <a:path w="719454" h="257175">
                  <a:moveTo>
                    <a:pt x="605944" y="128339"/>
                  </a:moveTo>
                  <a:lnTo>
                    <a:pt x="476758" y="203650"/>
                  </a:lnTo>
                  <a:lnTo>
                    <a:pt x="468239" y="211226"/>
                  </a:lnTo>
                  <a:lnTo>
                    <a:pt x="463470" y="221112"/>
                  </a:lnTo>
                  <a:lnTo>
                    <a:pt x="462774" y="232046"/>
                  </a:lnTo>
                  <a:lnTo>
                    <a:pt x="466471" y="242766"/>
                  </a:lnTo>
                  <a:lnTo>
                    <a:pt x="473973" y="251213"/>
                  </a:lnTo>
                  <a:lnTo>
                    <a:pt x="483822" y="255958"/>
                  </a:lnTo>
                  <a:lnTo>
                    <a:pt x="494742" y="256678"/>
                  </a:lnTo>
                  <a:lnTo>
                    <a:pt x="505460" y="253053"/>
                  </a:lnTo>
                  <a:lnTo>
                    <a:pt x="670325" y="156914"/>
                  </a:lnTo>
                  <a:lnTo>
                    <a:pt x="662559" y="156914"/>
                  </a:lnTo>
                  <a:lnTo>
                    <a:pt x="662559" y="152977"/>
                  </a:lnTo>
                  <a:lnTo>
                    <a:pt x="648208" y="152977"/>
                  </a:lnTo>
                  <a:lnTo>
                    <a:pt x="605944" y="128339"/>
                  </a:lnTo>
                  <a:close/>
                </a:path>
                <a:path w="719454" h="257175">
                  <a:moveTo>
                    <a:pt x="556927" y="99764"/>
                  </a:moveTo>
                  <a:lnTo>
                    <a:pt x="0" y="99764"/>
                  </a:lnTo>
                  <a:lnTo>
                    <a:pt x="0" y="156914"/>
                  </a:lnTo>
                  <a:lnTo>
                    <a:pt x="556927" y="156914"/>
                  </a:lnTo>
                  <a:lnTo>
                    <a:pt x="605944" y="128339"/>
                  </a:lnTo>
                  <a:lnTo>
                    <a:pt x="556927" y="99764"/>
                  </a:lnTo>
                  <a:close/>
                </a:path>
                <a:path w="719454" h="257175">
                  <a:moveTo>
                    <a:pt x="670325" y="99764"/>
                  </a:moveTo>
                  <a:lnTo>
                    <a:pt x="662559" y="99764"/>
                  </a:lnTo>
                  <a:lnTo>
                    <a:pt x="662559" y="156914"/>
                  </a:lnTo>
                  <a:lnTo>
                    <a:pt x="670325" y="156914"/>
                  </a:lnTo>
                  <a:lnTo>
                    <a:pt x="719327" y="128339"/>
                  </a:lnTo>
                  <a:lnTo>
                    <a:pt x="670325" y="99764"/>
                  </a:lnTo>
                  <a:close/>
                </a:path>
                <a:path w="719454" h="257175">
                  <a:moveTo>
                    <a:pt x="648208" y="103701"/>
                  </a:moveTo>
                  <a:lnTo>
                    <a:pt x="605944" y="128339"/>
                  </a:lnTo>
                  <a:lnTo>
                    <a:pt x="648208" y="152977"/>
                  </a:lnTo>
                  <a:lnTo>
                    <a:pt x="648208" y="103701"/>
                  </a:lnTo>
                  <a:close/>
                </a:path>
                <a:path w="719454" h="257175">
                  <a:moveTo>
                    <a:pt x="662559" y="103701"/>
                  </a:moveTo>
                  <a:lnTo>
                    <a:pt x="648208" y="103701"/>
                  </a:lnTo>
                  <a:lnTo>
                    <a:pt x="648208" y="152977"/>
                  </a:lnTo>
                  <a:lnTo>
                    <a:pt x="662559" y="152977"/>
                  </a:lnTo>
                  <a:lnTo>
                    <a:pt x="662559" y="103701"/>
                  </a:lnTo>
                  <a:close/>
                </a:path>
                <a:path w="719454" h="257175">
                  <a:moveTo>
                    <a:pt x="494742" y="0"/>
                  </a:moveTo>
                  <a:lnTo>
                    <a:pt x="483822" y="720"/>
                  </a:lnTo>
                  <a:lnTo>
                    <a:pt x="473973" y="5464"/>
                  </a:lnTo>
                  <a:lnTo>
                    <a:pt x="466471" y="13912"/>
                  </a:lnTo>
                  <a:lnTo>
                    <a:pt x="462774" y="24632"/>
                  </a:lnTo>
                  <a:lnTo>
                    <a:pt x="463470" y="35565"/>
                  </a:lnTo>
                  <a:lnTo>
                    <a:pt x="468239" y="45452"/>
                  </a:lnTo>
                  <a:lnTo>
                    <a:pt x="476758" y="53028"/>
                  </a:lnTo>
                  <a:lnTo>
                    <a:pt x="605944" y="128339"/>
                  </a:lnTo>
                  <a:lnTo>
                    <a:pt x="648208" y="103701"/>
                  </a:lnTo>
                  <a:lnTo>
                    <a:pt x="662559" y="103701"/>
                  </a:lnTo>
                  <a:lnTo>
                    <a:pt x="662559" y="99764"/>
                  </a:lnTo>
                  <a:lnTo>
                    <a:pt x="670325" y="99764"/>
                  </a:lnTo>
                  <a:lnTo>
                    <a:pt x="505460" y="3625"/>
                  </a:lnTo>
                  <a:lnTo>
                    <a:pt x="4947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71550" y="5108575"/>
            <a:ext cx="6783451" cy="12731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170302" y="259207"/>
            <a:ext cx="47815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Fase</a:t>
            </a:r>
            <a:r>
              <a:rPr spc="30" dirty="0"/>
              <a:t> </a:t>
            </a:r>
            <a:r>
              <a:rPr dirty="0"/>
              <a:t>Data</a:t>
            </a:r>
            <a:r>
              <a:rPr spc="35" dirty="0"/>
              <a:t> </a:t>
            </a:r>
            <a:r>
              <a:rPr spc="-10" dirty="0"/>
              <a:t>Training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64591" y="1333881"/>
            <a:ext cx="7929245" cy="9404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Microsoft Sans Serif"/>
                <a:cs typeface="Microsoft Sans Serif"/>
              </a:rPr>
              <a:t>Contoh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Dataset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(Smurf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or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Troll)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:</a:t>
            </a:r>
            <a:endParaRPr sz="2000">
              <a:latin typeface="Microsoft Sans Serif"/>
              <a:cs typeface="Microsoft Sans Serif"/>
            </a:endParaRPr>
          </a:p>
          <a:p>
            <a:pPr marL="355600" marR="5080">
              <a:lnSpc>
                <a:spcPct val="100000"/>
              </a:lnSpc>
            </a:pPr>
            <a:r>
              <a:rPr sz="2000" spc="-5" dirty="0">
                <a:latin typeface="Microsoft Sans Serif"/>
                <a:cs typeface="Microsoft Sans Serif"/>
              </a:rPr>
              <a:t>(Misal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hanya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menggunakan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1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fitur,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yaitu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“Height”)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Wingdings"/>
                <a:cs typeface="Wingdings"/>
              </a:rPr>
              <a:t>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menggunakan </a:t>
            </a:r>
            <a:r>
              <a:rPr sz="2000" spc="-5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konsep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i="1" dirty="0">
                <a:latin typeface="Arial"/>
                <a:cs typeface="Arial"/>
              </a:rPr>
              <a:t>univariate</a:t>
            </a:r>
            <a:r>
              <a:rPr sz="2000" i="1" spc="-3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normal</a:t>
            </a:r>
            <a:r>
              <a:rPr sz="2000" i="1" spc="-1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distribution</a:t>
            </a:r>
            <a:r>
              <a:rPr sz="2000" dirty="0">
                <a:latin typeface="Microsoft Sans Serif"/>
                <a:cs typeface="Microsoft Sans Serif"/>
              </a:rPr>
              <a:t>.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4591" y="5833668"/>
            <a:ext cx="6649084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Microsoft Sans Serif"/>
                <a:cs typeface="Microsoft Sans Serif"/>
              </a:rPr>
              <a:t>Jika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Height</a:t>
            </a:r>
            <a:r>
              <a:rPr sz="2400" spc="5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=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2”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,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tentukan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kelas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Creaturenya</a:t>
            </a:r>
            <a:r>
              <a:rPr sz="2400" spc="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!</a:t>
            </a:r>
            <a:endParaRPr sz="2400">
              <a:latin typeface="Microsoft Sans Serif"/>
              <a:cs typeface="Microsoft Sans Serif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965200" y="2395601"/>
          <a:ext cx="3024505" cy="29256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3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0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63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Height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Creature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2.70”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Smurf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2.52”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Smurf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63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2.57”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Smurf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2.22”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Smurf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3.16”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35" dirty="0">
                          <a:latin typeface="Calibri"/>
                          <a:cs typeface="Calibri"/>
                        </a:rPr>
                        <a:t>Troll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3.58”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35" dirty="0">
                          <a:latin typeface="Calibri"/>
                          <a:cs typeface="Calibri"/>
                        </a:rPr>
                        <a:t>Troll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63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3.16”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35" dirty="0">
                          <a:latin typeface="Calibri"/>
                          <a:cs typeface="Calibri"/>
                        </a:rPr>
                        <a:t>Troll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92575" y="2421001"/>
            <a:ext cx="4583176" cy="29527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937" y="15875"/>
            <a:ext cx="9136380" cy="1079500"/>
            <a:chOff x="7937" y="15875"/>
            <a:chExt cx="9136380" cy="10795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37" y="15875"/>
              <a:ext cx="9136062" cy="10795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949" y="260375"/>
              <a:ext cx="708025" cy="53502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170302" y="259207"/>
            <a:ext cx="47815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Fase</a:t>
            </a:r>
            <a:r>
              <a:rPr spc="30" dirty="0"/>
              <a:t> </a:t>
            </a:r>
            <a:r>
              <a:rPr dirty="0"/>
              <a:t>Data</a:t>
            </a:r>
            <a:r>
              <a:rPr spc="35" dirty="0"/>
              <a:t> </a:t>
            </a:r>
            <a:r>
              <a:rPr spc="-10" dirty="0"/>
              <a:t>Training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64591" y="1333881"/>
            <a:ext cx="7929245" cy="16725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Microsoft Sans Serif"/>
                <a:cs typeface="Microsoft Sans Serif"/>
              </a:rPr>
              <a:t>Contoh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Dataset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(Smurf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or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Troll)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:</a:t>
            </a:r>
            <a:endParaRPr sz="2000">
              <a:latin typeface="Microsoft Sans Serif"/>
              <a:cs typeface="Microsoft Sans Serif"/>
            </a:endParaRPr>
          </a:p>
          <a:p>
            <a:pPr marL="355600" marR="5080">
              <a:lnSpc>
                <a:spcPct val="100000"/>
              </a:lnSpc>
            </a:pPr>
            <a:r>
              <a:rPr sz="2000" spc="-5" dirty="0">
                <a:latin typeface="Microsoft Sans Serif"/>
                <a:cs typeface="Microsoft Sans Serif"/>
              </a:rPr>
              <a:t>(Misal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hanya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menggunakan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1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fitur,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yaitu</a:t>
            </a:r>
            <a:r>
              <a:rPr sz="2000" spc="3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“Height”)</a:t>
            </a:r>
            <a:r>
              <a:rPr sz="200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Wingdings"/>
                <a:cs typeface="Wingdings"/>
              </a:rPr>
              <a:t>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menggunakan </a:t>
            </a:r>
            <a:r>
              <a:rPr sz="2000" spc="-5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konsep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i="1" dirty="0">
                <a:latin typeface="Arial"/>
                <a:cs typeface="Arial"/>
              </a:rPr>
              <a:t>univariate</a:t>
            </a:r>
            <a:r>
              <a:rPr sz="2000" i="1" spc="-2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normal</a:t>
            </a:r>
            <a:r>
              <a:rPr sz="2000" i="1" spc="-1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distribution</a:t>
            </a:r>
            <a:r>
              <a:rPr sz="2000" dirty="0">
                <a:latin typeface="Microsoft Sans Serif"/>
                <a:cs typeface="Microsoft Sans Serif"/>
              </a:rPr>
              <a:t>.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Microsoft Sans Serif"/>
                <a:cs typeface="Microsoft Sans Serif"/>
              </a:rPr>
              <a:t>Langkah-langkah</a:t>
            </a:r>
            <a:r>
              <a:rPr sz="2000" spc="-4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penyelesaian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: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  <a:tabLst>
                <a:tab pos="469265" algn="l"/>
              </a:tabLst>
            </a:pPr>
            <a:r>
              <a:rPr sz="2000" dirty="0">
                <a:latin typeface="Microsoft Sans Serif"/>
                <a:cs typeface="Microsoft Sans Serif"/>
              </a:rPr>
              <a:t>1.	Menghitung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STD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dari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trolls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dan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smurfs.</a:t>
            </a:r>
            <a:endParaRPr sz="2000">
              <a:latin typeface="Microsoft Sans Serif"/>
              <a:cs typeface="Microsoft Sans Serif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00112" y="2997263"/>
            <a:ext cx="6624574" cy="342417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0302" y="259207"/>
            <a:ext cx="47815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Fase</a:t>
            </a:r>
            <a:r>
              <a:rPr spc="30" dirty="0"/>
              <a:t> </a:t>
            </a:r>
            <a:r>
              <a:rPr dirty="0"/>
              <a:t>Data</a:t>
            </a:r>
            <a:r>
              <a:rPr spc="35" dirty="0"/>
              <a:t> </a:t>
            </a:r>
            <a:r>
              <a:rPr spc="-10" dirty="0"/>
              <a:t>Training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4591" y="1333881"/>
            <a:ext cx="7929245" cy="16725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Microsoft Sans Serif"/>
                <a:cs typeface="Microsoft Sans Serif"/>
              </a:rPr>
              <a:t>Contoh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Dataset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(Smurf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or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Troll)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:</a:t>
            </a:r>
            <a:endParaRPr sz="2000">
              <a:latin typeface="Microsoft Sans Serif"/>
              <a:cs typeface="Microsoft Sans Serif"/>
            </a:endParaRPr>
          </a:p>
          <a:p>
            <a:pPr marL="355600" marR="5080">
              <a:lnSpc>
                <a:spcPct val="100000"/>
              </a:lnSpc>
            </a:pPr>
            <a:r>
              <a:rPr sz="2000" spc="-5" dirty="0">
                <a:latin typeface="Microsoft Sans Serif"/>
                <a:cs typeface="Microsoft Sans Serif"/>
              </a:rPr>
              <a:t>(Misal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hanya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menggunakan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1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fitur,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yaitu</a:t>
            </a:r>
            <a:r>
              <a:rPr sz="2000" spc="3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“Height”)</a:t>
            </a:r>
            <a:r>
              <a:rPr sz="200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Wingdings"/>
                <a:cs typeface="Wingdings"/>
              </a:rPr>
              <a:t>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menggunakan </a:t>
            </a:r>
            <a:r>
              <a:rPr sz="2000" spc="-5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konsep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i="1" dirty="0">
                <a:latin typeface="Arial"/>
                <a:cs typeface="Arial"/>
              </a:rPr>
              <a:t>univariate</a:t>
            </a:r>
            <a:r>
              <a:rPr sz="2000" i="1" spc="-2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normal</a:t>
            </a:r>
            <a:r>
              <a:rPr sz="2000" i="1" spc="-1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distribution</a:t>
            </a:r>
            <a:r>
              <a:rPr sz="2000" dirty="0">
                <a:latin typeface="Microsoft Sans Serif"/>
                <a:cs typeface="Microsoft Sans Serif"/>
              </a:rPr>
              <a:t>.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Microsoft Sans Serif"/>
                <a:cs typeface="Microsoft Sans Serif"/>
              </a:rPr>
              <a:t>Langkah-langkah</a:t>
            </a:r>
            <a:r>
              <a:rPr sz="2000" spc="-4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penyelesaian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: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  <a:tabLst>
                <a:tab pos="433070" algn="l"/>
              </a:tabLst>
            </a:pPr>
            <a:r>
              <a:rPr sz="2000" dirty="0">
                <a:latin typeface="Microsoft Sans Serif"/>
                <a:cs typeface="Microsoft Sans Serif"/>
              </a:rPr>
              <a:t>2.	Menghitung Prob.</a:t>
            </a:r>
            <a:r>
              <a:rPr sz="2000" spc="-5" dirty="0">
                <a:latin typeface="Microsoft Sans Serif"/>
                <a:cs typeface="Microsoft Sans Serif"/>
              </a:rPr>
              <a:t> Likelihood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dari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trolls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dan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smurfs.</a:t>
            </a:r>
            <a:endParaRPr sz="20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1187" y="2852737"/>
            <a:ext cx="6337300" cy="3606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0302" y="259207"/>
            <a:ext cx="47815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Fase</a:t>
            </a:r>
            <a:r>
              <a:rPr spc="30" dirty="0"/>
              <a:t> </a:t>
            </a:r>
            <a:r>
              <a:rPr dirty="0"/>
              <a:t>Data</a:t>
            </a:r>
            <a:r>
              <a:rPr spc="35" dirty="0"/>
              <a:t> </a:t>
            </a:r>
            <a:r>
              <a:rPr spc="-10" dirty="0"/>
              <a:t>Training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4591" y="1333881"/>
            <a:ext cx="7929245" cy="16725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54965" algn="l"/>
                <a:tab pos="355600" algn="l"/>
              </a:tabLst>
            </a:pPr>
            <a:r>
              <a:rPr sz="2000" dirty="0">
                <a:latin typeface="Microsoft Sans Serif"/>
                <a:cs typeface="Microsoft Sans Serif"/>
              </a:rPr>
              <a:t>Contoh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Dataset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(Smurf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or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Troll)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:</a:t>
            </a:r>
            <a:endParaRPr sz="2000">
              <a:latin typeface="Microsoft Sans Serif"/>
              <a:cs typeface="Microsoft Sans Serif"/>
            </a:endParaRPr>
          </a:p>
          <a:p>
            <a:pPr marL="355600" marR="5080">
              <a:lnSpc>
                <a:spcPct val="100000"/>
              </a:lnSpc>
            </a:pPr>
            <a:r>
              <a:rPr sz="2000" spc="-5" dirty="0">
                <a:latin typeface="Microsoft Sans Serif"/>
                <a:cs typeface="Microsoft Sans Serif"/>
              </a:rPr>
              <a:t>(Misal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hanya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menggunakan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1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fitur,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yaitu</a:t>
            </a:r>
            <a:r>
              <a:rPr sz="2000" spc="3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“Height”)</a:t>
            </a:r>
            <a:r>
              <a:rPr sz="200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Wingdings"/>
                <a:cs typeface="Wingdings"/>
              </a:rPr>
              <a:t>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menggunakan </a:t>
            </a:r>
            <a:r>
              <a:rPr sz="2000" spc="-5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konsep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i="1" dirty="0">
                <a:latin typeface="Arial"/>
                <a:cs typeface="Arial"/>
              </a:rPr>
              <a:t>univariate</a:t>
            </a:r>
            <a:r>
              <a:rPr sz="2000" i="1" spc="-2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normal</a:t>
            </a:r>
            <a:r>
              <a:rPr sz="2000" i="1" spc="-15" dirty="0">
                <a:latin typeface="Arial"/>
                <a:cs typeface="Arial"/>
              </a:rPr>
              <a:t> </a:t>
            </a:r>
            <a:r>
              <a:rPr sz="2000" i="1" dirty="0">
                <a:latin typeface="Arial"/>
                <a:cs typeface="Arial"/>
              </a:rPr>
              <a:t>distribution</a:t>
            </a:r>
            <a:r>
              <a:rPr sz="2000" dirty="0">
                <a:latin typeface="Microsoft Sans Serif"/>
                <a:cs typeface="Microsoft Sans Serif"/>
              </a:rPr>
              <a:t>.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latin typeface="Microsoft Sans Serif"/>
                <a:cs typeface="Microsoft Sans Serif"/>
              </a:rPr>
              <a:t>Langkah-langkah</a:t>
            </a:r>
            <a:r>
              <a:rPr sz="2000" spc="-4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penyelesaian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: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  <a:tabLst>
                <a:tab pos="469265" algn="l"/>
              </a:tabLst>
            </a:pPr>
            <a:r>
              <a:rPr sz="2000" dirty="0">
                <a:latin typeface="Microsoft Sans Serif"/>
                <a:cs typeface="Microsoft Sans Serif"/>
              </a:rPr>
              <a:t>3.	Menghitung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Prob.</a:t>
            </a:r>
            <a:r>
              <a:rPr sz="2000" spc="-5" dirty="0">
                <a:latin typeface="Microsoft Sans Serif"/>
                <a:cs typeface="Microsoft Sans Serif"/>
              </a:rPr>
              <a:t> Prior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dari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trolls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dan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smurfs.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4591" y="4504435"/>
            <a:ext cx="7797800" cy="1734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</a:tabLst>
            </a:pPr>
            <a:r>
              <a:rPr sz="2000" dirty="0">
                <a:latin typeface="Microsoft Sans Serif"/>
                <a:cs typeface="Microsoft Sans Serif"/>
              </a:rPr>
              <a:t>4.	Sehingga didapatkan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Prob.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Posterior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berikut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:</a:t>
            </a:r>
            <a:endParaRPr sz="20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950">
              <a:latin typeface="Microsoft Sans Serif"/>
              <a:cs typeface="Microsoft Sans Serif"/>
            </a:endParaRPr>
          </a:p>
          <a:p>
            <a:pPr marL="4203700">
              <a:lnSpc>
                <a:spcPct val="100000"/>
              </a:lnSpc>
            </a:pPr>
            <a:r>
              <a:rPr sz="2000" dirty="0">
                <a:latin typeface="Microsoft Sans Serif"/>
                <a:cs typeface="Microsoft Sans Serif"/>
              </a:rPr>
              <a:t>dan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  <a:tabLst>
                <a:tab pos="605155" algn="l"/>
              </a:tabLst>
            </a:pPr>
            <a:r>
              <a:rPr sz="2000" dirty="0">
                <a:latin typeface="Microsoft Sans Serif"/>
                <a:cs typeface="Microsoft Sans Serif"/>
              </a:rPr>
              <a:t>Jika	P(smurf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|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2”) &gt;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P(troll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|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2”)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maka </a:t>
            </a:r>
            <a:r>
              <a:rPr sz="2000" spc="-5" dirty="0">
                <a:latin typeface="Microsoft Sans Serif"/>
                <a:cs typeface="Microsoft Sans Serif"/>
              </a:rPr>
              <a:t>Height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=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2”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masuk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kelas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Smurf.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Microsoft Sans Serif"/>
                <a:cs typeface="Microsoft Sans Serif"/>
              </a:rPr>
              <a:t>Dan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sebaliknya.</a:t>
            </a:r>
            <a:endParaRPr sz="2000">
              <a:latin typeface="Microsoft Sans Serif"/>
              <a:cs typeface="Microsoft Sans Serif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0112" y="3068701"/>
            <a:ext cx="4248150" cy="14397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7087" y="4803775"/>
            <a:ext cx="3889375" cy="79851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92725" y="4870450"/>
            <a:ext cx="3433699" cy="7905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937" y="15875"/>
            <a:ext cx="9136380" cy="1079500"/>
            <a:chOff x="7937" y="15875"/>
            <a:chExt cx="9136380" cy="10795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37" y="15875"/>
              <a:ext cx="9136062" cy="10795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949" y="260375"/>
              <a:ext cx="708025" cy="53502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170302" y="259207"/>
            <a:ext cx="47815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Fase</a:t>
            </a:r>
            <a:r>
              <a:rPr spc="30" dirty="0"/>
              <a:t> </a:t>
            </a:r>
            <a:r>
              <a:rPr dirty="0"/>
              <a:t>Data</a:t>
            </a:r>
            <a:r>
              <a:rPr spc="35" dirty="0"/>
              <a:t> </a:t>
            </a:r>
            <a:r>
              <a:rPr spc="-10" dirty="0"/>
              <a:t>Training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64591" y="1260874"/>
            <a:ext cx="7405370" cy="119697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Microsoft Sans Serif"/>
                <a:cs typeface="Microsoft Sans Serif"/>
              </a:rPr>
              <a:t>Jika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fiturnya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lebih</a:t>
            </a:r>
            <a:r>
              <a:rPr sz="2400" spc="5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dari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satu,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maka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dapat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digunakan</a:t>
            </a:r>
            <a:r>
              <a:rPr sz="2400" spc="6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:</a:t>
            </a:r>
            <a:endParaRPr sz="2400">
              <a:latin typeface="Microsoft Sans Serif"/>
              <a:cs typeface="Microsoft Sans Serif"/>
            </a:endParaRPr>
          </a:p>
          <a:p>
            <a:pPr marL="469900">
              <a:lnSpc>
                <a:spcPct val="100000"/>
              </a:lnSpc>
              <a:spcBef>
                <a:spcPts val="480"/>
              </a:spcBef>
              <a:tabLst>
                <a:tab pos="756285" algn="l"/>
              </a:tabLst>
            </a:pPr>
            <a:r>
              <a:rPr sz="2000" spc="525" dirty="0">
                <a:latin typeface="Microsoft Sans Serif"/>
                <a:cs typeface="Microsoft Sans Serif"/>
              </a:rPr>
              <a:t>–	</a:t>
            </a:r>
            <a:r>
              <a:rPr sz="2000" dirty="0">
                <a:latin typeface="Microsoft Sans Serif"/>
                <a:cs typeface="Microsoft Sans Serif"/>
              </a:rPr>
              <a:t>Teori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Peluang</a:t>
            </a:r>
            <a:r>
              <a:rPr sz="2000" spc="-5" dirty="0">
                <a:latin typeface="Microsoft Sans Serif"/>
                <a:cs typeface="Microsoft Sans Serif"/>
              </a:rPr>
              <a:t> Biasa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:</a:t>
            </a:r>
            <a:endParaRPr sz="2000">
              <a:latin typeface="Microsoft Sans Serif"/>
              <a:cs typeface="Microsoft Sans Serif"/>
            </a:endParaRPr>
          </a:p>
          <a:p>
            <a:pPr marL="469900">
              <a:lnSpc>
                <a:spcPct val="100000"/>
              </a:lnSpc>
              <a:spcBef>
                <a:spcPts val="484"/>
              </a:spcBef>
            </a:pPr>
            <a:r>
              <a:rPr sz="2000" dirty="0">
                <a:latin typeface="Microsoft Sans Serif"/>
                <a:cs typeface="Microsoft Sans Serif"/>
              </a:rPr>
              <a:t>Contoh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: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21791" y="2492501"/>
            <a:ext cx="136906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Microsoft Sans Serif"/>
                <a:cs typeface="Microsoft Sans Serif"/>
              </a:rPr>
              <a:t>Fi</a:t>
            </a:r>
            <a:r>
              <a:rPr sz="2000" spc="-15" dirty="0">
                <a:latin typeface="Microsoft Sans Serif"/>
                <a:cs typeface="Microsoft Sans Serif"/>
              </a:rPr>
              <a:t>t</a:t>
            </a:r>
            <a:r>
              <a:rPr sz="2000" dirty="0">
                <a:latin typeface="Microsoft Sans Serif"/>
                <a:cs typeface="Microsoft Sans Serif"/>
              </a:rPr>
              <a:t>u</a:t>
            </a:r>
            <a:r>
              <a:rPr sz="2000" spc="5" dirty="0">
                <a:latin typeface="Microsoft Sans Serif"/>
                <a:cs typeface="Microsoft Sans Serif"/>
              </a:rPr>
              <a:t>r</a:t>
            </a:r>
            <a:r>
              <a:rPr sz="2000" dirty="0">
                <a:latin typeface="Microsoft Sans Serif"/>
                <a:cs typeface="Microsoft Sans Serif"/>
              </a:rPr>
              <a:t>(</a:t>
            </a:r>
            <a:r>
              <a:rPr sz="2000" spc="5" dirty="0">
                <a:latin typeface="Microsoft Sans Serif"/>
                <a:cs typeface="Microsoft Sans Serif"/>
              </a:rPr>
              <a:t>R</a:t>
            </a:r>
            <a:r>
              <a:rPr sz="2000" dirty="0">
                <a:latin typeface="Microsoft Sans Serif"/>
                <a:cs typeface="Microsoft Sans Serif"/>
              </a:rPr>
              <a:t>,T</a:t>
            </a:r>
            <a:r>
              <a:rPr sz="2000" spc="-10" dirty="0">
                <a:latin typeface="Microsoft Sans Serif"/>
                <a:cs typeface="Microsoft Sans Serif"/>
              </a:rPr>
              <a:t>,</a:t>
            </a:r>
            <a:r>
              <a:rPr sz="2000" dirty="0">
                <a:latin typeface="Microsoft Sans Serif"/>
                <a:cs typeface="Microsoft Sans Serif"/>
              </a:rPr>
              <a:t>D)  Kelas(C)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90204" y="2492501"/>
            <a:ext cx="422592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Microsoft Sans Serif"/>
                <a:cs typeface="Microsoft Sans Serif"/>
              </a:rPr>
              <a:t>: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rash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(R),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temperature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(T),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dizzy(D).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Microsoft Sans Serif"/>
                <a:cs typeface="Microsoft Sans Serif"/>
              </a:rPr>
              <a:t>: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1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atau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0. (Terdapat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40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data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training)</a:t>
            </a:r>
            <a:endParaRPr sz="2000">
              <a:latin typeface="Microsoft Sans Serif"/>
              <a:cs typeface="Microsoft Sans Serif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71550" y="3284537"/>
            <a:ext cx="2946400" cy="316865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146550" y="3398011"/>
            <a:ext cx="402399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Microsoft Sans Serif"/>
                <a:cs typeface="Microsoft Sans Serif"/>
              </a:rPr>
              <a:t>Fase</a:t>
            </a:r>
            <a:r>
              <a:rPr sz="1800" spc="-40" dirty="0">
                <a:latin typeface="Microsoft Sans Serif"/>
                <a:cs typeface="Microsoft Sans Serif"/>
              </a:rPr>
              <a:t> </a:t>
            </a:r>
            <a:r>
              <a:rPr sz="1800" spc="-15" dirty="0">
                <a:latin typeface="Microsoft Sans Serif"/>
                <a:cs typeface="Microsoft Sans Serif"/>
              </a:rPr>
              <a:t>Training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:</a:t>
            </a:r>
            <a:endParaRPr sz="1800">
              <a:latin typeface="Microsoft Sans Serif"/>
              <a:cs typeface="Microsoft Sans Serif"/>
            </a:endParaRPr>
          </a:p>
          <a:p>
            <a:pPr marL="12700" marR="5080">
              <a:lnSpc>
                <a:spcPct val="100000"/>
              </a:lnSpc>
            </a:pPr>
            <a:r>
              <a:rPr sz="1800" spc="-5" dirty="0">
                <a:latin typeface="Microsoft Sans Serif"/>
                <a:cs typeface="Microsoft Sans Serif"/>
              </a:rPr>
              <a:t>(Meringkas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data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training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sesuai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dengan </a:t>
            </a:r>
            <a:r>
              <a:rPr sz="1800" spc="-46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frekuensi)</a:t>
            </a:r>
            <a:endParaRPr sz="1800">
              <a:latin typeface="Microsoft Sans Serif"/>
              <a:cs typeface="Microsoft Sans Serif"/>
            </a:endParaRPr>
          </a:p>
        </p:txBody>
      </p:sp>
      <p:pic>
        <p:nvPicPr>
          <p:cNvPr id="12" name="object 1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995801" y="4271962"/>
            <a:ext cx="4852924" cy="20891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63267" y="259207"/>
            <a:ext cx="459549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Fase</a:t>
            </a:r>
            <a:r>
              <a:rPr spc="20" dirty="0"/>
              <a:t> </a:t>
            </a:r>
            <a:r>
              <a:rPr dirty="0"/>
              <a:t>Data</a:t>
            </a:r>
            <a:r>
              <a:rPr spc="25" dirty="0"/>
              <a:t> </a:t>
            </a:r>
            <a:r>
              <a:rPr spc="-5" dirty="0"/>
              <a:t>Testing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1891" y="1260874"/>
            <a:ext cx="6345555" cy="140144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68300" indent="-342900">
              <a:lnSpc>
                <a:spcPct val="100000"/>
              </a:lnSpc>
              <a:spcBef>
                <a:spcPts val="675"/>
              </a:spcBef>
              <a:buChar char="•"/>
              <a:tabLst>
                <a:tab pos="367665" algn="l"/>
                <a:tab pos="368300" algn="l"/>
              </a:tabLst>
            </a:pPr>
            <a:r>
              <a:rPr sz="2400" spc="-5" dirty="0">
                <a:latin typeface="Microsoft Sans Serif"/>
                <a:cs typeface="Microsoft Sans Serif"/>
              </a:rPr>
              <a:t>Jika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fiturnya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lebih</a:t>
            </a:r>
            <a:r>
              <a:rPr sz="2400" spc="5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dari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satu,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maka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gunakan</a:t>
            </a:r>
            <a:r>
              <a:rPr sz="2400" spc="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:</a:t>
            </a:r>
            <a:endParaRPr sz="2400">
              <a:latin typeface="Microsoft Sans Serif"/>
              <a:cs typeface="Microsoft Sans Serif"/>
            </a:endParaRPr>
          </a:p>
          <a:p>
            <a:pPr marL="482600">
              <a:lnSpc>
                <a:spcPct val="100000"/>
              </a:lnSpc>
              <a:spcBef>
                <a:spcPts val="480"/>
              </a:spcBef>
              <a:tabLst>
                <a:tab pos="768985" algn="l"/>
              </a:tabLst>
            </a:pPr>
            <a:r>
              <a:rPr sz="2000" spc="525" dirty="0">
                <a:latin typeface="Microsoft Sans Serif"/>
                <a:cs typeface="Microsoft Sans Serif"/>
              </a:rPr>
              <a:t>–	</a:t>
            </a:r>
            <a:r>
              <a:rPr sz="2000" dirty="0">
                <a:latin typeface="Microsoft Sans Serif"/>
                <a:cs typeface="Microsoft Sans Serif"/>
              </a:rPr>
              <a:t>Teori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Peluang</a:t>
            </a:r>
            <a:r>
              <a:rPr sz="2000" spc="-5" dirty="0">
                <a:latin typeface="Microsoft Sans Serif"/>
                <a:cs typeface="Microsoft Sans Serif"/>
              </a:rPr>
              <a:t> Biasa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:</a:t>
            </a:r>
            <a:endParaRPr sz="2000">
              <a:latin typeface="Microsoft Sans Serif"/>
              <a:cs typeface="Microsoft Sans Serif"/>
            </a:endParaRPr>
          </a:p>
          <a:p>
            <a:pPr marL="826769">
              <a:lnSpc>
                <a:spcPct val="100000"/>
              </a:lnSpc>
              <a:spcBef>
                <a:spcPts val="175"/>
              </a:spcBef>
            </a:pPr>
            <a:r>
              <a:rPr sz="1800" spc="-5" dirty="0">
                <a:latin typeface="Microsoft Sans Serif"/>
                <a:cs typeface="Microsoft Sans Serif"/>
              </a:rPr>
              <a:t>Fase</a:t>
            </a:r>
            <a:r>
              <a:rPr sz="1800" spc="-35" dirty="0">
                <a:latin typeface="Microsoft Sans Serif"/>
                <a:cs typeface="Microsoft Sans Serif"/>
              </a:rPr>
              <a:t> Testing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:</a:t>
            </a:r>
            <a:endParaRPr sz="1800">
              <a:latin typeface="Microsoft Sans Serif"/>
              <a:cs typeface="Microsoft Sans Serif"/>
            </a:endParaRPr>
          </a:p>
          <a:p>
            <a:pPr marL="826769">
              <a:lnSpc>
                <a:spcPct val="100000"/>
              </a:lnSpc>
              <a:tabLst>
                <a:tab pos="1728470" algn="l"/>
              </a:tabLst>
            </a:pPr>
            <a:r>
              <a:rPr sz="1800" spc="-5" dirty="0">
                <a:latin typeface="Microsoft Sans Serif"/>
                <a:cs typeface="Microsoft Sans Serif"/>
              </a:rPr>
              <a:t>Data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15" dirty="0">
                <a:latin typeface="Microsoft Sans Serif"/>
                <a:cs typeface="Microsoft Sans Serif"/>
              </a:rPr>
              <a:t>uji	</a:t>
            </a:r>
            <a:r>
              <a:rPr sz="1800" spc="-10" dirty="0">
                <a:latin typeface="Microsoft Sans Serif"/>
                <a:cs typeface="Microsoft Sans Serif"/>
              </a:rPr>
              <a:t>x</a:t>
            </a:r>
            <a:r>
              <a:rPr sz="1800" spc="-15" baseline="25462" dirty="0">
                <a:latin typeface="Microsoft Sans Serif"/>
                <a:cs typeface="Microsoft Sans Serif"/>
              </a:rPr>
              <a:t>1</a:t>
            </a:r>
            <a:r>
              <a:rPr sz="1800" spc="284" baseline="25462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(1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1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1)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x</a:t>
            </a:r>
            <a:r>
              <a:rPr sz="1800" spc="-15" baseline="25462" dirty="0">
                <a:latin typeface="Microsoft Sans Serif"/>
                <a:cs typeface="Microsoft Sans Serif"/>
              </a:rPr>
              <a:t>2</a:t>
            </a:r>
            <a:r>
              <a:rPr sz="1800" spc="30" baseline="25462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(1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0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0)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x</a:t>
            </a:r>
            <a:r>
              <a:rPr sz="1800" spc="-15" baseline="25462" dirty="0">
                <a:latin typeface="Microsoft Sans Serif"/>
                <a:cs typeface="Microsoft Sans Serif"/>
              </a:rPr>
              <a:t>3</a:t>
            </a:r>
            <a:r>
              <a:rPr sz="1800" spc="44" baseline="25462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(0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1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0)</a:t>
            </a:r>
            <a:endParaRPr sz="18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7450" y="2708211"/>
            <a:ext cx="5543550" cy="349415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076825" y="3559175"/>
            <a:ext cx="3792854" cy="147828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92075" marR="925194">
              <a:lnSpc>
                <a:spcPct val="100000"/>
              </a:lnSpc>
              <a:spcBef>
                <a:spcPts val="320"/>
              </a:spcBef>
            </a:pPr>
            <a:r>
              <a:rPr sz="1800" spc="-10" dirty="0">
                <a:latin typeface="Microsoft Sans Serif"/>
                <a:cs typeface="Microsoft Sans Serif"/>
              </a:rPr>
              <a:t>Klasifikasi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didasarkan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pada </a:t>
            </a:r>
            <a:r>
              <a:rPr sz="1800" spc="-459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penghitungan</a:t>
            </a:r>
            <a:r>
              <a:rPr sz="1800" spc="5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probabilitas 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15" dirty="0">
                <a:latin typeface="Microsoft Sans Serif"/>
                <a:cs typeface="Microsoft Sans Serif"/>
              </a:rPr>
              <a:t>posterior.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Misalkan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:</a:t>
            </a:r>
            <a:endParaRPr sz="1800">
              <a:latin typeface="Microsoft Sans Serif"/>
              <a:cs typeface="Microsoft Sans Serif"/>
            </a:endParaRPr>
          </a:p>
          <a:p>
            <a:pPr marL="92075">
              <a:lnSpc>
                <a:spcPct val="100000"/>
              </a:lnSpc>
            </a:pPr>
            <a:r>
              <a:rPr sz="1800" spc="-5" dirty="0">
                <a:latin typeface="Microsoft Sans Serif"/>
                <a:cs typeface="Microsoft Sans Serif"/>
              </a:rPr>
              <a:t>Jika</a:t>
            </a:r>
            <a:r>
              <a:rPr sz="1800" dirty="0">
                <a:latin typeface="Microsoft Sans Serif"/>
                <a:cs typeface="Microsoft Sans Serif"/>
              </a:rPr>
              <a:t> P(C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1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|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X)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&gt;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P(C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0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|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X)</a:t>
            </a:r>
            <a:endParaRPr sz="1800">
              <a:latin typeface="Microsoft Sans Serif"/>
              <a:cs typeface="Microsoft Sans Serif"/>
            </a:endParaRPr>
          </a:p>
          <a:p>
            <a:pPr marL="92075">
              <a:lnSpc>
                <a:spcPct val="100000"/>
              </a:lnSpc>
            </a:pPr>
            <a:r>
              <a:rPr sz="1800" spc="-5" dirty="0">
                <a:latin typeface="Microsoft Sans Serif"/>
                <a:cs typeface="Microsoft Sans Serif"/>
              </a:rPr>
              <a:t>maka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C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1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Jika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tidak,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maka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C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0.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937" y="15875"/>
            <a:ext cx="9136380" cy="1079500"/>
            <a:chOff x="7937" y="15875"/>
            <a:chExt cx="9136380" cy="10795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37" y="15875"/>
              <a:ext cx="9136062" cy="10795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949" y="260375"/>
              <a:ext cx="708025" cy="53502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170302" y="259207"/>
            <a:ext cx="47815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Fase</a:t>
            </a:r>
            <a:r>
              <a:rPr spc="30" dirty="0"/>
              <a:t> </a:t>
            </a:r>
            <a:r>
              <a:rPr dirty="0"/>
              <a:t>Data</a:t>
            </a:r>
            <a:r>
              <a:rPr spc="35" dirty="0"/>
              <a:t> </a:t>
            </a:r>
            <a:r>
              <a:rPr spc="-10" dirty="0"/>
              <a:t>Training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64591" y="1260874"/>
            <a:ext cx="6318250" cy="83058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Microsoft Sans Serif"/>
                <a:cs typeface="Microsoft Sans Serif"/>
              </a:rPr>
              <a:t>Jika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fiturnya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lebih</a:t>
            </a:r>
            <a:r>
              <a:rPr sz="2400" spc="4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dari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satu,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maka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gunakan</a:t>
            </a:r>
            <a:r>
              <a:rPr sz="2400" spc="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:</a:t>
            </a:r>
            <a:endParaRPr sz="2400">
              <a:latin typeface="Microsoft Sans Serif"/>
              <a:cs typeface="Microsoft Sans Serif"/>
            </a:endParaRPr>
          </a:p>
          <a:p>
            <a:pPr marL="469900">
              <a:lnSpc>
                <a:spcPct val="100000"/>
              </a:lnSpc>
              <a:spcBef>
                <a:spcPts val="480"/>
              </a:spcBef>
              <a:tabLst>
                <a:tab pos="756285" algn="l"/>
              </a:tabLst>
            </a:pPr>
            <a:r>
              <a:rPr sz="2000" spc="525" dirty="0">
                <a:latin typeface="Microsoft Sans Serif"/>
                <a:cs typeface="Microsoft Sans Serif"/>
              </a:rPr>
              <a:t>–	</a:t>
            </a:r>
            <a:r>
              <a:rPr sz="2000" spc="-5" dirty="0">
                <a:latin typeface="Microsoft Sans Serif"/>
                <a:cs typeface="Microsoft Sans Serif"/>
              </a:rPr>
              <a:t>Distribusi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Normal </a:t>
            </a:r>
            <a:r>
              <a:rPr sz="2000" spc="-5" dirty="0">
                <a:latin typeface="Microsoft Sans Serif"/>
                <a:cs typeface="Microsoft Sans Serif"/>
              </a:rPr>
              <a:t>multivariate</a:t>
            </a:r>
            <a:endParaRPr sz="2000">
              <a:latin typeface="Microsoft Sans Serif"/>
              <a:cs typeface="Microsoft Sans Serif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322387" y="2195512"/>
          <a:ext cx="7409813" cy="30242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7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22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737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61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3176">
                <a:tc>
                  <a:txBody>
                    <a:bodyPr/>
                    <a:lstStyle/>
                    <a:p>
                      <a:pPr marR="42545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100" spc="465" dirty="0">
                          <a:latin typeface="Calibri"/>
                          <a:cs typeface="Calibri"/>
                        </a:rPr>
                        <a:t>No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BADFE2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100" spc="335" dirty="0">
                          <a:latin typeface="Calibri"/>
                          <a:cs typeface="Calibri"/>
                        </a:rPr>
                        <a:t>(Width)</a:t>
                      </a:r>
                      <a:r>
                        <a:rPr sz="1100" spc="1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320" dirty="0">
                          <a:latin typeface="Calibri"/>
                          <a:cs typeface="Calibri"/>
                        </a:rPr>
                        <a:t>sebagai</a:t>
                      </a:r>
                      <a:r>
                        <a:rPr sz="1100" spc="1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290" dirty="0">
                          <a:latin typeface="Calibri"/>
                          <a:cs typeface="Calibri"/>
                        </a:rPr>
                        <a:t>Fitur</a:t>
                      </a:r>
                      <a:r>
                        <a:rPr sz="1100" spc="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350" dirty="0">
                          <a:latin typeface="Calibri"/>
                          <a:cs typeface="Calibri"/>
                        </a:rPr>
                        <a:t>ke-1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BADFE2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100" spc="305" dirty="0">
                          <a:latin typeface="Calibri"/>
                          <a:cs typeface="Calibri"/>
                        </a:rPr>
                        <a:t>(Lightness)</a:t>
                      </a:r>
                      <a:r>
                        <a:rPr sz="1100" spc="1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330" dirty="0">
                          <a:latin typeface="Calibri"/>
                          <a:cs typeface="Calibri"/>
                        </a:rPr>
                        <a:t>Sebagai</a:t>
                      </a:r>
                      <a:r>
                        <a:rPr sz="1100" spc="1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290" dirty="0">
                          <a:latin typeface="Calibri"/>
                          <a:cs typeface="Calibri"/>
                        </a:rPr>
                        <a:t>Fitur</a:t>
                      </a:r>
                      <a:r>
                        <a:rPr sz="1100" spc="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350" dirty="0">
                          <a:latin typeface="Calibri"/>
                          <a:cs typeface="Calibri"/>
                        </a:rPr>
                        <a:t>ke-2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BADFE2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100" spc="330" dirty="0">
                          <a:latin typeface="Calibri"/>
                          <a:cs typeface="Calibri"/>
                        </a:rPr>
                        <a:t>Kelas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079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BADFE2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466"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100" spc="285" dirty="0">
                          <a:latin typeface="Calibri"/>
                          <a:cs typeface="Calibri"/>
                        </a:rPr>
                        <a:t>8.4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100" spc="375" dirty="0">
                          <a:latin typeface="Calibri"/>
                          <a:cs typeface="Calibri"/>
                        </a:rPr>
                        <a:t>Salmon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8466"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100" spc="285" dirty="0">
                          <a:latin typeface="Calibri"/>
                          <a:cs typeface="Calibri"/>
                        </a:rPr>
                        <a:t>11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100" spc="285" dirty="0">
                          <a:latin typeface="Calibri"/>
                          <a:cs typeface="Calibri"/>
                        </a:rPr>
                        <a:t>9.7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100" spc="370" dirty="0">
                          <a:latin typeface="Calibri"/>
                          <a:cs typeface="Calibri"/>
                        </a:rPr>
                        <a:t>Sea</a:t>
                      </a:r>
                      <a:r>
                        <a:rPr sz="11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315" dirty="0">
                          <a:latin typeface="Calibri"/>
                          <a:cs typeface="Calibri"/>
                        </a:rPr>
                        <a:t>Bass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8341"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100" spc="285" dirty="0">
                          <a:latin typeface="Calibri"/>
                          <a:cs typeface="Calibri"/>
                        </a:rPr>
                        <a:t>2.6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100" spc="370" dirty="0">
                          <a:latin typeface="Calibri"/>
                          <a:cs typeface="Calibri"/>
                        </a:rPr>
                        <a:t>Sea</a:t>
                      </a:r>
                      <a:r>
                        <a:rPr sz="11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315" dirty="0">
                          <a:latin typeface="Calibri"/>
                          <a:cs typeface="Calibri"/>
                        </a:rPr>
                        <a:t>Bass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8278"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100" spc="285" dirty="0">
                          <a:latin typeface="Calibri"/>
                          <a:cs typeface="Calibri"/>
                        </a:rPr>
                        <a:t>12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130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100" spc="290" dirty="0">
                          <a:latin typeface="Calibri"/>
                          <a:cs typeface="Calibri"/>
                        </a:rPr>
                        <a:t>10.1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100" spc="375" dirty="0">
                          <a:latin typeface="Calibri"/>
                          <a:cs typeface="Calibri"/>
                        </a:rPr>
                        <a:t>Salmon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8466"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8466"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8466"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8466"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8485">
                <a:tc>
                  <a:txBody>
                    <a:bodyPr/>
                    <a:lstStyle/>
                    <a:p>
                      <a:pPr marL="16510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846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815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846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846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846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3203">
                <a:tc>
                  <a:txBody>
                    <a:bodyPr/>
                    <a:lstStyle/>
                    <a:p>
                      <a:pPr marR="80645" algn="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100" dirty="0">
                          <a:latin typeface="Calibri"/>
                          <a:cs typeface="Calibri"/>
                        </a:rPr>
                        <a:t>M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BADF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100" spc="285" dirty="0">
                          <a:latin typeface="Calibri"/>
                          <a:cs typeface="Calibri"/>
                        </a:rPr>
                        <a:t>15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BADF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100" spc="285" dirty="0">
                          <a:latin typeface="Calibri"/>
                          <a:cs typeface="Calibri"/>
                        </a:rPr>
                        <a:t>7.2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BADFE2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100" spc="370" dirty="0">
                          <a:latin typeface="Calibri"/>
                          <a:cs typeface="Calibri"/>
                        </a:rPr>
                        <a:t>Sea</a:t>
                      </a:r>
                      <a:r>
                        <a:rPr sz="1100" spc="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315" dirty="0">
                          <a:latin typeface="Calibri"/>
                          <a:cs typeface="Calibri"/>
                        </a:rPr>
                        <a:t>Bass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BADFE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31975" y="2205101"/>
            <a:ext cx="7416800" cy="302412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16012" y="5445125"/>
            <a:ext cx="7777099" cy="54292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0302" y="259207"/>
            <a:ext cx="47815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Fase</a:t>
            </a:r>
            <a:r>
              <a:rPr spc="30" dirty="0"/>
              <a:t> </a:t>
            </a:r>
            <a:r>
              <a:rPr dirty="0"/>
              <a:t>Data</a:t>
            </a:r>
            <a:r>
              <a:rPr spc="35" dirty="0"/>
              <a:t> </a:t>
            </a:r>
            <a:r>
              <a:rPr spc="-10" dirty="0"/>
              <a:t>Training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4591" y="1260874"/>
            <a:ext cx="6320155" cy="119697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Microsoft Sans Serif"/>
                <a:cs typeface="Microsoft Sans Serif"/>
              </a:rPr>
              <a:t>Jika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fiturnya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lebih</a:t>
            </a:r>
            <a:r>
              <a:rPr sz="2400" spc="4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dari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satu,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maka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gunakan</a:t>
            </a:r>
            <a:r>
              <a:rPr sz="2400" spc="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:</a:t>
            </a:r>
            <a:endParaRPr sz="2400">
              <a:latin typeface="Microsoft Sans Serif"/>
              <a:cs typeface="Microsoft Sans Serif"/>
            </a:endParaRPr>
          </a:p>
          <a:p>
            <a:pPr marL="469900">
              <a:lnSpc>
                <a:spcPct val="100000"/>
              </a:lnSpc>
              <a:spcBef>
                <a:spcPts val="480"/>
              </a:spcBef>
              <a:tabLst>
                <a:tab pos="756285" algn="l"/>
              </a:tabLst>
            </a:pPr>
            <a:r>
              <a:rPr sz="2000" spc="525" dirty="0">
                <a:latin typeface="Microsoft Sans Serif"/>
                <a:cs typeface="Microsoft Sans Serif"/>
              </a:rPr>
              <a:t>–	</a:t>
            </a:r>
            <a:r>
              <a:rPr sz="2000" spc="-5" dirty="0">
                <a:latin typeface="Microsoft Sans Serif"/>
                <a:cs typeface="Microsoft Sans Serif"/>
              </a:rPr>
              <a:t>Distribusi</a:t>
            </a:r>
            <a:r>
              <a:rPr sz="2000" dirty="0">
                <a:latin typeface="Microsoft Sans Serif"/>
                <a:cs typeface="Microsoft Sans Serif"/>
              </a:rPr>
              <a:t> Normal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multivariate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(Data </a:t>
            </a:r>
            <a:r>
              <a:rPr sz="2000" spc="-5" dirty="0">
                <a:latin typeface="Microsoft Sans Serif"/>
                <a:cs typeface="Microsoft Sans Serif"/>
              </a:rPr>
              <a:t>Kontinyu)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:</a:t>
            </a:r>
            <a:endParaRPr sz="2000">
              <a:latin typeface="Microsoft Sans Serif"/>
              <a:cs typeface="Microsoft Sans Serif"/>
            </a:endParaRPr>
          </a:p>
          <a:p>
            <a:pPr marL="469900">
              <a:lnSpc>
                <a:spcPct val="100000"/>
              </a:lnSpc>
              <a:spcBef>
                <a:spcPts val="484"/>
              </a:spcBef>
            </a:pPr>
            <a:r>
              <a:rPr sz="2000" dirty="0">
                <a:latin typeface="Microsoft Sans Serif"/>
                <a:cs typeface="Microsoft Sans Serif"/>
              </a:rPr>
              <a:t>Contoh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: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21791" y="5419140"/>
            <a:ext cx="7146925" cy="636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20035" algn="l"/>
              </a:tabLst>
            </a:pPr>
            <a:r>
              <a:rPr sz="2000" dirty="0">
                <a:latin typeface="Microsoft Sans Serif"/>
                <a:cs typeface="Microsoft Sans Serif"/>
              </a:rPr>
              <a:t>Jika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diketahui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“Curvatur	</a:t>
            </a:r>
            <a:r>
              <a:rPr sz="2000" spc="-5" dirty="0">
                <a:latin typeface="Microsoft Sans Serif"/>
                <a:cs typeface="Microsoft Sans Serif"/>
              </a:rPr>
              <a:t>Chip</a:t>
            </a:r>
            <a:r>
              <a:rPr sz="200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Ring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= </a:t>
            </a:r>
            <a:r>
              <a:rPr sz="2000" spc="-5" dirty="0">
                <a:latin typeface="Microsoft Sans Serif"/>
                <a:cs typeface="Microsoft Sans Serif"/>
              </a:rPr>
              <a:t>2.81”</a:t>
            </a:r>
            <a:r>
              <a:rPr sz="2000" dirty="0">
                <a:latin typeface="Microsoft Sans Serif"/>
                <a:cs typeface="Microsoft Sans Serif"/>
              </a:rPr>
              <a:t> dan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“Diameter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Chip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000" spc="-5" dirty="0">
                <a:latin typeface="Microsoft Sans Serif"/>
                <a:cs typeface="Microsoft Sans Serif"/>
              </a:rPr>
              <a:t>Ring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= </a:t>
            </a:r>
            <a:r>
              <a:rPr sz="2000" spc="-5" dirty="0">
                <a:latin typeface="Microsoft Sans Serif"/>
                <a:cs typeface="Microsoft Sans Serif"/>
              </a:rPr>
              <a:t>5.46”</a:t>
            </a:r>
            <a:r>
              <a:rPr sz="2000" dirty="0">
                <a:latin typeface="Microsoft Sans Serif"/>
                <a:cs typeface="Microsoft Sans Serif"/>
              </a:rPr>
              <a:t> maka,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Tentukan kelas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Quality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Control</a:t>
            </a:r>
            <a:r>
              <a:rPr sz="2000" dirty="0">
                <a:latin typeface="Microsoft Sans Serif"/>
                <a:cs typeface="Microsoft Sans Serif"/>
              </a:rPr>
              <a:t> Result-nya?</a:t>
            </a:r>
            <a:endParaRPr sz="2000">
              <a:latin typeface="Microsoft Sans Serif"/>
              <a:cs typeface="Microsoft Sans Serif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068387" y="2559050"/>
          <a:ext cx="7013575" cy="26943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17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15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Curvature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Diameter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Quality</a:t>
                      </a:r>
                      <a:r>
                        <a:rPr sz="16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Control</a:t>
                      </a:r>
                      <a:r>
                        <a:rPr sz="1600" b="1" spc="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Result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15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2.95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6.63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Passed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15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2.53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7.79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Passed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15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3.57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5.65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Passed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15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3.57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5.45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10" dirty="0">
                          <a:latin typeface="Calibri"/>
                          <a:cs typeface="Calibri"/>
                        </a:rPr>
                        <a:t>Passed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3.16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4.46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passed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15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2.58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6.22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passed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15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2.16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3.52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5" dirty="0">
                          <a:latin typeface="Calibri"/>
                          <a:cs typeface="Calibri"/>
                        </a:rPr>
                        <a:t>Not</a:t>
                      </a:r>
                      <a:r>
                        <a:rPr sz="16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10" dirty="0">
                          <a:latin typeface="Calibri"/>
                          <a:cs typeface="Calibri"/>
                        </a:rPr>
                        <a:t>passed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0D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0302" y="259207"/>
            <a:ext cx="47815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Fase</a:t>
            </a:r>
            <a:r>
              <a:rPr spc="30" dirty="0"/>
              <a:t> </a:t>
            </a:r>
            <a:r>
              <a:rPr dirty="0"/>
              <a:t>Data</a:t>
            </a:r>
            <a:r>
              <a:rPr spc="35" dirty="0"/>
              <a:t> </a:t>
            </a:r>
            <a:r>
              <a:rPr spc="-10" dirty="0"/>
              <a:t>Training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4591" y="1260874"/>
            <a:ext cx="6320155" cy="207327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Microsoft Sans Serif"/>
                <a:cs typeface="Microsoft Sans Serif"/>
              </a:rPr>
              <a:t>Jika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fiturnya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lebih</a:t>
            </a:r>
            <a:r>
              <a:rPr sz="2400" spc="4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dari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satu,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maka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gunakan</a:t>
            </a:r>
            <a:r>
              <a:rPr sz="2400" spc="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:</a:t>
            </a:r>
            <a:endParaRPr sz="2400">
              <a:latin typeface="Microsoft Sans Serif"/>
              <a:cs typeface="Microsoft Sans Serif"/>
            </a:endParaRPr>
          </a:p>
          <a:p>
            <a:pPr marL="469900">
              <a:lnSpc>
                <a:spcPct val="100000"/>
              </a:lnSpc>
              <a:spcBef>
                <a:spcPts val="480"/>
              </a:spcBef>
              <a:tabLst>
                <a:tab pos="756285" algn="l"/>
              </a:tabLst>
            </a:pPr>
            <a:r>
              <a:rPr sz="2000" spc="525" dirty="0">
                <a:latin typeface="Microsoft Sans Serif"/>
                <a:cs typeface="Microsoft Sans Serif"/>
              </a:rPr>
              <a:t>–	</a:t>
            </a:r>
            <a:r>
              <a:rPr sz="2000" spc="-5" dirty="0">
                <a:latin typeface="Microsoft Sans Serif"/>
                <a:cs typeface="Microsoft Sans Serif"/>
              </a:rPr>
              <a:t>Distribusi</a:t>
            </a:r>
            <a:r>
              <a:rPr sz="2000" dirty="0">
                <a:latin typeface="Microsoft Sans Serif"/>
                <a:cs typeface="Microsoft Sans Serif"/>
              </a:rPr>
              <a:t> Normal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multivariate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(Data </a:t>
            </a:r>
            <a:r>
              <a:rPr sz="2000" spc="-5" dirty="0">
                <a:latin typeface="Microsoft Sans Serif"/>
                <a:cs typeface="Microsoft Sans Serif"/>
              </a:rPr>
              <a:t>Kontinyu)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:</a:t>
            </a:r>
            <a:endParaRPr sz="2000">
              <a:latin typeface="Microsoft Sans Serif"/>
              <a:cs typeface="Microsoft Sans Serif"/>
            </a:endParaRPr>
          </a:p>
          <a:p>
            <a:pPr marL="469900">
              <a:lnSpc>
                <a:spcPct val="100000"/>
              </a:lnSpc>
              <a:spcBef>
                <a:spcPts val="484"/>
              </a:spcBef>
            </a:pPr>
            <a:r>
              <a:rPr sz="2000" dirty="0">
                <a:latin typeface="Microsoft Sans Serif"/>
                <a:cs typeface="Microsoft Sans Serif"/>
              </a:rPr>
              <a:t>Fase</a:t>
            </a:r>
            <a:r>
              <a:rPr sz="2000" spc="-5" dirty="0">
                <a:latin typeface="Microsoft Sans Serif"/>
                <a:cs typeface="Microsoft Sans Serif"/>
              </a:rPr>
              <a:t> Training </a:t>
            </a:r>
            <a:r>
              <a:rPr sz="2000" dirty="0">
                <a:latin typeface="Microsoft Sans Serif"/>
                <a:cs typeface="Microsoft Sans Serif"/>
              </a:rPr>
              <a:t>:</a:t>
            </a:r>
            <a:endParaRPr sz="2000">
              <a:latin typeface="Microsoft Sans Serif"/>
              <a:cs typeface="Microsoft Sans Serif"/>
            </a:endParaRPr>
          </a:p>
          <a:p>
            <a:pPr marL="569595">
              <a:lnSpc>
                <a:spcPct val="100000"/>
              </a:lnSpc>
              <a:spcBef>
                <a:spcPts val="1830"/>
              </a:spcBef>
            </a:pPr>
            <a:r>
              <a:rPr sz="1800" dirty="0">
                <a:latin typeface="Microsoft Sans Serif"/>
                <a:cs typeface="Microsoft Sans Serif"/>
              </a:rPr>
              <a:t>X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features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(variables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independent)</a:t>
            </a:r>
            <a:endParaRPr sz="1800">
              <a:latin typeface="Microsoft Sans Serif"/>
              <a:cs typeface="Microsoft Sans Serif"/>
            </a:endParaRPr>
          </a:p>
          <a:p>
            <a:pPr marL="560070">
              <a:lnSpc>
                <a:spcPct val="100000"/>
              </a:lnSpc>
              <a:spcBef>
                <a:spcPts val="755"/>
              </a:spcBef>
            </a:pPr>
            <a:r>
              <a:rPr sz="1800" dirty="0">
                <a:latin typeface="Microsoft Sans Serif"/>
                <a:cs typeface="Microsoft Sans Serif"/>
              </a:rPr>
              <a:t>Y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Kelas/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Group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(variables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dependent)</a:t>
            </a:r>
            <a:endParaRPr sz="1800">
              <a:latin typeface="Microsoft Sans Serif"/>
              <a:cs typeface="Microsoft Sans Serif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2987" y="3867150"/>
            <a:ext cx="3528949" cy="265747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867402" y="3591814"/>
            <a:ext cx="3924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66264" algn="l"/>
              </a:tabLst>
            </a:pPr>
            <a:r>
              <a:rPr sz="1800" dirty="0">
                <a:latin typeface="Microsoft Sans Serif"/>
                <a:cs typeface="Microsoft Sans Serif"/>
              </a:rPr>
              <a:t>2.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Memisahkan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x	</a:t>
            </a:r>
            <a:r>
              <a:rPr sz="1800" spc="-5" dirty="0">
                <a:latin typeface="Microsoft Sans Serif"/>
                <a:cs typeface="Microsoft Sans Serif"/>
              </a:rPr>
              <a:t>berdasarkan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group </a:t>
            </a:r>
            <a:r>
              <a:rPr sz="1800" dirty="0">
                <a:latin typeface="Microsoft Sans Serif"/>
                <a:cs typeface="Microsoft Sans Serif"/>
              </a:rPr>
              <a:t>:</a:t>
            </a:r>
            <a:endParaRPr sz="1800">
              <a:latin typeface="Microsoft Sans Serif"/>
              <a:cs typeface="Microsoft Sans Serif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32426" y="3933761"/>
            <a:ext cx="3970274" cy="218287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122070" y="3529660"/>
            <a:ext cx="21209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Microsoft Sans Serif"/>
                <a:cs typeface="Microsoft Sans Serif"/>
              </a:rPr>
              <a:t>1.</a:t>
            </a:r>
            <a:r>
              <a:rPr sz="180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Labeling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Dataset</a:t>
            </a:r>
            <a:r>
              <a:rPr sz="1800" dirty="0">
                <a:latin typeface="Microsoft Sans Serif"/>
                <a:cs typeface="Microsoft Sans Serif"/>
              </a:rPr>
              <a:t> :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937" y="15875"/>
            <a:ext cx="9136380" cy="1079500"/>
            <a:chOff x="7937" y="15875"/>
            <a:chExt cx="9136380" cy="10795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37" y="15875"/>
              <a:ext cx="9136062" cy="10795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949" y="260375"/>
              <a:ext cx="708025" cy="53502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170302" y="259207"/>
            <a:ext cx="47815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Fase</a:t>
            </a:r>
            <a:r>
              <a:rPr spc="30" dirty="0"/>
              <a:t> </a:t>
            </a:r>
            <a:r>
              <a:rPr dirty="0"/>
              <a:t>Data</a:t>
            </a:r>
            <a:r>
              <a:rPr spc="35" dirty="0"/>
              <a:t> </a:t>
            </a:r>
            <a:r>
              <a:rPr spc="-10" dirty="0"/>
              <a:t>Training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64591" y="1260874"/>
            <a:ext cx="6320155" cy="207327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Microsoft Sans Serif"/>
                <a:cs typeface="Microsoft Sans Serif"/>
              </a:rPr>
              <a:t>Jika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fiturnya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lebih</a:t>
            </a:r>
            <a:r>
              <a:rPr sz="2400" spc="4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dari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satu,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maka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gunakan</a:t>
            </a:r>
            <a:r>
              <a:rPr sz="2400" spc="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:</a:t>
            </a:r>
            <a:endParaRPr sz="2400">
              <a:latin typeface="Microsoft Sans Serif"/>
              <a:cs typeface="Microsoft Sans Serif"/>
            </a:endParaRPr>
          </a:p>
          <a:p>
            <a:pPr marL="469900">
              <a:lnSpc>
                <a:spcPct val="100000"/>
              </a:lnSpc>
              <a:spcBef>
                <a:spcPts val="480"/>
              </a:spcBef>
              <a:tabLst>
                <a:tab pos="756285" algn="l"/>
              </a:tabLst>
            </a:pPr>
            <a:r>
              <a:rPr sz="2000" spc="525" dirty="0">
                <a:latin typeface="Microsoft Sans Serif"/>
                <a:cs typeface="Microsoft Sans Serif"/>
              </a:rPr>
              <a:t>–	</a:t>
            </a:r>
            <a:r>
              <a:rPr sz="2000" spc="-5" dirty="0">
                <a:latin typeface="Microsoft Sans Serif"/>
                <a:cs typeface="Microsoft Sans Serif"/>
              </a:rPr>
              <a:t>Distribusi</a:t>
            </a:r>
            <a:r>
              <a:rPr sz="2000" dirty="0">
                <a:latin typeface="Microsoft Sans Serif"/>
                <a:cs typeface="Microsoft Sans Serif"/>
              </a:rPr>
              <a:t> Normal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multivariate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(Data </a:t>
            </a:r>
            <a:r>
              <a:rPr sz="2000" spc="-5" dirty="0">
                <a:latin typeface="Microsoft Sans Serif"/>
                <a:cs typeface="Microsoft Sans Serif"/>
              </a:rPr>
              <a:t>Kontinyu)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:</a:t>
            </a:r>
            <a:endParaRPr sz="2000">
              <a:latin typeface="Microsoft Sans Serif"/>
              <a:cs typeface="Microsoft Sans Serif"/>
            </a:endParaRPr>
          </a:p>
          <a:p>
            <a:pPr marL="469900">
              <a:lnSpc>
                <a:spcPct val="100000"/>
              </a:lnSpc>
              <a:spcBef>
                <a:spcPts val="484"/>
              </a:spcBef>
            </a:pPr>
            <a:r>
              <a:rPr sz="2000" dirty="0">
                <a:latin typeface="Microsoft Sans Serif"/>
                <a:cs typeface="Microsoft Sans Serif"/>
              </a:rPr>
              <a:t>Fase</a:t>
            </a:r>
            <a:r>
              <a:rPr sz="2000" spc="-5" dirty="0">
                <a:latin typeface="Microsoft Sans Serif"/>
                <a:cs typeface="Microsoft Sans Serif"/>
              </a:rPr>
              <a:t> Training </a:t>
            </a:r>
            <a:r>
              <a:rPr sz="2000" dirty="0">
                <a:latin typeface="Microsoft Sans Serif"/>
                <a:cs typeface="Microsoft Sans Serif"/>
              </a:rPr>
              <a:t>:</a:t>
            </a:r>
            <a:endParaRPr sz="2000">
              <a:latin typeface="Microsoft Sans Serif"/>
              <a:cs typeface="Microsoft Sans Serif"/>
            </a:endParaRPr>
          </a:p>
          <a:p>
            <a:pPr marL="569595">
              <a:lnSpc>
                <a:spcPct val="100000"/>
              </a:lnSpc>
              <a:spcBef>
                <a:spcPts val="1830"/>
              </a:spcBef>
            </a:pPr>
            <a:r>
              <a:rPr sz="1800" dirty="0">
                <a:latin typeface="Microsoft Sans Serif"/>
                <a:cs typeface="Microsoft Sans Serif"/>
              </a:rPr>
              <a:t>X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features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(variables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independent)</a:t>
            </a:r>
            <a:endParaRPr sz="1800">
              <a:latin typeface="Microsoft Sans Serif"/>
              <a:cs typeface="Microsoft Sans Serif"/>
            </a:endParaRPr>
          </a:p>
          <a:p>
            <a:pPr marL="560070">
              <a:lnSpc>
                <a:spcPct val="100000"/>
              </a:lnSpc>
              <a:spcBef>
                <a:spcPts val="755"/>
              </a:spcBef>
            </a:pPr>
            <a:r>
              <a:rPr sz="1800" dirty="0">
                <a:latin typeface="Microsoft Sans Serif"/>
                <a:cs typeface="Microsoft Sans Serif"/>
              </a:rPr>
              <a:t>Y</a:t>
            </a:r>
            <a:r>
              <a:rPr sz="1800" spc="-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Kelas/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Group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(variables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dependent)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42002" y="3866133"/>
            <a:ext cx="23545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Microsoft Sans Serif"/>
                <a:cs typeface="Microsoft Sans Serif"/>
              </a:rPr>
              <a:t>(x</a:t>
            </a:r>
            <a:r>
              <a:rPr sz="1800" spc="-15" baseline="-20833" dirty="0">
                <a:latin typeface="Microsoft Sans Serif"/>
                <a:cs typeface="Microsoft Sans Serif"/>
              </a:rPr>
              <a:t>i</a:t>
            </a:r>
            <a:r>
              <a:rPr sz="1800" spc="262" baseline="-20833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minus</a:t>
            </a:r>
            <a:r>
              <a:rPr sz="180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mean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global)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22070" y="3529660"/>
            <a:ext cx="335026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Microsoft Sans Serif"/>
                <a:cs typeface="Microsoft Sans Serif"/>
              </a:rPr>
              <a:t>3.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Hitung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5" dirty="0">
                <a:latin typeface="Microsoft Sans Serif"/>
                <a:cs typeface="Microsoft Sans Serif"/>
              </a:rPr>
              <a:t>μi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mean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features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dari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latin typeface="Microsoft Sans Serif"/>
                <a:cs typeface="Microsoft Sans Serif"/>
              </a:rPr>
              <a:t>group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15" dirty="0">
                <a:latin typeface="Microsoft Sans Serif"/>
                <a:cs typeface="Microsoft Sans Serif"/>
              </a:rPr>
              <a:t>i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dan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35" dirty="0">
                <a:latin typeface="Microsoft Sans Serif"/>
                <a:cs typeface="Microsoft Sans Serif"/>
              </a:rPr>
              <a:t>μ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mean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15" dirty="0">
                <a:latin typeface="Microsoft Sans Serif"/>
                <a:cs typeface="Microsoft Sans Serif"/>
              </a:rPr>
              <a:t>global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028700" y="4171886"/>
            <a:ext cx="7791450" cy="1381760"/>
            <a:chOff x="1028700" y="4171886"/>
            <a:chExt cx="7791450" cy="1381760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28700" y="4171886"/>
              <a:ext cx="4048125" cy="59213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30300" y="4745037"/>
              <a:ext cx="2060575" cy="56038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799076" y="4221225"/>
              <a:ext cx="4021074" cy="1331849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6157401" y="3712561"/>
            <a:ext cx="93980" cy="2679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00" i="1" spc="90" dirty="0">
                <a:latin typeface="Times New Roman"/>
                <a:cs typeface="Times New Roman"/>
              </a:rPr>
              <a:t>i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842002" y="3480459"/>
            <a:ext cx="3505200" cy="4419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380365" algn="l"/>
              </a:tabLst>
            </a:pPr>
            <a:r>
              <a:rPr sz="2700" spc="-7" baseline="1543" dirty="0">
                <a:latin typeface="Microsoft Sans Serif"/>
                <a:cs typeface="Microsoft Sans Serif"/>
              </a:rPr>
              <a:t>4</a:t>
            </a:r>
            <a:r>
              <a:rPr sz="2700" baseline="1543" dirty="0">
                <a:latin typeface="Microsoft Sans Serif"/>
                <a:cs typeface="Microsoft Sans Serif"/>
              </a:rPr>
              <a:t>.	</a:t>
            </a:r>
            <a:r>
              <a:rPr sz="2700" spc="-15" baseline="1543" dirty="0">
                <a:latin typeface="Microsoft Sans Serif"/>
                <a:cs typeface="Microsoft Sans Serif"/>
              </a:rPr>
              <a:t>H</a:t>
            </a:r>
            <a:r>
              <a:rPr sz="2700" spc="-22" baseline="1543" dirty="0">
                <a:latin typeface="Microsoft Sans Serif"/>
                <a:cs typeface="Microsoft Sans Serif"/>
              </a:rPr>
              <a:t>i</a:t>
            </a:r>
            <a:r>
              <a:rPr sz="2700" spc="-7" baseline="1543" dirty="0">
                <a:latin typeface="Microsoft Sans Serif"/>
                <a:cs typeface="Microsoft Sans Serif"/>
              </a:rPr>
              <a:t>tu</a:t>
            </a:r>
            <a:r>
              <a:rPr sz="2700" spc="-22" baseline="1543" dirty="0">
                <a:latin typeface="Microsoft Sans Serif"/>
                <a:cs typeface="Microsoft Sans Serif"/>
              </a:rPr>
              <a:t>n</a:t>
            </a:r>
            <a:r>
              <a:rPr sz="2700" spc="-7" baseline="1543" dirty="0">
                <a:latin typeface="Microsoft Sans Serif"/>
                <a:cs typeface="Microsoft Sans Serif"/>
              </a:rPr>
              <a:t>g</a:t>
            </a:r>
            <a:r>
              <a:rPr sz="2700" spc="150" baseline="1543" dirty="0">
                <a:latin typeface="Microsoft Sans Serif"/>
                <a:cs typeface="Microsoft Sans Serif"/>
              </a:rPr>
              <a:t> </a:t>
            </a:r>
            <a:r>
              <a:rPr sz="2700" i="1" spc="275" dirty="0">
                <a:latin typeface="Times New Roman"/>
                <a:cs typeface="Times New Roman"/>
              </a:rPr>
              <a:t>x</a:t>
            </a:r>
            <a:r>
              <a:rPr sz="2700" i="1" spc="-315" dirty="0">
                <a:latin typeface="Times New Roman"/>
                <a:cs typeface="Times New Roman"/>
              </a:rPr>
              <a:t> </a:t>
            </a:r>
            <a:r>
              <a:rPr sz="2400" spc="247" baseline="43402" dirty="0">
                <a:latin typeface="Times New Roman"/>
                <a:cs typeface="Times New Roman"/>
              </a:rPr>
              <a:t>0</a:t>
            </a:r>
            <a:r>
              <a:rPr sz="2400" baseline="43402" dirty="0">
                <a:latin typeface="Times New Roman"/>
                <a:cs typeface="Times New Roman"/>
              </a:rPr>
              <a:t> </a:t>
            </a:r>
            <a:r>
              <a:rPr sz="2400" spc="-247" baseline="43402" dirty="0">
                <a:latin typeface="Times New Roman"/>
                <a:cs typeface="Times New Roman"/>
              </a:rPr>
              <a:t> </a:t>
            </a:r>
            <a:r>
              <a:rPr sz="2700" spc="-7" baseline="1543" dirty="0">
                <a:latin typeface="Microsoft Sans Serif"/>
                <a:cs typeface="Microsoft Sans Serif"/>
              </a:rPr>
              <a:t>(Me</a:t>
            </a:r>
            <a:r>
              <a:rPr sz="2700" spc="-22" baseline="1543" dirty="0">
                <a:latin typeface="Microsoft Sans Serif"/>
                <a:cs typeface="Microsoft Sans Serif"/>
              </a:rPr>
              <a:t>a</a:t>
            </a:r>
            <a:r>
              <a:rPr sz="2700" spc="-7" baseline="1543" dirty="0">
                <a:latin typeface="Microsoft Sans Serif"/>
                <a:cs typeface="Microsoft Sans Serif"/>
              </a:rPr>
              <a:t>n</a:t>
            </a:r>
            <a:r>
              <a:rPr sz="2700" spc="30" baseline="1543" dirty="0">
                <a:latin typeface="Microsoft Sans Serif"/>
                <a:cs typeface="Microsoft Sans Serif"/>
              </a:rPr>
              <a:t> </a:t>
            </a:r>
            <a:r>
              <a:rPr sz="2700" spc="-7" baseline="1543" dirty="0">
                <a:latin typeface="Microsoft Sans Serif"/>
                <a:cs typeface="Microsoft Sans Serif"/>
              </a:rPr>
              <a:t>C</a:t>
            </a:r>
            <a:r>
              <a:rPr sz="2700" spc="-22" baseline="1543" dirty="0">
                <a:latin typeface="Microsoft Sans Serif"/>
                <a:cs typeface="Microsoft Sans Serif"/>
              </a:rPr>
              <a:t>o</a:t>
            </a:r>
            <a:r>
              <a:rPr sz="2700" spc="-7" baseline="1543" dirty="0">
                <a:latin typeface="Microsoft Sans Serif"/>
                <a:cs typeface="Microsoft Sans Serif"/>
              </a:rPr>
              <a:t>rrecte</a:t>
            </a:r>
            <a:r>
              <a:rPr sz="2700" spc="-22" baseline="1543" dirty="0">
                <a:latin typeface="Microsoft Sans Serif"/>
                <a:cs typeface="Microsoft Sans Serif"/>
              </a:rPr>
              <a:t>d</a:t>
            </a:r>
            <a:r>
              <a:rPr sz="2700" spc="-7" baseline="1543" dirty="0">
                <a:latin typeface="Microsoft Sans Serif"/>
                <a:cs typeface="Microsoft Sans Serif"/>
              </a:rPr>
              <a:t>)</a:t>
            </a:r>
            <a:r>
              <a:rPr sz="2700" spc="52" baseline="1543" dirty="0">
                <a:latin typeface="Microsoft Sans Serif"/>
                <a:cs typeface="Microsoft Sans Serif"/>
              </a:rPr>
              <a:t> </a:t>
            </a:r>
            <a:r>
              <a:rPr sz="2700" baseline="1543" dirty="0">
                <a:latin typeface="Microsoft Sans Serif"/>
                <a:cs typeface="Microsoft Sans Serif"/>
              </a:rPr>
              <a:t>:</a:t>
            </a:r>
            <a:endParaRPr sz="2700" baseline="1543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937" y="15875"/>
            <a:ext cx="9136380" cy="1079500"/>
            <a:chOff x="7937" y="15875"/>
            <a:chExt cx="9136380" cy="10795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37" y="15875"/>
              <a:ext cx="9136062" cy="10795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949" y="260375"/>
              <a:ext cx="708025" cy="53502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170302" y="259207"/>
            <a:ext cx="47815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Fase</a:t>
            </a:r>
            <a:r>
              <a:rPr spc="30" dirty="0"/>
              <a:t> </a:t>
            </a:r>
            <a:r>
              <a:rPr dirty="0"/>
              <a:t>Data</a:t>
            </a:r>
            <a:r>
              <a:rPr spc="35" dirty="0"/>
              <a:t> </a:t>
            </a:r>
            <a:r>
              <a:rPr spc="-10" dirty="0"/>
              <a:t>Training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64591" y="1260874"/>
            <a:ext cx="6320155" cy="163195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Microsoft Sans Serif"/>
                <a:cs typeface="Microsoft Sans Serif"/>
              </a:rPr>
              <a:t>Jika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fiturnya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lebih</a:t>
            </a:r>
            <a:r>
              <a:rPr sz="2400" spc="4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dari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satu,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maka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gunakan</a:t>
            </a:r>
            <a:r>
              <a:rPr sz="2400" spc="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:</a:t>
            </a:r>
            <a:endParaRPr sz="2400">
              <a:latin typeface="Microsoft Sans Serif"/>
              <a:cs typeface="Microsoft Sans Serif"/>
            </a:endParaRPr>
          </a:p>
          <a:p>
            <a:pPr marL="469900">
              <a:lnSpc>
                <a:spcPct val="100000"/>
              </a:lnSpc>
              <a:spcBef>
                <a:spcPts val="480"/>
              </a:spcBef>
              <a:tabLst>
                <a:tab pos="756285" algn="l"/>
              </a:tabLst>
            </a:pPr>
            <a:r>
              <a:rPr sz="2000" spc="525" dirty="0">
                <a:latin typeface="Microsoft Sans Serif"/>
                <a:cs typeface="Microsoft Sans Serif"/>
              </a:rPr>
              <a:t>–	</a:t>
            </a:r>
            <a:r>
              <a:rPr sz="2000" spc="-5" dirty="0">
                <a:latin typeface="Microsoft Sans Serif"/>
                <a:cs typeface="Microsoft Sans Serif"/>
              </a:rPr>
              <a:t>Distribusi</a:t>
            </a:r>
            <a:r>
              <a:rPr sz="2000" dirty="0">
                <a:latin typeface="Microsoft Sans Serif"/>
                <a:cs typeface="Microsoft Sans Serif"/>
              </a:rPr>
              <a:t> Normal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multivariate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(Data </a:t>
            </a:r>
            <a:r>
              <a:rPr sz="2000" spc="-5" dirty="0">
                <a:latin typeface="Microsoft Sans Serif"/>
                <a:cs typeface="Microsoft Sans Serif"/>
              </a:rPr>
              <a:t>Kontinyu)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:</a:t>
            </a:r>
            <a:endParaRPr sz="2000">
              <a:latin typeface="Microsoft Sans Serif"/>
              <a:cs typeface="Microsoft Sans Serif"/>
            </a:endParaRPr>
          </a:p>
          <a:p>
            <a:pPr marL="469900">
              <a:lnSpc>
                <a:spcPct val="100000"/>
              </a:lnSpc>
              <a:spcBef>
                <a:spcPts val="484"/>
              </a:spcBef>
            </a:pPr>
            <a:r>
              <a:rPr sz="2000" dirty="0">
                <a:latin typeface="Microsoft Sans Serif"/>
                <a:cs typeface="Microsoft Sans Serif"/>
              </a:rPr>
              <a:t>Fase</a:t>
            </a:r>
            <a:r>
              <a:rPr sz="2000" spc="-5" dirty="0">
                <a:latin typeface="Microsoft Sans Serif"/>
                <a:cs typeface="Microsoft Sans Serif"/>
              </a:rPr>
              <a:t> Training </a:t>
            </a:r>
            <a:r>
              <a:rPr sz="2000" dirty="0">
                <a:latin typeface="Microsoft Sans Serif"/>
                <a:cs typeface="Microsoft Sans Serif"/>
              </a:rPr>
              <a:t>:</a:t>
            </a:r>
            <a:endParaRPr sz="2000">
              <a:latin typeface="Microsoft Sans Serif"/>
              <a:cs typeface="Microsoft Sans Serif"/>
            </a:endParaRPr>
          </a:p>
          <a:p>
            <a:pPr marL="569595">
              <a:lnSpc>
                <a:spcPct val="100000"/>
              </a:lnSpc>
              <a:spcBef>
                <a:spcPts val="1270"/>
              </a:spcBef>
            </a:pPr>
            <a:r>
              <a:rPr sz="1800" dirty="0">
                <a:latin typeface="Microsoft Sans Serif"/>
                <a:cs typeface="Microsoft Sans Serif"/>
              </a:rPr>
              <a:t>5.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Hitung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matrik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Kovarian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group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15" dirty="0">
                <a:latin typeface="Microsoft Sans Serif"/>
                <a:cs typeface="Microsoft Sans Serif"/>
              </a:rPr>
              <a:t>i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268412" y="2965323"/>
            <a:ext cx="2397760" cy="3088005"/>
            <a:chOff x="1268412" y="2965323"/>
            <a:chExt cx="2397760" cy="3088005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68412" y="2965323"/>
              <a:ext cx="2371725" cy="197650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93876" y="4076636"/>
              <a:ext cx="2371725" cy="197650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70302" y="259207"/>
            <a:ext cx="47815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Fase</a:t>
            </a:r>
            <a:r>
              <a:rPr spc="30" dirty="0"/>
              <a:t> </a:t>
            </a:r>
            <a:r>
              <a:rPr dirty="0"/>
              <a:t>Data</a:t>
            </a:r>
            <a:r>
              <a:rPr spc="35" dirty="0"/>
              <a:t> </a:t>
            </a:r>
            <a:r>
              <a:rPr spc="-10" dirty="0"/>
              <a:t>Training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1791" y="6109817"/>
            <a:ext cx="76587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Microsoft Sans Serif"/>
                <a:cs typeface="Microsoft Sans Serif"/>
              </a:rPr>
              <a:t>Sehingga</a:t>
            </a:r>
            <a:r>
              <a:rPr sz="1800" spc="4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didapat</a:t>
            </a:r>
            <a:r>
              <a:rPr sz="1800" spc="50" dirty="0">
                <a:latin typeface="Microsoft Sans Serif"/>
                <a:cs typeface="Microsoft Sans Serif"/>
              </a:rPr>
              <a:t> </a:t>
            </a:r>
            <a:r>
              <a:rPr sz="1800" spc="-15" dirty="0">
                <a:latin typeface="Microsoft Sans Serif"/>
                <a:cs typeface="Microsoft Sans Serif"/>
              </a:rPr>
              <a:t>nilai</a:t>
            </a:r>
            <a:r>
              <a:rPr sz="1800" spc="55" dirty="0">
                <a:latin typeface="Microsoft Sans Serif"/>
                <a:cs typeface="Microsoft Sans Serif"/>
              </a:rPr>
              <a:t> </a:t>
            </a:r>
            <a:r>
              <a:rPr sz="1800" i="1" spc="-5" dirty="0">
                <a:latin typeface="Arial"/>
                <a:cs typeface="Arial"/>
              </a:rPr>
              <a:t>p(2.81,5.46</a:t>
            </a:r>
            <a:r>
              <a:rPr sz="1800" i="1" spc="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| </a:t>
            </a:r>
            <a:r>
              <a:rPr sz="1800" i="1" spc="-5" dirty="0">
                <a:latin typeface="Arial"/>
                <a:cs typeface="Arial"/>
              </a:rPr>
              <a:t>Passed)</a:t>
            </a:r>
            <a:r>
              <a:rPr sz="1800" i="1" spc="25" dirty="0">
                <a:latin typeface="Arial"/>
                <a:cs typeface="Arial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dan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i="1" spc="-5" dirty="0">
                <a:latin typeface="Arial"/>
                <a:cs typeface="Arial"/>
              </a:rPr>
              <a:t>p(2.81,5.46</a:t>
            </a:r>
            <a:r>
              <a:rPr sz="1800" i="1" spc="15" dirty="0">
                <a:latin typeface="Arial"/>
                <a:cs typeface="Arial"/>
              </a:rPr>
              <a:t> </a:t>
            </a:r>
            <a:r>
              <a:rPr sz="1800" i="1" dirty="0">
                <a:latin typeface="Arial"/>
                <a:cs typeface="Arial"/>
              </a:rPr>
              <a:t>| </a:t>
            </a:r>
            <a:r>
              <a:rPr sz="1800" i="1" spc="-5" dirty="0">
                <a:latin typeface="Arial"/>
                <a:cs typeface="Arial"/>
              </a:rPr>
              <a:t>Not_passed)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4591" y="1260874"/>
            <a:ext cx="7071995" cy="165417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Microsoft Sans Serif"/>
                <a:cs typeface="Microsoft Sans Serif"/>
              </a:rPr>
              <a:t>Jika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fiturnya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lebih</a:t>
            </a:r>
            <a:r>
              <a:rPr sz="2400" spc="5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dari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satu,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maka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gunakan</a:t>
            </a:r>
            <a:r>
              <a:rPr sz="2400" spc="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:</a:t>
            </a:r>
            <a:endParaRPr sz="2400">
              <a:latin typeface="Microsoft Sans Serif"/>
              <a:cs typeface="Microsoft Sans Serif"/>
            </a:endParaRPr>
          </a:p>
          <a:p>
            <a:pPr marL="469900">
              <a:lnSpc>
                <a:spcPct val="100000"/>
              </a:lnSpc>
              <a:spcBef>
                <a:spcPts val="480"/>
              </a:spcBef>
              <a:tabLst>
                <a:tab pos="756285" algn="l"/>
              </a:tabLst>
            </a:pPr>
            <a:r>
              <a:rPr sz="2000" spc="525" dirty="0">
                <a:latin typeface="Microsoft Sans Serif"/>
                <a:cs typeface="Microsoft Sans Serif"/>
              </a:rPr>
              <a:t>–	</a:t>
            </a:r>
            <a:r>
              <a:rPr sz="2000" spc="-5" dirty="0">
                <a:latin typeface="Microsoft Sans Serif"/>
                <a:cs typeface="Microsoft Sans Serif"/>
              </a:rPr>
              <a:t>Distribusi</a:t>
            </a:r>
            <a:r>
              <a:rPr sz="2000" dirty="0">
                <a:latin typeface="Microsoft Sans Serif"/>
                <a:cs typeface="Microsoft Sans Serif"/>
              </a:rPr>
              <a:t> Normal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multivariate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(Data </a:t>
            </a:r>
            <a:r>
              <a:rPr sz="2000" spc="-5" dirty="0">
                <a:latin typeface="Microsoft Sans Serif"/>
                <a:cs typeface="Microsoft Sans Serif"/>
              </a:rPr>
              <a:t>Kontinyu)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:</a:t>
            </a:r>
            <a:endParaRPr sz="2000">
              <a:latin typeface="Microsoft Sans Serif"/>
              <a:cs typeface="Microsoft Sans Serif"/>
            </a:endParaRPr>
          </a:p>
          <a:p>
            <a:pPr marL="469900">
              <a:lnSpc>
                <a:spcPct val="100000"/>
              </a:lnSpc>
              <a:spcBef>
                <a:spcPts val="484"/>
              </a:spcBef>
            </a:pPr>
            <a:r>
              <a:rPr sz="2000" dirty="0">
                <a:latin typeface="Microsoft Sans Serif"/>
                <a:cs typeface="Microsoft Sans Serif"/>
              </a:rPr>
              <a:t>Fase</a:t>
            </a:r>
            <a:r>
              <a:rPr sz="2000" spc="-5" dirty="0">
                <a:latin typeface="Microsoft Sans Serif"/>
                <a:cs typeface="Microsoft Sans Serif"/>
              </a:rPr>
              <a:t> Training </a:t>
            </a:r>
            <a:r>
              <a:rPr sz="2000" dirty="0">
                <a:latin typeface="Microsoft Sans Serif"/>
                <a:cs typeface="Microsoft Sans Serif"/>
              </a:rPr>
              <a:t>:</a:t>
            </a:r>
            <a:endParaRPr sz="2000">
              <a:latin typeface="Microsoft Sans Serif"/>
              <a:cs typeface="Microsoft Sans Serif"/>
            </a:endParaRPr>
          </a:p>
          <a:p>
            <a:pPr marL="469900">
              <a:lnSpc>
                <a:spcPct val="100000"/>
              </a:lnSpc>
              <a:spcBef>
                <a:spcPts val="1445"/>
              </a:spcBef>
            </a:pPr>
            <a:r>
              <a:rPr sz="1800" spc="-5" dirty="0">
                <a:latin typeface="Microsoft Sans Serif"/>
                <a:cs typeface="Microsoft Sans Serif"/>
              </a:rPr>
              <a:t>6.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Hitung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Likelihood</a:t>
            </a:r>
            <a:r>
              <a:rPr sz="1800" spc="4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dari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Curvatur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2.81”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dan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“Diameter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5.46”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: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50825" y="2997200"/>
            <a:ext cx="8785225" cy="3095625"/>
            <a:chOff x="250825" y="2997200"/>
            <a:chExt cx="8785225" cy="309562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2987" y="2997200"/>
              <a:ext cx="7777099" cy="54292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0825" y="3500501"/>
              <a:ext cx="8785225" cy="259232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937" y="15875"/>
            <a:ext cx="9136380" cy="1079500"/>
            <a:chOff x="7937" y="15875"/>
            <a:chExt cx="9136380" cy="10795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37" y="15875"/>
              <a:ext cx="9136062" cy="10795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949" y="260375"/>
              <a:ext cx="708025" cy="53502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170302" y="259207"/>
            <a:ext cx="47815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Fase</a:t>
            </a:r>
            <a:r>
              <a:rPr spc="30" dirty="0"/>
              <a:t> </a:t>
            </a:r>
            <a:r>
              <a:rPr dirty="0"/>
              <a:t>Data</a:t>
            </a:r>
            <a:r>
              <a:rPr spc="35" dirty="0"/>
              <a:t> </a:t>
            </a:r>
            <a:r>
              <a:rPr spc="-10" dirty="0"/>
              <a:t>Training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64591" y="1260874"/>
            <a:ext cx="8063230" cy="201676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Microsoft Sans Serif"/>
                <a:cs typeface="Microsoft Sans Serif"/>
              </a:rPr>
              <a:t>Jika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fiturnya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lebih</a:t>
            </a:r>
            <a:r>
              <a:rPr sz="2400" spc="5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dari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satu,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maka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gunakan</a:t>
            </a:r>
            <a:r>
              <a:rPr sz="2400" spc="4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:</a:t>
            </a:r>
            <a:endParaRPr sz="2400">
              <a:latin typeface="Microsoft Sans Serif"/>
              <a:cs typeface="Microsoft Sans Serif"/>
            </a:endParaRPr>
          </a:p>
          <a:p>
            <a:pPr marL="469900">
              <a:lnSpc>
                <a:spcPct val="100000"/>
              </a:lnSpc>
              <a:spcBef>
                <a:spcPts val="480"/>
              </a:spcBef>
              <a:tabLst>
                <a:tab pos="756285" algn="l"/>
              </a:tabLst>
            </a:pPr>
            <a:r>
              <a:rPr sz="2000" spc="525" dirty="0">
                <a:latin typeface="Microsoft Sans Serif"/>
                <a:cs typeface="Microsoft Sans Serif"/>
              </a:rPr>
              <a:t>–	</a:t>
            </a:r>
            <a:r>
              <a:rPr sz="2000" spc="-5" dirty="0">
                <a:latin typeface="Microsoft Sans Serif"/>
                <a:cs typeface="Microsoft Sans Serif"/>
              </a:rPr>
              <a:t>Distribusi</a:t>
            </a:r>
            <a:r>
              <a:rPr sz="2000" dirty="0">
                <a:latin typeface="Microsoft Sans Serif"/>
                <a:cs typeface="Microsoft Sans Serif"/>
              </a:rPr>
              <a:t> Normal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multivariate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(Data </a:t>
            </a:r>
            <a:r>
              <a:rPr sz="2000" spc="-5" dirty="0">
                <a:latin typeface="Microsoft Sans Serif"/>
                <a:cs typeface="Microsoft Sans Serif"/>
              </a:rPr>
              <a:t>Kontinyu)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:</a:t>
            </a:r>
            <a:endParaRPr sz="2000">
              <a:latin typeface="Microsoft Sans Serif"/>
              <a:cs typeface="Microsoft Sans Serif"/>
            </a:endParaRPr>
          </a:p>
          <a:p>
            <a:pPr marL="469900">
              <a:lnSpc>
                <a:spcPct val="100000"/>
              </a:lnSpc>
              <a:spcBef>
                <a:spcPts val="484"/>
              </a:spcBef>
            </a:pPr>
            <a:r>
              <a:rPr sz="2000" dirty="0">
                <a:latin typeface="Microsoft Sans Serif"/>
                <a:cs typeface="Microsoft Sans Serif"/>
              </a:rPr>
              <a:t>Fase</a:t>
            </a:r>
            <a:r>
              <a:rPr sz="2000" spc="-5" dirty="0">
                <a:latin typeface="Microsoft Sans Serif"/>
                <a:cs typeface="Microsoft Sans Serif"/>
              </a:rPr>
              <a:t> Training </a:t>
            </a:r>
            <a:r>
              <a:rPr sz="2000" dirty="0">
                <a:latin typeface="Microsoft Sans Serif"/>
                <a:cs typeface="Microsoft Sans Serif"/>
              </a:rPr>
              <a:t>:</a:t>
            </a:r>
            <a:endParaRPr sz="2000">
              <a:latin typeface="Microsoft Sans Serif"/>
              <a:cs typeface="Microsoft Sans Serif"/>
            </a:endParaRPr>
          </a:p>
          <a:p>
            <a:pPr marL="714375" marR="5080" indent="-245110">
              <a:lnSpc>
                <a:spcPct val="132000"/>
              </a:lnSpc>
              <a:spcBef>
                <a:spcPts val="750"/>
              </a:spcBef>
              <a:tabLst>
                <a:tab pos="4391660" algn="l"/>
                <a:tab pos="4899025" algn="l"/>
              </a:tabLst>
            </a:pPr>
            <a:r>
              <a:rPr sz="1800" spc="-5" dirty="0">
                <a:latin typeface="Microsoft Sans Serif"/>
                <a:cs typeface="Microsoft Sans Serif"/>
              </a:rPr>
              <a:t>7.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Jadi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Prob.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Posterior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Curvatur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2.81”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dan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“Diameter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5.46”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adalah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sbb</a:t>
            </a:r>
            <a:r>
              <a:rPr sz="1800" spc="1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: </a:t>
            </a:r>
            <a:r>
              <a:rPr sz="1800" spc="-46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Probabilitas</a:t>
            </a:r>
            <a:r>
              <a:rPr sz="1800" spc="5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Prior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:</a:t>
            </a:r>
            <a:r>
              <a:rPr sz="1800" spc="4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p(Passed)</a:t>
            </a:r>
            <a:r>
              <a:rPr sz="1800" spc="5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4/7	dan	p(Not_passed)</a:t>
            </a:r>
            <a:r>
              <a:rPr sz="1800" spc="4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=</a:t>
            </a:r>
            <a:r>
              <a:rPr sz="1800" spc="1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3/7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268349" y="3909902"/>
            <a:ext cx="4116070" cy="0"/>
          </a:xfrm>
          <a:custGeom>
            <a:avLst/>
            <a:gdLst/>
            <a:ahLst/>
            <a:cxnLst/>
            <a:rect l="l" t="t" r="r" b="b"/>
            <a:pathLst>
              <a:path w="4116070">
                <a:moveTo>
                  <a:pt x="0" y="0"/>
                </a:moveTo>
                <a:lnTo>
                  <a:pt x="4115847" y="0"/>
                </a:lnTo>
              </a:path>
            </a:pathLst>
          </a:custGeom>
          <a:ln w="1224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43189" y="3464969"/>
            <a:ext cx="7171055" cy="4038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3085465" algn="l"/>
              </a:tabLst>
            </a:pPr>
            <a:r>
              <a:rPr sz="3675" i="1" spc="97" baseline="-35147" dirty="0">
                <a:latin typeface="Times New Roman"/>
                <a:cs typeface="Times New Roman"/>
              </a:rPr>
              <a:t>p</a:t>
            </a:r>
            <a:r>
              <a:rPr sz="3675" spc="97" baseline="-35147" dirty="0">
                <a:latin typeface="Times New Roman"/>
                <a:cs typeface="Times New Roman"/>
              </a:rPr>
              <a:t>(</a:t>
            </a:r>
            <a:r>
              <a:rPr sz="3675" i="1" spc="97" baseline="-35147" dirty="0">
                <a:latin typeface="Times New Roman"/>
                <a:cs typeface="Times New Roman"/>
              </a:rPr>
              <a:t>Passed</a:t>
            </a:r>
            <a:r>
              <a:rPr sz="3675" i="1" spc="-150" baseline="-35147" dirty="0">
                <a:latin typeface="Times New Roman"/>
                <a:cs typeface="Times New Roman"/>
              </a:rPr>
              <a:t> </a:t>
            </a:r>
            <a:r>
              <a:rPr sz="3675" spc="52" baseline="-35147" dirty="0">
                <a:latin typeface="Times New Roman"/>
                <a:cs typeface="Times New Roman"/>
              </a:rPr>
              <a:t>|</a:t>
            </a:r>
            <a:r>
              <a:rPr sz="3675" spc="-247" baseline="-35147" dirty="0">
                <a:latin typeface="Times New Roman"/>
                <a:cs typeface="Times New Roman"/>
              </a:rPr>
              <a:t> </a:t>
            </a:r>
            <a:r>
              <a:rPr sz="3675" spc="-7" baseline="-35147" dirty="0">
                <a:latin typeface="Times New Roman"/>
                <a:cs typeface="Times New Roman"/>
              </a:rPr>
              <a:t>2.81,5.46)</a:t>
            </a:r>
            <a:r>
              <a:rPr sz="3675" spc="-127" baseline="-35147" dirty="0">
                <a:latin typeface="Times New Roman"/>
                <a:cs typeface="Times New Roman"/>
              </a:rPr>
              <a:t> </a:t>
            </a:r>
            <a:r>
              <a:rPr sz="3675" spc="157" baseline="-35147" dirty="0">
                <a:latin typeface="Symbol"/>
                <a:cs typeface="Symbol"/>
              </a:rPr>
              <a:t></a:t>
            </a:r>
            <a:r>
              <a:rPr sz="3675" spc="157" baseline="-35147" dirty="0">
                <a:latin typeface="Times New Roman"/>
                <a:cs typeface="Times New Roman"/>
              </a:rPr>
              <a:t>	</a:t>
            </a:r>
            <a:r>
              <a:rPr sz="2450" i="1" spc="5" dirty="0">
                <a:latin typeface="Times New Roman"/>
                <a:cs typeface="Times New Roman"/>
              </a:rPr>
              <a:t>p</a:t>
            </a:r>
            <a:r>
              <a:rPr sz="2450" spc="5" dirty="0">
                <a:latin typeface="Times New Roman"/>
                <a:cs typeface="Times New Roman"/>
              </a:rPr>
              <a:t>(2.81,5.46</a:t>
            </a:r>
            <a:r>
              <a:rPr sz="2450" spc="-240" dirty="0">
                <a:latin typeface="Times New Roman"/>
                <a:cs typeface="Times New Roman"/>
              </a:rPr>
              <a:t> </a:t>
            </a:r>
            <a:r>
              <a:rPr sz="2450" spc="35" dirty="0">
                <a:latin typeface="Times New Roman"/>
                <a:cs typeface="Times New Roman"/>
              </a:rPr>
              <a:t>|</a:t>
            </a:r>
            <a:r>
              <a:rPr sz="2450" spc="-90" dirty="0">
                <a:latin typeface="Times New Roman"/>
                <a:cs typeface="Times New Roman"/>
              </a:rPr>
              <a:t> </a:t>
            </a:r>
            <a:r>
              <a:rPr sz="2450" i="1" spc="60" dirty="0">
                <a:latin typeface="Times New Roman"/>
                <a:cs typeface="Times New Roman"/>
              </a:rPr>
              <a:t>Passed</a:t>
            </a:r>
            <a:r>
              <a:rPr sz="2450" spc="60" dirty="0">
                <a:latin typeface="Times New Roman"/>
                <a:cs typeface="Times New Roman"/>
              </a:rPr>
              <a:t>)</a:t>
            </a:r>
            <a:r>
              <a:rPr sz="2450" spc="-285" dirty="0">
                <a:latin typeface="Times New Roman"/>
                <a:cs typeface="Times New Roman"/>
              </a:rPr>
              <a:t> </a:t>
            </a:r>
            <a:r>
              <a:rPr sz="2450" i="1" spc="75" dirty="0">
                <a:latin typeface="Times New Roman"/>
                <a:cs typeface="Times New Roman"/>
              </a:rPr>
              <a:t>p</a:t>
            </a:r>
            <a:r>
              <a:rPr sz="2450" spc="75" dirty="0">
                <a:latin typeface="Times New Roman"/>
                <a:cs typeface="Times New Roman"/>
              </a:rPr>
              <a:t>(</a:t>
            </a:r>
            <a:r>
              <a:rPr sz="2450" i="1" spc="75" dirty="0">
                <a:latin typeface="Times New Roman"/>
                <a:cs typeface="Times New Roman"/>
              </a:rPr>
              <a:t>Passed</a:t>
            </a:r>
            <a:r>
              <a:rPr sz="2450" spc="75" dirty="0">
                <a:latin typeface="Times New Roman"/>
                <a:cs typeface="Times New Roman"/>
              </a:rPr>
              <a:t>)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96391" y="3688557"/>
            <a:ext cx="7679690" cy="2366645"/>
          </a:xfrm>
          <a:prstGeom prst="rect">
            <a:avLst/>
          </a:prstGeom>
        </p:spPr>
        <p:txBody>
          <a:bodyPr vert="horz" wrap="square" lIns="0" tIns="227330" rIns="0" bIns="0" rtlCol="0">
            <a:spAutoFit/>
          </a:bodyPr>
          <a:lstStyle/>
          <a:p>
            <a:pPr marR="1539875" algn="r">
              <a:lnSpc>
                <a:spcPct val="100000"/>
              </a:lnSpc>
              <a:spcBef>
                <a:spcPts val="1790"/>
              </a:spcBef>
            </a:pPr>
            <a:r>
              <a:rPr sz="2450" i="1" spc="10" dirty="0">
                <a:latin typeface="Times New Roman"/>
                <a:cs typeface="Times New Roman"/>
              </a:rPr>
              <a:t>p</a:t>
            </a:r>
            <a:r>
              <a:rPr sz="2450" spc="10" dirty="0">
                <a:latin typeface="Times New Roman"/>
                <a:cs typeface="Times New Roman"/>
              </a:rPr>
              <a:t>(2.81,5.46)</a:t>
            </a:r>
            <a:endParaRPr sz="2450">
              <a:latin typeface="Times New Roman"/>
              <a:cs typeface="Times New Roman"/>
            </a:endParaRPr>
          </a:p>
          <a:p>
            <a:pPr marL="249554">
              <a:lnSpc>
                <a:spcPct val="100000"/>
              </a:lnSpc>
              <a:spcBef>
                <a:spcPts val="1664"/>
              </a:spcBef>
            </a:pPr>
            <a:r>
              <a:rPr sz="3675" i="1" spc="-262" baseline="-34013" dirty="0">
                <a:latin typeface="Times New Roman"/>
                <a:cs typeface="Times New Roman"/>
              </a:rPr>
              <a:t>p</a:t>
            </a:r>
            <a:r>
              <a:rPr sz="3675" spc="-262" baseline="-34013" dirty="0">
                <a:latin typeface="Times New Roman"/>
                <a:cs typeface="Times New Roman"/>
              </a:rPr>
              <a:t>(</a:t>
            </a:r>
            <a:r>
              <a:rPr sz="3675" i="1" spc="-262" baseline="-34013" dirty="0">
                <a:latin typeface="Times New Roman"/>
                <a:cs typeface="Times New Roman"/>
              </a:rPr>
              <a:t>Not</a:t>
            </a:r>
            <a:r>
              <a:rPr sz="3675" i="1" spc="-419" baseline="-34013" dirty="0">
                <a:latin typeface="Times New Roman"/>
                <a:cs typeface="Times New Roman"/>
              </a:rPr>
              <a:t> </a:t>
            </a:r>
            <a:r>
              <a:rPr sz="3675" spc="-307" baseline="-34013" dirty="0">
                <a:latin typeface="Times New Roman"/>
                <a:cs typeface="Times New Roman"/>
              </a:rPr>
              <a:t>_</a:t>
            </a:r>
            <a:r>
              <a:rPr sz="3675" spc="-247" baseline="-34013" dirty="0">
                <a:latin typeface="Times New Roman"/>
                <a:cs typeface="Times New Roman"/>
              </a:rPr>
              <a:t> </a:t>
            </a:r>
            <a:r>
              <a:rPr sz="3675" i="1" spc="-307" baseline="-34013" dirty="0">
                <a:latin typeface="Times New Roman"/>
                <a:cs typeface="Times New Roman"/>
              </a:rPr>
              <a:t>passed</a:t>
            </a:r>
            <a:r>
              <a:rPr sz="3675" i="1" spc="-247" baseline="-34013" dirty="0">
                <a:latin typeface="Times New Roman"/>
                <a:cs typeface="Times New Roman"/>
              </a:rPr>
              <a:t> </a:t>
            </a:r>
            <a:r>
              <a:rPr sz="3675" spc="-127" baseline="-34013" dirty="0">
                <a:latin typeface="Times New Roman"/>
                <a:cs typeface="Times New Roman"/>
              </a:rPr>
              <a:t>|</a:t>
            </a:r>
            <a:r>
              <a:rPr sz="3675" spc="-442" baseline="-34013" dirty="0">
                <a:latin typeface="Times New Roman"/>
                <a:cs typeface="Times New Roman"/>
              </a:rPr>
              <a:t> </a:t>
            </a:r>
            <a:r>
              <a:rPr sz="3675" spc="-345" baseline="-34013" dirty="0">
                <a:latin typeface="Times New Roman"/>
                <a:cs typeface="Times New Roman"/>
              </a:rPr>
              <a:t>2.81,</a:t>
            </a:r>
            <a:r>
              <a:rPr sz="3675" spc="-547" baseline="-34013" dirty="0">
                <a:latin typeface="Times New Roman"/>
                <a:cs typeface="Times New Roman"/>
              </a:rPr>
              <a:t> </a:t>
            </a:r>
            <a:r>
              <a:rPr sz="3675" spc="-262" baseline="-34013" dirty="0">
                <a:latin typeface="Times New Roman"/>
                <a:cs typeface="Times New Roman"/>
              </a:rPr>
              <a:t>5.46)</a:t>
            </a:r>
            <a:r>
              <a:rPr sz="3675" spc="-419" baseline="-34013" dirty="0">
                <a:latin typeface="Times New Roman"/>
                <a:cs typeface="Times New Roman"/>
              </a:rPr>
              <a:t> </a:t>
            </a:r>
            <a:r>
              <a:rPr sz="3675" spc="284" baseline="-34013" dirty="0">
                <a:latin typeface="Symbol"/>
                <a:cs typeface="Symbol"/>
              </a:rPr>
              <a:t></a:t>
            </a:r>
            <a:r>
              <a:rPr sz="2450" u="heavy" spc="-30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50" i="1" u="heavy" spc="-2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</a:t>
            </a:r>
            <a:r>
              <a:rPr sz="2450" u="heavy" spc="-2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(2.81,</a:t>
            </a:r>
            <a:r>
              <a:rPr sz="2450" u="heavy" spc="-3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50" u="heavy" spc="-19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5.46</a:t>
            </a:r>
            <a:r>
              <a:rPr sz="2450" u="heavy" spc="-25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50" u="heavy" spc="-8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|</a:t>
            </a:r>
            <a:r>
              <a:rPr sz="2450" u="heavy" spc="-20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50" i="1" u="heavy" spc="-2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Not</a:t>
            </a:r>
            <a:r>
              <a:rPr sz="2450" i="1" u="heavy" spc="-28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50" u="heavy" spc="-20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_</a:t>
            </a:r>
            <a:r>
              <a:rPr sz="2450" u="heavy" spc="-1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50" i="1" u="heavy" spc="-1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passed</a:t>
            </a:r>
            <a:r>
              <a:rPr sz="2450" u="heavy" spc="-1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)</a:t>
            </a:r>
            <a:r>
              <a:rPr sz="2450" i="1" u="heavy" spc="-1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</a:t>
            </a:r>
            <a:r>
              <a:rPr sz="2450" u="heavy" spc="-1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(</a:t>
            </a:r>
            <a:r>
              <a:rPr sz="2450" i="1" u="heavy" spc="-1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Not</a:t>
            </a:r>
            <a:r>
              <a:rPr sz="2450" i="1" u="heavy" spc="-27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50" u="heavy" spc="-20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_</a:t>
            </a:r>
            <a:r>
              <a:rPr sz="2450" u="heavy" spc="-3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50" i="1" u="heavy" spc="-18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Passed</a:t>
            </a:r>
            <a:r>
              <a:rPr sz="2450" u="heavy" spc="-18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)</a:t>
            </a:r>
            <a:endParaRPr sz="2450">
              <a:latin typeface="Times New Roman"/>
              <a:cs typeface="Times New Roman"/>
            </a:endParaRPr>
          </a:p>
          <a:p>
            <a:pPr marR="1587500" algn="r">
              <a:lnSpc>
                <a:spcPct val="100000"/>
              </a:lnSpc>
              <a:spcBef>
                <a:spcPts val="515"/>
              </a:spcBef>
            </a:pPr>
            <a:r>
              <a:rPr sz="2450" i="1" spc="-215" dirty="0">
                <a:latin typeface="Times New Roman"/>
                <a:cs typeface="Times New Roman"/>
              </a:rPr>
              <a:t>p</a:t>
            </a:r>
            <a:r>
              <a:rPr sz="2450" spc="-114" dirty="0">
                <a:latin typeface="Times New Roman"/>
                <a:cs typeface="Times New Roman"/>
              </a:rPr>
              <a:t>(</a:t>
            </a:r>
            <a:r>
              <a:rPr sz="2450" spc="-229" dirty="0">
                <a:latin typeface="Times New Roman"/>
                <a:cs typeface="Times New Roman"/>
              </a:rPr>
              <a:t>2</a:t>
            </a:r>
            <a:r>
              <a:rPr sz="2450" spc="-120" dirty="0">
                <a:latin typeface="Times New Roman"/>
                <a:cs typeface="Times New Roman"/>
              </a:rPr>
              <a:t>.</a:t>
            </a:r>
            <a:r>
              <a:rPr sz="2450" spc="-229" dirty="0">
                <a:latin typeface="Times New Roman"/>
                <a:cs typeface="Times New Roman"/>
              </a:rPr>
              <a:t>8</a:t>
            </a:r>
            <a:r>
              <a:rPr sz="2450" spc="-490" dirty="0">
                <a:latin typeface="Times New Roman"/>
                <a:cs typeface="Times New Roman"/>
              </a:rPr>
              <a:t>1</a:t>
            </a:r>
            <a:r>
              <a:rPr sz="2450" spc="-105" dirty="0">
                <a:latin typeface="Times New Roman"/>
                <a:cs typeface="Times New Roman"/>
              </a:rPr>
              <a:t>,</a:t>
            </a:r>
            <a:r>
              <a:rPr sz="2450" spc="-360" dirty="0">
                <a:latin typeface="Times New Roman"/>
                <a:cs typeface="Times New Roman"/>
              </a:rPr>
              <a:t> </a:t>
            </a:r>
            <a:r>
              <a:rPr sz="2450" spc="-229" dirty="0">
                <a:latin typeface="Times New Roman"/>
                <a:cs typeface="Times New Roman"/>
              </a:rPr>
              <a:t>5</a:t>
            </a:r>
            <a:r>
              <a:rPr sz="2450" spc="-120" dirty="0">
                <a:latin typeface="Times New Roman"/>
                <a:cs typeface="Times New Roman"/>
              </a:rPr>
              <a:t>.</a:t>
            </a:r>
            <a:r>
              <a:rPr sz="2450" spc="-229" dirty="0">
                <a:latin typeface="Times New Roman"/>
                <a:cs typeface="Times New Roman"/>
              </a:rPr>
              <a:t>4</a:t>
            </a:r>
            <a:r>
              <a:rPr sz="2450" spc="-160" dirty="0">
                <a:latin typeface="Times New Roman"/>
                <a:cs typeface="Times New Roman"/>
              </a:rPr>
              <a:t>6</a:t>
            </a:r>
            <a:r>
              <a:rPr sz="2450" spc="-135" dirty="0">
                <a:latin typeface="Times New Roman"/>
                <a:cs typeface="Times New Roman"/>
              </a:rPr>
              <a:t>)</a:t>
            </a:r>
            <a:endParaRPr sz="245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940"/>
              </a:spcBef>
              <a:tabLst>
                <a:tab pos="6339205" algn="l"/>
              </a:tabLst>
            </a:pPr>
            <a:r>
              <a:rPr sz="2000" dirty="0">
                <a:latin typeface="Microsoft Sans Serif"/>
                <a:cs typeface="Microsoft Sans Serif"/>
              </a:rPr>
              <a:t>Jika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p(Passed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|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2.81,5.46)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&gt;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p(Not_passed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|</a:t>
            </a:r>
            <a:r>
              <a:rPr sz="2000" spc="3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2.81,5.46)	,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maka</a:t>
            </a:r>
            <a:endParaRPr sz="2000">
              <a:latin typeface="Microsoft Sans Serif"/>
              <a:cs typeface="Microsoft Sans Serif"/>
            </a:endParaRPr>
          </a:p>
          <a:p>
            <a:pPr marL="38100">
              <a:lnSpc>
                <a:spcPct val="100000"/>
              </a:lnSpc>
            </a:pPr>
            <a:r>
              <a:rPr sz="2000" dirty="0">
                <a:latin typeface="Microsoft Sans Serif"/>
                <a:cs typeface="Microsoft Sans Serif"/>
              </a:rPr>
              <a:t>Curvatur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=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2.81”</a:t>
            </a:r>
            <a:r>
              <a:rPr sz="2000" dirty="0">
                <a:latin typeface="Microsoft Sans Serif"/>
                <a:cs typeface="Microsoft Sans Serif"/>
              </a:rPr>
              <a:t> dan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“Diameter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=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5.46”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masuk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kelas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“Passed”.</a:t>
            </a:r>
            <a:endParaRPr sz="2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08426" y="264617"/>
            <a:ext cx="23279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Latihan</a:t>
            </a:r>
            <a:r>
              <a:rPr spc="-10" dirty="0"/>
              <a:t> </a:t>
            </a:r>
            <a:r>
              <a:rPr dirty="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7840" y="1295781"/>
            <a:ext cx="8137525" cy="40938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93700" marR="32384" indent="-343535" algn="just">
              <a:lnSpc>
                <a:spcPct val="100000"/>
              </a:lnSpc>
              <a:spcBef>
                <a:spcPts val="105"/>
              </a:spcBef>
              <a:buChar char="•"/>
              <a:tabLst>
                <a:tab pos="394335" algn="l"/>
              </a:tabLst>
            </a:pPr>
            <a:r>
              <a:rPr sz="1400" spc="-5" dirty="0">
                <a:latin typeface="Microsoft Sans Serif"/>
                <a:cs typeface="Microsoft Sans Serif"/>
              </a:rPr>
              <a:t>Perhatikan grafik distribusi pada </a:t>
            </a:r>
            <a:r>
              <a:rPr sz="1400" spc="-10" dirty="0">
                <a:latin typeface="Microsoft Sans Serif"/>
                <a:cs typeface="Microsoft Sans Serif"/>
              </a:rPr>
              <a:t>proses klasifikasi </a:t>
            </a:r>
            <a:r>
              <a:rPr sz="1400" spc="-5" dirty="0">
                <a:latin typeface="Microsoft Sans Serif"/>
                <a:cs typeface="Microsoft Sans Serif"/>
              </a:rPr>
              <a:t>ikan Sea Bass </a:t>
            </a:r>
            <a:r>
              <a:rPr sz="1400" spc="35" dirty="0">
                <a:latin typeface="Microsoft Sans Serif"/>
                <a:cs typeface="Microsoft Sans Serif"/>
              </a:rPr>
              <a:t>(ω</a:t>
            </a:r>
            <a:r>
              <a:rPr sz="1350" spc="52" baseline="-21604" dirty="0">
                <a:latin typeface="Microsoft Sans Serif"/>
                <a:cs typeface="Microsoft Sans Serif"/>
              </a:rPr>
              <a:t>2</a:t>
            </a:r>
            <a:r>
              <a:rPr sz="1400" spc="35" dirty="0">
                <a:latin typeface="Microsoft Sans Serif"/>
                <a:cs typeface="Microsoft Sans Serif"/>
              </a:rPr>
              <a:t>) </a:t>
            </a:r>
            <a:r>
              <a:rPr sz="1400" spc="-5" dirty="0">
                <a:latin typeface="Microsoft Sans Serif"/>
                <a:cs typeface="Microsoft Sans Serif"/>
              </a:rPr>
              <a:t>dan </a:t>
            </a:r>
            <a:r>
              <a:rPr sz="1400" spc="-10" dirty="0">
                <a:latin typeface="Microsoft Sans Serif"/>
                <a:cs typeface="Microsoft Sans Serif"/>
              </a:rPr>
              <a:t>ikan Salmon </a:t>
            </a:r>
            <a:r>
              <a:rPr sz="1400" spc="25" dirty="0">
                <a:latin typeface="Microsoft Sans Serif"/>
                <a:cs typeface="Microsoft Sans Serif"/>
              </a:rPr>
              <a:t>(ω</a:t>
            </a:r>
            <a:r>
              <a:rPr sz="1350" spc="37" baseline="-21604" dirty="0">
                <a:latin typeface="Microsoft Sans Serif"/>
                <a:cs typeface="Microsoft Sans Serif"/>
              </a:rPr>
              <a:t>1</a:t>
            </a:r>
            <a:r>
              <a:rPr sz="1400" spc="25" dirty="0">
                <a:latin typeface="Microsoft Sans Serif"/>
                <a:cs typeface="Microsoft Sans Serif"/>
              </a:rPr>
              <a:t>). </a:t>
            </a:r>
            <a:r>
              <a:rPr sz="1400" dirty="0">
                <a:latin typeface="Microsoft Sans Serif"/>
                <a:cs typeface="Microsoft Sans Serif"/>
              </a:rPr>
              <a:t>A</a:t>
            </a:r>
            <a:r>
              <a:rPr sz="1350" baseline="-21604" dirty="0">
                <a:latin typeface="Microsoft Sans Serif"/>
                <a:cs typeface="Microsoft Sans Serif"/>
              </a:rPr>
              <a:t>1 </a:t>
            </a:r>
            <a:r>
              <a:rPr sz="1400" dirty="0">
                <a:latin typeface="Microsoft Sans Serif"/>
                <a:cs typeface="Microsoft Sans Serif"/>
              </a:rPr>
              <a:t>: 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Memberikan</a:t>
            </a:r>
            <a:r>
              <a:rPr sz="1400" spc="130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hasil</a:t>
            </a:r>
            <a:r>
              <a:rPr sz="1400" spc="130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keputusan</a:t>
            </a:r>
            <a:r>
              <a:rPr sz="1400" spc="150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bahwa</a:t>
            </a:r>
            <a:r>
              <a:rPr sz="1400" spc="150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ikan</a:t>
            </a:r>
            <a:r>
              <a:rPr sz="1400" spc="145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yang</a:t>
            </a:r>
            <a:r>
              <a:rPr sz="1400" spc="140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diuji</a:t>
            </a:r>
            <a:r>
              <a:rPr sz="1400" spc="135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coba</a:t>
            </a:r>
            <a:r>
              <a:rPr sz="1400" spc="130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adalah</a:t>
            </a:r>
            <a:r>
              <a:rPr sz="1400" spc="135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termasuk</a:t>
            </a:r>
            <a:r>
              <a:rPr sz="1400" spc="145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kelas</a:t>
            </a:r>
            <a:r>
              <a:rPr sz="1400" spc="150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ikan</a:t>
            </a:r>
            <a:r>
              <a:rPr sz="1400" spc="140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Sea</a:t>
            </a:r>
            <a:r>
              <a:rPr sz="1400" spc="150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Bass. </a:t>
            </a:r>
            <a:r>
              <a:rPr sz="1400" spc="-360" dirty="0">
                <a:latin typeface="Microsoft Sans Serif"/>
                <a:cs typeface="Microsoft Sans Serif"/>
              </a:rPr>
              <a:t> </a:t>
            </a:r>
            <a:r>
              <a:rPr sz="1400" spc="5" dirty="0">
                <a:latin typeface="Microsoft Sans Serif"/>
                <a:cs typeface="Microsoft Sans Serif"/>
              </a:rPr>
              <a:t>A</a:t>
            </a:r>
            <a:r>
              <a:rPr sz="1350" spc="7" baseline="-21604" dirty="0">
                <a:latin typeface="Microsoft Sans Serif"/>
                <a:cs typeface="Microsoft Sans Serif"/>
              </a:rPr>
              <a:t>2 </a:t>
            </a:r>
            <a:r>
              <a:rPr sz="1400" dirty="0">
                <a:latin typeface="Microsoft Sans Serif"/>
                <a:cs typeface="Microsoft Sans Serif"/>
              </a:rPr>
              <a:t>: </a:t>
            </a:r>
            <a:r>
              <a:rPr sz="1400" spc="-5" dirty="0">
                <a:latin typeface="Microsoft Sans Serif"/>
                <a:cs typeface="Microsoft Sans Serif"/>
              </a:rPr>
              <a:t>Memberikan hasil keputusan </a:t>
            </a:r>
            <a:r>
              <a:rPr sz="1400" spc="-10" dirty="0">
                <a:latin typeface="Microsoft Sans Serif"/>
                <a:cs typeface="Microsoft Sans Serif"/>
              </a:rPr>
              <a:t>bahwa </a:t>
            </a:r>
            <a:r>
              <a:rPr sz="1400" spc="-5" dirty="0">
                <a:latin typeface="Microsoft Sans Serif"/>
                <a:cs typeface="Microsoft Sans Serif"/>
              </a:rPr>
              <a:t>ikan yang </a:t>
            </a:r>
            <a:r>
              <a:rPr sz="1400" spc="-10" dirty="0">
                <a:latin typeface="Microsoft Sans Serif"/>
                <a:cs typeface="Microsoft Sans Serif"/>
              </a:rPr>
              <a:t>diuji </a:t>
            </a:r>
            <a:r>
              <a:rPr sz="1400" spc="-5" dirty="0">
                <a:latin typeface="Microsoft Sans Serif"/>
                <a:cs typeface="Microsoft Sans Serif"/>
              </a:rPr>
              <a:t>coba adalah termasuk kelas </a:t>
            </a:r>
            <a:r>
              <a:rPr sz="1400" spc="-10" dirty="0">
                <a:latin typeface="Microsoft Sans Serif"/>
                <a:cs typeface="Microsoft Sans Serif"/>
              </a:rPr>
              <a:t>ikan Salmon. </a:t>
            </a:r>
            <a:r>
              <a:rPr sz="1400" spc="-5" dirty="0">
                <a:latin typeface="Microsoft Sans Serif"/>
                <a:cs typeface="Microsoft Sans Serif"/>
              </a:rPr>
              <a:t> Probabilitas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Prior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ikan</a:t>
            </a:r>
            <a:r>
              <a:rPr sz="1400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Sea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Bass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dan</a:t>
            </a:r>
            <a:r>
              <a:rPr sz="1400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Salmon masing-masing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spc="25" dirty="0">
                <a:latin typeface="Microsoft Sans Serif"/>
                <a:cs typeface="Microsoft Sans Serif"/>
              </a:rPr>
              <a:t>P(ω</a:t>
            </a:r>
            <a:r>
              <a:rPr sz="1350" spc="37" baseline="-21604" dirty="0">
                <a:latin typeface="Microsoft Sans Serif"/>
                <a:cs typeface="Microsoft Sans Serif"/>
              </a:rPr>
              <a:t>2</a:t>
            </a:r>
            <a:r>
              <a:rPr sz="1400" spc="25" dirty="0">
                <a:latin typeface="Microsoft Sans Serif"/>
                <a:cs typeface="Microsoft Sans Serif"/>
              </a:rPr>
              <a:t>)</a:t>
            </a:r>
            <a:r>
              <a:rPr sz="1400" spc="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=</a:t>
            </a:r>
            <a:r>
              <a:rPr sz="1400" spc="1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2/3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dan</a:t>
            </a:r>
            <a:r>
              <a:rPr sz="1400" dirty="0">
                <a:latin typeface="Microsoft Sans Serif"/>
                <a:cs typeface="Microsoft Sans Serif"/>
              </a:rPr>
              <a:t> </a:t>
            </a:r>
            <a:r>
              <a:rPr sz="1400" spc="25" dirty="0">
                <a:latin typeface="Microsoft Sans Serif"/>
                <a:cs typeface="Microsoft Sans Serif"/>
              </a:rPr>
              <a:t>P(ω</a:t>
            </a:r>
            <a:r>
              <a:rPr sz="1350" spc="37" baseline="-21604" dirty="0">
                <a:latin typeface="Microsoft Sans Serif"/>
                <a:cs typeface="Microsoft Sans Serif"/>
              </a:rPr>
              <a:t>1</a:t>
            </a:r>
            <a:r>
              <a:rPr sz="1400" spc="25" dirty="0">
                <a:latin typeface="Microsoft Sans Serif"/>
                <a:cs typeface="Microsoft Sans Serif"/>
              </a:rPr>
              <a:t>)</a:t>
            </a:r>
            <a:r>
              <a:rPr sz="1400" spc="1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=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1/3.</a:t>
            </a:r>
            <a:endParaRPr sz="1400">
              <a:latin typeface="Microsoft Sans Serif"/>
              <a:cs typeface="Microsoft Sans Serif"/>
            </a:endParaRPr>
          </a:p>
          <a:p>
            <a:pPr marL="393700" marR="30480" indent="-343535" algn="just">
              <a:lnSpc>
                <a:spcPct val="100000"/>
              </a:lnSpc>
              <a:spcBef>
                <a:spcPts val="334"/>
              </a:spcBef>
              <a:buChar char="•"/>
              <a:tabLst>
                <a:tab pos="394335" algn="l"/>
              </a:tabLst>
            </a:pPr>
            <a:r>
              <a:rPr sz="1400" spc="-5" dirty="0">
                <a:latin typeface="Microsoft Sans Serif"/>
                <a:cs typeface="Microsoft Sans Serif"/>
              </a:rPr>
              <a:t>Biaya/Cost </a:t>
            </a:r>
            <a:r>
              <a:rPr sz="1400" spc="-10" dirty="0">
                <a:latin typeface="Microsoft Sans Serif"/>
                <a:cs typeface="Microsoft Sans Serif"/>
              </a:rPr>
              <a:t>jika hasil klasifikasinya </a:t>
            </a:r>
            <a:r>
              <a:rPr sz="1400" spc="-5" dirty="0">
                <a:latin typeface="Microsoft Sans Serif"/>
                <a:cs typeface="Microsoft Sans Serif"/>
              </a:rPr>
              <a:t>adalah </a:t>
            </a:r>
            <a:r>
              <a:rPr sz="1400" spc="-10" dirty="0">
                <a:latin typeface="Microsoft Sans Serif"/>
                <a:cs typeface="Microsoft Sans Serif"/>
              </a:rPr>
              <a:t>ikan </a:t>
            </a:r>
            <a:r>
              <a:rPr sz="1400" spc="-5" dirty="0">
                <a:latin typeface="Microsoft Sans Serif"/>
                <a:cs typeface="Microsoft Sans Serif"/>
              </a:rPr>
              <a:t>salmon, </a:t>
            </a:r>
            <a:r>
              <a:rPr sz="1400" spc="-10" dirty="0">
                <a:latin typeface="Microsoft Sans Serif"/>
                <a:cs typeface="Microsoft Sans Serif"/>
              </a:rPr>
              <a:t>tapi </a:t>
            </a:r>
            <a:r>
              <a:rPr sz="1400" spc="-5" dirty="0">
                <a:latin typeface="Microsoft Sans Serif"/>
                <a:cs typeface="Microsoft Sans Serif"/>
              </a:rPr>
              <a:t>sebenarnya ikan tersebut adalah </a:t>
            </a:r>
            <a:r>
              <a:rPr sz="1400" spc="-10" dirty="0">
                <a:latin typeface="Microsoft Sans Serif"/>
                <a:cs typeface="Microsoft Sans Serif"/>
              </a:rPr>
              <a:t>ikan </a:t>
            </a:r>
            <a:r>
              <a:rPr sz="1400" spc="-5" dirty="0">
                <a:latin typeface="Microsoft Sans Serif"/>
                <a:cs typeface="Microsoft Sans Serif"/>
              </a:rPr>
              <a:t> sea bass sebesar </a:t>
            </a:r>
            <a:r>
              <a:rPr sz="1400" spc="5" dirty="0">
                <a:latin typeface="Microsoft Sans Serif"/>
                <a:cs typeface="Microsoft Sans Serif"/>
              </a:rPr>
              <a:t>λ(A</a:t>
            </a:r>
            <a:r>
              <a:rPr sz="1350" spc="7" baseline="-21604" dirty="0">
                <a:latin typeface="Microsoft Sans Serif"/>
                <a:cs typeface="Microsoft Sans Serif"/>
              </a:rPr>
              <a:t>2</a:t>
            </a:r>
            <a:r>
              <a:rPr sz="1350" spc="15" baseline="-21604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| </a:t>
            </a:r>
            <a:r>
              <a:rPr sz="1400" spc="45" dirty="0">
                <a:latin typeface="Microsoft Sans Serif"/>
                <a:cs typeface="Microsoft Sans Serif"/>
              </a:rPr>
              <a:t>ω</a:t>
            </a:r>
            <a:r>
              <a:rPr sz="1350" spc="67" baseline="-21604" dirty="0">
                <a:latin typeface="Microsoft Sans Serif"/>
                <a:cs typeface="Microsoft Sans Serif"/>
              </a:rPr>
              <a:t>2</a:t>
            </a:r>
            <a:r>
              <a:rPr sz="1400" spc="45" dirty="0">
                <a:latin typeface="Microsoft Sans Serif"/>
                <a:cs typeface="Microsoft Sans Serif"/>
              </a:rPr>
              <a:t>) </a:t>
            </a:r>
            <a:r>
              <a:rPr sz="1400" dirty="0">
                <a:latin typeface="Microsoft Sans Serif"/>
                <a:cs typeface="Microsoft Sans Serif"/>
              </a:rPr>
              <a:t>= </a:t>
            </a:r>
            <a:r>
              <a:rPr sz="1400" spc="-5" dirty="0">
                <a:latin typeface="Microsoft Sans Serif"/>
                <a:cs typeface="Microsoft Sans Serif"/>
              </a:rPr>
              <a:t>$2, </a:t>
            </a:r>
            <a:r>
              <a:rPr sz="1400" spc="-10" dirty="0">
                <a:latin typeface="Microsoft Sans Serif"/>
                <a:cs typeface="Microsoft Sans Serif"/>
              </a:rPr>
              <a:t>dan </a:t>
            </a:r>
            <a:r>
              <a:rPr sz="1400" spc="-5" dirty="0">
                <a:latin typeface="Microsoft Sans Serif"/>
                <a:cs typeface="Microsoft Sans Serif"/>
              </a:rPr>
              <a:t>Biaya </a:t>
            </a:r>
            <a:r>
              <a:rPr sz="1400" spc="-10" dirty="0">
                <a:latin typeface="Microsoft Sans Serif"/>
                <a:cs typeface="Microsoft Sans Serif"/>
              </a:rPr>
              <a:t>jika </a:t>
            </a:r>
            <a:r>
              <a:rPr sz="1400" spc="-5" dirty="0">
                <a:latin typeface="Microsoft Sans Serif"/>
                <a:cs typeface="Microsoft Sans Serif"/>
              </a:rPr>
              <a:t>hasil klasifikasinya adalah ikan </a:t>
            </a:r>
            <a:r>
              <a:rPr sz="1400" dirty="0">
                <a:latin typeface="Microsoft Sans Serif"/>
                <a:cs typeface="Microsoft Sans Serif"/>
              </a:rPr>
              <a:t>Sea </a:t>
            </a:r>
            <a:r>
              <a:rPr sz="1400" spc="-5" dirty="0">
                <a:latin typeface="Microsoft Sans Serif"/>
                <a:cs typeface="Microsoft Sans Serif"/>
              </a:rPr>
              <a:t>Bass, tapi </a:t>
            </a:r>
            <a:r>
              <a:rPr sz="1400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sebenarnya</a:t>
            </a:r>
            <a:r>
              <a:rPr sz="1400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ikan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tersebut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adalah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Salmon </a:t>
            </a:r>
            <a:r>
              <a:rPr sz="1400" dirty="0">
                <a:latin typeface="Microsoft Sans Serif"/>
                <a:cs typeface="Microsoft Sans Serif"/>
              </a:rPr>
              <a:t>sebesar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spc="5" dirty="0">
                <a:latin typeface="Microsoft Sans Serif"/>
                <a:cs typeface="Microsoft Sans Serif"/>
              </a:rPr>
              <a:t>λ(A</a:t>
            </a:r>
            <a:r>
              <a:rPr sz="1350" spc="7" baseline="-21604" dirty="0">
                <a:latin typeface="Microsoft Sans Serif"/>
                <a:cs typeface="Microsoft Sans Serif"/>
              </a:rPr>
              <a:t>1</a:t>
            </a:r>
            <a:r>
              <a:rPr sz="1350" spc="209" baseline="-21604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|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spc="45" dirty="0">
                <a:latin typeface="Microsoft Sans Serif"/>
                <a:cs typeface="Microsoft Sans Serif"/>
              </a:rPr>
              <a:t>ω</a:t>
            </a:r>
            <a:r>
              <a:rPr sz="1350" spc="67" baseline="-21604" dirty="0">
                <a:latin typeface="Microsoft Sans Serif"/>
                <a:cs typeface="Microsoft Sans Serif"/>
              </a:rPr>
              <a:t>1</a:t>
            </a:r>
            <a:r>
              <a:rPr sz="1400" spc="45" dirty="0">
                <a:latin typeface="Microsoft Sans Serif"/>
                <a:cs typeface="Microsoft Sans Serif"/>
              </a:rPr>
              <a:t>)</a:t>
            </a:r>
            <a:r>
              <a:rPr sz="1400" spc="409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=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$1.</a:t>
            </a:r>
            <a:endParaRPr sz="1400">
              <a:latin typeface="Microsoft Sans Serif"/>
              <a:cs typeface="Microsoft Sans Serif"/>
            </a:endParaRPr>
          </a:p>
          <a:p>
            <a:pPr marL="393700" marR="30480" indent="-343535" algn="just">
              <a:lnSpc>
                <a:spcPct val="100000"/>
              </a:lnSpc>
              <a:spcBef>
                <a:spcPts val="340"/>
              </a:spcBef>
              <a:buChar char="•"/>
              <a:tabLst>
                <a:tab pos="394335" algn="l"/>
              </a:tabLst>
            </a:pPr>
            <a:r>
              <a:rPr sz="1400" spc="-5" dirty="0">
                <a:latin typeface="Microsoft Sans Serif"/>
                <a:cs typeface="Microsoft Sans Serif"/>
              </a:rPr>
              <a:t>Tentukan hasil keputusan </a:t>
            </a:r>
            <a:r>
              <a:rPr sz="1400" spc="-10" dirty="0">
                <a:latin typeface="Microsoft Sans Serif"/>
                <a:cs typeface="Microsoft Sans Serif"/>
              </a:rPr>
              <a:t>klasifikasi jika input </a:t>
            </a:r>
            <a:r>
              <a:rPr sz="1400" dirty="0">
                <a:latin typeface="Microsoft Sans Serif"/>
                <a:cs typeface="Microsoft Sans Serif"/>
              </a:rPr>
              <a:t>x = </a:t>
            </a:r>
            <a:r>
              <a:rPr sz="1400" spc="-5" dirty="0">
                <a:latin typeface="Microsoft Sans Serif"/>
                <a:cs typeface="Microsoft Sans Serif"/>
              </a:rPr>
              <a:t>13, dimana probabilitas </a:t>
            </a:r>
            <a:r>
              <a:rPr sz="1400" spc="-10" dirty="0">
                <a:latin typeface="Microsoft Sans Serif"/>
                <a:cs typeface="Microsoft Sans Serif"/>
              </a:rPr>
              <a:t>likelihoodnya masing- </a:t>
            </a:r>
            <a:r>
              <a:rPr sz="1400" spc="-5" dirty="0">
                <a:latin typeface="Microsoft Sans Serif"/>
                <a:cs typeface="Microsoft Sans Serif"/>
              </a:rPr>
              <a:t> masing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P(x</a:t>
            </a:r>
            <a:r>
              <a:rPr sz="1400" spc="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|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spc="45" dirty="0">
                <a:latin typeface="Microsoft Sans Serif"/>
                <a:cs typeface="Microsoft Sans Serif"/>
              </a:rPr>
              <a:t>ω</a:t>
            </a:r>
            <a:r>
              <a:rPr sz="1350" spc="67" baseline="-21604" dirty="0">
                <a:latin typeface="Microsoft Sans Serif"/>
                <a:cs typeface="Microsoft Sans Serif"/>
              </a:rPr>
              <a:t>1</a:t>
            </a:r>
            <a:r>
              <a:rPr sz="1400" spc="45" dirty="0">
                <a:latin typeface="Microsoft Sans Serif"/>
                <a:cs typeface="Microsoft Sans Serif"/>
              </a:rPr>
              <a:t>)</a:t>
            </a:r>
            <a:r>
              <a:rPr sz="1400" spc="1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=</a:t>
            </a:r>
            <a:r>
              <a:rPr sz="1400" spc="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0,28 </a:t>
            </a:r>
            <a:r>
              <a:rPr sz="1400" spc="-5" dirty="0">
                <a:latin typeface="Microsoft Sans Serif"/>
                <a:cs typeface="Microsoft Sans Serif"/>
              </a:rPr>
              <a:t>dan</a:t>
            </a:r>
            <a:r>
              <a:rPr sz="1400" dirty="0">
                <a:latin typeface="Microsoft Sans Serif"/>
                <a:cs typeface="Microsoft Sans Serif"/>
              </a:rPr>
              <a:t> P(x</a:t>
            </a:r>
            <a:r>
              <a:rPr sz="1400" spc="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|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spc="45" dirty="0">
                <a:latin typeface="Microsoft Sans Serif"/>
                <a:cs typeface="Microsoft Sans Serif"/>
              </a:rPr>
              <a:t>ω</a:t>
            </a:r>
            <a:r>
              <a:rPr sz="1350" spc="67" baseline="-21604" dirty="0">
                <a:latin typeface="Microsoft Sans Serif"/>
                <a:cs typeface="Microsoft Sans Serif"/>
              </a:rPr>
              <a:t>2</a:t>
            </a:r>
            <a:r>
              <a:rPr sz="1400" spc="45" dirty="0">
                <a:latin typeface="Microsoft Sans Serif"/>
                <a:cs typeface="Microsoft Sans Serif"/>
              </a:rPr>
              <a:t>)</a:t>
            </a:r>
            <a:r>
              <a:rPr sz="1400" spc="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=</a:t>
            </a:r>
            <a:r>
              <a:rPr sz="1400" spc="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0,17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dengan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pertimbangan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Cost/</a:t>
            </a:r>
            <a:r>
              <a:rPr sz="1400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Resiko yang</a:t>
            </a:r>
            <a:r>
              <a:rPr sz="1400" spc="20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ada</a:t>
            </a:r>
            <a:r>
              <a:rPr sz="1400" dirty="0">
                <a:latin typeface="Microsoft Sans Serif"/>
                <a:cs typeface="Microsoft Sans Serif"/>
              </a:rPr>
              <a:t> !</a:t>
            </a:r>
            <a:endParaRPr sz="1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har char="•"/>
            </a:pPr>
            <a:endParaRPr sz="2100">
              <a:latin typeface="Microsoft Sans Serif"/>
              <a:cs typeface="Microsoft Sans Serif"/>
            </a:endParaRPr>
          </a:p>
          <a:p>
            <a:pPr marL="393700" indent="-343535">
              <a:lnSpc>
                <a:spcPct val="100000"/>
              </a:lnSpc>
              <a:buChar char="•"/>
              <a:tabLst>
                <a:tab pos="393700" algn="l"/>
                <a:tab pos="394335" algn="l"/>
              </a:tabLst>
            </a:pPr>
            <a:r>
              <a:rPr sz="1600" spc="-5" dirty="0">
                <a:latin typeface="Microsoft Sans Serif"/>
                <a:cs typeface="Microsoft Sans Serif"/>
              </a:rPr>
              <a:t>Penyelesaian</a:t>
            </a:r>
            <a:r>
              <a:rPr sz="1600" spc="-30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:</a:t>
            </a:r>
            <a:endParaRPr sz="1600">
              <a:latin typeface="Microsoft Sans Serif"/>
              <a:cs typeface="Microsoft Sans Serif"/>
            </a:endParaRPr>
          </a:p>
          <a:p>
            <a:pPr marL="393700" indent="-343535">
              <a:lnSpc>
                <a:spcPct val="100000"/>
              </a:lnSpc>
              <a:spcBef>
                <a:spcPts val="385"/>
              </a:spcBef>
              <a:buChar char="•"/>
              <a:tabLst>
                <a:tab pos="393700" algn="l"/>
                <a:tab pos="394335" algn="l"/>
              </a:tabLst>
            </a:pPr>
            <a:r>
              <a:rPr sz="1600" spc="-5" dirty="0">
                <a:latin typeface="Microsoft Sans Serif"/>
                <a:cs typeface="Microsoft Sans Serif"/>
              </a:rPr>
              <a:t>Diketahui</a:t>
            </a:r>
            <a:r>
              <a:rPr sz="1600" spc="-30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:</a:t>
            </a:r>
            <a:endParaRPr sz="1600">
              <a:latin typeface="Microsoft Sans Serif"/>
              <a:cs typeface="Microsoft Sans Serif"/>
            </a:endParaRPr>
          </a:p>
          <a:p>
            <a:pPr marL="393700" marR="5757545">
              <a:lnSpc>
                <a:spcPct val="100000"/>
              </a:lnSpc>
            </a:pPr>
            <a:r>
              <a:rPr sz="1600" spc="75" dirty="0">
                <a:latin typeface="Microsoft Sans Serif"/>
                <a:cs typeface="Microsoft Sans Serif"/>
              </a:rPr>
              <a:t>ω</a:t>
            </a:r>
            <a:r>
              <a:rPr sz="1575" spc="112" baseline="-21164" dirty="0">
                <a:latin typeface="Microsoft Sans Serif"/>
                <a:cs typeface="Microsoft Sans Serif"/>
              </a:rPr>
              <a:t>1</a:t>
            </a:r>
            <a:r>
              <a:rPr sz="1575" spc="232" baseline="-21164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Wingdings"/>
                <a:cs typeface="Wingdings"/>
              </a:rPr>
              <a:t>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Kelas</a:t>
            </a:r>
            <a:r>
              <a:rPr sz="1600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Salmon </a:t>
            </a:r>
            <a:r>
              <a:rPr sz="1600" dirty="0">
                <a:latin typeface="Microsoft Sans Serif"/>
                <a:cs typeface="Microsoft Sans Serif"/>
              </a:rPr>
              <a:t> </a:t>
            </a:r>
            <a:r>
              <a:rPr sz="1600" spc="75" dirty="0">
                <a:latin typeface="Microsoft Sans Serif"/>
                <a:cs typeface="Microsoft Sans Serif"/>
              </a:rPr>
              <a:t>ω</a:t>
            </a:r>
            <a:r>
              <a:rPr sz="1575" spc="112" baseline="-21164" dirty="0">
                <a:latin typeface="Microsoft Sans Serif"/>
                <a:cs typeface="Microsoft Sans Serif"/>
              </a:rPr>
              <a:t>2</a:t>
            </a:r>
            <a:r>
              <a:rPr sz="1575" spc="225" baseline="-21164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Wingdings"/>
                <a:cs typeface="Wingdings"/>
              </a:rPr>
              <a:t>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Kelas Sea</a:t>
            </a:r>
            <a:r>
              <a:rPr sz="1600" spc="5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Bass</a:t>
            </a:r>
            <a:endParaRPr sz="1600">
              <a:latin typeface="Microsoft Sans Serif"/>
              <a:cs typeface="Microsoft Sans Serif"/>
            </a:endParaRPr>
          </a:p>
          <a:p>
            <a:pPr marL="393700">
              <a:lnSpc>
                <a:spcPct val="100000"/>
              </a:lnSpc>
            </a:pPr>
            <a:r>
              <a:rPr sz="1600" dirty="0">
                <a:latin typeface="Microsoft Sans Serif"/>
                <a:cs typeface="Microsoft Sans Serif"/>
              </a:rPr>
              <a:t>A</a:t>
            </a:r>
            <a:r>
              <a:rPr sz="1575" baseline="-21164" dirty="0">
                <a:latin typeface="Microsoft Sans Serif"/>
                <a:cs typeface="Microsoft Sans Serif"/>
              </a:rPr>
              <a:t>1</a:t>
            </a:r>
            <a:r>
              <a:rPr sz="1575" spc="225" baseline="-21164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Wingdings"/>
                <a:cs typeface="Wingdings"/>
              </a:rPr>
              <a:t>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Decide</a:t>
            </a:r>
            <a:r>
              <a:rPr sz="1600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Input</a:t>
            </a:r>
            <a:r>
              <a:rPr sz="1600" spc="25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is</a:t>
            </a:r>
            <a:r>
              <a:rPr sz="1600" spc="5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Sea</a:t>
            </a:r>
            <a:r>
              <a:rPr sz="1600" spc="15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Bass</a:t>
            </a:r>
            <a:endParaRPr sz="1600">
              <a:latin typeface="Microsoft Sans Serif"/>
              <a:cs typeface="Microsoft Sans Serif"/>
            </a:endParaRPr>
          </a:p>
          <a:p>
            <a:pPr marL="393700">
              <a:lnSpc>
                <a:spcPct val="100000"/>
              </a:lnSpc>
              <a:spcBef>
                <a:spcPts val="5"/>
              </a:spcBef>
            </a:pPr>
            <a:r>
              <a:rPr sz="1600" spc="5" dirty="0">
                <a:latin typeface="Microsoft Sans Serif"/>
                <a:cs typeface="Microsoft Sans Serif"/>
              </a:rPr>
              <a:t>A</a:t>
            </a:r>
            <a:r>
              <a:rPr sz="1575" spc="7" baseline="-21164" dirty="0">
                <a:latin typeface="Microsoft Sans Serif"/>
                <a:cs typeface="Microsoft Sans Serif"/>
              </a:rPr>
              <a:t>2</a:t>
            </a:r>
            <a:r>
              <a:rPr sz="1575" spc="217" baseline="-21164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Wingdings"/>
                <a:cs typeface="Wingdings"/>
              </a:rPr>
              <a:t>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Decide</a:t>
            </a:r>
            <a:r>
              <a:rPr sz="1600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Input</a:t>
            </a:r>
            <a:r>
              <a:rPr sz="1600" spc="20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is</a:t>
            </a:r>
            <a:r>
              <a:rPr sz="1600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Salmon</a:t>
            </a:r>
            <a:endParaRPr sz="1600">
              <a:latin typeface="Microsoft Sans Serif"/>
              <a:cs typeface="Microsoft Sans Serif"/>
            </a:endParaRPr>
          </a:p>
          <a:p>
            <a:pPr marL="393700">
              <a:lnSpc>
                <a:spcPct val="100000"/>
              </a:lnSpc>
              <a:tabLst>
                <a:tab pos="1985010" algn="l"/>
                <a:tab pos="2553335" algn="l"/>
              </a:tabLst>
            </a:pPr>
            <a:r>
              <a:rPr sz="1600" dirty="0">
                <a:latin typeface="Microsoft Sans Serif"/>
                <a:cs typeface="Microsoft Sans Serif"/>
              </a:rPr>
              <a:t>λ(A</a:t>
            </a:r>
            <a:r>
              <a:rPr sz="1575" baseline="-21164" dirty="0">
                <a:latin typeface="Microsoft Sans Serif"/>
                <a:cs typeface="Microsoft Sans Serif"/>
              </a:rPr>
              <a:t>2</a:t>
            </a:r>
            <a:r>
              <a:rPr sz="1575" spc="240" baseline="-21164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|</a:t>
            </a:r>
            <a:r>
              <a:rPr sz="1600" spc="25" dirty="0">
                <a:latin typeface="Microsoft Sans Serif"/>
                <a:cs typeface="Microsoft Sans Serif"/>
              </a:rPr>
              <a:t> </a:t>
            </a:r>
            <a:r>
              <a:rPr sz="1600" spc="45" dirty="0">
                <a:latin typeface="Microsoft Sans Serif"/>
                <a:cs typeface="Microsoft Sans Serif"/>
              </a:rPr>
              <a:t>ω</a:t>
            </a:r>
            <a:r>
              <a:rPr sz="1575" spc="67" baseline="-21164" dirty="0">
                <a:latin typeface="Microsoft Sans Serif"/>
                <a:cs typeface="Microsoft Sans Serif"/>
              </a:rPr>
              <a:t>2</a:t>
            </a:r>
            <a:r>
              <a:rPr sz="1600" spc="45" dirty="0">
                <a:latin typeface="Microsoft Sans Serif"/>
                <a:cs typeface="Microsoft Sans Serif"/>
              </a:rPr>
              <a:t>)</a:t>
            </a:r>
            <a:r>
              <a:rPr sz="1600" spc="35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=</a:t>
            </a:r>
            <a:r>
              <a:rPr sz="1600" spc="20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$2	dan	</a:t>
            </a:r>
            <a:r>
              <a:rPr sz="1600" dirty="0">
                <a:latin typeface="Microsoft Sans Serif"/>
                <a:cs typeface="Microsoft Sans Serif"/>
              </a:rPr>
              <a:t>λ(A</a:t>
            </a:r>
            <a:r>
              <a:rPr sz="1575" baseline="-21164" dirty="0">
                <a:latin typeface="Microsoft Sans Serif"/>
                <a:cs typeface="Microsoft Sans Serif"/>
              </a:rPr>
              <a:t>1</a:t>
            </a:r>
            <a:r>
              <a:rPr sz="1575" spc="217" baseline="-21164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|</a:t>
            </a:r>
            <a:r>
              <a:rPr sz="1600" spc="5" dirty="0">
                <a:latin typeface="Microsoft Sans Serif"/>
                <a:cs typeface="Microsoft Sans Serif"/>
              </a:rPr>
              <a:t> </a:t>
            </a:r>
            <a:r>
              <a:rPr sz="1600" spc="45" dirty="0">
                <a:latin typeface="Microsoft Sans Serif"/>
                <a:cs typeface="Microsoft Sans Serif"/>
              </a:rPr>
              <a:t>ω</a:t>
            </a:r>
            <a:r>
              <a:rPr sz="1575" spc="67" baseline="-21164" dirty="0">
                <a:latin typeface="Microsoft Sans Serif"/>
                <a:cs typeface="Microsoft Sans Serif"/>
              </a:rPr>
              <a:t>1</a:t>
            </a:r>
            <a:r>
              <a:rPr sz="1600" spc="45" dirty="0">
                <a:latin typeface="Microsoft Sans Serif"/>
                <a:cs typeface="Microsoft Sans Serif"/>
              </a:rPr>
              <a:t>)</a:t>
            </a:r>
            <a:r>
              <a:rPr sz="1600" spc="10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=</a:t>
            </a:r>
            <a:r>
              <a:rPr sz="1600" spc="15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$1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55999" y="5447406"/>
            <a:ext cx="3461385" cy="7880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320" marR="5080" indent="-8255">
              <a:lnSpc>
                <a:spcPct val="135200"/>
              </a:lnSpc>
              <a:spcBef>
                <a:spcPts val="95"/>
              </a:spcBef>
            </a:pPr>
            <a:r>
              <a:rPr sz="1850" spc="25" dirty="0">
                <a:latin typeface="Times New Roman"/>
                <a:cs typeface="Times New Roman"/>
              </a:rPr>
              <a:t>(</a:t>
            </a:r>
            <a:r>
              <a:rPr sz="1850" i="1" spc="25" dirty="0">
                <a:latin typeface="Times New Roman"/>
                <a:cs typeface="Times New Roman"/>
              </a:rPr>
              <a:t>mengarahpadakelas </a:t>
            </a:r>
            <a:r>
              <a:rPr sz="1850" i="1" spc="30" dirty="0">
                <a:latin typeface="Times New Roman"/>
                <a:cs typeface="Times New Roman"/>
              </a:rPr>
              <a:t>yangsama</a:t>
            </a:r>
            <a:r>
              <a:rPr sz="1850" spc="30" dirty="0">
                <a:latin typeface="Times New Roman"/>
                <a:cs typeface="Times New Roman"/>
              </a:rPr>
              <a:t>) </a:t>
            </a:r>
            <a:r>
              <a:rPr sz="1850" spc="35" dirty="0">
                <a:latin typeface="Times New Roman"/>
                <a:cs typeface="Times New Roman"/>
              </a:rPr>
              <a:t> </a:t>
            </a:r>
            <a:r>
              <a:rPr sz="1850" spc="25" dirty="0">
                <a:latin typeface="Times New Roman"/>
                <a:cs typeface="Times New Roman"/>
              </a:rPr>
              <a:t>(</a:t>
            </a:r>
            <a:r>
              <a:rPr sz="1850" i="1" spc="25" dirty="0">
                <a:latin typeface="Times New Roman"/>
                <a:cs typeface="Times New Roman"/>
              </a:rPr>
              <a:t>mengarahpadakelas</a:t>
            </a:r>
            <a:r>
              <a:rPr sz="1850" i="1" spc="-95" dirty="0">
                <a:latin typeface="Times New Roman"/>
                <a:cs typeface="Times New Roman"/>
              </a:rPr>
              <a:t> </a:t>
            </a:r>
            <a:r>
              <a:rPr sz="1850" i="1" spc="10" dirty="0">
                <a:latin typeface="Times New Roman"/>
                <a:cs typeface="Times New Roman"/>
              </a:rPr>
              <a:t>yangberbeda</a:t>
            </a:r>
            <a:r>
              <a:rPr sz="1850" spc="10" dirty="0">
                <a:latin typeface="Times New Roman"/>
                <a:cs typeface="Times New Roman"/>
              </a:rPr>
              <a:t>)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532635" y="5447406"/>
            <a:ext cx="1182370" cy="788035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75"/>
              </a:spcBef>
              <a:tabLst>
                <a:tab pos="523875" algn="l"/>
              </a:tabLst>
            </a:pPr>
            <a:r>
              <a:rPr sz="1850" i="1" spc="-35" dirty="0">
                <a:latin typeface="Times New Roman"/>
                <a:cs typeface="Times New Roman"/>
              </a:rPr>
              <a:t>ji</a:t>
            </a:r>
            <a:r>
              <a:rPr sz="1850" i="1" spc="-50" dirty="0">
                <a:latin typeface="Times New Roman"/>
                <a:cs typeface="Times New Roman"/>
              </a:rPr>
              <a:t>k</a:t>
            </a:r>
            <a:r>
              <a:rPr sz="1850" i="1" spc="30" dirty="0">
                <a:latin typeface="Times New Roman"/>
                <a:cs typeface="Times New Roman"/>
              </a:rPr>
              <a:t>a</a:t>
            </a:r>
            <a:r>
              <a:rPr sz="1850" i="1" dirty="0">
                <a:latin typeface="Times New Roman"/>
                <a:cs typeface="Times New Roman"/>
              </a:rPr>
              <a:t>	</a:t>
            </a:r>
            <a:r>
              <a:rPr sz="1850" i="1" spc="-175" dirty="0">
                <a:latin typeface="Times New Roman"/>
                <a:cs typeface="Times New Roman"/>
              </a:rPr>
              <a:t>A</a:t>
            </a:r>
            <a:r>
              <a:rPr sz="1650" i="1" baseline="-22727" dirty="0">
                <a:latin typeface="Times New Roman"/>
                <a:cs typeface="Times New Roman"/>
              </a:rPr>
              <a:t>i </a:t>
            </a:r>
            <a:r>
              <a:rPr sz="1650" i="1" spc="97" baseline="-22727" dirty="0">
                <a:latin typeface="Times New Roman"/>
                <a:cs typeface="Times New Roman"/>
              </a:rPr>
              <a:t> </a:t>
            </a:r>
            <a:r>
              <a:rPr sz="1850" spc="35" dirty="0">
                <a:latin typeface="Symbol"/>
                <a:cs typeface="Symbol"/>
              </a:rPr>
              <a:t></a:t>
            </a:r>
            <a:r>
              <a:rPr sz="1850" spc="-245" dirty="0">
                <a:latin typeface="Times New Roman"/>
                <a:cs typeface="Times New Roman"/>
              </a:rPr>
              <a:t> </a:t>
            </a:r>
            <a:r>
              <a:rPr sz="1850" i="1" spc="110" dirty="0">
                <a:latin typeface="Times New Roman"/>
                <a:cs typeface="Times New Roman"/>
              </a:rPr>
              <a:t>w</a:t>
            </a:r>
            <a:r>
              <a:rPr sz="1650" i="1" baseline="-22727" dirty="0">
                <a:latin typeface="Times New Roman"/>
                <a:cs typeface="Times New Roman"/>
              </a:rPr>
              <a:t>j</a:t>
            </a:r>
            <a:endParaRPr sz="1650" baseline="-22727">
              <a:latin typeface="Times New Roman"/>
              <a:cs typeface="Times New Roman"/>
            </a:endParaRPr>
          </a:p>
          <a:p>
            <a:pPr marL="41910">
              <a:lnSpc>
                <a:spcPct val="100000"/>
              </a:lnSpc>
              <a:spcBef>
                <a:spcPts val="780"/>
              </a:spcBef>
              <a:tabLst>
                <a:tab pos="527050" algn="l"/>
              </a:tabLst>
            </a:pPr>
            <a:r>
              <a:rPr sz="1850" i="1" spc="-35" dirty="0">
                <a:latin typeface="Times New Roman"/>
                <a:cs typeface="Times New Roman"/>
              </a:rPr>
              <a:t>ji</a:t>
            </a:r>
            <a:r>
              <a:rPr sz="1850" i="1" spc="-50" dirty="0">
                <a:latin typeface="Times New Roman"/>
                <a:cs typeface="Times New Roman"/>
              </a:rPr>
              <a:t>k</a:t>
            </a:r>
            <a:r>
              <a:rPr sz="1850" i="1" spc="30" dirty="0">
                <a:latin typeface="Times New Roman"/>
                <a:cs typeface="Times New Roman"/>
              </a:rPr>
              <a:t>a</a:t>
            </a:r>
            <a:r>
              <a:rPr sz="1850" i="1" dirty="0">
                <a:latin typeface="Times New Roman"/>
                <a:cs typeface="Times New Roman"/>
              </a:rPr>
              <a:t>	</a:t>
            </a:r>
            <a:r>
              <a:rPr sz="1850" i="1" spc="-175" dirty="0">
                <a:latin typeface="Times New Roman"/>
                <a:cs typeface="Times New Roman"/>
              </a:rPr>
              <a:t>A</a:t>
            </a:r>
            <a:r>
              <a:rPr sz="1650" i="1" baseline="-22727" dirty="0">
                <a:latin typeface="Times New Roman"/>
                <a:cs typeface="Times New Roman"/>
              </a:rPr>
              <a:t>i </a:t>
            </a:r>
            <a:r>
              <a:rPr sz="1650" i="1" spc="97" baseline="-22727" dirty="0">
                <a:latin typeface="Times New Roman"/>
                <a:cs typeface="Times New Roman"/>
              </a:rPr>
              <a:t> </a:t>
            </a:r>
            <a:r>
              <a:rPr sz="1850" spc="35" dirty="0">
                <a:latin typeface="Symbol"/>
                <a:cs typeface="Symbol"/>
              </a:rPr>
              <a:t></a:t>
            </a:r>
            <a:r>
              <a:rPr sz="1850" spc="-210" dirty="0">
                <a:latin typeface="Times New Roman"/>
                <a:cs typeface="Times New Roman"/>
              </a:rPr>
              <a:t> </a:t>
            </a:r>
            <a:r>
              <a:rPr sz="1850" i="1" spc="110" dirty="0">
                <a:latin typeface="Times New Roman"/>
                <a:cs typeface="Times New Roman"/>
              </a:rPr>
              <a:t>w</a:t>
            </a:r>
            <a:r>
              <a:rPr sz="1650" i="1" baseline="-22727" dirty="0">
                <a:latin typeface="Times New Roman"/>
                <a:cs typeface="Times New Roman"/>
              </a:rPr>
              <a:t>j</a:t>
            </a:r>
            <a:endParaRPr sz="1650" baseline="-22727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6637" y="5450096"/>
            <a:ext cx="2552065" cy="78803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55"/>
              </a:spcBef>
            </a:pPr>
            <a:r>
              <a:rPr sz="1950" spc="60" dirty="0">
                <a:latin typeface="Symbol"/>
                <a:cs typeface="Symbol"/>
              </a:rPr>
              <a:t></a:t>
            </a:r>
            <a:r>
              <a:rPr sz="1850" spc="175" dirty="0">
                <a:latin typeface="Times New Roman"/>
                <a:cs typeface="Times New Roman"/>
              </a:rPr>
              <a:t>(</a:t>
            </a:r>
            <a:r>
              <a:rPr sz="1850" i="1" spc="-175" dirty="0">
                <a:latin typeface="Times New Roman"/>
                <a:cs typeface="Times New Roman"/>
              </a:rPr>
              <a:t>A</a:t>
            </a:r>
            <a:r>
              <a:rPr sz="1650" i="1" baseline="-22727" dirty="0">
                <a:latin typeface="Times New Roman"/>
                <a:cs typeface="Times New Roman"/>
              </a:rPr>
              <a:t>i </a:t>
            </a:r>
            <a:r>
              <a:rPr sz="1650" i="1" spc="-67" baseline="-22727" dirty="0">
                <a:latin typeface="Times New Roman"/>
                <a:cs typeface="Times New Roman"/>
              </a:rPr>
              <a:t> </a:t>
            </a:r>
            <a:r>
              <a:rPr sz="1850" spc="10" dirty="0">
                <a:latin typeface="Times New Roman"/>
                <a:cs typeface="Times New Roman"/>
              </a:rPr>
              <a:t>|</a:t>
            </a:r>
            <a:r>
              <a:rPr sz="1850" spc="-285" dirty="0">
                <a:latin typeface="Times New Roman"/>
                <a:cs typeface="Times New Roman"/>
              </a:rPr>
              <a:t> </a:t>
            </a:r>
            <a:r>
              <a:rPr sz="1850" i="1" spc="110" dirty="0">
                <a:latin typeface="Times New Roman"/>
                <a:cs typeface="Times New Roman"/>
              </a:rPr>
              <a:t>w</a:t>
            </a:r>
            <a:r>
              <a:rPr sz="1650" i="1" baseline="-22727" dirty="0">
                <a:latin typeface="Times New Roman"/>
                <a:cs typeface="Times New Roman"/>
              </a:rPr>
              <a:t>j</a:t>
            </a:r>
            <a:r>
              <a:rPr sz="1650" i="1" spc="-52" baseline="-22727" dirty="0">
                <a:latin typeface="Times New Roman"/>
                <a:cs typeface="Times New Roman"/>
              </a:rPr>
              <a:t> </a:t>
            </a:r>
            <a:r>
              <a:rPr sz="1850" spc="20" dirty="0">
                <a:latin typeface="Times New Roman"/>
                <a:cs typeface="Times New Roman"/>
              </a:rPr>
              <a:t>)</a:t>
            </a:r>
            <a:r>
              <a:rPr sz="1850" spc="90" dirty="0">
                <a:latin typeface="Times New Roman"/>
                <a:cs typeface="Times New Roman"/>
              </a:rPr>
              <a:t> </a:t>
            </a:r>
            <a:r>
              <a:rPr sz="1850" spc="35" dirty="0">
                <a:latin typeface="Symbol"/>
                <a:cs typeface="Symbol"/>
              </a:rPr>
              <a:t></a:t>
            </a:r>
            <a:r>
              <a:rPr sz="1850" spc="-125" dirty="0">
                <a:latin typeface="Times New Roman"/>
                <a:cs typeface="Times New Roman"/>
              </a:rPr>
              <a:t> </a:t>
            </a:r>
            <a:r>
              <a:rPr sz="1850" spc="30" dirty="0">
                <a:latin typeface="Times New Roman"/>
                <a:cs typeface="Times New Roman"/>
              </a:rPr>
              <a:t>0</a:t>
            </a:r>
            <a:r>
              <a:rPr sz="1850" spc="80" dirty="0">
                <a:latin typeface="Times New Roman"/>
                <a:cs typeface="Times New Roman"/>
              </a:rPr>
              <a:t> </a:t>
            </a:r>
            <a:r>
              <a:rPr sz="1850" i="1" spc="-45" dirty="0">
                <a:latin typeface="Times New Roman"/>
                <a:cs typeface="Times New Roman"/>
              </a:rPr>
              <a:t>s</a:t>
            </a:r>
            <a:r>
              <a:rPr sz="1850" i="1" spc="45" dirty="0">
                <a:latin typeface="Times New Roman"/>
                <a:cs typeface="Times New Roman"/>
              </a:rPr>
              <a:t>a</a:t>
            </a:r>
            <a:r>
              <a:rPr sz="1850" i="1" spc="-35" dirty="0">
                <a:latin typeface="Times New Roman"/>
                <a:cs typeface="Times New Roman"/>
              </a:rPr>
              <a:t>t</a:t>
            </a:r>
            <a:r>
              <a:rPr sz="1850" i="1" spc="45" dirty="0">
                <a:latin typeface="Times New Roman"/>
                <a:cs typeface="Times New Roman"/>
              </a:rPr>
              <a:t>ua</a:t>
            </a:r>
            <a:r>
              <a:rPr sz="1850" i="1" spc="30" dirty="0">
                <a:latin typeface="Times New Roman"/>
                <a:cs typeface="Times New Roman"/>
              </a:rPr>
              <a:t>n</a:t>
            </a:r>
            <a:r>
              <a:rPr sz="1850" i="1" spc="45" dirty="0">
                <a:latin typeface="Times New Roman"/>
                <a:cs typeface="Times New Roman"/>
              </a:rPr>
              <a:t>b</a:t>
            </a:r>
            <a:r>
              <a:rPr sz="1850" i="1" spc="-35" dirty="0">
                <a:latin typeface="Times New Roman"/>
                <a:cs typeface="Times New Roman"/>
              </a:rPr>
              <a:t>i</a:t>
            </a:r>
            <a:r>
              <a:rPr sz="1850" i="1" spc="45" dirty="0">
                <a:latin typeface="Times New Roman"/>
                <a:cs typeface="Times New Roman"/>
              </a:rPr>
              <a:t>a</a:t>
            </a:r>
            <a:r>
              <a:rPr sz="1850" i="1" spc="-55" dirty="0">
                <a:latin typeface="Times New Roman"/>
                <a:cs typeface="Times New Roman"/>
              </a:rPr>
              <a:t>y</a:t>
            </a:r>
            <a:r>
              <a:rPr sz="1850" i="1" spc="30" dirty="0">
                <a:latin typeface="Times New Roman"/>
                <a:cs typeface="Times New Roman"/>
              </a:rPr>
              <a:t>a</a:t>
            </a:r>
            <a:endParaRPr sz="185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660"/>
              </a:spcBef>
            </a:pPr>
            <a:r>
              <a:rPr sz="1950" spc="60" dirty="0">
                <a:latin typeface="Symbol"/>
                <a:cs typeface="Symbol"/>
              </a:rPr>
              <a:t></a:t>
            </a:r>
            <a:r>
              <a:rPr sz="1850" spc="175" dirty="0">
                <a:latin typeface="Times New Roman"/>
                <a:cs typeface="Times New Roman"/>
              </a:rPr>
              <a:t>(</a:t>
            </a:r>
            <a:r>
              <a:rPr sz="1850" i="1" spc="-175" dirty="0">
                <a:latin typeface="Times New Roman"/>
                <a:cs typeface="Times New Roman"/>
              </a:rPr>
              <a:t>A</a:t>
            </a:r>
            <a:r>
              <a:rPr sz="1650" i="1" baseline="-22727" dirty="0">
                <a:latin typeface="Times New Roman"/>
                <a:cs typeface="Times New Roman"/>
              </a:rPr>
              <a:t>i </a:t>
            </a:r>
            <a:r>
              <a:rPr sz="1650" i="1" spc="-67" baseline="-22727" dirty="0">
                <a:latin typeface="Times New Roman"/>
                <a:cs typeface="Times New Roman"/>
              </a:rPr>
              <a:t> </a:t>
            </a:r>
            <a:r>
              <a:rPr sz="1850" spc="10" dirty="0">
                <a:latin typeface="Times New Roman"/>
                <a:cs typeface="Times New Roman"/>
              </a:rPr>
              <a:t>|</a:t>
            </a:r>
            <a:r>
              <a:rPr sz="1850" spc="-285" dirty="0">
                <a:latin typeface="Times New Roman"/>
                <a:cs typeface="Times New Roman"/>
              </a:rPr>
              <a:t> </a:t>
            </a:r>
            <a:r>
              <a:rPr sz="1850" i="1" spc="110" dirty="0">
                <a:latin typeface="Times New Roman"/>
                <a:cs typeface="Times New Roman"/>
              </a:rPr>
              <a:t>w</a:t>
            </a:r>
            <a:r>
              <a:rPr sz="1650" i="1" baseline="-22727" dirty="0">
                <a:latin typeface="Times New Roman"/>
                <a:cs typeface="Times New Roman"/>
              </a:rPr>
              <a:t>j</a:t>
            </a:r>
            <a:r>
              <a:rPr sz="1650" i="1" spc="-52" baseline="-22727" dirty="0">
                <a:latin typeface="Times New Roman"/>
                <a:cs typeface="Times New Roman"/>
              </a:rPr>
              <a:t> </a:t>
            </a:r>
            <a:r>
              <a:rPr sz="1850" spc="20" dirty="0">
                <a:latin typeface="Times New Roman"/>
                <a:cs typeface="Times New Roman"/>
              </a:rPr>
              <a:t>)</a:t>
            </a:r>
            <a:r>
              <a:rPr sz="1850" spc="90" dirty="0">
                <a:latin typeface="Times New Roman"/>
                <a:cs typeface="Times New Roman"/>
              </a:rPr>
              <a:t> </a:t>
            </a:r>
            <a:r>
              <a:rPr sz="1850" spc="35" dirty="0">
                <a:latin typeface="Symbol"/>
                <a:cs typeface="Symbol"/>
              </a:rPr>
              <a:t></a:t>
            </a:r>
            <a:r>
              <a:rPr sz="1850" spc="-100" dirty="0">
                <a:latin typeface="Times New Roman"/>
                <a:cs typeface="Times New Roman"/>
              </a:rPr>
              <a:t> </a:t>
            </a:r>
            <a:r>
              <a:rPr sz="1850" spc="30" dirty="0">
                <a:latin typeface="Times New Roman"/>
                <a:cs typeface="Times New Roman"/>
              </a:rPr>
              <a:t>0</a:t>
            </a:r>
            <a:r>
              <a:rPr sz="1850" spc="80" dirty="0">
                <a:latin typeface="Times New Roman"/>
                <a:cs typeface="Times New Roman"/>
              </a:rPr>
              <a:t> </a:t>
            </a:r>
            <a:r>
              <a:rPr sz="1850" i="1" spc="-45" dirty="0">
                <a:latin typeface="Times New Roman"/>
                <a:cs typeface="Times New Roman"/>
              </a:rPr>
              <a:t>s</a:t>
            </a:r>
            <a:r>
              <a:rPr sz="1850" i="1" spc="45" dirty="0">
                <a:latin typeface="Times New Roman"/>
                <a:cs typeface="Times New Roman"/>
              </a:rPr>
              <a:t>a</a:t>
            </a:r>
            <a:r>
              <a:rPr sz="1850" i="1" spc="-35" dirty="0">
                <a:latin typeface="Times New Roman"/>
                <a:cs typeface="Times New Roman"/>
              </a:rPr>
              <a:t>t</a:t>
            </a:r>
            <a:r>
              <a:rPr sz="1850" i="1" spc="45" dirty="0">
                <a:latin typeface="Times New Roman"/>
                <a:cs typeface="Times New Roman"/>
              </a:rPr>
              <a:t>ua</a:t>
            </a:r>
            <a:r>
              <a:rPr sz="1850" i="1" spc="30" dirty="0">
                <a:latin typeface="Times New Roman"/>
                <a:cs typeface="Times New Roman"/>
              </a:rPr>
              <a:t>n</a:t>
            </a:r>
            <a:r>
              <a:rPr sz="1850" i="1" spc="45" dirty="0">
                <a:latin typeface="Times New Roman"/>
                <a:cs typeface="Times New Roman"/>
              </a:rPr>
              <a:t>b</a:t>
            </a:r>
            <a:r>
              <a:rPr sz="1850" i="1" spc="-35" dirty="0">
                <a:latin typeface="Times New Roman"/>
                <a:cs typeface="Times New Roman"/>
              </a:rPr>
              <a:t>i</a:t>
            </a:r>
            <a:r>
              <a:rPr sz="1850" i="1" spc="45" dirty="0">
                <a:latin typeface="Times New Roman"/>
                <a:cs typeface="Times New Roman"/>
              </a:rPr>
              <a:t>a</a:t>
            </a:r>
            <a:r>
              <a:rPr sz="1850" i="1" spc="-55" dirty="0">
                <a:latin typeface="Times New Roman"/>
                <a:cs typeface="Times New Roman"/>
              </a:rPr>
              <a:t>y</a:t>
            </a:r>
            <a:r>
              <a:rPr sz="1850" i="1" spc="30" dirty="0">
                <a:latin typeface="Times New Roman"/>
                <a:cs typeface="Times New Roman"/>
              </a:rPr>
              <a:t>a</a:t>
            </a:r>
            <a:endParaRPr sz="185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94351" y="3357562"/>
            <a:ext cx="3514725" cy="225425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8640" y="1329205"/>
            <a:ext cx="1042669" cy="2266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64"/>
              </a:lnSpc>
              <a:tabLst>
                <a:tab pos="342900" algn="l"/>
              </a:tabLst>
            </a:pPr>
            <a:r>
              <a:rPr sz="1600" spc="-5" dirty="0">
                <a:latin typeface="Microsoft Sans Serif"/>
                <a:cs typeface="Microsoft Sans Serif"/>
              </a:rPr>
              <a:t>•	</a:t>
            </a:r>
            <a:r>
              <a:rPr sz="1600" spc="-10" dirty="0">
                <a:latin typeface="Microsoft Sans Serif"/>
                <a:cs typeface="Microsoft Sans Serif"/>
              </a:rPr>
              <a:t>Jawab</a:t>
            </a:r>
            <a:r>
              <a:rPr sz="1600" spc="-30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:</a:t>
            </a:r>
            <a:endParaRPr sz="1600">
              <a:latin typeface="Microsoft Sans Serif"/>
              <a:cs typeface="Microsoft Sans Serif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11150" y="1616011"/>
            <a:ext cx="4489450" cy="4850130"/>
            <a:chOff x="311150" y="1616011"/>
            <a:chExt cx="4489450" cy="4850130"/>
          </a:xfrm>
        </p:grpSpPr>
        <p:sp>
          <p:nvSpPr>
            <p:cNvPr id="4" name="object 4"/>
            <p:cNvSpPr/>
            <p:nvPr/>
          </p:nvSpPr>
          <p:spPr>
            <a:xfrm>
              <a:off x="323850" y="1628711"/>
              <a:ext cx="4464050" cy="4824730"/>
            </a:xfrm>
            <a:custGeom>
              <a:avLst/>
              <a:gdLst/>
              <a:ahLst/>
              <a:cxnLst/>
              <a:rect l="l" t="t" r="r" b="b"/>
              <a:pathLst>
                <a:path w="4464050" h="4824730">
                  <a:moveTo>
                    <a:pt x="4464050" y="0"/>
                  </a:moveTo>
                  <a:lnTo>
                    <a:pt x="0" y="0"/>
                  </a:lnTo>
                  <a:lnTo>
                    <a:pt x="0" y="4824476"/>
                  </a:lnTo>
                  <a:lnTo>
                    <a:pt x="4464050" y="4824476"/>
                  </a:lnTo>
                  <a:lnTo>
                    <a:pt x="446405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3850" y="1628711"/>
              <a:ext cx="4464050" cy="4824730"/>
            </a:xfrm>
            <a:custGeom>
              <a:avLst/>
              <a:gdLst/>
              <a:ahLst/>
              <a:cxnLst/>
              <a:rect l="l" t="t" r="r" b="b"/>
              <a:pathLst>
                <a:path w="4464050" h="4824730">
                  <a:moveTo>
                    <a:pt x="0" y="4824476"/>
                  </a:moveTo>
                  <a:lnTo>
                    <a:pt x="4464050" y="4824476"/>
                  </a:lnTo>
                  <a:lnTo>
                    <a:pt x="4464050" y="0"/>
                  </a:lnTo>
                  <a:lnTo>
                    <a:pt x="0" y="0"/>
                  </a:lnTo>
                  <a:lnTo>
                    <a:pt x="0" y="4824476"/>
                  </a:lnTo>
                  <a:close/>
                </a:path>
              </a:pathLst>
            </a:custGeom>
            <a:ln w="25399">
              <a:solidFill>
                <a:srgbClr val="88A3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42269" y="5103024"/>
              <a:ext cx="3982085" cy="242570"/>
            </a:xfrm>
            <a:custGeom>
              <a:avLst/>
              <a:gdLst/>
              <a:ahLst/>
              <a:cxnLst/>
              <a:rect l="l" t="t" r="r" b="b"/>
              <a:pathLst>
                <a:path w="3982085" h="242570">
                  <a:moveTo>
                    <a:pt x="559338" y="31986"/>
                  </a:moveTo>
                  <a:lnTo>
                    <a:pt x="559338" y="242072"/>
                  </a:lnTo>
                </a:path>
                <a:path w="3982085" h="242570">
                  <a:moveTo>
                    <a:pt x="2645863" y="31986"/>
                  </a:moveTo>
                  <a:lnTo>
                    <a:pt x="2645863" y="242072"/>
                  </a:lnTo>
                </a:path>
                <a:path w="3982085" h="242570">
                  <a:moveTo>
                    <a:pt x="0" y="0"/>
                  </a:moveTo>
                  <a:lnTo>
                    <a:pt x="3981818" y="0"/>
                  </a:lnTo>
                </a:path>
              </a:pathLst>
            </a:custGeom>
            <a:ln w="104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475357" y="264617"/>
            <a:ext cx="41954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Latihan</a:t>
            </a:r>
            <a:r>
              <a:rPr spc="30" dirty="0"/>
              <a:t> </a:t>
            </a:r>
            <a:r>
              <a:rPr dirty="0"/>
              <a:t>1</a:t>
            </a:r>
            <a:r>
              <a:rPr spc="40" dirty="0"/>
              <a:t> </a:t>
            </a:r>
            <a:r>
              <a:rPr dirty="0"/>
              <a:t>(Cont.)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37407" y="4843493"/>
            <a:ext cx="4014470" cy="49657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R="8255" algn="ctr">
              <a:lnSpc>
                <a:spcPts val="1664"/>
              </a:lnSpc>
              <a:spcBef>
                <a:spcPts val="114"/>
              </a:spcBef>
            </a:pPr>
            <a:r>
              <a:rPr sz="1400" spc="490" dirty="0">
                <a:latin typeface="Times New Roman"/>
                <a:cs typeface="Times New Roman"/>
              </a:rPr>
              <a:t>(0,17)(2</a:t>
            </a:r>
            <a:r>
              <a:rPr sz="1400" spc="-80" dirty="0">
                <a:latin typeface="Times New Roman"/>
                <a:cs typeface="Times New Roman"/>
              </a:rPr>
              <a:t> </a:t>
            </a:r>
            <a:r>
              <a:rPr sz="1400" spc="380" dirty="0">
                <a:latin typeface="Times New Roman"/>
                <a:cs typeface="Times New Roman"/>
              </a:rPr>
              <a:t>/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495" dirty="0">
                <a:latin typeface="Times New Roman"/>
                <a:cs typeface="Times New Roman"/>
              </a:rPr>
              <a:t>3)</a:t>
            </a:r>
            <a:endParaRPr sz="1400">
              <a:latin typeface="Times New Roman"/>
              <a:cs typeface="Times New Roman"/>
            </a:endParaRPr>
          </a:p>
          <a:p>
            <a:pPr algn="ctr">
              <a:lnSpc>
                <a:spcPts val="2025"/>
              </a:lnSpc>
            </a:pPr>
            <a:r>
              <a:rPr sz="1400" i="1" spc="830" dirty="0">
                <a:latin typeface="Times New Roman"/>
                <a:cs typeface="Times New Roman"/>
              </a:rPr>
              <a:t>P</a:t>
            </a:r>
            <a:r>
              <a:rPr sz="1400" spc="455" dirty="0">
                <a:latin typeface="Times New Roman"/>
                <a:cs typeface="Times New Roman"/>
              </a:rPr>
              <a:t>(</a:t>
            </a:r>
            <a:r>
              <a:rPr sz="1400" spc="-200" dirty="0">
                <a:latin typeface="Times New Roman"/>
                <a:cs typeface="Times New Roman"/>
              </a:rPr>
              <a:t> </a:t>
            </a:r>
            <a:r>
              <a:rPr sz="1400" i="1" spc="610" dirty="0">
                <a:latin typeface="Times New Roman"/>
                <a:cs typeface="Times New Roman"/>
              </a:rPr>
              <a:t>x</a:t>
            </a:r>
            <a:r>
              <a:rPr sz="1400" i="1" spc="-105" dirty="0">
                <a:latin typeface="Times New Roman"/>
                <a:cs typeface="Times New Roman"/>
              </a:rPr>
              <a:t> </a:t>
            </a:r>
            <a:r>
              <a:rPr sz="1700" spc="540" dirty="0">
                <a:latin typeface="Symbol"/>
                <a:cs typeface="Symbol"/>
              </a:rPr>
              <a:t></a:t>
            </a:r>
            <a:r>
              <a:rPr sz="1200" spc="615" baseline="-24305" dirty="0">
                <a:latin typeface="Times New Roman"/>
                <a:cs typeface="Times New Roman"/>
              </a:rPr>
              <a:t>1</a:t>
            </a:r>
            <a:r>
              <a:rPr sz="1200" spc="-97" baseline="-24305" dirty="0">
                <a:latin typeface="Times New Roman"/>
                <a:cs typeface="Times New Roman"/>
              </a:rPr>
              <a:t> </a:t>
            </a:r>
            <a:r>
              <a:rPr sz="1400" spc="555" dirty="0">
                <a:latin typeface="Times New Roman"/>
                <a:cs typeface="Times New Roman"/>
              </a:rPr>
              <a:t>)</a:t>
            </a:r>
            <a:r>
              <a:rPr sz="1400" i="1" spc="835" dirty="0">
                <a:latin typeface="Times New Roman"/>
                <a:cs typeface="Times New Roman"/>
              </a:rPr>
              <a:t>P</a:t>
            </a:r>
            <a:r>
              <a:rPr sz="1400" spc="310" dirty="0">
                <a:latin typeface="Times New Roman"/>
                <a:cs typeface="Times New Roman"/>
              </a:rPr>
              <a:t>(</a:t>
            </a:r>
            <a:r>
              <a:rPr sz="1700" spc="535" dirty="0">
                <a:latin typeface="Symbol"/>
                <a:cs typeface="Symbol"/>
              </a:rPr>
              <a:t></a:t>
            </a:r>
            <a:r>
              <a:rPr sz="1200" spc="615" baseline="-24305" dirty="0">
                <a:latin typeface="Times New Roman"/>
                <a:cs typeface="Times New Roman"/>
              </a:rPr>
              <a:t>1</a:t>
            </a:r>
            <a:r>
              <a:rPr sz="1200" spc="-89" baseline="-24305" dirty="0">
                <a:latin typeface="Times New Roman"/>
                <a:cs typeface="Times New Roman"/>
              </a:rPr>
              <a:t> </a:t>
            </a:r>
            <a:r>
              <a:rPr sz="1400" spc="455" dirty="0">
                <a:latin typeface="Times New Roman"/>
                <a:cs typeface="Times New Roman"/>
              </a:rPr>
              <a:t>)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spc="755" dirty="0">
                <a:latin typeface="Symbol"/>
                <a:cs typeface="Symbol"/>
              </a:rPr>
              <a:t></a:t>
            </a:r>
            <a:r>
              <a:rPr sz="1400" spc="145" dirty="0">
                <a:latin typeface="Times New Roman"/>
                <a:cs typeface="Times New Roman"/>
              </a:rPr>
              <a:t> </a:t>
            </a:r>
            <a:r>
              <a:rPr sz="1400" i="1" spc="835" dirty="0">
                <a:latin typeface="Times New Roman"/>
                <a:cs typeface="Times New Roman"/>
              </a:rPr>
              <a:t>P</a:t>
            </a:r>
            <a:r>
              <a:rPr sz="1400" spc="455" dirty="0">
                <a:latin typeface="Times New Roman"/>
                <a:cs typeface="Times New Roman"/>
              </a:rPr>
              <a:t>(</a:t>
            </a:r>
            <a:r>
              <a:rPr sz="1400" spc="-204" dirty="0">
                <a:latin typeface="Times New Roman"/>
                <a:cs typeface="Times New Roman"/>
              </a:rPr>
              <a:t> </a:t>
            </a:r>
            <a:r>
              <a:rPr sz="1400" i="1" spc="610" dirty="0">
                <a:latin typeface="Times New Roman"/>
                <a:cs typeface="Times New Roman"/>
              </a:rPr>
              <a:t>x</a:t>
            </a:r>
            <a:r>
              <a:rPr sz="1400" i="1" spc="-100" dirty="0">
                <a:latin typeface="Times New Roman"/>
                <a:cs typeface="Times New Roman"/>
              </a:rPr>
              <a:t> </a:t>
            </a:r>
            <a:r>
              <a:rPr sz="1700" spc="710" dirty="0">
                <a:latin typeface="Symbol"/>
                <a:cs typeface="Symbol"/>
              </a:rPr>
              <a:t></a:t>
            </a:r>
            <a:r>
              <a:rPr sz="1200" spc="615" baseline="-24305" dirty="0">
                <a:latin typeface="Times New Roman"/>
                <a:cs typeface="Times New Roman"/>
              </a:rPr>
              <a:t>2</a:t>
            </a:r>
            <a:r>
              <a:rPr sz="1200" spc="82" baseline="-24305" dirty="0">
                <a:latin typeface="Times New Roman"/>
                <a:cs typeface="Times New Roman"/>
              </a:rPr>
              <a:t> </a:t>
            </a:r>
            <a:r>
              <a:rPr sz="1400" spc="555" dirty="0">
                <a:latin typeface="Times New Roman"/>
                <a:cs typeface="Times New Roman"/>
              </a:rPr>
              <a:t>)</a:t>
            </a:r>
            <a:r>
              <a:rPr sz="1400" i="1" spc="835" dirty="0">
                <a:latin typeface="Times New Roman"/>
                <a:cs typeface="Times New Roman"/>
              </a:rPr>
              <a:t>P</a:t>
            </a:r>
            <a:r>
              <a:rPr sz="1400" spc="310" dirty="0">
                <a:latin typeface="Times New Roman"/>
                <a:cs typeface="Times New Roman"/>
              </a:rPr>
              <a:t>(</a:t>
            </a:r>
            <a:r>
              <a:rPr sz="1700" spc="710" dirty="0">
                <a:latin typeface="Symbol"/>
                <a:cs typeface="Symbol"/>
              </a:rPr>
              <a:t></a:t>
            </a:r>
            <a:r>
              <a:rPr sz="1200" spc="615" baseline="-24305" dirty="0">
                <a:latin typeface="Times New Roman"/>
                <a:cs typeface="Times New Roman"/>
              </a:rPr>
              <a:t>2</a:t>
            </a:r>
            <a:r>
              <a:rPr sz="1200" spc="67" baseline="-24305" dirty="0">
                <a:latin typeface="Times New Roman"/>
                <a:cs typeface="Times New Roman"/>
              </a:rPr>
              <a:t> </a:t>
            </a:r>
            <a:r>
              <a:rPr sz="1400" spc="455" dirty="0">
                <a:latin typeface="Times New Roman"/>
                <a:cs typeface="Times New Roman"/>
              </a:rPr>
              <a:t>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1684" y="4954214"/>
            <a:ext cx="219710" cy="2413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400" spc="755" dirty="0">
                <a:latin typeface="Symbol"/>
                <a:cs typeface="Symbol"/>
              </a:rPr>
              <a:t></a:t>
            </a:r>
            <a:endParaRPr sz="1400">
              <a:latin typeface="Symbol"/>
              <a:cs typeface="Symbo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092566" y="4329164"/>
            <a:ext cx="2565400" cy="381000"/>
          </a:xfrm>
          <a:custGeom>
            <a:avLst/>
            <a:gdLst/>
            <a:ahLst/>
            <a:cxnLst/>
            <a:rect l="l" t="t" r="r" b="b"/>
            <a:pathLst>
              <a:path w="2565400" h="381000">
                <a:moveTo>
                  <a:pt x="0" y="143468"/>
                </a:moveTo>
                <a:lnTo>
                  <a:pt x="0" y="380391"/>
                </a:lnTo>
              </a:path>
              <a:path w="2565400" h="381000">
                <a:moveTo>
                  <a:pt x="1226186" y="0"/>
                </a:moveTo>
                <a:lnTo>
                  <a:pt x="1226186" y="237303"/>
                </a:lnTo>
              </a:path>
              <a:path w="2565400" h="381000">
                <a:moveTo>
                  <a:pt x="665888" y="262128"/>
                </a:moveTo>
                <a:lnTo>
                  <a:pt x="2564907" y="262128"/>
                </a:lnTo>
              </a:path>
            </a:pathLst>
          </a:custGeom>
          <a:ln w="108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393012" y="4579808"/>
            <a:ext cx="6527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i="1" spc="715" dirty="0">
                <a:latin typeface="Times New Roman"/>
                <a:cs typeface="Times New Roman"/>
              </a:rPr>
              <a:t>P</a:t>
            </a:r>
            <a:r>
              <a:rPr sz="1600" spc="535" dirty="0">
                <a:latin typeface="Times New Roman"/>
                <a:cs typeface="Times New Roman"/>
              </a:rPr>
              <a:t>(</a:t>
            </a:r>
            <a:r>
              <a:rPr sz="1600" i="1" spc="525" dirty="0">
                <a:latin typeface="Times New Roman"/>
                <a:cs typeface="Times New Roman"/>
              </a:rPr>
              <a:t>x</a:t>
            </a:r>
            <a:r>
              <a:rPr sz="1600" spc="385" dirty="0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53459" y="4250515"/>
            <a:ext cx="1931035" cy="306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600" i="1" spc="720" dirty="0">
                <a:latin typeface="Times New Roman"/>
                <a:cs typeface="Times New Roman"/>
              </a:rPr>
              <a:t>P</a:t>
            </a:r>
            <a:r>
              <a:rPr sz="1600" spc="535" dirty="0">
                <a:latin typeface="Times New Roman"/>
                <a:cs typeface="Times New Roman"/>
              </a:rPr>
              <a:t>(</a:t>
            </a:r>
            <a:r>
              <a:rPr sz="1600" i="1" spc="770" dirty="0">
                <a:latin typeface="Times New Roman"/>
                <a:cs typeface="Times New Roman"/>
              </a:rPr>
              <a:t>x</a:t>
            </a:r>
            <a:r>
              <a:rPr sz="1850" spc="605" dirty="0">
                <a:latin typeface="Symbol"/>
                <a:cs typeface="Symbol"/>
              </a:rPr>
              <a:t></a:t>
            </a:r>
            <a:r>
              <a:rPr sz="1350" spc="532" baseline="-24691" dirty="0">
                <a:latin typeface="Times New Roman"/>
                <a:cs typeface="Times New Roman"/>
              </a:rPr>
              <a:t>2</a:t>
            </a:r>
            <a:r>
              <a:rPr sz="1350" spc="52" baseline="-24691" dirty="0">
                <a:latin typeface="Times New Roman"/>
                <a:cs typeface="Times New Roman"/>
              </a:rPr>
              <a:t> </a:t>
            </a:r>
            <a:r>
              <a:rPr sz="1600" spc="490" dirty="0">
                <a:latin typeface="Times New Roman"/>
                <a:cs typeface="Times New Roman"/>
              </a:rPr>
              <a:t>)</a:t>
            </a:r>
            <a:r>
              <a:rPr sz="1600" i="1" spc="720" dirty="0">
                <a:latin typeface="Times New Roman"/>
                <a:cs typeface="Times New Roman"/>
              </a:rPr>
              <a:t>P</a:t>
            </a:r>
            <a:r>
              <a:rPr sz="1600" spc="240" dirty="0">
                <a:latin typeface="Times New Roman"/>
                <a:cs typeface="Times New Roman"/>
              </a:rPr>
              <a:t>(</a:t>
            </a:r>
            <a:r>
              <a:rPr sz="1850" spc="615" dirty="0">
                <a:latin typeface="Symbol"/>
                <a:cs typeface="Symbol"/>
              </a:rPr>
              <a:t></a:t>
            </a:r>
            <a:r>
              <a:rPr sz="1350" spc="532" baseline="-24691" dirty="0">
                <a:latin typeface="Times New Roman"/>
                <a:cs typeface="Times New Roman"/>
              </a:rPr>
              <a:t>2</a:t>
            </a:r>
            <a:r>
              <a:rPr sz="1350" spc="44" baseline="-24691" dirty="0">
                <a:latin typeface="Times New Roman"/>
                <a:cs typeface="Times New Roman"/>
              </a:rPr>
              <a:t> </a:t>
            </a:r>
            <a:r>
              <a:rPr sz="1600" spc="385" dirty="0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34462" y="4393614"/>
            <a:ext cx="1388110" cy="306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600" i="1" spc="715" dirty="0">
                <a:latin typeface="Times New Roman"/>
                <a:cs typeface="Times New Roman"/>
              </a:rPr>
              <a:t>P</a:t>
            </a:r>
            <a:r>
              <a:rPr sz="1600" spc="250" dirty="0">
                <a:latin typeface="Times New Roman"/>
                <a:cs typeface="Times New Roman"/>
              </a:rPr>
              <a:t>(</a:t>
            </a:r>
            <a:r>
              <a:rPr sz="1850" spc="605" dirty="0">
                <a:latin typeface="Symbol"/>
                <a:cs typeface="Symbol"/>
              </a:rPr>
              <a:t></a:t>
            </a:r>
            <a:r>
              <a:rPr sz="1350" spc="532" baseline="-24691" dirty="0">
                <a:latin typeface="Times New Roman"/>
                <a:cs typeface="Times New Roman"/>
              </a:rPr>
              <a:t>2</a:t>
            </a:r>
            <a:r>
              <a:rPr sz="1350" baseline="-24691" dirty="0">
                <a:latin typeface="Times New Roman"/>
                <a:cs typeface="Times New Roman"/>
              </a:rPr>
              <a:t>   </a:t>
            </a:r>
            <a:r>
              <a:rPr sz="1350" spc="-157" baseline="-24691" dirty="0">
                <a:latin typeface="Times New Roman"/>
                <a:cs typeface="Times New Roman"/>
              </a:rPr>
              <a:t> </a:t>
            </a:r>
            <a:r>
              <a:rPr sz="1600" i="1" spc="520" dirty="0">
                <a:latin typeface="Times New Roman"/>
                <a:cs typeface="Times New Roman"/>
              </a:rPr>
              <a:t>x</a:t>
            </a:r>
            <a:r>
              <a:rPr sz="1600" spc="385" dirty="0">
                <a:latin typeface="Times New Roman"/>
                <a:cs typeface="Times New Roman"/>
              </a:rPr>
              <a:t>)</a:t>
            </a:r>
            <a:r>
              <a:rPr sz="1600" spc="170" dirty="0">
                <a:latin typeface="Times New Roman"/>
                <a:cs typeface="Times New Roman"/>
              </a:rPr>
              <a:t> </a:t>
            </a:r>
            <a:r>
              <a:rPr sz="1600" spc="640" dirty="0">
                <a:latin typeface="Symbol"/>
                <a:cs typeface="Symbol"/>
              </a:rPr>
              <a:t></a:t>
            </a:r>
            <a:endParaRPr sz="1600">
              <a:latin typeface="Symbol"/>
              <a:cs typeface="Symbo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24147" y="6207190"/>
            <a:ext cx="3081020" cy="0"/>
          </a:xfrm>
          <a:custGeom>
            <a:avLst/>
            <a:gdLst/>
            <a:ahLst/>
            <a:cxnLst/>
            <a:rect l="l" t="t" r="r" b="b"/>
            <a:pathLst>
              <a:path w="3081020">
                <a:moveTo>
                  <a:pt x="0" y="0"/>
                </a:moveTo>
                <a:lnTo>
                  <a:pt x="1912269" y="0"/>
                </a:lnTo>
              </a:path>
              <a:path w="3081020">
                <a:moveTo>
                  <a:pt x="2233057" y="0"/>
                </a:moveTo>
                <a:lnTo>
                  <a:pt x="3080503" y="0"/>
                </a:lnTo>
              </a:path>
            </a:pathLst>
          </a:custGeom>
          <a:ln w="970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860518" y="6195528"/>
            <a:ext cx="835025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450" dirty="0">
                <a:latin typeface="Times New Roman"/>
                <a:cs typeface="Times New Roman"/>
              </a:rPr>
              <a:t>0</a:t>
            </a:r>
            <a:r>
              <a:rPr sz="1400" spc="275" dirty="0">
                <a:latin typeface="Times New Roman"/>
                <a:cs typeface="Times New Roman"/>
              </a:rPr>
              <a:t>,</a:t>
            </a:r>
            <a:r>
              <a:rPr sz="1400" spc="445" dirty="0">
                <a:latin typeface="Times New Roman"/>
                <a:cs typeface="Times New Roman"/>
              </a:rPr>
              <a:t>2063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872277" y="5946449"/>
            <a:ext cx="802005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370" dirty="0">
                <a:latin typeface="Times New Roman"/>
                <a:cs typeface="Times New Roman"/>
              </a:rPr>
              <a:t>0,1139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71682" y="5946449"/>
            <a:ext cx="802005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370" dirty="0">
                <a:latin typeface="Times New Roman"/>
                <a:cs typeface="Times New Roman"/>
              </a:rPr>
              <a:t>0,1139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771766" y="6057806"/>
            <a:ext cx="1056640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605" dirty="0">
                <a:latin typeface="Symbol"/>
                <a:cs typeface="Symbol"/>
              </a:rPr>
              <a:t>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spc="405" dirty="0">
                <a:latin typeface="Times New Roman"/>
                <a:cs typeface="Times New Roman"/>
              </a:rPr>
              <a:t>0,5521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604207" y="6057806"/>
            <a:ext cx="200660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605" dirty="0">
                <a:latin typeface="Symbol"/>
                <a:cs typeface="Symbol"/>
              </a:rPr>
              <a:t></a:t>
            </a:r>
            <a:endParaRPr sz="1400">
              <a:latin typeface="Symbol"/>
              <a:cs typeface="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26909" y="6195528"/>
            <a:ext cx="1891664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430" dirty="0">
                <a:latin typeface="Times New Roman"/>
                <a:cs typeface="Times New Roman"/>
              </a:rPr>
              <a:t>0,0924</a:t>
            </a:r>
            <a:r>
              <a:rPr sz="1400" spc="45" dirty="0">
                <a:latin typeface="Times New Roman"/>
                <a:cs typeface="Times New Roman"/>
              </a:rPr>
              <a:t> </a:t>
            </a:r>
            <a:r>
              <a:rPr sz="1400" spc="605" dirty="0">
                <a:latin typeface="Symbol"/>
                <a:cs typeface="Symbol"/>
              </a:rPr>
              <a:t>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370" dirty="0">
                <a:latin typeface="Times New Roman"/>
                <a:cs typeface="Times New Roman"/>
              </a:rPr>
              <a:t>0,1139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71247" y="6057806"/>
            <a:ext cx="200660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605" dirty="0">
                <a:latin typeface="Symbol"/>
                <a:cs typeface="Symbol"/>
              </a:rPr>
              <a:t></a:t>
            </a:r>
            <a:endParaRPr sz="1400">
              <a:latin typeface="Symbol"/>
              <a:cs typeface="Symbo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643078" y="5689665"/>
            <a:ext cx="3805554" cy="0"/>
          </a:xfrm>
          <a:custGeom>
            <a:avLst/>
            <a:gdLst/>
            <a:ahLst/>
            <a:cxnLst/>
            <a:rect l="l" t="t" r="r" b="b"/>
            <a:pathLst>
              <a:path w="3805554">
                <a:moveTo>
                  <a:pt x="0" y="0"/>
                </a:moveTo>
                <a:lnTo>
                  <a:pt x="3805156" y="0"/>
                </a:lnTo>
              </a:path>
            </a:pathLst>
          </a:custGeom>
          <a:ln w="70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766597" y="5428924"/>
            <a:ext cx="1565910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495" dirty="0">
                <a:latin typeface="Times New Roman"/>
                <a:cs typeface="Times New Roman"/>
              </a:rPr>
              <a:t>(0,17)(2</a:t>
            </a:r>
            <a:r>
              <a:rPr sz="1400" spc="-85" dirty="0">
                <a:latin typeface="Times New Roman"/>
                <a:cs typeface="Times New Roman"/>
              </a:rPr>
              <a:t> </a:t>
            </a:r>
            <a:r>
              <a:rPr sz="1400" spc="385" dirty="0">
                <a:latin typeface="Times New Roman"/>
                <a:cs typeface="Times New Roman"/>
              </a:rPr>
              <a:t>/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500" dirty="0">
                <a:latin typeface="Times New Roman"/>
                <a:cs typeface="Times New Roman"/>
              </a:rPr>
              <a:t>3)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2169" y="5540281"/>
            <a:ext cx="4076700" cy="3803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1380"/>
              </a:lnSpc>
              <a:spcBef>
                <a:spcPts val="125"/>
              </a:spcBef>
            </a:pPr>
            <a:r>
              <a:rPr sz="1400" spc="765" dirty="0">
                <a:latin typeface="Symbol"/>
                <a:cs typeface="Symbol"/>
              </a:rPr>
              <a:t></a:t>
            </a:r>
            <a:endParaRPr sz="1400">
              <a:latin typeface="Symbol"/>
              <a:cs typeface="Symbol"/>
            </a:endParaRPr>
          </a:p>
          <a:p>
            <a:pPr marL="298450">
              <a:lnSpc>
                <a:spcPts val="1380"/>
              </a:lnSpc>
            </a:pPr>
            <a:r>
              <a:rPr sz="1400" spc="475" dirty="0">
                <a:latin typeface="Times New Roman"/>
                <a:cs typeface="Times New Roman"/>
              </a:rPr>
              <a:t>((0,28)(1/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459" dirty="0">
                <a:latin typeface="Times New Roman"/>
                <a:cs typeface="Times New Roman"/>
              </a:rPr>
              <a:t>3))</a:t>
            </a:r>
            <a:r>
              <a:rPr sz="1400" spc="60" dirty="0">
                <a:latin typeface="Times New Roman"/>
                <a:cs typeface="Times New Roman"/>
              </a:rPr>
              <a:t> </a:t>
            </a:r>
            <a:r>
              <a:rPr sz="1400" spc="765" dirty="0">
                <a:latin typeface="Symbol"/>
                <a:cs typeface="Symbol"/>
              </a:rPr>
              <a:t></a:t>
            </a:r>
            <a:r>
              <a:rPr sz="1400" spc="15" dirty="0">
                <a:latin typeface="Times New Roman"/>
                <a:cs typeface="Times New Roman"/>
              </a:rPr>
              <a:t> </a:t>
            </a:r>
            <a:r>
              <a:rPr sz="1400" spc="480" dirty="0">
                <a:latin typeface="Times New Roman"/>
                <a:cs typeface="Times New Roman"/>
              </a:rPr>
              <a:t>((0,17)(2</a:t>
            </a:r>
            <a:r>
              <a:rPr sz="1400" spc="-50" dirty="0">
                <a:latin typeface="Times New Roman"/>
                <a:cs typeface="Times New Roman"/>
              </a:rPr>
              <a:t> </a:t>
            </a:r>
            <a:r>
              <a:rPr sz="1400" spc="385" dirty="0">
                <a:latin typeface="Times New Roman"/>
                <a:cs typeface="Times New Roman"/>
              </a:rPr>
              <a:t>/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434" dirty="0">
                <a:latin typeface="Times New Roman"/>
                <a:cs typeface="Times New Roman"/>
              </a:rPr>
              <a:t>3))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056952" y="1879587"/>
            <a:ext cx="2493645" cy="381000"/>
          </a:xfrm>
          <a:custGeom>
            <a:avLst/>
            <a:gdLst/>
            <a:ahLst/>
            <a:cxnLst/>
            <a:rect l="l" t="t" r="r" b="b"/>
            <a:pathLst>
              <a:path w="2493645" h="381000">
                <a:moveTo>
                  <a:pt x="0" y="143468"/>
                </a:moveTo>
                <a:lnTo>
                  <a:pt x="0" y="380391"/>
                </a:lnTo>
              </a:path>
              <a:path w="2493645" h="381000">
                <a:moveTo>
                  <a:pt x="1227081" y="0"/>
                </a:moveTo>
                <a:lnTo>
                  <a:pt x="1227081" y="237303"/>
                </a:lnTo>
              </a:path>
              <a:path w="2493645" h="381000">
                <a:moveTo>
                  <a:pt x="666241" y="262128"/>
                </a:moveTo>
                <a:lnTo>
                  <a:pt x="2493538" y="262128"/>
                </a:lnTo>
              </a:path>
            </a:pathLst>
          </a:custGeom>
          <a:ln w="10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905740" y="2109428"/>
            <a:ext cx="128270" cy="1676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00" spc="355" dirty="0">
                <a:latin typeface="Times New Roman"/>
                <a:cs typeface="Times New Roman"/>
              </a:rPr>
              <a:t>1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321625" y="2130232"/>
            <a:ext cx="6527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i="1" spc="715" dirty="0">
                <a:latin typeface="Times New Roman"/>
                <a:cs typeface="Times New Roman"/>
              </a:rPr>
              <a:t>P</a:t>
            </a:r>
            <a:r>
              <a:rPr sz="1600" spc="535" dirty="0">
                <a:latin typeface="Times New Roman"/>
                <a:cs typeface="Times New Roman"/>
              </a:rPr>
              <a:t>(</a:t>
            </a:r>
            <a:r>
              <a:rPr sz="1600" i="1" spc="525" dirty="0">
                <a:latin typeface="Times New Roman"/>
                <a:cs typeface="Times New Roman"/>
              </a:rPr>
              <a:t>x</a:t>
            </a:r>
            <a:r>
              <a:rPr sz="1600" spc="385" dirty="0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72469" y="1944127"/>
            <a:ext cx="582295" cy="3067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600" i="1" spc="715" dirty="0">
                <a:latin typeface="Times New Roman"/>
                <a:cs typeface="Times New Roman"/>
              </a:rPr>
              <a:t>P</a:t>
            </a:r>
            <a:r>
              <a:rPr sz="1600" spc="250" dirty="0">
                <a:latin typeface="Times New Roman"/>
                <a:cs typeface="Times New Roman"/>
              </a:rPr>
              <a:t>(</a:t>
            </a:r>
            <a:r>
              <a:rPr sz="1850" spc="625" dirty="0">
                <a:latin typeface="Symbol"/>
                <a:cs typeface="Symbol"/>
              </a:rPr>
              <a:t></a:t>
            </a:r>
            <a:endParaRPr sz="1850">
              <a:latin typeface="Symbol"/>
              <a:cs typeface="Symbo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69840" y="1801028"/>
            <a:ext cx="2508250" cy="3067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2400" i="1" spc="787" baseline="-39930" dirty="0">
                <a:latin typeface="Times New Roman"/>
                <a:cs typeface="Times New Roman"/>
              </a:rPr>
              <a:t>x</a:t>
            </a:r>
            <a:r>
              <a:rPr sz="2400" spc="577" baseline="-39930" dirty="0">
                <a:latin typeface="Times New Roman"/>
                <a:cs typeface="Times New Roman"/>
              </a:rPr>
              <a:t>)</a:t>
            </a:r>
            <a:r>
              <a:rPr sz="2400" spc="247" baseline="-39930" dirty="0">
                <a:latin typeface="Times New Roman"/>
                <a:cs typeface="Times New Roman"/>
              </a:rPr>
              <a:t> </a:t>
            </a:r>
            <a:r>
              <a:rPr sz="2400" spc="960" baseline="-39930" dirty="0">
                <a:latin typeface="Symbol"/>
                <a:cs typeface="Symbol"/>
              </a:rPr>
              <a:t></a:t>
            </a:r>
            <a:r>
              <a:rPr sz="2400" baseline="-39930" dirty="0">
                <a:latin typeface="Times New Roman"/>
                <a:cs typeface="Times New Roman"/>
              </a:rPr>
              <a:t> </a:t>
            </a:r>
            <a:r>
              <a:rPr sz="2400" spc="82" baseline="-39930" dirty="0">
                <a:latin typeface="Times New Roman"/>
                <a:cs typeface="Times New Roman"/>
              </a:rPr>
              <a:t> </a:t>
            </a:r>
            <a:r>
              <a:rPr sz="1600" i="1" spc="715" dirty="0">
                <a:latin typeface="Times New Roman"/>
                <a:cs typeface="Times New Roman"/>
              </a:rPr>
              <a:t>P</a:t>
            </a:r>
            <a:r>
              <a:rPr sz="1600" spc="540" dirty="0">
                <a:latin typeface="Times New Roman"/>
                <a:cs typeface="Times New Roman"/>
              </a:rPr>
              <a:t>(</a:t>
            </a:r>
            <a:r>
              <a:rPr sz="1600" i="1" spc="515" dirty="0">
                <a:latin typeface="Times New Roman"/>
                <a:cs typeface="Times New Roman"/>
              </a:rPr>
              <a:t>x</a:t>
            </a:r>
            <a:r>
              <a:rPr sz="1600" i="1" spc="-140" dirty="0">
                <a:latin typeface="Times New Roman"/>
                <a:cs typeface="Times New Roman"/>
              </a:rPr>
              <a:t> </a:t>
            </a:r>
            <a:r>
              <a:rPr sz="1850" spc="434" dirty="0">
                <a:latin typeface="Symbol"/>
                <a:cs typeface="Symbol"/>
              </a:rPr>
              <a:t></a:t>
            </a:r>
            <a:r>
              <a:rPr sz="1350" spc="532" baseline="-24691" dirty="0">
                <a:latin typeface="Times New Roman"/>
                <a:cs typeface="Times New Roman"/>
              </a:rPr>
              <a:t>1</a:t>
            </a:r>
            <a:r>
              <a:rPr sz="1350" spc="-120" baseline="-24691" dirty="0">
                <a:latin typeface="Times New Roman"/>
                <a:cs typeface="Times New Roman"/>
              </a:rPr>
              <a:t> </a:t>
            </a:r>
            <a:r>
              <a:rPr sz="1600" spc="495" dirty="0">
                <a:latin typeface="Times New Roman"/>
                <a:cs typeface="Times New Roman"/>
              </a:rPr>
              <a:t>)</a:t>
            </a:r>
            <a:r>
              <a:rPr sz="1600" i="1" spc="715" dirty="0">
                <a:latin typeface="Times New Roman"/>
                <a:cs typeface="Times New Roman"/>
              </a:rPr>
              <a:t>P</a:t>
            </a:r>
            <a:r>
              <a:rPr sz="1600" spc="250" dirty="0">
                <a:latin typeface="Times New Roman"/>
                <a:cs typeface="Times New Roman"/>
              </a:rPr>
              <a:t>(</a:t>
            </a:r>
            <a:r>
              <a:rPr sz="1850" spc="434" dirty="0">
                <a:latin typeface="Symbol"/>
                <a:cs typeface="Symbol"/>
              </a:rPr>
              <a:t></a:t>
            </a:r>
            <a:r>
              <a:rPr sz="1350" spc="532" baseline="-24691" dirty="0">
                <a:latin typeface="Times New Roman"/>
                <a:cs typeface="Times New Roman"/>
              </a:rPr>
              <a:t>1</a:t>
            </a:r>
            <a:r>
              <a:rPr sz="1350" spc="-120" baseline="-24691" dirty="0">
                <a:latin typeface="Times New Roman"/>
                <a:cs typeface="Times New Roman"/>
              </a:rPr>
              <a:t> </a:t>
            </a:r>
            <a:r>
              <a:rPr sz="1600" spc="385" dirty="0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09158" y="2678576"/>
            <a:ext cx="3128010" cy="1083310"/>
            <a:chOff x="609158" y="2678576"/>
            <a:chExt cx="3128010" cy="1083310"/>
          </a:xfrm>
        </p:grpSpPr>
        <p:sp>
          <p:nvSpPr>
            <p:cNvPr id="31" name="object 31"/>
            <p:cNvSpPr/>
            <p:nvPr/>
          </p:nvSpPr>
          <p:spPr>
            <a:xfrm>
              <a:off x="1201607" y="2685561"/>
              <a:ext cx="2086610" cy="210185"/>
            </a:xfrm>
            <a:custGeom>
              <a:avLst/>
              <a:gdLst/>
              <a:ahLst/>
              <a:cxnLst/>
              <a:rect l="l" t="t" r="r" b="b"/>
              <a:pathLst>
                <a:path w="2086610" h="210185">
                  <a:moveTo>
                    <a:pt x="0" y="0"/>
                  </a:moveTo>
                  <a:lnTo>
                    <a:pt x="0" y="210086"/>
                  </a:lnTo>
                </a:path>
                <a:path w="2086610" h="210185">
                  <a:moveTo>
                    <a:pt x="2086524" y="0"/>
                  </a:moveTo>
                  <a:lnTo>
                    <a:pt x="2086524" y="210086"/>
                  </a:lnTo>
                </a:path>
              </a:pathLst>
            </a:custGeom>
            <a:ln w="1044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12968" y="3757677"/>
              <a:ext cx="3120390" cy="0"/>
            </a:xfrm>
            <a:custGeom>
              <a:avLst/>
              <a:gdLst/>
              <a:ahLst/>
              <a:cxnLst/>
              <a:rect l="l" t="t" r="r" b="b"/>
              <a:pathLst>
                <a:path w="3120390">
                  <a:moveTo>
                    <a:pt x="0" y="0"/>
                  </a:moveTo>
                  <a:lnTo>
                    <a:pt x="1934664" y="0"/>
                  </a:lnTo>
                </a:path>
                <a:path w="3120390">
                  <a:moveTo>
                    <a:pt x="2258357" y="0"/>
                  </a:moveTo>
                  <a:lnTo>
                    <a:pt x="3120048" y="0"/>
                  </a:lnTo>
                </a:path>
              </a:pathLst>
            </a:custGeom>
            <a:ln w="979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336284" y="2394044"/>
            <a:ext cx="4326255" cy="2413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  <a:tabLst>
                <a:tab pos="1551940" algn="l"/>
                <a:tab pos="4287520" algn="l"/>
              </a:tabLst>
            </a:pPr>
            <a:r>
              <a:rPr sz="2100" spc="1132" baseline="-33730" dirty="0">
                <a:latin typeface="Symbol"/>
                <a:cs typeface="Symbol"/>
              </a:rPr>
              <a:t></a:t>
            </a:r>
            <a:r>
              <a:rPr sz="1400" u="sng" spc="7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400" u="sng" spc="48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(0,28)(1/</a:t>
            </a:r>
            <a:r>
              <a:rPr sz="1400" u="sng" spc="-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400" u="sng" spc="49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3)	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90593" y="3464927"/>
            <a:ext cx="4341495" cy="52387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523875" algn="ctr">
              <a:lnSpc>
                <a:spcPct val="100000"/>
              </a:lnSpc>
              <a:spcBef>
                <a:spcPts val="375"/>
              </a:spcBef>
              <a:tabLst>
                <a:tab pos="1986280" algn="l"/>
              </a:tabLst>
            </a:pPr>
            <a:r>
              <a:rPr sz="1400" spc="440" dirty="0">
                <a:latin typeface="Times New Roman"/>
                <a:cs typeface="Times New Roman"/>
              </a:rPr>
              <a:t>0,0924	</a:t>
            </a:r>
            <a:r>
              <a:rPr sz="2100" spc="944" baseline="-35714" dirty="0">
                <a:latin typeface="Symbol"/>
                <a:cs typeface="Symbol"/>
              </a:rPr>
              <a:t></a:t>
            </a:r>
            <a:r>
              <a:rPr sz="2100" spc="405" baseline="-35714" dirty="0">
                <a:latin typeface="Times New Roman"/>
                <a:cs typeface="Times New Roman"/>
              </a:rPr>
              <a:t> </a:t>
            </a:r>
            <a:r>
              <a:rPr sz="1400" spc="440" dirty="0">
                <a:latin typeface="Times New Roman"/>
                <a:cs typeface="Times New Roman"/>
              </a:rPr>
              <a:t>0,0924</a:t>
            </a:r>
            <a:r>
              <a:rPr sz="1400" spc="405" dirty="0">
                <a:latin typeface="Times New Roman"/>
                <a:cs typeface="Times New Roman"/>
              </a:rPr>
              <a:t> </a:t>
            </a:r>
            <a:r>
              <a:rPr sz="2100" spc="944" baseline="-35714" dirty="0">
                <a:latin typeface="Symbol"/>
                <a:cs typeface="Symbol"/>
              </a:rPr>
              <a:t></a:t>
            </a:r>
            <a:r>
              <a:rPr sz="2100" spc="120" baseline="-35714" dirty="0">
                <a:latin typeface="Times New Roman"/>
                <a:cs typeface="Times New Roman"/>
              </a:rPr>
              <a:t> </a:t>
            </a:r>
            <a:r>
              <a:rPr sz="2100" spc="667" baseline="-35714" dirty="0">
                <a:latin typeface="Times New Roman"/>
                <a:cs typeface="Times New Roman"/>
              </a:rPr>
              <a:t>0,4479</a:t>
            </a:r>
            <a:endParaRPr sz="2100" baseline="-35714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280"/>
              </a:spcBef>
              <a:tabLst>
                <a:tab pos="2298700" algn="l"/>
              </a:tabLst>
            </a:pPr>
            <a:r>
              <a:rPr sz="1400" spc="440" dirty="0">
                <a:latin typeface="Times New Roman"/>
                <a:cs typeface="Times New Roman"/>
              </a:rPr>
              <a:t>0,0924</a:t>
            </a:r>
            <a:r>
              <a:rPr sz="1400" spc="85" dirty="0">
                <a:latin typeface="Times New Roman"/>
                <a:cs typeface="Times New Roman"/>
              </a:rPr>
              <a:t> </a:t>
            </a:r>
            <a:r>
              <a:rPr sz="1400" spc="630" dirty="0">
                <a:latin typeface="Symbol"/>
                <a:cs typeface="Symbol"/>
              </a:rPr>
              <a:t>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400" dirty="0">
                <a:latin typeface="Times New Roman"/>
                <a:cs typeface="Times New Roman"/>
              </a:rPr>
              <a:t>0,1139	</a:t>
            </a:r>
            <a:r>
              <a:rPr sz="1400" spc="445" dirty="0">
                <a:latin typeface="Times New Roman"/>
                <a:cs typeface="Times New Roman"/>
              </a:rPr>
              <a:t>0,2063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57034" y="3608294"/>
            <a:ext cx="203200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630" dirty="0">
                <a:latin typeface="Symbol"/>
                <a:cs typeface="Symbol"/>
              </a:rPr>
              <a:t></a:t>
            </a:r>
            <a:endParaRPr sz="1400">
              <a:latin typeface="Symbol"/>
              <a:cs typeface="Symbo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43078" y="3240152"/>
            <a:ext cx="3805554" cy="0"/>
          </a:xfrm>
          <a:custGeom>
            <a:avLst/>
            <a:gdLst/>
            <a:ahLst/>
            <a:cxnLst/>
            <a:rect l="l" t="t" r="r" b="b"/>
            <a:pathLst>
              <a:path w="3805554">
                <a:moveTo>
                  <a:pt x="0" y="0"/>
                </a:moveTo>
                <a:lnTo>
                  <a:pt x="3805156" y="0"/>
                </a:lnTo>
              </a:path>
            </a:pathLst>
          </a:custGeom>
          <a:ln w="70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622895" y="2470647"/>
            <a:ext cx="4029075" cy="1000760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52069">
              <a:lnSpc>
                <a:spcPct val="100000"/>
              </a:lnSpc>
              <a:spcBef>
                <a:spcPts val="1165"/>
              </a:spcBef>
            </a:pPr>
            <a:r>
              <a:rPr sz="1400" i="1" spc="830" dirty="0">
                <a:latin typeface="Times New Roman"/>
                <a:cs typeface="Times New Roman"/>
              </a:rPr>
              <a:t>P</a:t>
            </a:r>
            <a:r>
              <a:rPr sz="1400" spc="455" dirty="0">
                <a:latin typeface="Times New Roman"/>
                <a:cs typeface="Times New Roman"/>
              </a:rPr>
              <a:t>(</a:t>
            </a:r>
            <a:r>
              <a:rPr sz="1400" spc="-200" dirty="0">
                <a:latin typeface="Times New Roman"/>
                <a:cs typeface="Times New Roman"/>
              </a:rPr>
              <a:t> </a:t>
            </a:r>
            <a:r>
              <a:rPr sz="1400" i="1" spc="610" dirty="0">
                <a:latin typeface="Times New Roman"/>
                <a:cs typeface="Times New Roman"/>
              </a:rPr>
              <a:t>x</a:t>
            </a:r>
            <a:r>
              <a:rPr sz="1400" i="1" spc="-105" dirty="0">
                <a:latin typeface="Times New Roman"/>
                <a:cs typeface="Times New Roman"/>
              </a:rPr>
              <a:t> </a:t>
            </a:r>
            <a:r>
              <a:rPr sz="1700" spc="540" dirty="0">
                <a:latin typeface="Symbol"/>
                <a:cs typeface="Symbol"/>
              </a:rPr>
              <a:t></a:t>
            </a:r>
            <a:r>
              <a:rPr sz="1200" spc="615" baseline="-24305" dirty="0">
                <a:latin typeface="Times New Roman"/>
                <a:cs typeface="Times New Roman"/>
              </a:rPr>
              <a:t>1</a:t>
            </a:r>
            <a:r>
              <a:rPr sz="1200" spc="-97" baseline="-24305" dirty="0">
                <a:latin typeface="Times New Roman"/>
                <a:cs typeface="Times New Roman"/>
              </a:rPr>
              <a:t> </a:t>
            </a:r>
            <a:r>
              <a:rPr sz="1400" spc="555" dirty="0">
                <a:latin typeface="Times New Roman"/>
                <a:cs typeface="Times New Roman"/>
              </a:rPr>
              <a:t>)</a:t>
            </a:r>
            <a:r>
              <a:rPr sz="1400" i="1" spc="835" dirty="0">
                <a:latin typeface="Times New Roman"/>
                <a:cs typeface="Times New Roman"/>
              </a:rPr>
              <a:t>P</a:t>
            </a:r>
            <a:r>
              <a:rPr sz="1400" spc="310" dirty="0">
                <a:latin typeface="Times New Roman"/>
                <a:cs typeface="Times New Roman"/>
              </a:rPr>
              <a:t>(</a:t>
            </a:r>
            <a:r>
              <a:rPr sz="1700" spc="535" dirty="0">
                <a:latin typeface="Symbol"/>
                <a:cs typeface="Symbol"/>
              </a:rPr>
              <a:t></a:t>
            </a:r>
            <a:r>
              <a:rPr sz="1200" spc="615" baseline="-24305" dirty="0">
                <a:latin typeface="Times New Roman"/>
                <a:cs typeface="Times New Roman"/>
              </a:rPr>
              <a:t>1</a:t>
            </a:r>
            <a:r>
              <a:rPr sz="1200" spc="-89" baseline="-24305" dirty="0">
                <a:latin typeface="Times New Roman"/>
                <a:cs typeface="Times New Roman"/>
              </a:rPr>
              <a:t> </a:t>
            </a:r>
            <a:r>
              <a:rPr sz="1400" spc="455" dirty="0">
                <a:latin typeface="Times New Roman"/>
                <a:cs typeface="Times New Roman"/>
              </a:rPr>
              <a:t>)</a:t>
            </a:r>
            <a:r>
              <a:rPr sz="1400" spc="40" dirty="0">
                <a:latin typeface="Times New Roman"/>
                <a:cs typeface="Times New Roman"/>
              </a:rPr>
              <a:t> </a:t>
            </a:r>
            <a:r>
              <a:rPr sz="1400" spc="755" dirty="0">
                <a:latin typeface="Symbol"/>
                <a:cs typeface="Symbol"/>
              </a:rPr>
              <a:t></a:t>
            </a:r>
            <a:r>
              <a:rPr sz="1400" spc="145" dirty="0">
                <a:latin typeface="Times New Roman"/>
                <a:cs typeface="Times New Roman"/>
              </a:rPr>
              <a:t> </a:t>
            </a:r>
            <a:r>
              <a:rPr sz="1400" i="1" spc="835" dirty="0">
                <a:latin typeface="Times New Roman"/>
                <a:cs typeface="Times New Roman"/>
              </a:rPr>
              <a:t>P</a:t>
            </a:r>
            <a:r>
              <a:rPr sz="1400" spc="455" dirty="0">
                <a:latin typeface="Times New Roman"/>
                <a:cs typeface="Times New Roman"/>
              </a:rPr>
              <a:t>(</a:t>
            </a:r>
            <a:r>
              <a:rPr sz="1400" spc="-204" dirty="0">
                <a:latin typeface="Times New Roman"/>
                <a:cs typeface="Times New Roman"/>
              </a:rPr>
              <a:t> </a:t>
            </a:r>
            <a:r>
              <a:rPr sz="1400" i="1" spc="610" dirty="0">
                <a:latin typeface="Times New Roman"/>
                <a:cs typeface="Times New Roman"/>
              </a:rPr>
              <a:t>x</a:t>
            </a:r>
            <a:r>
              <a:rPr sz="1400" i="1" spc="-100" dirty="0">
                <a:latin typeface="Times New Roman"/>
                <a:cs typeface="Times New Roman"/>
              </a:rPr>
              <a:t> </a:t>
            </a:r>
            <a:r>
              <a:rPr sz="1700" spc="710" dirty="0">
                <a:latin typeface="Symbol"/>
                <a:cs typeface="Symbol"/>
              </a:rPr>
              <a:t></a:t>
            </a:r>
            <a:r>
              <a:rPr sz="1200" spc="615" baseline="-24305" dirty="0">
                <a:latin typeface="Times New Roman"/>
                <a:cs typeface="Times New Roman"/>
              </a:rPr>
              <a:t>2</a:t>
            </a:r>
            <a:r>
              <a:rPr sz="1200" spc="82" baseline="-24305" dirty="0">
                <a:latin typeface="Times New Roman"/>
                <a:cs typeface="Times New Roman"/>
              </a:rPr>
              <a:t> </a:t>
            </a:r>
            <a:r>
              <a:rPr sz="1400" spc="555" dirty="0">
                <a:latin typeface="Times New Roman"/>
                <a:cs typeface="Times New Roman"/>
              </a:rPr>
              <a:t>)</a:t>
            </a:r>
            <a:r>
              <a:rPr sz="1400" i="1" spc="835" dirty="0">
                <a:latin typeface="Times New Roman"/>
                <a:cs typeface="Times New Roman"/>
              </a:rPr>
              <a:t>P</a:t>
            </a:r>
            <a:r>
              <a:rPr sz="1400" spc="310" dirty="0">
                <a:latin typeface="Times New Roman"/>
                <a:cs typeface="Times New Roman"/>
              </a:rPr>
              <a:t>(</a:t>
            </a:r>
            <a:r>
              <a:rPr sz="1700" spc="710" dirty="0">
                <a:latin typeface="Symbol"/>
                <a:cs typeface="Symbol"/>
              </a:rPr>
              <a:t></a:t>
            </a:r>
            <a:r>
              <a:rPr sz="1200" spc="615" baseline="-24305" dirty="0">
                <a:latin typeface="Times New Roman"/>
                <a:cs typeface="Times New Roman"/>
              </a:rPr>
              <a:t>2</a:t>
            </a:r>
            <a:r>
              <a:rPr sz="1200" spc="67" baseline="-24305" dirty="0">
                <a:latin typeface="Times New Roman"/>
                <a:cs typeface="Times New Roman"/>
              </a:rPr>
              <a:t> </a:t>
            </a:r>
            <a:r>
              <a:rPr sz="1400" spc="455" dirty="0">
                <a:latin typeface="Times New Roman"/>
                <a:cs typeface="Times New Roman"/>
              </a:rPr>
              <a:t>)</a:t>
            </a:r>
            <a:endParaRPr sz="1400">
              <a:latin typeface="Times New Roman"/>
              <a:cs typeface="Times New Roman"/>
            </a:endParaRPr>
          </a:p>
          <a:p>
            <a:pPr marR="167005" algn="ctr">
              <a:lnSpc>
                <a:spcPct val="100000"/>
              </a:lnSpc>
              <a:spcBef>
                <a:spcPts val="925"/>
              </a:spcBef>
            </a:pPr>
            <a:r>
              <a:rPr sz="1400" spc="480" dirty="0">
                <a:latin typeface="Times New Roman"/>
                <a:cs typeface="Times New Roman"/>
              </a:rPr>
              <a:t>(0,28)(1/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sz="1400" spc="505" dirty="0">
                <a:latin typeface="Times New Roman"/>
                <a:cs typeface="Times New Roman"/>
              </a:rPr>
              <a:t>3)</a:t>
            </a:r>
            <a:endParaRPr sz="1400">
              <a:latin typeface="Times New Roman"/>
              <a:cs typeface="Times New Roman"/>
            </a:endParaRPr>
          </a:p>
          <a:p>
            <a:pPr marR="179705" algn="ctr">
              <a:lnSpc>
                <a:spcPct val="100000"/>
              </a:lnSpc>
              <a:spcBef>
                <a:spcPts val="280"/>
              </a:spcBef>
            </a:pPr>
            <a:r>
              <a:rPr sz="1400" spc="475" dirty="0">
                <a:latin typeface="Times New Roman"/>
                <a:cs typeface="Times New Roman"/>
              </a:rPr>
              <a:t>((0,28)(1/</a:t>
            </a:r>
            <a:r>
              <a:rPr sz="1400" spc="-15" dirty="0">
                <a:latin typeface="Times New Roman"/>
                <a:cs typeface="Times New Roman"/>
              </a:rPr>
              <a:t> </a:t>
            </a:r>
            <a:r>
              <a:rPr sz="1400" spc="459" dirty="0">
                <a:latin typeface="Times New Roman"/>
                <a:cs typeface="Times New Roman"/>
              </a:rPr>
              <a:t>3))</a:t>
            </a:r>
            <a:r>
              <a:rPr sz="1400" spc="60" dirty="0">
                <a:latin typeface="Times New Roman"/>
                <a:cs typeface="Times New Roman"/>
              </a:rPr>
              <a:t> </a:t>
            </a:r>
            <a:r>
              <a:rPr sz="1400" spc="765" dirty="0">
                <a:latin typeface="Symbol"/>
                <a:cs typeface="Symbol"/>
              </a:rPr>
              <a:t></a:t>
            </a:r>
            <a:r>
              <a:rPr sz="1400" spc="20" dirty="0">
                <a:latin typeface="Times New Roman"/>
                <a:cs typeface="Times New Roman"/>
              </a:rPr>
              <a:t> </a:t>
            </a:r>
            <a:r>
              <a:rPr sz="1400" spc="480" dirty="0">
                <a:latin typeface="Times New Roman"/>
                <a:cs typeface="Times New Roman"/>
              </a:rPr>
              <a:t>((0,17)(2</a:t>
            </a:r>
            <a:r>
              <a:rPr sz="1400" spc="-55" dirty="0">
                <a:latin typeface="Times New Roman"/>
                <a:cs typeface="Times New Roman"/>
              </a:rPr>
              <a:t> </a:t>
            </a:r>
            <a:r>
              <a:rPr sz="1400" spc="385" dirty="0">
                <a:latin typeface="Times New Roman"/>
                <a:cs typeface="Times New Roman"/>
              </a:rPr>
              <a:t>/</a:t>
            </a:r>
            <a:r>
              <a:rPr sz="1400" spc="-10" dirty="0">
                <a:latin typeface="Times New Roman"/>
                <a:cs typeface="Times New Roman"/>
              </a:rPr>
              <a:t> </a:t>
            </a:r>
            <a:r>
              <a:rPr sz="1400" spc="434" dirty="0">
                <a:latin typeface="Times New Roman"/>
                <a:cs typeface="Times New Roman"/>
              </a:rPr>
              <a:t>3))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62169" y="3090768"/>
            <a:ext cx="220345" cy="2425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765" dirty="0">
                <a:latin typeface="Symbol"/>
                <a:cs typeface="Symbol"/>
              </a:rPr>
              <a:t></a:t>
            </a:r>
            <a:endParaRPr sz="1400">
              <a:latin typeface="Symbol"/>
              <a:cs typeface="Symbo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311150" y="1255712"/>
            <a:ext cx="4489450" cy="386080"/>
            <a:chOff x="311150" y="1255712"/>
            <a:chExt cx="4489450" cy="386080"/>
          </a:xfrm>
        </p:grpSpPr>
        <p:sp>
          <p:nvSpPr>
            <p:cNvPr id="40" name="object 40"/>
            <p:cNvSpPr/>
            <p:nvPr/>
          </p:nvSpPr>
          <p:spPr>
            <a:xfrm>
              <a:off x="323850" y="1268412"/>
              <a:ext cx="4464050" cy="360680"/>
            </a:xfrm>
            <a:custGeom>
              <a:avLst/>
              <a:gdLst/>
              <a:ahLst/>
              <a:cxnLst/>
              <a:rect l="l" t="t" r="r" b="b"/>
              <a:pathLst>
                <a:path w="4464050" h="360680">
                  <a:moveTo>
                    <a:pt x="4464050" y="0"/>
                  </a:moveTo>
                  <a:lnTo>
                    <a:pt x="0" y="0"/>
                  </a:lnTo>
                  <a:lnTo>
                    <a:pt x="0" y="360362"/>
                  </a:lnTo>
                  <a:lnTo>
                    <a:pt x="4464050" y="360362"/>
                  </a:lnTo>
                  <a:lnTo>
                    <a:pt x="4464050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3850" y="1268412"/>
              <a:ext cx="4464050" cy="360680"/>
            </a:xfrm>
            <a:custGeom>
              <a:avLst/>
              <a:gdLst/>
              <a:ahLst/>
              <a:cxnLst/>
              <a:rect l="l" t="t" r="r" b="b"/>
              <a:pathLst>
                <a:path w="4464050" h="360680">
                  <a:moveTo>
                    <a:pt x="0" y="360362"/>
                  </a:moveTo>
                  <a:lnTo>
                    <a:pt x="4464050" y="360362"/>
                  </a:lnTo>
                  <a:lnTo>
                    <a:pt x="4464050" y="0"/>
                  </a:lnTo>
                  <a:lnTo>
                    <a:pt x="0" y="0"/>
                  </a:lnTo>
                  <a:lnTo>
                    <a:pt x="0" y="360362"/>
                  </a:lnTo>
                  <a:close/>
                </a:path>
              </a:pathLst>
            </a:custGeom>
            <a:ln w="25400">
              <a:solidFill>
                <a:srgbClr val="88A3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2" name="object 42"/>
          <p:cNvGrpSpPr/>
          <p:nvPr/>
        </p:nvGrpSpPr>
        <p:grpSpPr>
          <a:xfrm>
            <a:off x="4919726" y="1255712"/>
            <a:ext cx="3913504" cy="386080"/>
            <a:chOff x="4919726" y="1255712"/>
            <a:chExt cx="3913504" cy="386080"/>
          </a:xfrm>
        </p:grpSpPr>
        <p:sp>
          <p:nvSpPr>
            <p:cNvPr id="43" name="object 43"/>
            <p:cNvSpPr/>
            <p:nvPr/>
          </p:nvSpPr>
          <p:spPr>
            <a:xfrm>
              <a:off x="4932426" y="1268412"/>
              <a:ext cx="3888104" cy="360680"/>
            </a:xfrm>
            <a:custGeom>
              <a:avLst/>
              <a:gdLst/>
              <a:ahLst/>
              <a:cxnLst/>
              <a:rect l="l" t="t" r="r" b="b"/>
              <a:pathLst>
                <a:path w="3888104" h="360680">
                  <a:moveTo>
                    <a:pt x="3887724" y="0"/>
                  </a:moveTo>
                  <a:lnTo>
                    <a:pt x="0" y="0"/>
                  </a:lnTo>
                  <a:lnTo>
                    <a:pt x="0" y="360362"/>
                  </a:lnTo>
                  <a:lnTo>
                    <a:pt x="3887724" y="360362"/>
                  </a:lnTo>
                  <a:lnTo>
                    <a:pt x="3887724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932426" y="1268412"/>
              <a:ext cx="3888104" cy="360680"/>
            </a:xfrm>
            <a:custGeom>
              <a:avLst/>
              <a:gdLst/>
              <a:ahLst/>
              <a:cxnLst/>
              <a:rect l="l" t="t" r="r" b="b"/>
              <a:pathLst>
                <a:path w="3888104" h="360680">
                  <a:moveTo>
                    <a:pt x="0" y="360362"/>
                  </a:moveTo>
                  <a:lnTo>
                    <a:pt x="3887724" y="360362"/>
                  </a:lnTo>
                  <a:lnTo>
                    <a:pt x="3887724" y="0"/>
                  </a:lnTo>
                  <a:lnTo>
                    <a:pt x="0" y="0"/>
                  </a:lnTo>
                  <a:lnTo>
                    <a:pt x="0" y="360362"/>
                  </a:lnTo>
                  <a:close/>
                </a:path>
              </a:pathLst>
            </a:custGeom>
            <a:ln w="25400">
              <a:solidFill>
                <a:srgbClr val="88A3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720344" y="1293114"/>
            <a:ext cx="736345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963160" algn="l"/>
              </a:tabLst>
            </a:pPr>
            <a:r>
              <a:rPr sz="1800" spc="-5" dirty="0">
                <a:latin typeface="Microsoft Sans Serif"/>
                <a:cs typeface="Microsoft Sans Serif"/>
              </a:rPr>
              <a:t>(Menghitung</a:t>
            </a:r>
            <a:r>
              <a:rPr sz="1800" spc="6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Probabilitas</a:t>
            </a:r>
            <a:r>
              <a:rPr sz="1800" spc="5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Posterior</a:t>
            </a:r>
            <a:r>
              <a:rPr sz="1800" spc="50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)	</a:t>
            </a:r>
            <a:r>
              <a:rPr sz="1800" spc="-5" dirty="0">
                <a:latin typeface="Microsoft Sans Serif"/>
                <a:cs typeface="Microsoft Sans Serif"/>
              </a:rPr>
              <a:t>(Menghitung</a:t>
            </a:r>
            <a:r>
              <a:rPr sz="180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Risk/Cost)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4919726" y="1616011"/>
            <a:ext cx="3913504" cy="4850130"/>
            <a:chOff x="4919726" y="1616011"/>
            <a:chExt cx="3913504" cy="4850130"/>
          </a:xfrm>
        </p:grpSpPr>
        <p:sp>
          <p:nvSpPr>
            <p:cNvPr id="47" name="object 47"/>
            <p:cNvSpPr/>
            <p:nvPr/>
          </p:nvSpPr>
          <p:spPr>
            <a:xfrm>
              <a:off x="4932426" y="1628711"/>
              <a:ext cx="3888104" cy="4824730"/>
            </a:xfrm>
            <a:custGeom>
              <a:avLst/>
              <a:gdLst/>
              <a:ahLst/>
              <a:cxnLst/>
              <a:rect l="l" t="t" r="r" b="b"/>
              <a:pathLst>
                <a:path w="3888104" h="4824730">
                  <a:moveTo>
                    <a:pt x="3887724" y="0"/>
                  </a:moveTo>
                  <a:lnTo>
                    <a:pt x="0" y="0"/>
                  </a:lnTo>
                  <a:lnTo>
                    <a:pt x="0" y="4824476"/>
                  </a:lnTo>
                  <a:lnTo>
                    <a:pt x="3887724" y="4824476"/>
                  </a:lnTo>
                  <a:lnTo>
                    <a:pt x="3887724" y="0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932426" y="1628711"/>
              <a:ext cx="3888104" cy="4824730"/>
            </a:xfrm>
            <a:custGeom>
              <a:avLst/>
              <a:gdLst/>
              <a:ahLst/>
              <a:cxnLst/>
              <a:rect l="l" t="t" r="r" b="b"/>
              <a:pathLst>
                <a:path w="3888104" h="4824730">
                  <a:moveTo>
                    <a:pt x="0" y="4824476"/>
                  </a:moveTo>
                  <a:lnTo>
                    <a:pt x="3887724" y="4824476"/>
                  </a:lnTo>
                  <a:lnTo>
                    <a:pt x="3887724" y="0"/>
                  </a:lnTo>
                  <a:lnTo>
                    <a:pt x="0" y="0"/>
                  </a:lnTo>
                  <a:lnTo>
                    <a:pt x="0" y="4824476"/>
                  </a:lnTo>
                  <a:close/>
                </a:path>
              </a:pathLst>
            </a:custGeom>
            <a:ln w="25400">
              <a:solidFill>
                <a:srgbClr val="88A3A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/>
          <p:nvPr/>
        </p:nvSpPr>
        <p:spPr>
          <a:xfrm>
            <a:off x="5560055" y="1915455"/>
            <a:ext cx="0" cy="236220"/>
          </a:xfrm>
          <a:custGeom>
            <a:avLst/>
            <a:gdLst/>
            <a:ahLst/>
            <a:cxnLst/>
            <a:rect l="l" t="t" r="r" b="b"/>
            <a:pathLst>
              <a:path h="236219">
                <a:moveTo>
                  <a:pt x="0" y="0"/>
                </a:moveTo>
                <a:lnTo>
                  <a:pt x="0" y="235773"/>
                </a:lnTo>
              </a:path>
            </a:pathLst>
          </a:custGeom>
          <a:ln w="111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6936486" y="1893103"/>
            <a:ext cx="0" cy="280670"/>
          </a:xfrm>
          <a:custGeom>
            <a:avLst/>
            <a:gdLst/>
            <a:ahLst/>
            <a:cxnLst/>
            <a:rect l="l" t="t" r="r" b="b"/>
            <a:pathLst>
              <a:path h="280669">
                <a:moveTo>
                  <a:pt x="0" y="0"/>
                </a:moveTo>
                <a:lnTo>
                  <a:pt x="0" y="280102"/>
                </a:lnTo>
              </a:path>
            </a:pathLst>
          </a:custGeom>
          <a:ln w="111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7908900" y="1915455"/>
            <a:ext cx="0" cy="236220"/>
          </a:xfrm>
          <a:custGeom>
            <a:avLst/>
            <a:gdLst/>
            <a:ahLst/>
            <a:cxnLst/>
            <a:rect l="l" t="t" r="r" b="b"/>
            <a:pathLst>
              <a:path h="236219">
                <a:moveTo>
                  <a:pt x="0" y="0"/>
                </a:moveTo>
                <a:lnTo>
                  <a:pt x="0" y="235773"/>
                </a:lnTo>
              </a:path>
            </a:pathLst>
          </a:custGeom>
          <a:ln w="1111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6183038" y="1751960"/>
            <a:ext cx="107314" cy="1670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00" spc="190" dirty="0">
                <a:latin typeface="Times New Roman"/>
                <a:cs typeface="Times New Roman"/>
              </a:rPr>
              <a:t>2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005550" y="2330882"/>
            <a:ext cx="3813810" cy="2679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550" spc="280" dirty="0">
                <a:latin typeface="Times New Roman"/>
                <a:cs typeface="Times New Roman"/>
              </a:rPr>
              <a:t>(2</a:t>
            </a:r>
            <a:r>
              <a:rPr sz="1550" spc="10" dirty="0">
                <a:latin typeface="Times New Roman"/>
                <a:cs typeface="Times New Roman"/>
              </a:rPr>
              <a:t> </a:t>
            </a:r>
            <a:r>
              <a:rPr sz="1550" spc="635" dirty="0">
                <a:latin typeface="Symbol"/>
                <a:cs typeface="Symbol"/>
              </a:rPr>
              <a:t></a:t>
            </a:r>
            <a:r>
              <a:rPr sz="1550" spc="-185" dirty="0">
                <a:latin typeface="Times New Roman"/>
                <a:cs typeface="Times New Roman"/>
              </a:rPr>
              <a:t> </a:t>
            </a:r>
            <a:r>
              <a:rPr sz="1550" i="1" spc="285" dirty="0">
                <a:latin typeface="Times New Roman"/>
                <a:cs typeface="Times New Roman"/>
              </a:rPr>
              <a:t>menyatakanbanyaknyakelas</a:t>
            </a:r>
            <a:r>
              <a:rPr sz="1550" spc="285" dirty="0">
                <a:latin typeface="Times New Roman"/>
                <a:cs typeface="Times New Roman"/>
              </a:rPr>
              <a:t>)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135268" y="2140342"/>
            <a:ext cx="244475" cy="1670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00" i="1" spc="105" dirty="0">
                <a:latin typeface="Times New Roman"/>
                <a:cs typeface="Times New Roman"/>
              </a:rPr>
              <a:t>j</a:t>
            </a:r>
            <a:r>
              <a:rPr sz="900" i="1" spc="-120" dirty="0">
                <a:latin typeface="Times New Roman"/>
                <a:cs typeface="Times New Roman"/>
              </a:rPr>
              <a:t> </a:t>
            </a:r>
            <a:r>
              <a:rPr sz="900" spc="114" dirty="0">
                <a:latin typeface="Symbol"/>
                <a:cs typeface="Symbol"/>
              </a:rPr>
              <a:t></a:t>
            </a:r>
            <a:r>
              <a:rPr sz="900" spc="190" dirty="0">
                <a:latin typeface="Times New Roman"/>
                <a:cs typeface="Times New Roman"/>
              </a:rPr>
              <a:t>1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980230" y="1767019"/>
            <a:ext cx="3240405" cy="3892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35"/>
              </a:spcBef>
            </a:pPr>
            <a:r>
              <a:rPr sz="1550" i="1" spc="415" dirty="0">
                <a:latin typeface="Times New Roman"/>
                <a:cs typeface="Times New Roman"/>
              </a:rPr>
              <a:t>R</a:t>
            </a:r>
            <a:r>
              <a:rPr sz="1550" spc="215" dirty="0">
                <a:latin typeface="Times New Roman"/>
                <a:cs typeface="Times New Roman"/>
              </a:rPr>
              <a:t>(</a:t>
            </a:r>
            <a:r>
              <a:rPr sz="1550" spc="-190" dirty="0">
                <a:latin typeface="Times New Roman"/>
                <a:cs typeface="Times New Roman"/>
              </a:rPr>
              <a:t> </a:t>
            </a:r>
            <a:r>
              <a:rPr sz="1550" i="1" spc="180" dirty="0">
                <a:latin typeface="Times New Roman"/>
                <a:cs typeface="Times New Roman"/>
              </a:rPr>
              <a:t>A</a:t>
            </a:r>
            <a:r>
              <a:rPr sz="1350" i="1" spc="157" baseline="-24691" dirty="0">
                <a:latin typeface="Times New Roman"/>
                <a:cs typeface="Times New Roman"/>
              </a:rPr>
              <a:t>i</a:t>
            </a:r>
            <a:r>
              <a:rPr sz="1350" i="1" baseline="-24691" dirty="0">
                <a:latin typeface="Times New Roman"/>
                <a:cs typeface="Times New Roman"/>
              </a:rPr>
              <a:t>  </a:t>
            </a:r>
            <a:r>
              <a:rPr sz="1350" i="1" spc="44" baseline="-24691" dirty="0">
                <a:latin typeface="Times New Roman"/>
                <a:cs typeface="Times New Roman"/>
              </a:rPr>
              <a:t> </a:t>
            </a:r>
            <a:r>
              <a:rPr sz="1550" i="1" spc="305" dirty="0">
                <a:latin typeface="Times New Roman"/>
                <a:cs typeface="Times New Roman"/>
              </a:rPr>
              <a:t>x</a:t>
            </a:r>
            <a:r>
              <a:rPr sz="1550" spc="215" dirty="0">
                <a:latin typeface="Times New Roman"/>
                <a:cs typeface="Times New Roman"/>
              </a:rPr>
              <a:t>)</a:t>
            </a:r>
            <a:r>
              <a:rPr sz="1550" spc="75" dirty="0">
                <a:latin typeface="Times New Roman"/>
                <a:cs typeface="Times New Roman"/>
              </a:rPr>
              <a:t> </a:t>
            </a:r>
            <a:r>
              <a:rPr sz="1550" spc="350" dirty="0">
                <a:latin typeface="Symbol"/>
                <a:cs typeface="Symbol"/>
              </a:rPr>
              <a:t></a:t>
            </a:r>
            <a:r>
              <a:rPr sz="1550" spc="60" dirty="0">
                <a:latin typeface="Times New Roman"/>
                <a:cs typeface="Times New Roman"/>
              </a:rPr>
              <a:t> </a:t>
            </a:r>
            <a:r>
              <a:rPr sz="3525" spc="1275" baseline="-8274" dirty="0">
                <a:latin typeface="Symbol"/>
                <a:cs typeface="Symbol"/>
              </a:rPr>
              <a:t></a:t>
            </a:r>
            <a:r>
              <a:rPr sz="1750" spc="365" dirty="0">
                <a:latin typeface="Symbol"/>
                <a:cs typeface="Symbol"/>
              </a:rPr>
              <a:t></a:t>
            </a:r>
            <a:r>
              <a:rPr sz="1550" spc="215" dirty="0">
                <a:latin typeface="Times New Roman"/>
                <a:cs typeface="Times New Roman"/>
              </a:rPr>
              <a:t>(</a:t>
            </a:r>
            <a:r>
              <a:rPr sz="1550" spc="-190" dirty="0">
                <a:latin typeface="Times New Roman"/>
                <a:cs typeface="Times New Roman"/>
              </a:rPr>
              <a:t> </a:t>
            </a:r>
            <a:r>
              <a:rPr sz="1550" i="1" spc="180" dirty="0">
                <a:latin typeface="Times New Roman"/>
                <a:cs typeface="Times New Roman"/>
              </a:rPr>
              <a:t>A</a:t>
            </a:r>
            <a:r>
              <a:rPr sz="1350" i="1" spc="157" baseline="-24691" dirty="0">
                <a:latin typeface="Times New Roman"/>
                <a:cs typeface="Times New Roman"/>
              </a:rPr>
              <a:t>i</a:t>
            </a:r>
            <a:r>
              <a:rPr sz="1350" i="1" baseline="-24691" dirty="0">
                <a:latin typeface="Times New Roman"/>
                <a:cs typeface="Times New Roman"/>
              </a:rPr>
              <a:t> </a:t>
            </a:r>
            <a:r>
              <a:rPr sz="1350" i="1" spc="30" baseline="-24691" dirty="0">
                <a:latin typeface="Times New Roman"/>
                <a:cs typeface="Times New Roman"/>
              </a:rPr>
              <a:t> </a:t>
            </a:r>
            <a:r>
              <a:rPr sz="1750" spc="540" dirty="0">
                <a:latin typeface="Symbol"/>
                <a:cs typeface="Symbol"/>
              </a:rPr>
              <a:t></a:t>
            </a:r>
            <a:r>
              <a:rPr sz="1350" i="1" spc="157" baseline="-24691" dirty="0">
                <a:latin typeface="Times New Roman"/>
                <a:cs typeface="Times New Roman"/>
              </a:rPr>
              <a:t>j</a:t>
            </a:r>
            <a:r>
              <a:rPr sz="1350" i="1" spc="104" baseline="-24691" dirty="0">
                <a:latin typeface="Times New Roman"/>
                <a:cs typeface="Times New Roman"/>
              </a:rPr>
              <a:t> </a:t>
            </a:r>
            <a:r>
              <a:rPr sz="1550" spc="145" dirty="0">
                <a:latin typeface="Times New Roman"/>
                <a:cs typeface="Times New Roman"/>
              </a:rPr>
              <a:t>)</a:t>
            </a:r>
            <a:r>
              <a:rPr sz="1550" i="1" spc="409" dirty="0">
                <a:latin typeface="Times New Roman"/>
                <a:cs typeface="Times New Roman"/>
              </a:rPr>
              <a:t>P</a:t>
            </a:r>
            <a:r>
              <a:rPr sz="1550" spc="114" dirty="0">
                <a:latin typeface="Times New Roman"/>
                <a:cs typeface="Times New Roman"/>
              </a:rPr>
              <a:t>(</a:t>
            </a:r>
            <a:r>
              <a:rPr sz="1750" spc="545" dirty="0">
                <a:latin typeface="Symbol"/>
                <a:cs typeface="Symbol"/>
              </a:rPr>
              <a:t></a:t>
            </a:r>
            <a:r>
              <a:rPr sz="1350" i="1" spc="157" baseline="-24691" dirty="0">
                <a:latin typeface="Times New Roman"/>
                <a:cs typeface="Times New Roman"/>
              </a:rPr>
              <a:t>j</a:t>
            </a:r>
            <a:r>
              <a:rPr sz="1350" i="1" baseline="-24691" dirty="0">
                <a:latin typeface="Times New Roman"/>
                <a:cs typeface="Times New Roman"/>
              </a:rPr>
              <a:t>  </a:t>
            </a:r>
            <a:r>
              <a:rPr sz="1350" i="1" spc="67" baseline="-24691" dirty="0">
                <a:latin typeface="Times New Roman"/>
                <a:cs typeface="Times New Roman"/>
              </a:rPr>
              <a:t> </a:t>
            </a:r>
            <a:r>
              <a:rPr sz="1550" i="1" spc="310" dirty="0">
                <a:latin typeface="Times New Roman"/>
                <a:cs typeface="Times New Roman"/>
              </a:rPr>
              <a:t>x</a:t>
            </a:r>
            <a:r>
              <a:rPr sz="1550" spc="215" dirty="0">
                <a:latin typeface="Times New Roman"/>
                <a:cs typeface="Times New Roman"/>
              </a:rPr>
              <a:t>)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5473503" y="2714937"/>
            <a:ext cx="0" cy="237490"/>
          </a:xfrm>
          <a:custGeom>
            <a:avLst/>
            <a:gdLst/>
            <a:ahLst/>
            <a:cxnLst/>
            <a:rect l="l" t="t" r="r" b="b"/>
            <a:pathLst>
              <a:path h="237489">
                <a:moveTo>
                  <a:pt x="0" y="0"/>
                </a:moveTo>
                <a:lnTo>
                  <a:pt x="0" y="237452"/>
                </a:lnTo>
              </a:path>
            </a:pathLst>
          </a:custGeom>
          <a:ln w="85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6306140" y="2714937"/>
            <a:ext cx="0" cy="237490"/>
          </a:xfrm>
          <a:custGeom>
            <a:avLst/>
            <a:gdLst/>
            <a:ahLst/>
            <a:cxnLst/>
            <a:rect l="l" t="t" r="r" b="b"/>
            <a:pathLst>
              <a:path h="237489">
                <a:moveTo>
                  <a:pt x="0" y="0"/>
                </a:moveTo>
                <a:lnTo>
                  <a:pt x="0" y="237452"/>
                </a:lnTo>
              </a:path>
            </a:pathLst>
          </a:custGeom>
          <a:ln w="85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7018287" y="2714937"/>
            <a:ext cx="0" cy="237490"/>
          </a:xfrm>
          <a:custGeom>
            <a:avLst/>
            <a:gdLst/>
            <a:ahLst/>
            <a:cxnLst/>
            <a:rect l="l" t="t" r="r" b="b"/>
            <a:pathLst>
              <a:path h="237489">
                <a:moveTo>
                  <a:pt x="0" y="0"/>
                </a:moveTo>
                <a:lnTo>
                  <a:pt x="0" y="237452"/>
                </a:lnTo>
              </a:path>
            </a:pathLst>
          </a:custGeom>
          <a:ln w="85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7828381" y="2714937"/>
            <a:ext cx="0" cy="237490"/>
          </a:xfrm>
          <a:custGeom>
            <a:avLst/>
            <a:gdLst/>
            <a:ahLst/>
            <a:cxnLst/>
            <a:rect l="l" t="t" r="r" b="b"/>
            <a:pathLst>
              <a:path h="237489">
                <a:moveTo>
                  <a:pt x="0" y="0"/>
                </a:moveTo>
                <a:lnTo>
                  <a:pt x="0" y="237452"/>
                </a:lnTo>
              </a:path>
            </a:pathLst>
          </a:custGeom>
          <a:ln w="85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8586199" y="2714937"/>
            <a:ext cx="0" cy="237490"/>
          </a:xfrm>
          <a:custGeom>
            <a:avLst/>
            <a:gdLst/>
            <a:ahLst/>
            <a:cxnLst/>
            <a:rect l="l" t="t" r="r" b="b"/>
            <a:pathLst>
              <a:path h="237489">
                <a:moveTo>
                  <a:pt x="0" y="0"/>
                </a:moveTo>
                <a:lnTo>
                  <a:pt x="0" y="237452"/>
                </a:lnTo>
              </a:path>
            </a:pathLst>
          </a:custGeom>
          <a:ln w="850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4990865" y="2531094"/>
            <a:ext cx="3848100" cy="1080770"/>
          </a:xfrm>
          <a:prstGeom prst="rect">
            <a:avLst/>
          </a:prstGeom>
        </p:spPr>
        <p:txBody>
          <a:bodyPr vert="horz" wrap="square" lIns="0" tIns="13589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70"/>
              </a:spcBef>
            </a:pPr>
            <a:r>
              <a:rPr sz="1600" i="1" spc="50" dirty="0">
                <a:latin typeface="Times New Roman"/>
                <a:cs typeface="Times New Roman"/>
              </a:rPr>
              <a:t>R</a:t>
            </a:r>
            <a:r>
              <a:rPr sz="1600" spc="50" dirty="0">
                <a:latin typeface="Times New Roman"/>
                <a:cs typeface="Times New Roman"/>
              </a:rPr>
              <a:t>(</a:t>
            </a:r>
            <a:r>
              <a:rPr sz="1600" i="1" spc="50" dirty="0">
                <a:latin typeface="Times New Roman"/>
                <a:cs typeface="Times New Roman"/>
              </a:rPr>
              <a:t>A</a:t>
            </a:r>
            <a:r>
              <a:rPr sz="1350" spc="75" baseline="-24691" dirty="0">
                <a:latin typeface="Times New Roman"/>
                <a:cs typeface="Times New Roman"/>
              </a:rPr>
              <a:t>2</a:t>
            </a:r>
            <a:r>
              <a:rPr sz="1350" spc="390" baseline="-24691" dirty="0">
                <a:latin typeface="Times New Roman"/>
                <a:cs typeface="Times New Roman"/>
              </a:rPr>
              <a:t> </a:t>
            </a:r>
            <a:r>
              <a:rPr sz="1600" i="1" spc="45" dirty="0">
                <a:latin typeface="Times New Roman"/>
                <a:cs typeface="Times New Roman"/>
              </a:rPr>
              <a:t>x</a:t>
            </a:r>
            <a:r>
              <a:rPr sz="1600" spc="45" dirty="0">
                <a:latin typeface="Times New Roman"/>
                <a:cs typeface="Times New Roman"/>
              </a:rPr>
              <a:t>)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spc="70" dirty="0">
                <a:latin typeface="Symbol"/>
                <a:cs typeface="Symbol"/>
              </a:rPr>
              <a:t></a:t>
            </a:r>
            <a:r>
              <a:rPr sz="1600" spc="-95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Symbol"/>
                <a:cs typeface="Symbol"/>
              </a:rPr>
              <a:t></a:t>
            </a:r>
            <a:r>
              <a:rPr sz="1600" spc="55" dirty="0">
                <a:latin typeface="Times New Roman"/>
                <a:cs typeface="Times New Roman"/>
              </a:rPr>
              <a:t>(</a:t>
            </a:r>
            <a:r>
              <a:rPr sz="1600" i="1" spc="55" dirty="0">
                <a:latin typeface="Times New Roman"/>
                <a:cs typeface="Times New Roman"/>
              </a:rPr>
              <a:t>A</a:t>
            </a:r>
            <a:r>
              <a:rPr sz="1350" spc="82" baseline="-24691" dirty="0">
                <a:latin typeface="Times New Roman"/>
                <a:cs typeface="Times New Roman"/>
              </a:rPr>
              <a:t>2</a:t>
            </a:r>
            <a:r>
              <a:rPr sz="1350" spc="112" baseline="-24691" dirty="0">
                <a:latin typeface="Times New Roman"/>
                <a:cs typeface="Times New Roman"/>
              </a:rPr>
              <a:t> </a:t>
            </a:r>
            <a:r>
              <a:rPr sz="1700" spc="10" dirty="0">
                <a:latin typeface="Symbol"/>
                <a:cs typeface="Symbol"/>
              </a:rPr>
              <a:t></a:t>
            </a:r>
            <a:r>
              <a:rPr sz="1350" spc="15" baseline="-24691" dirty="0">
                <a:latin typeface="Times New Roman"/>
                <a:cs typeface="Times New Roman"/>
              </a:rPr>
              <a:t>1</a:t>
            </a:r>
            <a:r>
              <a:rPr sz="1600" spc="10" dirty="0">
                <a:latin typeface="Times New Roman"/>
                <a:cs typeface="Times New Roman"/>
              </a:rPr>
              <a:t>)</a:t>
            </a:r>
            <a:r>
              <a:rPr sz="1600" i="1" spc="10" dirty="0">
                <a:latin typeface="Times New Roman"/>
                <a:cs typeface="Times New Roman"/>
              </a:rPr>
              <a:t>P</a:t>
            </a:r>
            <a:r>
              <a:rPr sz="1600" spc="10" dirty="0">
                <a:latin typeface="Times New Roman"/>
                <a:cs typeface="Times New Roman"/>
              </a:rPr>
              <a:t>(</a:t>
            </a:r>
            <a:r>
              <a:rPr sz="1700" spc="10" dirty="0">
                <a:latin typeface="Symbol"/>
                <a:cs typeface="Symbol"/>
              </a:rPr>
              <a:t></a:t>
            </a:r>
            <a:r>
              <a:rPr sz="1350" spc="15" baseline="-24691" dirty="0">
                <a:latin typeface="Times New Roman"/>
                <a:cs typeface="Times New Roman"/>
              </a:rPr>
              <a:t>1</a:t>
            </a:r>
            <a:r>
              <a:rPr sz="1350" spc="277" baseline="-24691" dirty="0">
                <a:latin typeface="Times New Roman"/>
                <a:cs typeface="Times New Roman"/>
              </a:rPr>
              <a:t> </a:t>
            </a:r>
            <a:r>
              <a:rPr sz="1600" i="1" spc="45" dirty="0">
                <a:latin typeface="Times New Roman"/>
                <a:cs typeface="Times New Roman"/>
              </a:rPr>
              <a:t>x</a:t>
            </a:r>
            <a:r>
              <a:rPr sz="1600" spc="45" dirty="0">
                <a:latin typeface="Times New Roman"/>
                <a:cs typeface="Times New Roman"/>
              </a:rPr>
              <a:t>)</a:t>
            </a:r>
            <a:r>
              <a:rPr sz="1600" spc="-160" dirty="0">
                <a:latin typeface="Times New Roman"/>
                <a:cs typeface="Times New Roman"/>
              </a:rPr>
              <a:t> </a:t>
            </a:r>
            <a:r>
              <a:rPr sz="1600" spc="70" dirty="0">
                <a:latin typeface="Symbol"/>
                <a:cs typeface="Symbol"/>
              </a:rPr>
              <a:t></a:t>
            </a:r>
            <a:r>
              <a:rPr sz="1600" spc="-175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Symbol"/>
                <a:cs typeface="Symbol"/>
              </a:rPr>
              <a:t></a:t>
            </a:r>
            <a:r>
              <a:rPr sz="1600" spc="55" dirty="0">
                <a:latin typeface="Times New Roman"/>
                <a:cs typeface="Times New Roman"/>
              </a:rPr>
              <a:t>(</a:t>
            </a:r>
            <a:r>
              <a:rPr sz="1600" i="1" spc="55" dirty="0">
                <a:latin typeface="Times New Roman"/>
                <a:cs typeface="Times New Roman"/>
              </a:rPr>
              <a:t>A</a:t>
            </a:r>
            <a:r>
              <a:rPr sz="1350" spc="82" baseline="-24691" dirty="0">
                <a:latin typeface="Times New Roman"/>
                <a:cs typeface="Times New Roman"/>
              </a:rPr>
              <a:t>2</a:t>
            </a:r>
            <a:r>
              <a:rPr sz="1350" spc="120" baseline="-24691" dirty="0">
                <a:latin typeface="Times New Roman"/>
                <a:cs typeface="Times New Roman"/>
              </a:rPr>
              <a:t> </a:t>
            </a:r>
            <a:r>
              <a:rPr sz="1700" spc="20" dirty="0">
                <a:latin typeface="Symbol"/>
                <a:cs typeface="Symbol"/>
              </a:rPr>
              <a:t></a:t>
            </a:r>
            <a:r>
              <a:rPr sz="1350" spc="30" baseline="-24691" dirty="0">
                <a:latin typeface="Times New Roman"/>
                <a:cs typeface="Times New Roman"/>
              </a:rPr>
              <a:t>2</a:t>
            </a:r>
            <a:r>
              <a:rPr sz="1350" spc="-112" baseline="-24691" dirty="0">
                <a:latin typeface="Times New Roman"/>
                <a:cs typeface="Times New Roman"/>
              </a:rPr>
              <a:t> </a:t>
            </a:r>
            <a:r>
              <a:rPr sz="1600" spc="30" dirty="0">
                <a:latin typeface="Times New Roman"/>
                <a:cs typeface="Times New Roman"/>
              </a:rPr>
              <a:t>)</a:t>
            </a:r>
            <a:r>
              <a:rPr sz="1600" i="1" spc="30" dirty="0">
                <a:latin typeface="Times New Roman"/>
                <a:cs typeface="Times New Roman"/>
              </a:rPr>
              <a:t>P</a:t>
            </a:r>
            <a:r>
              <a:rPr sz="1600" spc="30" dirty="0">
                <a:latin typeface="Times New Roman"/>
                <a:cs typeface="Times New Roman"/>
              </a:rPr>
              <a:t>(</a:t>
            </a:r>
            <a:r>
              <a:rPr sz="1700" spc="30" dirty="0">
                <a:latin typeface="Symbol"/>
                <a:cs typeface="Symbol"/>
              </a:rPr>
              <a:t></a:t>
            </a:r>
            <a:r>
              <a:rPr sz="1350" spc="44" baseline="-24691" dirty="0">
                <a:latin typeface="Times New Roman"/>
                <a:cs typeface="Times New Roman"/>
              </a:rPr>
              <a:t>2</a:t>
            </a:r>
            <a:r>
              <a:rPr sz="1350" spc="397" baseline="-24691" dirty="0">
                <a:latin typeface="Times New Roman"/>
                <a:cs typeface="Times New Roman"/>
              </a:rPr>
              <a:t> </a:t>
            </a:r>
            <a:r>
              <a:rPr sz="1600" i="1" spc="45" dirty="0">
                <a:latin typeface="Times New Roman"/>
                <a:cs typeface="Times New Roman"/>
              </a:rPr>
              <a:t>x</a:t>
            </a:r>
            <a:r>
              <a:rPr sz="1600" spc="45" dirty="0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  <a:p>
            <a:pPr marL="48260">
              <a:lnSpc>
                <a:spcPct val="100000"/>
              </a:lnSpc>
              <a:spcBef>
                <a:spcPts val="910"/>
              </a:spcBef>
            </a:pPr>
            <a:r>
              <a:rPr sz="1550" spc="180" dirty="0">
                <a:latin typeface="Symbol"/>
                <a:cs typeface="Symbol"/>
              </a:rPr>
              <a:t></a:t>
            </a:r>
            <a:r>
              <a:rPr sz="1550" spc="-10" dirty="0">
                <a:latin typeface="Times New Roman"/>
                <a:cs typeface="Times New Roman"/>
              </a:rPr>
              <a:t> </a:t>
            </a:r>
            <a:r>
              <a:rPr sz="1550" spc="70" dirty="0">
                <a:latin typeface="Times New Roman"/>
                <a:cs typeface="Times New Roman"/>
              </a:rPr>
              <a:t>(</a:t>
            </a:r>
            <a:r>
              <a:rPr sz="1550" spc="80" dirty="0">
                <a:latin typeface="Times New Roman"/>
                <a:cs typeface="Times New Roman"/>
              </a:rPr>
              <a:t>(</a:t>
            </a:r>
            <a:r>
              <a:rPr sz="1550" spc="170" dirty="0">
                <a:latin typeface="Times New Roman"/>
                <a:cs typeface="Times New Roman"/>
              </a:rPr>
              <a:t>$</a:t>
            </a:r>
            <a:r>
              <a:rPr sz="1550" spc="145" dirty="0">
                <a:latin typeface="Times New Roman"/>
                <a:cs typeface="Times New Roman"/>
              </a:rPr>
              <a:t>0</a:t>
            </a:r>
            <a:r>
              <a:rPr sz="1550" spc="70" dirty="0">
                <a:latin typeface="Times New Roman"/>
                <a:cs typeface="Times New Roman"/>
              </a:rPr>
              <a:t>)</a:t>
            </a:r>
            <a:r>
              <a:rPr sz="1550" spc="130" dirty="0">
                <a:latin typeface="Times New Roman"/>
                <a:cs typeface="Times New Roman"/>
              </a:rPr>
              <a:t>(</a:t>
            </a:r>
            <a:r>
              <a:rPr sz="1550" spc="114" dirty="0">
                <a:latin typeface="Times New Roman"/>
                <a:cs typeface="Times New Roman"/>
              </a:rPr>
              <a:t>0</a:t>
            </a:r>
            <a:r>
              <a:rPr sz="1550" spc="100" dirty="0">
                <a:latin typeface="Times New Roman"/>
                <a:cs typeface="Times New Roman"/>
              </a:rPr>
              <a:t>,</a:t>
            </a:r>
            <a:r>
              <a:rPr sz="1550" spc="110" dirty="0">
                <a:latin typeface="Times New Roman"/>
                <a:cs typeface="Times New Roman"/>
              </a:rPr>
              <a:t>447</a:t>
            </a:r>
            <a:r>
              <a:rPr sz="1550" spc="250" dirty="0">
                <a:latin typeface="Times New Roman"/>
                <a:cs typeface="Times New Roman"/>
              </a:rPr>
              <a:t>9</a:t>
            </a:r>
            <a:r>
              <a:rPr sz="1550" spc="70" dirty="0">
                <a:latin typeface="Times New Roman"/>
                <a:cs typeface="Times New Roman"/>
              </a:rPr>
              <a:t>)</a:t>
            </a:r>
            <a:r>
              <a:rPr sz="1550" spc="110" dirty="0">
                <a:latin typeface="Times New Roman"/>
                <a:cs typeface="Times New Roman"/>
              </a:rPr>
              <a:t>)</a:t>
            </a:r>
            <a:r>
              <a:rPr sz="1550" spc="-80" dirty="0">
                <a:latin typeface="Times New Roman"/>
                <a:cs typeface="Times New Roman"/>
              </a:rPr>
              <a:t> </a:t>
            </a:r>
            <a:r>
              <a:rPr sz="1550" spc="180" dirty="0">
                <a:latin typeface="Symbol"/>
                <a:cs typeface="Symbol"/>
              </a:rPr>
              <a:t></a:t>
            </a:r>
            <a:r>
              <a:rPr sz="1550" spc="-95" dirty="0">
                <a:latin typeface="Times New Roman"/>
                <a:cs typeface="Times New Roman"/>
              </a:rPr>
              <a:t> </a:t>
            </a:r>
            <a:r>
              <a:rPr sz="1550" spc="70" dirty="0">
                <a:latin typeface="Times New Roman"/>
                <a:cs typeface="Times New Roman"/>
              </a:rPr>
              <a:t>(</a:t>
            </a:r>
            <a:r>
              <a:rPr sz="1550" spc="80" dirty="0">
                <a:latin typeface="Times New Roman"/>
                <a:cs typeface="Times New Roman"/>
              </a:rPr>
              <a:t>(</a:t>
            </a:r>
            <a:r>
              <a:rPr sz="1550" spc="170" dirty="0">
                <a:latin typeface="Times New Roman"/>
                <a:cs typeface="Times New Roman"/>
              </a:rPr>
              <a:t>$</a:t>
            </a:r>
            <a:r>
              <a:rPr sz="1550" spc="145" dirty="0">
                <a:latin typeface="Times New Roman"/>
                <a:cs typeface="Times New Roman"/>
              </a:rPr>
              <a:t>2</a:t>
            </a:r>
            <a:r>
              <a:rPr sz="1550" spc="70" dirty="0">
                <a:latin typeface="Times New Roman"/>
                <a:cs typeface="Times New Roman"/>
              </a:rPr>
              <a:t>)</a:t>
            </a:r>
            <a:r>
              <a:rPr sz="1550" spc="130" dirty="0">
                <a:latin typeface="Times New Roman"/>
                <a:cs typeface="Times New Roman"/>
              </a:rPr>
              <a:t>(</a:t>
            </a:r>
            <a:r>
              <a:rPr sz="1550" spc="120" dirty="0">
                <a:latin typeface="Times New Roman"/>
                <a:cs typeface="Times New Roman"/>
              </a:rPr>
              <a:t>0</a:t>
            </a:r>
            <a:r>
              <a:rPr sz="1550" spc="40" dirty="0">
                <a:latin typeface="Times New Roman"/>
                <a:cs typeface="Times New Roman"/>
              </a:rPr>
              <a:t>,</a:t>
            </a:r>
            <a:r>
              <a:rPr sz="1550" spc="110" dirty="0">
                <a:latin typeface="Times New Roman"/>
                <a:cs typeface="Times New Roman"/>
              </a:rPr>
              <a:t>552</a:t>
            </a:r>
            <a:r>
              <a:rPr sz="1550" spc="105" dirty="0">
                <a:latin typeface="Times New Roman"/>
                <a:cs typeface="Times New Roman"/>
              </a:rPr>
              <a:t>1</a:t>
            </a:r>
            <a:r>
              <a:rPr sz="1550" spc="70" dirty="0">
                <a:latin typeface="Times New Roman"/>
                <a:cs typeface="Times New Roman"/>
              </a:rPr>
              <a:t>))</a:t>
            </a:r>
            <a:endParaRPr sz="1550">
              <a:latin typeface="Times New Roman"/>
              <a:cs typeface="Times New Roman"/>
            </a:endParaRPr>
          </a:p>
          <a:p>
            <a:pPr marL="48260">
              <a:lnSpc>
                <a:spcPct val="100000"/>
              </a:lnSpc>
              <a:spcBef>
                <a:spcPts val="665"/>
              </a:spcBef>
            </a:pPr>
            <a:r>
              <a:rPr sz="1550" spc="175" dirty="0">
                <a:latin typeface="Symbol"/>
                <a:cs typeface="Symbol"/>
              </a:rPr>
              <a:t></a:t>
            </a:r>
            <a:r>
              <a:rPr sz="1550" spc="-30" dirty="0">
                <a:latin typeface="Times New Roman"/>
                <a:cs typeface="Times New Roman"/>
              </a:rPr>
              <a:t> </a:t>
            </a:r>
            <a:r>
              <a:rPr sz="1550" spc="145" dirty="0">
                <a:latin typeface="Times New Roman"/>
                <a:cs typeface="Times New Roman"/>
              </a:rPr>
              <a:t>$</a:t>
            </a:r>
            <a:r>
              <a:rPr sz="1550" spc="160" dirty="0">
                <a:latin typeface="Times New Roman"/>
                <a:cs typeface="Times New Roman"/>
              </a:rPr>
              <a:t>0</a:t>
            </a:r>
            <a:r>
              <a:rPr sz="1550" spc="-114" dirty="0">
                <a:latin typeface="Times New Roman"/>
                <a:cs typeface="Times New Roman"/>
              </a:rPr>
              <a:t> </a:t>
            </a:r>
            <a:r>
              <a:rPr sz="1550" spc="175" dirty="0">
                <a:latin typeface="Symbol"/>
                <a:cs typeface="Symbol"/>
              </a:rPr>
              <a:t></a:t>
            </a:r>
            <a:r>
              <a:rPr sz="1550" spc="-114" dirty="0">
                <a:latin typeface="Times New Roman"/>
                <a:cs typeface="Times New Roman"/>
              </a:rPr>
              <a:t> </a:t>
            </a:r>
            <a:r>
              <a:rPr sz="1550" spc="145" dirty="0">
                <a:latin typeface="Times New Roman"/>
                <a:cs typeface="Times New Roman"/>
              </a:rPr>
              <a:t>$</a:t>
            </a:r>
            <a:r>
              <a:rPr sz="1550" spc="-30" dirty="0">
                <a:latin typeface="Times New Roman"/>
                <a:cs typeface="Times New Roman"/>
              </a:rPr>
              <a:t>1</a:t>
            </a:r>
            <a:r>
              <a:rPr sz="1550" spc="-105" dirty="0">
                <a:latin typeface="Times New Roman"/>
                <a:cs typeface="Times New Roman"/>
              </a:rPr>
              <a:t>,</a:t>
            </a:r>
            <a:r>
              <a:rPr sz="1550" spc="110" dirty="0">
                <a:latin typeface="Times New Roman"/>
                <a:cs typeface="Times New Roman"/>
              </a:rPr>
              <a:t>10</a:t>
            </a:r>
            <a:r>
              <a:rPr sz="1550" spc="105" dirty="0">
                <a:latin typeface="Times New Roman"/>
                <a:cs typeface="Times New Roman"/>
              </a:rPr>
              <a:t>4</a:t>
            </a:r>
            <a:r>
              <a:rPr sz="1550" spc="160" dirty="0">
                <a:latin typeface="Times New Roman"/>
                <a:cs typeface="Times New Roman"/>
              </a:rPr>
              <a:t>2</a:t>
            </a:r>
            <a:r>
              <a:rPr sz="1550" spc="110" dirty="0">
                <a:latin typeface="Times New Roman"/>
                <a:cs typeface="Times New Roman"/>
              </a:rPr>
              <a:t> </a:t>
            </a:r>
            <a:r>
              <a:rPr sz="1550" spc="175" dirty="0">
                <a:latin typeface="Symbol"/>
                <a:cs typeface="Symbol"/>
              </a:rPr>
              <a:t></a:t>
            </a:r>
            <a:r>
              <a:rPr sz="1550" spc="-35" dirty="0">
                <a:latin typeface="Times New Roman"/>
                <a:cs typeface="Times New Roman"/>
              </a:rPr>
              <a:t> </a:t>
            </a:r>
            <a:r>
              <a:rPr sz="1550" spc="145" dirty="0">
                <a:latin typeface="Times New Roman"/>
                <a:cs typeface="Times New Roman"/>
              </a:rPr>
              <a:t>$</a:t>
            </a:r>
            <a:r>
              <a:rPr sz="1550" spc="-30" dirty="0">
                <a:latin typeface="Times New Roman"/>
                <a:cs typeface="Times New Roman"/>
              </a:rPr>
              <a:t>1</a:t>
            </a:r>
            <a:r>
              <a:rPr sz="1550" spc="-100" dirty="0">
                <a:latin typeface="Times New Roman"/>
                <a:cs typeface="Times New Roman"/>
              </a:rPr>
              <a:t>,</a:t>
            </a:r>
            <a:r>
              <a:rPr sz="1550" spc="110" dirty="0">
                <a:latin typeface="Times New Roman"/>
                <a:cs typeface="Times New Roman"/>
              </a:rPr>
              <a:t>10</a:t>
            </a:r>
            <a:r>
              <a:rPr sz="1550" spc="105" dirty="0">
                <a:latin typeface="Times New Roman"/>
                <a:cs typeface="Times New Roman"/>
              </a:rPr>
              <a:t>4</a:t>
            </a:r>
            <a:r>
              <a:rPr sz="1550" spc="160" dirty="0">
                <a:latin typeface="Times New Roman"/>
                <a:cs typeface="Times New Roman"/>
              </a:rPr>
              <a:t>2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5467510" y="3907205"/>
            <a:ext cx="0" cy="237490"/>
          </a:xfrm>
          <a:custGeom>
            <a:avLst/>
            <a:gdLst/>
            <a:ahLst/>
            <a:cxnLst/>
            <a:rect l="l" t="t" r="r" b="b"/>
            <a:pathLst>
              <a:path h="237489">
                <a:moveTo>
                  <a:pt x="0" y="0"/>
                </a:moveTo>
                <a:lnTo>
                  <a:pt x="0" y="237458"/>
                </a:lnTo>
              </a:path>
            </a:pathLst>
          </a:custGeom>
          <a:ln w="853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6276095" y="3907205"/>
            <a:ext cx="0" cy="237490"/>
          </a:xfrm>
          <a:custGeom>
            <a:avLst/>
            <a:gdLst/>
            <a:ahLst/>
            <a:cxnLst/>
            <a:rect l="l" t="t" r="r" b="b"/>
            <a:pathLst>
              <a:path h="237489">
                <a:moveTo>
                  <a:pt x="0" y="0"/>
                </a:moveTo>
                <a:lnTo>
                  <a:pt x="0" y="237458"/>
                </a:lnTo>
              </a:path>
            </a:pathLst>
          </a:custGeom>
          <a:ln w="853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6987002" y="3907205"/>
            <a:ext cx="0" cy="237490"/>
          </a:xfrm>
          <a:custGeom>
            <a:avLst/>
            <a:gdLst/>
            <a:ahLst/>
            <a:cxnLst/>
            <a:rect l="l" t="t" r="r" b="b"/>
            <a:pathLst>
              <a:path h="237489">
                <a:moveTo>
                  <a:pt x="0" y="0"/>
                </a:moveTo>
                <a:lnTo>
                  <a:pt x="0" y="237458"/>
                </a:lnTo>
              </a:path>
            </a:pathLst>
          </a:custGeom>
          <a:ln w="853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7773392" y="3907205"/>
            <a:ext cx="0" cy="237490"/>
          </a:xfrm>
          <a:custGeom>
            <a:avLst/>
            <a:gdLst/>
            <a:ahLst/>
            <a:cxnLst/>
            <a:rect l="l" t="t" r="r" b="b"/>
            <a:pathLst>
              <a:path h="237489">
                <a:moveTo>
                  <a:pt x="0" y="0"/>
                </a:moveTo>
                <a:lnTo>
                  <a:pt x="0" y="237458"/>
                </a:lnTo>
              </a:path>
            </a:pathLst>
          </a:custGeom>
          <a:ln w="853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8529431" y="3907205"/>
            <a:ext cx="0" cy="237490"/>
          </a:xfrm>
          <a:custGeom>
            <a:avLst/>
            <a:gdLst/>
            <a:ahLst/>
            <a:cxnLst/>
            <a:rect l="l" t="t" r="r" b="b"/>
            <a:pathLst>
              <a:path h="237489">
                <a:moveTo>
                  <a:pt x="0" y="0"/>
                </a:moveTo>
                <a:lnTo>
                  <a:pt x="0" y="237458"/>
                </a:lnTo>
              </a:path>
            </a:pathLst>
          </a:custGeom>
          <a:ln w="8533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4986528" y="5553557"/>
            <a:ext cx="311658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latin typeface="Microsoft Sans Serif"/>
                <a:cs typeface="Microsoft Sans Serif"/>
              </a:rPr>
              <a:t>Melihat</a:t>
            </a:r>
            <a:r>
              <a:rPr sz="1600" spc="65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nilai</a:t>
            </a:r>
            <a:r>
              <a:rPr sz="1600" spc="55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biaya</a:t>
            </a:r>
            <a:r>
              <a:rPr sz="1600" spc="75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resiko</a:t>
            </a:r>
            <a:r>
              <a:rPr sz="1600" spc="70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dari </a:t>
            </a:r>
            <a:r>
              <a:rPr sz="1600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R(A</a:t>
            </a:r>
            <a:r>
              <a:rPr sz="1575" spc="-7" baseline="-21164" dirty="0">
                <a:latin typeface="Microsoft Sans Serif"/>
                <a:cs typeface="Microsoft Sans Serif"/>
              </a:rPr>
              <a:t>1</a:t>
            </a:r>
            <a:r>
              <a:rPr sz="1575" spc="247" baseline="-21164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|</a:t>
            </a:r>
            <a:r>
              <a:rPr sz="1600" spc="10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x)</a:t>
            </a:r>
            <a:r>
              <a:rPr sz="1600" spc="30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&lt;</a:t>
            </a:r>
            <a:r>
              <a:rPr sz="1600" spc="30" dirty="0">
                <a:latin typeface="Microsoft Sans Serif"/>
                <a:cs typeface="Microsoft Sans Serif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R(A</a:t>
            </a:r>
            <a:r>
              <a:rPr sz="1575" baseline="-21164" dirty="0">
                <a:latin typeface="Microsoft Sans Serif"/>
                <a:cs typeface="Microsoft Sans Serif"/>
              </a:rPr>
              <a:t>2</a:t>
            </a:r>
            <a:r>
              <a:rPr sz="1575" spc="247" baseline="-21164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|</a:t>
            </a:r>
            <a:r>
              <a:rPr sz="1600" spc="20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x)</a:t>
            </a:r>
            <a:r>
              <a:rPr sz="1600" spc="35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,</a:t>
            </a:r>
            <a:r>
              <a:rPr sz="1600" spc="25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maka</a:t>
            </a:r>
            <a:r>
              <a:rPr sz="1600" spc="20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x</a:t>
            </a:r>
            <a:r>
              <a:rPr sz="1600" spc="15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=</a:t>
            </a:r>
            <a:r>
              <a:rPr sz="1600" spc="30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13 </a:t>
            </a:r>
            <a:r>
              <a:rPr sz="1600" spc="-409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masuk</a:t>
            </a:r>
            <a:r>
              <a:rPr sz="1600" spc="20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kelas</a:t>
            </a:r>
            <a:r>
              <a:rPr sz="1600" spc="50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Sea</a:t>
            </a:r>
            <a:r>
              <a:rPr sz="1600" spc="15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Bass.</a:t>
            </a:r>
            <a:endParaRPr sz="1600">
              <a:latin typeface="Microsoft Sans Serif"/>
              <a:cs typeface="Microsoft Sans Serif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7943521" y="5280046"/>
            <a:ext cx="0" cy="260985"/>
          </a:xfrm>
          <a:custGeom>
            <a:avLst/>
            <a:gdLst/>
            <a:ahLst/>
            <a:cxnLst/>
            <a:rect l="l" t="t" r="r" b="b"/>
            <a:pathLst>
              <a:path h="260985">
                <a:moveTo>
                  <a:pt x="0" y="0"/>
                </a:moveTo>
                <a:lnTo>
                  <a:pt x="0" y="260400"/>
                </a:lnTo>
              </a:path>
            </a:pathLst>
          </a:custGeom>
          <a:ln w="1341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 txBox="1"/>
          <p:nvPr/>
        </p:nvSpPr>
        <p:spPr>
          <a:xfrm>
            <a:off x="7818155" y="5376284"/>
            <a:ext cx="81915" cy="1816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i="1" spc="165" dirty="0">
                <a:latin typeface="Times New Roman"/>
                <a:cs typeface="Times New Roman"/>
              </a:rPr>
              <a:t>i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5303494" y="5200896"/>
            <a:ext cx="2969895" cy="3263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950" spc="685" dirty="0">
                <a:latin typeface="Symbol"/>
                <a:cs typeface="Symbol"/>
              </a:rPr>
              <a:t></a:t>
            </a:r>
            <a:r>
              <a:rPr sz="1750" spc="455" dirty="0">
                <a:latin typeface="Times New Roman"/>
                <a:cs typeface="Times New Roman"/>
              </a:rPr>
              <a:t>(</a:t>
            </a:r>
            <a:r>
              <a:rPr sz="1750" i="1" spc="415" dirty="0">
                <a:latin typeface="Times New Roman"/>
                <a:cs typeface="Times New Roman"/>
              </a:rPr>
              <a:t>x</a:t>
            </a:r>
            <a:r>
              <a:rPr sz="1750" spc="325" dirty="0">
                <a:latin typeface="Times New Roman"/>
                <a:cs typeface="Times New Roman"/>
              </a:rPr>
              <a:t>)</a:t>
            </a:r>
            <a:r>
              <a:rPr sz="1750" spc="90" dirty="0">
                <a:latin typeface="Times New Roman"/>
                <a:cs typeface="Times New Roman"/>
              </a:rPr>
              <a:t> </a:t>
            </a:r>
            <a:r>
              <a:rPr sz="1750" spc="535" dirty="0">
                <a:latin typeface="Symbol"/>
                <a:cs typeface="Symbol"/>
              </a:rPr>
              <a:t></a:t>
            </a:r>
            <a:r>
              <a:rPr sz="1750" spc="20" dirty="0">
                <a:latin typeface="Times New Roman"/>
                <a:cs typeface="Times New Roman"/>
              </a:rPr>
              <a:t> </a:t>
            </a:r>
            <a:r>
              <a:rPr sz="1750" spc="315" dirty="0">
                <a:latin typeface="Times New Roman"/>
                <a:cs typeface="Times New Roman"/>
              </a:rPr>
              <a:t>a</a:t>
            </a:r>
            <a:r>
              <a:rPr sz="1750" spc="245" dirty="0">
                <a:latin typeface="Times New Roman"/>
                <a:cs typeface="Times New Roman"/>
              </a:rPr>
              <a:t>r</a:t>
            </a:r>
            <a:r>
              <a:rPr sz="1750" spc="484" dirty="0">
                <a:latin typeface="Times New Roman"/>
                <a:cs typeface="Times New Roman"/>
              </a:rPr>
              <a:t>g</a:t>
            </a:r>
            <a:r>
              <a:rPr sz="1750" spc="-90" dirty="0">
                <a:latin typeface="Times New Roman"/>
                <a:cs typeface="Times New Roman"/>
              </a:rPr>
              <a:t> </a:t>
            </a:r>
            <a:r>
              <a:rPr sz="1750" spc="560" dirty="0">
                <a:latin typeface="Times New Roman"/>
                <a:cs typeface="Times New Roman"/>
              </a:rPr>
              <a:t>m</a:t>
            </a:r>
            <a:r>
              <a:rPr sz="1750" spc="65" dirty="0">
                <a:latin typeface="Times New Roman"/>
                <a:cs typeface="Times New Roman"/>
              </a:rPr>
              <a:t>i</a:t>
            </a:r>
            <a:r>
              <a:rPr sz="1750" spc="484" dirty="0">
                <a:latin typeface="Times New Roman"/>
                <a:cs typeface="Times New Roman"/>
              </a:rPr>
              <a:t>n</a:t>
            </a:r>
            <a:r>
              <a:rPr sz="1750" spc="195" dirty="0">
                <a:latin typeface="Times New Roman"/>
                <a:cs typeface="Times New Roman"/>
              </a:rPr>
              <a:t> </a:t>
            </a:r>
            <a:r>
              <a:rPr sz="1750" i="1" spc="560" dirty="0">
                <a:latin typeface="Times New Roman"/>
                <a:cs typeface="Times New Roman"/>
              </a:rPr>
              <a:t>R</a:t>
            </a:r>
            <a:r>
              <a:rPr sz="1750" spc="325" dirty="0">
                <a:latin typeface="Times New Roman"/>
                <a:cs typeface="Times New Roman"/>
              </a:rPr>
              <a:t>(</a:t>
            </a:r>
            <a:r>
              <a:rPr sz="1750" spc="-225" dirty="0">
                <a:latin typeface="Times New Roman"/>
                <a:cs typeface="Times New Roman"/>
              </a:rPr>
              <a:t> </a:t>
            </a:r>
            <a:r>
              <a:rPr sz="1750" i="1" spc="595" dirty="0">
                <a:latin typeface="Times New Roman"/>
                <a:cs typeface="Times New Roman"/>
              </a:rPr>
              <a:t>A</a:t>
            </a:r>
            <a:r>
              <a:rPr sz="1750" i="1" dirty="0">
                <a:latin typeface="Times New Roman"/>
                <a:cs typeface="Times New Roman"/>
              </a:rPr>
              <a:t> </a:t>
            </a:r>
            <a:r>
              <a:rPr sz="1750" i="1" spc="80" dirty="0">
                <a:latin typeface="Times New Roman"/>
                <a:cs typeface="Times New Roman"/>
              </a:rPr>
              <a:t> </a:t>
            </a:r>
            <a:r>
              <a:rPr sz="1750" i="1" spc="415" dirty="0">
                <a:latin typeface="Times New Roman"/>
                <a:cs typeface="Times New Roman"/>
              </a:rPr>
              <a:t>x</a:t>
            </a:r>
            <a:r>
              <a:rPr sz="1750" spc="325" dirty="0">
                <a:latin typeface="Times New Roman"/>
                <a:cs typeface="Times New Roman"/>
              </a:rPr>
              <a:t>)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5008373" y="3723259"/>
            <a:ext cx="3773804" cy="1492250"/>
          </a:xfrm>
          <a:prstGeom prst="rect">
            <a:avLst/>
          </a:prstGeom>
        </p:spPr>
        <p:txBody>
          <a:bodyPr vert="horz" wrap="square" lIns="0" tIns="13589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70"/>
              </a:spcBef>
            </a:pPr>
            <a:r>
              <a:rPr sz="1600" i="1" spc="60" dirty="0">
                <a:latin typeface="Times New Roman"/>
                <a:cs typeface="Times New Roman"/>
              </a:rPr>
              <a:t>R</a:t>
            </a:r>
            <a:r>
              <a:rPr sz="1600" spc="175" dirty="0">
                <a:latin typeface="Times New Roman"/>
                <a:cs typeface="Times New Roman"/>
              </a:rPr>
              <a:t>(</a:t>
            </a:r>
            <a:r>
              <a:rPr sz="1600" i="1" spc="-195" dirty="0">
                <a:latin typeface="Times New Roman"/>
                <a:cs typeface="Times New Roman"/>
              </a:rPr>
              <a:t>A</a:t>
            </a:r>
            <a:r>
              <a:rPr sz="1350" spc="82" baseline="-24691" dirty="0">
                <a:latin typeface="Times New Roman"/>
                <a:cs typeface="Times New Roman"/>
              </a:rPr>
              <a:t>1</a:t>
            </a:r>
            <a:r>
              <a:rPr sz="1350" baseline="-24691" dirty="0">
                <a:latin typeface="Times New Roman"/>
                <a:cs typeface="Times New Roman"/>
              </a:rPr>
              <a:t> </a:t>
            </a:r>
            <a:r>
              <a:rPr sz="1350" spc="-67" baseline="-24691" dirty="0">
                <a:latin typeface="Times New Roman"/>
                <a:cs typeface="Times New Roman"/>
              </a:rPr>
              <a:t> </a:t>
            </a:r>
            <a:r>
              <a:rPr sz="1600" i="1" spc="55" dirty="0">
                <a:latin typeface="Times New Roman"/>
                <a:cs typeface="Times New Roman"/>
              </a:rPr>
              <a:t>x</a:t>
            </a:r>
            <a:r>
              <a:rPr sz="1600" spc="45" dirty="0">
                <a:latin typeface="Times New Roman"/>
                <a:cs typeface="Times New Roman"/>
              </a:rPr>
              <a:t>)</a:t>
            </a:r>
            <a:r>
              <a:rPr sz="1600" spc="-65" dirty="0">
                <a:latin typeface="Times New Roman"/>
                <a:cs typeface="Times New Roman"/>
              </a:rPr>
              <a:t> </a:t>
            </a:r>
            <a:r>
              <a:rPr sz="1600" spc="75" dirty="0">
                <a:latin typeface="Symbol"/>
                <a:cs typeface="Symbol"/>
              </a:rPr>
              <a:t></a:t>
            </a:r>
            <a:r>
              <a:rPr sz="1600" spc="-110" dirty="0">
                <a:latin typeface="Times New Roman"/>
                <a:cs typeface="Times New Roman"/>
              </a:rPr>
              <a:t> </a:t>
            </a:r>
            <a:r>
              <a:rPr sz="1700" spc="85" dirty="0">
                <a:latin typeface="Symbol"/>
                <a:cs typeface="Symbol"/>
              </a:rPr>
              <a:t></a:t>
            </a:r>
            <a:r>
              <a:rPr sz="1600" spc="175" dirty="0">
                <a:latin typeface="Times New Roman"/>
                <a:cs typeface="Times New Roman"/>
              </a:rPr>
              <a:t>(</a:t>
            </a:r>
            <a:r>
              <a:rPr sz="1600" i="1" spc="-195" dirty="0">
                <a:latin typeface="Times New Roman"/>
                <a:cs typeface="Times New Roman"/>
              </a:rPr>
              <a:t>A</a:t>
            </a:r>
            <a:r>
              <a:rPr sz="1350" spc="82" baseline="-24691" dirty="0">
                <a:latin typeface="Times New Roman"/>
                <a:cs typeface="Times New Roman"/>
              </a:rPr>
              <a:t>1</a:t>
            </a:r>
            <a:r>
              <a:rPr sz="1350" spc="7" baseline="-24691" dirty="0">
                <a:latin typeface="Times New Roman"/>
                <a:cs typeface="Times New Roman"/>
              </a:rPr>
              <a:t> </a:t>
            </a:r>
            <a:r>
              <a:rPr sz="1700" spc="-114" dirty="0">
                <a:latin typeface="Symbol"/>
                <a:cs typeface="Symbol"/>
              </a:rPr>
              <a:t></a:t>
            </a:r>
            <a:r>
              <a:rPr sz="1350" spc="195" baseline="-24691" dirty="0">
                <a:latin typeface="Times New Roman"/>
                <a:cs typeface="Times New Roman"/>
              </a:rPr>
              <a:t>1</a:t>
            </a:r>
            <a:r>
              <a:rPr sz="1600" spc="100" dirty="0">
                <a:latin typeface="Times New Roman"/>
                <a:cs typeface="Times New Roman"/>
              </a:rPr>
              <a:t>)</a:t>
            </a:r>
            <a:r>
              <a:rPr sz="1600" i="1" spc="60" dirty="0">
                <a:latin typeface="Times New Roman"/>
                <a:cs typeface="Times New Roman"/>
              </a:rPr>
              <a:t>P</a:t>
            </a:r>
            <a:r>
              <a:rPr sz="1600" spc="-55" dirty="0">
                <a:latin typeface="Times New Roman"/>
                <a:cs typeface="Times New Roman"/>
              </a:rPr>
              <a:t>(</a:t>
            </a:r>
            <a:r>
              <a:rPr sz="1700" spc="-114" dirty="0">
                <a:latin typeface="Symbol"/>
                <a:cs typeface="Symbol"/>
              </a:rPr>
              <a:t></a:t>
            </a:r>
            <a:r>
              <a:rPr sz="1350" spc="82" baseline="-24691" dirty="0">
                <a:latin typeface="Times New Roman"/>
                <a:cs typeface="Times New Roman"/>
              </a:rPr>
              <a:t>1</a:t>
            </a:r>
            <a:r>
              <a:rPr sz="1350" baseline="-24691" dirty="0">
                <a:latin typeface="Times New Roman"/>
                <a:cs typeface="Times New Roman"/>
              </a:rPr>
              <a:t> </a:t>
            </a:r>
            <a:r>
              <a:rPr sz="1350" spc="-60" baseline="-24691" dirty="0">
                <a:latin typeface="Times New Roman"/>
                <a:cs typeface="Times New Roman"/>
              </a:rPr>
              <a:t> </a:t>
            </a:r>
            <a:r>
              <a:rPr sz="1600" i="1" spc="50" dirty="0">
                <a:latin typeface="Times New Roman"/>
                <a:cs typeface="Times New Roman"/>
              </a:rPr>
              <a:t>x</a:t>
            </a:r>
            <a:r>
              <a:rPr sz="1600" spc="45" dirty="0">
                <a:latin typeface="Times New Roman"/>
                <a:cs typeface="Times New Roman"/>
              </a:rPr>
              <a:t>)</a:t>
            </a:r>
            <a:r>
              <a:rPr sz="1600" spc="-165" dirty="0">
                <a:latin typeface="Times New Roman"/>
                <a:cs typeface="Times New Roman"/>
              </a:rPr>
              <a:t> </a:t>
            </a:r>
            <a:r>
              <a:rPr sz="1600" spc="75" dirty="0">
                <a:latin typeface="Symbol"/>
                <a:cs typeface="Symbol"/>
              </a:rPr>
              <a:t></a:t>
            </a:r>
            <a:r>
              <a:rPr sz="1600" spc="-185" dirty="0">
                <a:latin typeface="Times New Roman"/>
                <a:cs typeface="Times New Roman"/>
              </a:rPr>
              <a:t> </a:t>
            </a:r>
            <a:r>
              <a:rPr sz="1700" spc="85" dirty="0">
                <a:latin typeface="Symbol"/>
                <a:cs typeface="Symbol"/>
              </a:rPr>
              <a:t></a:t>
            </a:r>
            <a:r>
              <a:rPr sz="1600" spc="180" dirty="0">
                <a:latin typeface="Times New Roman"/>
                <a:cs typeface="Times New Roman"/>
              </a:rPr>
              <a:t>(</a:t>
            </a:r>
            <a:r>
              <a:rPr sz="1600" i="1" spc="-195" dirty="0">
                <a:latin typeface="Times New Roman"/>
                <a:cs typeface="Times New Roman"/>
              </a:rPr>
              <a:t>A</a:t>
            </a:r>
            <a:r>
              <a:rPr sz="1350" spc="82" baseline="-24691" dirty="0">
                <a:latin typeface="Times New Roman"/>
                <a:cs typeface="Times New Roman"/>
              </a:rPr>
              <a:t>1</a:t>
            </a:r>
            <a:r>
              <a:rPr sz="1350" spc="7" baseline="-24691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Symbol"/>
                <a:cs typeface="Symbol"/>
              </a:rPr>
              <a:t></a:t>
            </a:r>
            <a:r>
              <a:rPr sz="1350" spc="82" baseline="-24691" dirty="0">
                <a:latin typeface="Times New Roman"/>
                <a:cs typeface="Times New Roman"/>
              </a:rPr>
              <a:t>2</a:t>
            </a:r>
            <a:r>
              <a:rPr sz="1350" spc="-112" baseline="-24691" dirty="0">
                <a:latin typeface="Times New Roman"/>
                <a:cs typeface="Times New Roman"/>
              </a:rPr>
              <a:t> </a:t>
            </a:r>
            <a:r>
              <a:rPr sz="1600" spc="100" dirty="0">
                <a:latin typeface="Times New Roman"/>
                <a:cs typeface="Times New Roman"/>
              </a:rPr>
              <a:t>)</a:t>
            </a:r>
            <a:r>
              <a:rPr sz="1600" i="1" spc="60" dirty="0">
                <a:latin typeface="Times New Roman"/>
                <a:cs typeface="Times New Roman"/>
              </a:rPr>
              <a:t>P</a:t>
            </a:r>
            <a:r>
              <a:rPr sz="1600" spc="-50" dirty="0">
                <a:latin typeface="Times New Roman"/>
                <a:cs typeface="Times New Roman"/>
              </a:rPr>
              <a:t>(</a:t>
            </a:r>
            <a:r>
              <a:rPr sz="1700" spc="-10" dirty="0">
                <a:latin typeface="Symbol"/>
                <a:cs typeface="Symbol"/>
              </a:rPr>
              <a:t></a:t>
            </a:r>
            <a:r>
              <a:rPr sz="1350" spc="82" baseline="-24691" dirty="0">
                <a:latin typeface="Times New Roman"/>
                <a:cs typeface="Times New Roman"/>
              </a:rPr>
              <a:t>2</a:t>
            </a:r>
            <a:r>
              <a:rPr sz="1350" baseline="-24691" dirty="0">
                <a:latin typeface="Times New Roman"/>
                <a:cs typeface="Times New Roman"/>
              </a:rPr>
              <a:t> </a:t>
            </a:r>
            <a:r>
              <a:rPr sz="1350" spc="44" baseline="-24691" dirty="0">
                <a:latin typeface="Times New Roman"/>
                <a:cs typeface="Times New Roman"/>
              </a:rPr>
              <a:t> </a:t>
            </a:r>
            <a:r>
              <a:rPr sz="1600" i="1" spc="50" dirty="0">
                <a:latin typeface="Times New Roman"/>
                <a:cs typeface="Times New Roman"/>
              </a:rPr>
              <a:t>x</a:t>
            </a:r>
            <a:r>
              <a:rPr sz="1600" spc="45" dirty="0">
                <a:latin typeface="Times New Roman"/>
                <a:cs typeface="Times New Roman"/>
              </a:rPr>
              <a:t>)</a:t>
            </a:r>
            <a:endParaRPr sz="1600">
              <a:latin typeface="Times New Roman"/>
              <a:cs typeface="Times New Roman"/>
            </a:endParaRPr>
          </a:p>
          <a:p>
            <a:pPr marL="62230">
              <a:lnSpc>
                <a:spcPct val="100000"/>
              </a:lnSpc>
              <a:spcBef>
                <a:spcPts val="910"/>
              </a:spcBef>
            </a:pPr>
            <a:r>
              <a:rPr sz="1550" spc="180" dirty="0">
                <a:latin typeface="Symbol"/>
                <a:cs typeface="Symbol"/>
              </a:rPr>
              <a:t></a:t>
            </a:r>
            <a:r>
              <a:rPr sz="1550" spc="-10" dirty="0">
                <a:latin typeface="Times New Roman"/>
                <a:cs typeface="Times New Roman"/>
              </a:rPr>
              <a:t> </a:t>
            </a:r>
            <a:r>
              <a:rPr sz="1550" spc="75" dirty="0">
                <a:latin typeface="Times New Roman"/>
                <a:cs typeface="Times New Roman"/>
              </a:rPr>
              <a:t>(</a:t>
            </a:r>
            <a:r>
              <a:rPr sz="1550" spc="70" dirty="0">
                <a:latin typeface="Times New Roman"/>
                <a:cs typeface="Times New Roman"/>
              </a:rPr>
              <a:t>(</a:t>
            </a:r>
            <a:r>
              <a:rPr sz="1550" spc="165" dirty="0">
                <a:latin typeface="Times New Roman"/>
                <a:cs typeface="Times New Roman"/>
              </a:rPr>
              <a:t>$</a:t>
            </a:r>
            <a:r>
              <a:rPr sz="1550" spc="-5" dirty="0">
                <a:latin typeface="Times New Roman"/>
                <a:cs typeface="Times New Roman"/>
              </a:rPr>
              <a:t>1</a:t>
            </a:r>
            <a:r>
              <a:rPr sz="1550" spc="75" dirty="0">
                <a:latin typeface="Times New Roman"/>
                <a:cs typeface="Times New Roman"/>
              </a:rPr>
              <a:t>)</a:t>
            </a:r>
            <a:r>
              <a:rPr sz="1550" spc="125" dirty="0">
                <a:latin typeface="Times New Roman"/>
                <a:cs typeface="Times New Roman"/>
              </a:rPr>
              <a:t>(</a:t>
            </a:r>
            <a:r>
              <a:rPr sz="1550" spc="114" dirty="0">
                <a:latin typeface="Times New Roman"/>
                <a:cs typeface="Times New Roman"/>
              </a:rPr>
              <a:t>0</a:t>
            </a:r>
            <a:r>
              <a:rPr sz="1550" spc="95" dirty="0">
                <a:latin typeface="Times New Roman"/>
                <a:cs typeface="Times New Roman"/>
              </a:rPr>
              <a:t>,</a:t>
            </a:r>
            <a:r>
              <a:rPr sz="1550" spc="110" dirty="0">
                <a:latin typeface="Times New Roman"/>
                <a:cs typeface="Times New Roman"/>
              </a:rPr>
              <a:t>4</a:t>
            </a:r>
            <a:r>
              <a:rPr sz="1550" spc="114" dirty="0">
                <a:latin typeface="Times New Roman"/>
                <a:cs typeface="Times New Roman"/>
              </a:rPr>
              <a:t>4</a:t>
            </a:r>
            <a:r>
              <a:rPr sz="1550" spc="110" dirty="0">
                <a:latin typeface="Times New Roman"/>
                <a:cs typeface="Times New Roman"/>
              </a:rPr>
              <a:t>7</a:t>
            </a:r>
            <a:r>
              <a:rPr sz="1550" spc="235" dirty="0">
                <a:latin typeface="Times New Roman"/>
                <a:cs typeface="Times New Roman"/>
              </a:rPr>
              <a:t>9</a:t>
            </a:r>
            <a:r>
              <a:rPr sz="1550" spc="75" dirty="0">
                <a:latin typeface="Times New Roman"/>
                <a:cs typeface="Times New Roman"/>
              </a:rPr>
              <a:t>)</a:t>
            </a:r>
            <a:r>
              <a:rPr sz="1550" spc="110" dirty="0">
                <a:latin typeface="Times New Roman"/>
                <a:cs typeface="Times New Roman"/>
              </a:rPr>
              <a:t>)</a:t>
            </a:r>
            <a:r>
              <a:rPr sz="1550" spc="-85" dirty="0">
                <a:latin typeface="Times New Roman"/>
                <a:cs typeface="Times New Roman"/>
              </a:rPr>
              <a:t> </a:t>
            </a:r>
            <a:r>
              <a:rPr sz="1550" spc="180" dirty="0">
                <a:latin typeface="Symbol"/>
                <a:cs typeface="Symbol"/>
              </a:rPr>
              <a:t></a:t>
            </a:r>
            <a:r>
              <a:rPr sz="1550" spc="-95" dirty="0">
                <a:latin typeface="Times New Roman"/>
                <a:cs typeface="Times New Roman"/>
              </a:rPr>
              <a:t> </a:t>
            </a:r>
            <a:r>
              <a:rPr sz="1550" spc="75" dirty="0">
                <a:latin typeface="Times New Roman"/>
                <a:cs typeface="Times New Roman"/>
              </a:rPr>
              <a:t>(</a:t>
            </a:r>
            <a:r>
              <a:rPr sz="1550" spc="70" dirty="0">
                <a:latin typeface="Times New Roman"/>
                <a:cs typeface="Times New Roman"/>
              </a:rPr>
              <a:t>(</a:t>
            </a:r>
            <a:r>
              <a:rPr sz="1550" spc="165" dirty="0">
                <a:latin typeface="Times New Roman"/>
                <a:cs typeface="Times New Roman"/>
              </a:rPr>
              <a:t>$</a:t>
            </a:r>
            <a:r>
              <a:rPr sz="1550" spc="140" dirty="0">
                <a:latin typeface="Times New Roman"/>
                <a:cs typeface="Times New Roman"/>
              </a:rPr>
              <a:t>0</a:t>
            </a:r>
            <a:r>
              <a:rPr sz="1550" spc="75" dirty="0">
                <a:latin typeface="Times New Roman"/>
                <a:cs typeface="Times New Roman"/>
              </a:rPr>
              <a:t>)</a:t>
            </a:r>
            <a:r>
              <a:rPr sz="1550" spc="125" dirty="0">
                <a:latin typeface="Times New Roman"/>
                <a:cs typeface="Times New Roman"/>
              </a:rPr>
              <a:t>(</a:t>
            </a:r>
            <a:r>
              <a:rPr sz="1550" spc="114" dirty="0">
                <a:latin typeface="Times New Roman"/>
                <a:cs typeface="Times New Roman"/>
              </a:rPr>
              <a:t>0</a:t>
            </a:r>
            <a:r>
              <a:rPr sz="1550" spc="40" dirty="0">
                <a:latin typeface="Times New Roman"/>
                <a:cs typeface="Times New Roman"/>
              </a:rPr>
              <a:t>,</a:t>
            </a:r>
            <a:r>
              <a:rPr sz="1550" spc="110" dirty="0">
                <a:latin typeface="Times New Roman"/>
                <a:cs typeface="Times New Roman"/>
              </a:rPr>
              <a:t>5</a:t>
            </a:r>
            <a:r>
              <a:rPr sz="1550" spc="114" dirty="0">
                <a:latin typeface="Times New Roman"/>
                <a:cs typeface="Times New Roman"/>
              </a:rPr>
              <a:t>5</a:t>
            </a:r>
            <a:r>
              <a:rPr sz="1550" spc="110" dirty="0">
                <a:latin typeface="Times New Roman"/>
                <a:cs typeface="Times New Roman"/>
              </a:rPr>
              <a:t>2</a:t>
            </a:r>
            <a:r>
              <a:rPr sz="1550" spc="90" dirty="0">
                <a:latin typeface="Times New Roman"/>
                <a:cs typeface="Times New Roman"/>
              </a:rPr>
              <a:t>1</a:t>
            </a:r>
            <a:r>
              <a:rPr sz="1550" spc="75" dirty="0">
                <a:latin typeface="Times New Roman"/>
                <a:cs typeface="Times New Roman"/>
              </a:rPr>
              <a:t>))</a:t>
            </a:r>
            <a:endParaRPr sz="1550">
              <a:latin typeface="Times New Roman"/>
              <a:cs typeface="Times New Roman"/>
            </a:endParaRPr>
          </a:p>
          <a:p>
            <a:pPr marL="71755">
              <a:lnSpc>
                <a:spcPct val="100000"/>
              </a:lnSpc>
              <a:spcBef>
                <a:spcPts val="665"/>
              </a:spcBef>
            </a:pPr>
            <a:r>
              <a:rPr sz="1550" spc="180" dirty="0">
                <a:latin typeface="Symbol"/>
                <a:cs typeface="Symbol"/>
              </a:rPr>
              <a:t></a:t>
            </a:r>
            <a:r>
              <a:rPr sz="1550" spc="-40" dirty="0">
                <a:latin typeface="Times New Roman"/>
                <a:cs typeface="Times New Roman"/>
              </a:rPr>
              <a:t> </a:t>
            </a:r>
            <a:r>
              <a:rPr sz="1550" spc="140" dirty="0">
                <a:latin typeface="Times New Roman"/>
                <a:cs typeface="Times New Roman"/>
              </a:rPr>
              <a:t>$</a:t>
            </a:r>
            <a:r>
              <a:rPr sz="1550" spc="114" dirty="0">
                <a:latin typeface="Times New Roman"/>
                <a:cs typeface="Times New Roman"/>
              </a:rPr>
              <a:t>0</a:t>
            </a:r>
            <a:r>
              <a:rPr sz="1550" spc="95" dirty="0">
                <a:latin typeface="Times New Roman"/>
                <a:cs typeface="Times New Roman"/>
              </a:rPr>
              <a:t>,</a:t>
            </a:r>
            <a:r>
              <a:rPr sz="1550" spc="114" dirty="0">
                <a:latin typeface="Times New Roman"/>
                <a:cs typeface="Times New Roman"/>
              </a:rPr>
              <a:t>4</a:t>
            </a:r>
            <a:r>
              <a:rPr sz="1550" spc="110" dirty="0">
                <a:latin typeface="Times New Roman"/>
                <a:cs typeface="Times New Roman"/>
              </a:rPr>
              <a:t>4</a:t>
            </a:r>
            <a:r>
              <a:rPr sz="1550" spc="114" dirty="0">
                <a:latin typeface="Times New Roman"/>
                <a:cs typeface="Times New Roman"/>
              </a:rPr>
              <a:t>7</a:t>
            </a:r>
            <a:r>
              <a:rPr sz="1550" spc="165" dirty="0">
                <a:latin typeface="Times New Roman"/>
                <a:cs typeface="Times New Roman"/>
              </a:rPr>
              <a:t>9</a:t>
            </a:r>
            <a:r>
              <a:rPr sz="1550" spc="-35" dirty="0">
                <a:latin typeface="Times New Roman"/>
                <a:cs typeface="Times New Roman"/>
              </a:rPr>
              <a:t> </a:t>
            </a:r>
            <a:r>
              <a:rPr sz="1550" spc="180" dirty="0">
                <a:latin typeface="Symbol"/>
                <a:cs typeface="Symbol"/>
              </a:rPr>
              <a:t></a:t>
            </a:r>
            <a:r>
              <a:rPr sz="1550" spc="-125" dirty="0">
                <a:latin typeface="Times New Roman"/>
                <a:cs typeface="Times New Roman"/>
              </a:rPr>
              <a:t> </a:t>
            </a:r>
            <a:r>
              <a:rPr sz="1550" spc="140" dirty="0">
                <a:latin typeface="Times New Roman"/>
                <a:cs typeface="Times New Roman"/>
              </a:rPr>
              <a:t>$</a:t>
            </a:r>
            <a:r>
              <a:rPr sz="1550" spc="165" dirty="0">
                <a:latin typeface="Times New Roman"/>
                <a:cs typeface="Times New Roman"/>
              </a:rPr>
              <a:t>0</a:t>
            </a:r>
            <a:r>
              <a:rPr sz="1550" spc="-5" dirty="0">
                <a:latin typeface="Times New Roman"/>
                <a:cs typeface="Times New Roman"/>
              </a:rPr>
              <a:t> </a:t>
            </a:r>
            <a:r>
              <a:rPr sz="1550" spc="180" dirty="0">
                <a:latin typeface="Symbol"/>
                <a:cs typeface="Symbol"/>
              </a:rPr>
              <a:t></a:t>
            </a:r>
            <a:r>
              <a:rPr sz="1550" spc="-40" dirty="0">
                <a:latin typeface="Times New Roman"/>
                <a:cs typeface="Times New Roman"/>
              </a:rPr>
              <a:t> </a:t>
            </a:r>
            <a:r>
              <a:rPr sz="1550" spc="140" dirty="0">
                <a:latin typeface="Times New Roman"/>
                <a:cs typeface="Times New Roman"/>
              </a:rPr>
              <a:t>$</a:t>
            </a:r>
            <a:r>
              <a:rPr sz="1550" spc="110" dirty="0">
                <a:latin typeface="Times New Roman"/>
                <a:cs typeface="Times New Roman"/>
              </a:rPr>
              <a:t>0</a:t>
            </a:r>
            <a:r>
              <a:rPr sz="1550" spc="95" dirty="0">
                <a:latin typeface="Times New Roman"/>
                <a:cs typeface="Times New Roman"/>
              </a:rPr>
              <a:t>,</a:t>
            </a:r>
            <a:r>
              <a:rPr sz="1550" spc="114" dirty="0">
                <a:latin typeface="Times New Roman"/>
                <a:cs typeface="Times New Roman"/>
              </a:rPr>
              <a:t>4</a:t>
            </a:r>
            <a:r>
              <a:rPr sz="1550" spc="110" dirty="0">
                <a:latin typeface="Times New Roman"/>
                <a:cs typeface="Times New Roman"/>
              </a:rPr>
              <a:t>4</a:t>
            </a:r>
            <a:r>
              <a:rPr sz="1550" spc="114" dirty="0">
                <a:latin typeface="Times New Roman"/>
                <a:cs typeface="Times New Roman"/>
              </a:rPr>
              <a:t>7</a:t>
            </a:r>
            <a:r>
              <a:rPr sz="1550" spc="165" dirty="0">
                <a:latin typeface="Times New Roman"/>
                <a:cs typeface="Times New Roman"/>
              </a:rPr>
              <a:t>9</a:t>
            </a:r>
            <a:endParaRPr sz="1550">
              <a:latin typeface="Times New Roman"/>
              <a:cs typeface="Times New Roman"/>
            </a:endParaRPr>
          </a:p>
          <a:p>
            <a:pPr marL="51435">
              <a:lnSpc>
                <a:spcPct val="100000"/>
              </a:lnSpc>
              <a:spcBef>
                <a:spcPts val="1320"/>
              </a:spcBef>
            </a:pPr>
            <a:r>
              <a:rPr sz="1600" spc="-5" dirty="0">
                <a:latin typeface="Microsoft Sans Serif"/>
                <a:cs typeface="Microsoft Sans Serif"/>
              </a:rPr>
              <a:t>Keputusan</a:t>
            </a:r>
            <a:r>
              <a:rPr sz="1600" spc="15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dilihat</a:t>
            </a:r>
            <a:r>
              <a:rPr sz="1600" spc="-5" dirty="0">
                <a:latin typeface="Microsoft Sans Serif"/>
                <a:cs typeface="Microsoft Sans Serif"/>
              </a:rPr>
              <a:t> dari</a:t>
            </a:r>
            <a:r>
              <a:rPr sz="1600" spc="25" dirty="0">
                <a:latin typeface="Microsoft Sans Serif"/>
                <a:cs typeface="Microsoft Sans Serif"/>
              </a:rPr>
              <a:t> </a:t>
            </a:r>
            <a:r>
              <a:rPr sz="1600" spc="-10" dirty="0">
                <a:latin typeface="Microsoft Sans Serif"/>
                <a:cs typeface="Microsoft Sans Serif"/>
              </a:rPr>
              <a:t>nilai</a:t>
            </a:r>
            <a:r>
              <a:rPr sz="1600" spc="-5" dirty="0">
                <a:latin typeface="Microsoft Sans Serif"/>
                <a:cs typeface="Microsoft Sans Serif"/>
              </a:rPr>
              <a:t> :</a:t>
            </a:r>
            <a:endParaRPr sz="1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4065" y="3699509"/>
            <a:ext cx="195326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solidFill>
                  <a:srgbClr val="1C1C1C"/>
                </a:solidFill>
                <a:latin typeface="Arial"/>
                <a:cs typeface="Arial"/>
              </a:rPr>
              <a:t>Selesai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2545</Words>
  <Application>Microsoft Office PowerPoint</Application>
  <PresentationFormat>On-screen Show (4:3)</PresentationFormat>
  <Paragraphs>377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Arial</vt:lpstr>
      <vt:lpstr>Arial MT</vt:lpstr>
      <vt:lpstr>Calibri</vt:lpstr>
      <vt:lpstr>Calibri Light</vt:lpstr>
      <vt:lpstr>Microsoft Sans Serif</vt:lpstr>
      <vt:lpstr>Symbol</vt:lpstr>
      <vt:lpstr>Times New Roman</vt:lpstr>
      <vt:lpstr>Wingdings</vt:lpstr>
      <vt:lpstr>Office Theme</vt:lpstr>
      <vt:lpstr>Pengenalan Pola/  Pattern Recognition</vt:lpstr>
      <vt:lpstr>Klasifikasi 1</vt:lpstr>
      <vt:lpstr>Prosedur Keputusan Bayes</vt:lpstr>
      <vt:lpstr>Contoh</vt:lpstr>
      <vt:lpstr>Fokus Metode</vt:lpstr>
      <vt:lpstr>Keputusan Bayes</vt:lpstr>
      <vt:lpstr>Teori Keputusan Bayes</vt:lpstr>
      <vt:lpstr>Teori Keputusan Bayes</vt:lpstr>
      <vt:lpstr>Aturan Keputusan</vt:lpstr>
      <vt:lpstr>Bayessian Error</vt:lpstr>
      <vt:lpstr>Fase Data Training</vt:lpstr>
      <vt:lpstr>Fase Data Training</vt:lpstr>
      <vt:lpstr>Fase Data Training</vt:lpstr>
      <vt:lpstr>Fase Data Training</vt:lpstr>
      <vt:lpstr>Fase Data Training</vt:lpstr>
      <vt:lpstr>Fase Data Training</vt:lpstr>
      <vt:lpstr>Fase Data Testing</vt:lpstr>
      <vt:lpstr>Fase Data Training</vt:lpstr>
      <vt:lpstr>Fase Data Training</vt:lpstr>
      <vt:lpstr>Fase Data Training</vt:lpstr>
      <vt:lpstr>Fase Data Training</vt:lpstr>
      <vt:lpstr>Fase Data Training</vt:lpstr>
      <vt:lpstr>Fase Data Training</vt:lpstr>
      <vt:lpstr>Fase Data Training</vt:lpstr>
      <vt:lpstr>Latihan 1</vt:lpstr>
      <vt:lpstr>Latihan 1 (Cont.)</vt:lpstr>
      <vt:lpstr>Selesai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Klassifikasi I</dc:title>
  <dc:creator>Imam Cholissodin</dc:creator>
  <cp:keywords>Pengenalan Pola</cp:keywords>
  <cp:lastModifiedBy>arief kelik nugroho</cp:lastModifiedBy>
  <cp:revision>3</cp:revision>
  <dcterms:created xsi:type="dcterms:W3CDTF">2022-08-28T13:51:23Z</dcterms:created>
  <dcterms:modified xsi:type="dcterms:W3CDTF">2026-08-18T14:02:00Z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2014-07-07T00:00:00Z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2022-08-28T00:00:00Z</vt:filetime>
  </property>
</Properties>
</file>