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B4EF-39DA-ED2B-9103-2EE041B50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58A7B-377A-0C3C-F39F-E1256786B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67EAC-60CF-95D9-A7C8-000565973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1551F-F558-DB35-BA27-3A18620C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8EAF2-DFAA-B04D-A116-41D7383F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986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CEC0-6569-FEE8-2760-42210467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9EF79-2F7C-9B76-FD41-4993C57B0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B0D1A-0757-9E98-EB49-EC048EB1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7FB71-22FC-2E29-E7C1-0C2A1F47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780CC-C594-831B-62FD-9338B23A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967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6361-C651-EF6A-4668-FDCE6EB4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9CB98-DA58-D9A7-72BD-6E2BA7307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F7692-9EC1-768E-8F5D-6CAE34B5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FE159-310E-8405-DAE0-FA3E2723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856DC-05E7-8E93-7EE5-72BFD0AE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120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05113-C45C-9919-4187-3053A4F0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089A6-D7D5-BBE9-3A7D-6C47A4022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ADCBE-EF47-745A-FE86-DE68D930E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5041A-6BE2-8199-41EB-4DD3D880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5ED12-E5CD-EA14-C4AF-77BBFA0C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195C0-04B6-8235-3C36-D92C6C22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079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C786-B397-5D58-3BF6-D0C81C62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51E88-41AE-0FCA-6BD2-B02415796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02C7D-20CE-E7B1-99E9-168CF7429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BB5A1-31C8-8EAE-49C3-6A2A3D6CA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F9698-B278-6A46-E00E-456DE4138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CFA8A-471C-58C0-8A36-F5735712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F6155-A08B-5341-2B61-8D2D1CE3A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1079F-B37F-2064-A1B6-1CE15063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091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C43C-292E-65A9-CBEE-120DB0B3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8126D-EDE5-9A99-4AF6-76CA8573B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16F8D-4DC9-E127-7B1D-407A247F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1762A-6BD1-7CDE-BCCA-C1C9D688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777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D7900-B642-2357-7EAB-B29A21FE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F7C98-63D3-5B1B-ADEA-201ECD9B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CFA2D-B14E-6D2D-7D8F-0879603C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003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80713-A929-4DD0-355E-FBBCD3BB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2AE5-62CA-82D8-C68C-6A7E36FD2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53F07-DEA8-3106-90A4-A325A42B5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343F5-E337-9307-9083-E207D17C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0EA61-9C24-97F5-6E02-0C1923078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B2FF2-4222-DF63-C475-E48E0B8B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985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0DD1-7D9F-A398-09EF-762A80B5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7472C-6986-4F2B-195C-B5A3E214D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9FE0B-D058-318A-AA23-6479D6D15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4CDCD-A0D0-F12D-EF77-4F1CED4E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7C7BA-E59C-FDDC-FF8C-2E5F622A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22B11-5DDF-251E-1665-0CDB61E1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1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4097-C468-8719-E87A-7956124F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9ECBA-54E3-DF15-1D2F-9A67C9B30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0F79-B4C1-6FFE-DC33-5F873A83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9AF97-D41F-8C25-EDA9-167C034C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F090E-06EA-BFEC-92C4-5EE53148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619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E8DBF-EBD4-C4E5-E1C3-95440079D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A05FD-3B40-7B90-B259-16E6A1454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DFDF-B005-3AA7-210F-40609C53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DC69D-F320-0E52-CF6A-0190F7E9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07B78-0580-B147-CF99-A5F88771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99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E0A1A-3FA4-AA6E-FD26-1A5E31BE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3801E-CD4A-1CA1-A484-8F6F03229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19BD7-02A0-9FBD-040D-FDEA1E155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A6E90-AFF6-2865-9266-F9DECE7FD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B9694-D427-3CC2-9A58-3AD68B107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1242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94407" y="149428"/>
            <a:ext cx="5033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Pokok</a:t>
            </a:r>
            <a:r>
              <a:rPr spc="-50" dirty="0"/>
              <a:t> </a:t>
            </a:r>
            <a:r>
              <a:rPr dirty="0"/>
              <a:t>Pembahasan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135148"/>
            <a:ext cx="4961255" cy="2586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 MT"/>
                <a:cs typeface="Arial MT"/>
              </a:rPr>
              <a:t>Regresi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Linier</a:t>
            </a:r>
            <a:endParaRPr sz="2800">
              <a:latin typeface="Arial MT"/>
              <a:cs typeface="Arial MT"/>
            </a:endParaRPr>
          </a:p>
          <a:p>
            <a:pPr marL="927100" lvl="1" indent="-514350">
              <a:lnSpc>
                <a:spcPct val="100000"/>
              </a:lnSpc>
              <a:spcBef>
                <a:spcPts val="67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Pengertian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Regresi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Linier</a:t>
            </a:r>
            <a:endParaRPr sz="2800">
              <a:latin typeface="Arial MT"/>
              <a:cs typeface="Arial MT"/>
            </a:endParaRPr>
          </a:p>
          <a:p>
            <a:pPr marL="927100" lvl="1" indent="-514350">
              <a:lnSpc>
                <a:spcPct val="100000"/>
              </a:lnSpc>
              <a:spcBef>
                <a:spcPts val="67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800" spc="-5" dirty="0">
                <a:latin typeface="Arial MT"/>
                <a:cs typeface="Arial MT"/>
              </a:rPr>
              <a:t>Model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Regresi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Linier</a:t>
            </a:r>
            <a:endParaRPr sz="2800">
              <a:latin typeface="Arial MT"/>
              <a:cs typeface="Arial MT"/>
            </a:endParaRPr>
          </a:p>
          <a:p>
            <a:pPr marL="927100" lvl="1" indent="-514350">
              <a:lnSpc>
                <a:spcPct val="100000"/>
              </a:lnSpc>
              <a:spcBef>
                <a:spcPts val="670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Visualisasi</a:t>
            </a:r>
            <a:r>
              <a:rPr sz="2800" spc="-5" dirty="0">
                <a:latin typeface="Arial MT"/>
                <a:cs typeface="Arial MT"/>
              </a:rPr>
              <a:t> Regresi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Linier</a:t>
            </a:r>
            <a:endParaRPr sz="2800">
              <a:latin typeface="Arial MT"/>
              <a:cs typeface="Arial MT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 MT"/>
                <a:cs typeface="Arial MT"/>
              </a:rPr>
              <a:t>Case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Study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33877" y="264617"/>
            <a:ext cx="3477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Regresi</a:t>
            </a:r>
            <a:r>
              <a:rPr spc="-65" dirty="0"/>
              <a:t> </a:t>
            </a:r>
            <a:r>
              <a:rPr dirty="0"/>
              <a:t>Linier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94257"/>
            <a:ext cx="8074659" cy="5026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353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sz="2000" dirty="0">
                <a:latin typeface="Arial MT"/>
                <a:cs typeface="Arial MT"/>
              </a:rPr>
              <a:t>Regresi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adalah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membangun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model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untuk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memprediksi</a:t>
            </a:r>
            <a:r>
              <a:rPr sz="2000" dirty="0">
                <a:latin typeface="Arial MT"/>
                <a:cs typeface="Arial MT"/>
              </a:rPr>
              <a:t> nilai</a:t>
            </a:r>
            <a:r>
              <a:rPr sz="2000" spc="5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dari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masukan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yang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diberikan.</a:t>
            </a:r>
            <a:endParaRPr sz="2000">
              <a:latin typeface="Arial MT"/>
              <a:cs typeface="Arial MT"/>
            </a:endParaRPr>
          </a:p>
          <a:p>
            <a:pPr marL="355600" indent="-343535" algn="just">
              <a:lnSpc>
                <a:spcPct val="100000"/>
              </a:lnSpc>
              <a:spcBef>
                <a:spcPts val="475"/>
              </a:spcBef>
              <a:buChar char="•"/>
              <a:tabLst>
                <a:tab pos="356235" algn="l"/>
              </a:tabLst>
            </a:pPr>
            <a:r>
              <a:rPr sz="2000" dirty="0">
                <a:latin typeface="Arial MT"/>
                <a:cs typeface="Arial MT"/>
              </a:rPr>
              <a:t>Prediksi</a:t>
            </a:r>
            <a:r>
              <a:rPr sz="2000" spc="10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berbeda</a:t>
            </a:r>
            <a:r>
              <a:rPr sz="2000" spc="10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dengan</a:t>
            </a:r>
            <a:r>
              <a:rPr sz="2000" spc="10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klasifikasi</a:t>
            </a:r>
            <a:r>
              <a:rPr sz="2000" spc="10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(dalam</a:t>
            </a:r>
            <a:r>
              <a:rPr sz="2000" spc="105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machine</a:t>
            </a:r>
            <a:r>
              <a:rPr sz="2000" i="1" spc="1045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learning</a:t>
            </a:r>
            <a:r>
              <a:rPr sz="2000" spc="-5" dirty="0">
                <a:latin typeface="Arial MT"/>
                <a:cs typeface="Arial MT"/>
              </a:rPr>
              <a:t>,</a:t>
            </a:r>
            <a:endParaRPr sz="2000">
              <a:latin typeface="Arial MT"/>
              <a:cs typeface="Arial MT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klasifikasi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dianggap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sebagai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salah satu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jenis dari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prediksi).</a:t>
            </a:r>
            <a:endParaRPr sz="2000">
              <a:latin typeface="Arial MT"/>
              <a:cs typeface="Arial MT"/>
            </a:endParaRPr>
          </a:p>
          <a:p>
            <a:pPr marL="355600" indent="-34353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56235" algn="l"/>
              </a:tabLst>
            </a:pPr>
            <a:r>
              <a:rPr sz="2000" dirty="0">
                <a:latin typeface="Arial MT"/>
                <a:cs typeface="Arial MT"/>
              </a:rPr>
              <a:t>Klasifikasi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digunakan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untuk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memprediksi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label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kelas/kategori.</a:t>
            </a:r>
            <a:endParaRPr sz="2000">
              <a:latin typeface="Arial MT"/>
              <a:cs typeface="Arial MT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56235" algn="l"/>
              </a:tabLst>
            </a:pPr>
            <a:r>
              <a:rPr sz="2000" spc="-5" dirty="0">
                <a:latin typeface="Arial MT"/>
                <a:cs typeface="Arial MT"/>
              </a:rPr>
              <a:t>Metode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utama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untuk</a:t>
            </a:r>
            <a:r>
              <a:rPr sz="2000" dirty="0">
                <a:latin typeface="Arial MT"/>
                <a:cs typeface="Arial MT"/>
              </a:rPr>
              <a:t> melakukan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prediksi</a:t>
            </a:r>
            <a:r>
              <a:rPr sz="2000" dirty="0">
                <a:latin typeface="Arial MT"/>
                <a:cs typeface="Arial MT"/>
              </a:rPr>
              <a:t> :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Membangun</a:t>
            </a:r>
            <a:r>
              <a:rPr sz="2000" spc="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model </a:t>
            </a:r>
            <a:r>
              <a:rPr sz="2000" dirty="0">
                <a:latin typeface="Arial MT"/>
                <a:cs typeface="Arial MT"/>
              </a:rPr>
              <a:t> regresi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yaitu</a:t>
            </a:r>
            <a:r>
              <a:rPr sz="2000" dirty="0">
                <a:latin typeface="Arial MT"/>
                <a:cs typeface="Arial MT"/>
              </a:rPr>
              <a:t> dengan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mencari</a:t>
            </a:r>
            <a:r>
              <a:rPr sz="2000" dirty="0">
                <a:latin typeface="Arial MT"/>
                <a:cs typeface="Arial MT"/>
              </a:rPr>
              <a:t> hubungan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antara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satu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atau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lebih </a:t>
            </a:r>
            <a:r>
              <a:rPr sz="2000" dirty="0">
                <a:latin typeface="Arial MT"/>
                <a:cs typeface="Arial MT"/>
              </a:rPr>
              <a:t> variabel independen atau </a:t>
            </a:r>
            <a:r>
              <a:rPr sz="2000" spc="-5" dirty="0">
                <a:latin typeface="Arial MT"/>
                <a:cs typeface="Arial MT"/>
              </a:rPr>
              <a:t>prediktor </a:t>
            </a:r>
            <a:r>
              <a:rPr sz="2000" dirty="0">
                <a:latin typeface="Arial MT"/>
                <a:cs typeface="Arial MT"/>
              </a:rPr>
              <a:t>(X) dengan variabel </a:t>
            </a:r>
            <a:r>
              <a:rPr sz="2000" spc="-5" dirty="0">
                <a:latin typeface="Arial MT"/>
                <a:cs typeface="Arial MT"/>
              </a:rPr>
              <a:t>dependen </a:t>
            </a:r>
            <a:r>
              <a:rPr sz="2000" dirty="0">
                <a:latin typeface="Arial MT"/>
                <a:cs typeface="Arial MT"/>
              </a:rPr>
              <a:t> atau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(Y).</a:t>
            </a:r>
            <a:endParaRPr sz="2000">
              <a:latin typeface="Arial MT"/>
              <a:cs typeface="Arial MT"/>
            </a:endParaRPr>
          </a:p>
          <a:p>
            <a:pPr marL="355600" indent="-34353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56235" algn="l"/>
              </a:tabLst>
            </a:pPr>
            <a:r>
              <a:rPr sz="2000" dirty="0">
                <a:latin typeface="Arial MT"/>
                <a:cs typeface="Arial MT"/>
              </a:rPr>
              <a:t>Macam-Macam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Analisis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812800" algn="l"/>
                <a:tab pos="813435" algn="l"/>
              </a:tabLst>
            </a:pP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regression.</a:t>
            </a:r>
            <a:endParaRPr sz="2000">
              <a:latin typeface="Arial MT"/>
              <a:cs typeface="Arial MT"/>
            </a:endParaRPr>
          </a:p>
          <a:p>
            <a:pPr marL="812800" marR="1131570" lvl="1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812800" algn="l"/>
                <a:tab pos="813435" algn="l"/>
              </a:tabLst>
            </a:pPr>
            <a:r>
              <a:rPr sz="2000" dirty="0">
                <a:latin typeface="Arial MT"/>
                <a:cs typeface="Arial MT"/>
              </a:rPr>
              <a:t>Non-linear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(neural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vector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machines).</a:t>
            </a:r>
            <a:endParaRPr sz="200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812800" algn="l"/>
                <a:tab pos="813435" algn="l"/>
              </a:tabLst>
            </a:pP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generalized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Poisson</a:t>
            </a:r>
            <a:endParaRPr sz="2000">
              <a:latin typeface="Arial MT"/>
              <a:cs typeface="Arial MT"/>
            </a:endParaRPr>
          </a:p>
          <a:p>
            <a:pPr marL="8128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regression,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log-linear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Regresi</a:t>
            </a:r>
            <a:r>
              <a:rPr spc="-35" dirty="0"/>
              <a:t> </a:t>
            </a:r>
            <a:r>
              <a:rPr dirty="0"/>
              <a:t>Linier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94257"/>
            <a:ext cx="41529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Linier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Sederhana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40" y="2391613"/>
            <a:ext cx="8162290" cy="198056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93700" marR="55880" indent="-343535" algn="just">
              <a:lnSpc>
                <a:spcPts val="2400"/>
              </a:lnSpc>
              <a:spcBef>
                <a:spcPts val="185"/>
              </a:spcBef>
              <a:buChar char="•"/>
              <a:tabLst>
                <a:tab pos="394335" algn="l"/>
              </a:tabLst>
            </a:pPr>
            <a:r>
              <a:rPr sz="2000" dirty="0">
                <a:latin typeface="Arial MT"/>
                <a:cs typeface="Arial MT"/>
              </a:rPr>
              <a:t>Dimana y adalah </a:t>
            </a:r>
            <a:r>
              <a:rPr sz="2000" spc="-5" dirty="0">
                <a:latin typeface="Arial MT"/>
                <a:cs typeface="Arial MT"/>
              </a:rPr>
              <a:t>variabel respon </a:t>
            </a:r>
            <a:r>
              <a:rPr sz="2000" dirty="0">
                <a:latin typeface="Arial MT"/>
                <a:cs typeface="Arial MT"/>
              </a:rPr>
              <a:t>(dependent), </a:t>
            </a:r>
            <a:r>
              <a:rPr sz="2000" spc="-5" dirty="0">
                <a:latin typeface="Arial MT"/>
                <a:cs typeface="Arial MT"/>
              </a:rPr>
              <a:t>atau </a:t>
            </a:r>
            <a:r>
              <a:rPr sz="2000" dirty="0">
                <a:latin typeface="Arial MT"/>
                <a:cs typeface="Arial MT"/>
              </a:rPr>
              <a:t>variabel </a:t>
            </a:r>
            <a:r>
              <a:rPr sz="2000" spc="-5" dirty="0">
                <a:latin typeface="Arial MT"/>
                <a:cs typeface="Arial MT"/>
              </a:rPr>
              <a:t>yang </a:t>
            </a:r>
            <a:r>
              <a:rPr sz="2000" dirty="0">
                <a:latin typeface="Arial MT"/>
                <a:cs typeface="Arial MT"/>
              </a:rPr>
              <a:t> ingin kita prediksi, x adalah </a:t>
            </a:r>
            <a:r>
              <a:rPr sz="2000" spc="-5" dirty="0">
                <a:latin typeface="Arial MT"/>
                <a:cs typeface="Arial MT"/>
              </a:rPr>
              <a:t>variabel prediktor (independen) dan </a:t>
            </a:r>
            <a:r>
              <a:rPr sz="2100" spc="-45" dirty="0">
                <a:latin typeface="Symbol"/>
                <a:cs typeface="Symbol"/>
              </a:rPr>
              <a:t>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adalah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variabel</a:t>
            </a:r>
            <a:r>
              <a:rPr sz="2000" dirty="0">
                <a:latin typeface="Arial MT"/>
                <a:cs typeface="Arial MT"/>
              </a:rPr>
              <a:t> tingkat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kesalahan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yang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merupakan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satu-satunya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komponen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acak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dalam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regresi.</a:t>
            </a:r>
            <a:endParaRPr sz="2000">
              <a:latin typeface="Arial MT"/>
              <a:cs typeface="Arial MT"/>
            </a:endParaRPr>
          </a:p>
          <a:p>
            <a:pPr marL="393700" indent="-343535" algn="just">
              <a:lnSpc>
                <a:spcPct val="100000"/>
              </a:lnSpc>
              <a:spcBef>
                <a:spcPts val="400"/>
              </a:spcBef>
              <a:buChar char="•"/>
              <a:tabLst>
                <a:tab pos="394335" algn="l"/>
              </a:tabLst>
            </a:pPr>
            <a:r>
              <a:rPr sz="2000" dirty="0">
                <a:latin typeface="Arial MT"/>
                <a:cs typeface="Arial MT"/>
              </a:rPr>
              <a:t>Keterangan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508000">
              <a:lnSpc>
                <a:spcPct val="100000"/>
              </a:lnSpc>
              <a:spcBef>
                <a:spcPts val="380"/>
              </a:spcBef>
              <a:tabLst>
                <a:tab pos="794385" algn="l"/>
              </a:tabLst>
            </a:pPr>
            <a:r>
              <a:rPr sz="2000" spc="-800" dirty="0">
                <a:latin typeface="Symbol"/>
                <a:cs typeface="Symbol"/>
              </a:rPr>
              <a:t>□</a:t>
            </a:r>
            <a:r>
              <a:rPr sz="2000" spc="-8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Symbol"/>
                <a:cs typeface="Symbol"/>
              </a:rPr>
              <a:t></a:t>
            </a:r>
            <a:r>
              <a:rPr sz="1950" i="1" spc="-15" baseline="-21367" dirty="0">
                <a:latin typeface="Arial"/>
                <a:cs typeface="Arial"/>
              </a:rPr>
              <a:t>y|x</a:t>
            </a:r>
            <a:r>
              <a:rPr sz="1950" i="1" spc="179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adalah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mean</a:t>
            </a:r>
            <a:r>
              <a:rPr sz="2000" spc="28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dari</a:t>
            </a:r>
            <a:r>
              <a:rPr sz="2000" spc="2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dengan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syarat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yang</a:t>
            </a:r>
            <a:r>
              <a:rPr sz="2000" spc="2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telah</a:t>
            </a:r>
            <a:r>
              <a:rPr sz="2000" spc="2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ditentukan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1421" y="4391611"/>
            <a:ext cx="43497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150" spc="-15" baseline="13227" dirty="0">
                <a:latin typeface="Symbol"/>
                <a:cs typeface="Symbol"/>
              </a:rPr>
              <a:t></a:t>
            </a:r>
            <a:r>
              <a:rPr sz="1300" i="1" spc="-10" dirty="0">
                <a:latin typeface="Arial"/>
                <a:cs typeface="Arial"/>
              </a:rPr>
              <a:t>y|x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9905" y="4342891"/>
            <a:ext cx="73291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65175" algn="l"/>
                <a:tab pos="1391285" algn="l"/>
                <a:tab pos="1693545" algn="l"/>
                <a:tab pos="2419350" algn="l"/>
                <a:tab pos="3611245" algn="l"/>
                <a:tab pos="5841365" algn="l"/>
                <a:tab pos="6834505" algn="l"/>
              </a:tabLst>
            </a:pPr>
            <a:r>
              <a:rPr sz="2000" dirty="0">
                <a:latin typeface="Arial MT"/>
                <a:cs typeface="Arial MT"/>
              </a:rPr>
              <a:t>(a</a:t>
            </a:r>
            <a:r>
              <a:rPr sz="2000" spc="-20" dirty="0">
                <a:latin typeface="Arial MT"/>
                <a:cs typeface="Arial MT"/>
              </a:rPr>
              <a:t>t</a:t>
            </a:r>
            <a:r>
              <a:rPr sz="2000" dirty="0">
                <a:latin typeface="Arial MT"/>
                <a:cs typeface="Arial MT"/>
              </a:rPr>
              <a:t>au	nilai	x	telah	dike</a:t>
            </a:r>
            <a:r>
              <a:rPr sz="2000" spc="-20" dirty="0">
                <a:latin typeface="Arial MT"/>
                <a:cs typeface="Arial MT"/>
              </a:rPr>
              <a:t>t</a:t>
            </a:r>
            <a:r>
              <a:rPr sz="2000" dirty="0">
                <a:latin typeface="Arial MT"/>
                <a:cs typeface="Arial MT"/>
              </a:rPr>
              <a:t>ahui	s</a:t>
            </a:r>
            <a:r>
              <a:rPr sz="2000" spc="5" dirty="0">
                <a:latin typeface="Arial MT"/>
                <a:cs typeface="Arial MT"/>
              </a:rPr>
              <a:t>e</a:t>
            </a:r>
            <a:r>
              <a:rPr sz="2000" spc="-10" dirty="0">
                <a:latin typeface="Arial MT"/>
                <a:cs typeface="Arial MT"/>
              </a:rPr>
              <a:t>b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10" dirty="0">
                <a:latin typeface="Arial MT"/>
                <a:cs typeface="Arial MT"/>
              </a:rPr>
              <a:t>u</a:t>
            </a:r>
            <a:r>
              <a:rPr sz="2000" dirty="0">
                <a:latin typeface="Arial MT"/>
                <a:cs typeface="Arial MT"/>
              </a:rPr>
              <a:t>mny</a:t>
            </a:r>
            <a:r>
              <a:rPr sz="2000" spc="-20" dirty="0">
                <a:latin typeface="Arial MT"/>
                <a:cs typeface="Arial MT"/>
              </a:rPr>
              <a:t>a</a:t>
            </a:r>
            <a:r>
              <a:rPr sz="2000" spc="10" dirty="0">
                <a:latin typeface="Arial MT"/>
                <a:cs typeface="Arial MT"/>
              </a:rPr>
              <a:t>)</a:t>
            </a:r>
            <a:r>
              <a:rPr sz="2000" dirty="0">
                <a:latin typeface="Arial MT"/>
                <a:cs typeface="Arial MT"/>
              </a:rPr>
              <a:t>,	diseb</a:t>
            </a:r>
            <a:r>
              <a:rPr sz="2000" spc="-10" dirty="0">
                <a:latin typeface="Arial MT"/>
                <a:cs typeface="Arial MT"/>
              </a:rPr>
              <a:t>u</a:t>
            </a:r>
            <a:r>
              <a:rPr sz="2000" dirty="0">
                <a:latin typeface="Arial MT"/>
                <a:cs typeface="Arial MT"/>
              </a:rPr>
              <a:t>t	juga  sebagai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rata-rata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bersyarat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4956057"/>
            <a:ext cx="6783070" cy="7575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55"/>
              </a:spcBef>
              <a:buSzPct val="95238"/>
              <a:buChar char="□"/>
              <a:tabLst>
                <a:tab pos="299085" algn="l"/>
                <a:tab pos="299720" algn="l"/>
                <a:tab pos="586740" algn="l"/>
              </a:tabLst>
            </a:pPr>
            <a:r>
              <a:rPr sz="2100" spc="-65" dirty="0">
                <a:latin typeface="Symbol"/>
                <a:cs typeface="Symbol"/>
              </a:rPr>
              <a:t></a:t>
            </a:r>
            <a:r>
              <a:rPr sz="2100" spc="-65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Arial MT"/>
                <a:cs typeface="Arial MT"/>
              </a:rPr>
              <a:t>adalah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titik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potong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garis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pada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sumbu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koordinat.</a:t>
            </a:r>
            <a:endParaRPr sz="20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spcBef>
                <a:spcPts val="360"/>
              </a:spcBef>
              <a:buSzPct val="95238"/>
              <a:buChar char="□"/>
              <a:tabLst>
                <a:tab pos="299085" algn="l"/>
                <a:tab pos="299720" algn="l"/>
                <a:tab pos="577850" algn="l"/>
              </a:tabLst>
            </a:pPr>
            <a:r>
              <a:rPr sz="2100" spc="-55" dirty="0">
                <a:latin typeface="Symbol"/>
                <a:cs typeface="Symbol"/>
              </a:rPr>
              <a:t></a:t>
            </a:r>
            <a:r>
              <a:rPr sz="2100" spc="-55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Arial MT"/>
                <a:cs typeface="Arial MT"/>
              </a:rPr>
              <a:t>adalah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besarnya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gradien/kemiringan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garis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5132" y="1796033"/>
            <a:ext cx="520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Arial"/>
                <a:cs typeface="Arial"/>
              </a:rPr>
              <a:t>atau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0567" y="1782269"/>
            <a:ext cx="438531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52120" algn="l"/>
                <a:tab pos="1376680" algn="l"/>
                <a:tab pos="1664335" algn="l"/>
                <a:tab pos="3189605" algn="l"/>
              </a:tabLst>
            </a:pPr>
            <a:r>
              <a:rPr sz="2000" i="1" dirty="0">
                <a:latin typeface="Arial"/>
                <a:cs typeface="Arial"/>
              </a:rPr>
              <a:t>y=	</a:t>
            </a:r>
            <a:r>
              <a:rPr sz="2100" spc="-65" dirty="0">
                <a:latin typeface="Symbol"/>
                <a:cs typeface="Symbol"/>
              </a:rPr>
              <a:t>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+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100" spc="-55" dirty="0">
                <a:latin typeface="Symbol"/>
                <a:cs typeface="Symbol"/>
              </a:rPr>
              <a:t>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x	+	</a:t>
            </a:r>
            <a:r>
              <a:rPr sz="2100" spc="-45" dirty="0">
                <a:latin typeface="Symbol"/>
                <a:cs typeface="Symbol"/>
              </a:rPr>
              <a:t></a:t>
            </a:r>
            <a:r>
              <a:rPr sz="2100" spc="-45" dirty="0">
                <a:latin typeface="Times New Roman"/>
                <a:cs typeface="Times New Roman"/>
              </a:rPr>
              <a:t>	</a:t>
            </a:r>
            <a:r>
              <a:rPr sz="2100" spc="-20" dirty="0">
                <a:latin typeface="Symbol"/>
                <a:cs typeface="Symbol"/>
              </a:rPr>
              <a:t></a:t>
            </a:r>
            <a:r>
              <a:rPr sz="1950" i="1" spc="-30" baseline="-21367" dirty="0">
                <a:latin typeface="Arial"/>
                <a:cs typeface="Arial"/>
              </a:rPr>
              <a:t>y|x</a:t>
            </a:r>
            <a:r>
              <a:rPr sz="2000" i="1" spc="-20" dirty="0">
                <a:latin typeface="Arial"/>
                <a:cs typeface="Arial"/>
              </a:rPr>
              <a:t>=</a:t>
            </a:r>
            <a:r>
              <a:rPr sz="2100" spc="-20" dirty="0">
                <a:latin typeface="Symbol"/>
                <a:cs typeface="Symbol"/>
              </a:rPr>
              <a:t></a:t>
            </a:r>
            <a:r>
              <a:rPr sz="2000" i="1" spc="-20" dirty="0">
                <a:latin typeface="Arial"/>
                <a:cs typeface="Arial"/>
              </a:rPr>
              <a:t>+</a:t>
            </a:r>
            <a:r>
              <a:rPr sz="2100" spc="-20" dirty="0">
                <a:latin typeface="Symbol"/>
                <a:cs typeface="Symbol"/>
              </a:rPr>
              <a:t>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Regresi</a:t>
            </a:r>
            <a:r>
              <a:rPr spc="-35" dirty="0"/>
              <a:t> </a:t>
            </a:r>
            <a:r>
              <a:rPr dirty="0"/>
              <a:t>Linier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5140" y="1210219"/>
            <a:ext cx="8200390" cy="51625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06400" indent="-343535">
              <a:lnSpc>
                <a:spcPct val="100000"/>
              </a:lnSpc>
              <a:spcBef>
                <a:spcPts val="765"/>
              </a:spcBef>
              <a:buChar char="•"/>
              <a:tabLst>
                <a:tab pos="406400" algn="l"/>
                <a:tab pos="407034" algn="l"/>
              </a:tabLst>
            </a:pP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Umum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Linier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527685">
              <a:lnSpc>
                <a:spcPct val="100000"/>
              </a:lnSpc>
              <a:spcBef>
                <a:spcPts val="1030"/>
              </a:spcBef>
            </a:pPr>
            <a:r>
              <a:rPr sz="2800" i="1" spc="235" dirty="0">
                <a:latin typeface="Times New Roman"/>
                <a:cs typeface="Times New Roman"/>
              </a:rPr>
              <a:t>Y</a:t>
            </a:r>
            <a:r>
              <a:rPr sz="2800" i="1" spc="22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Symbol"/>
                <a:cs typeface="Symbol"/>
              </a:rPr>
              <a:t></a:t>
            </a:r>
            <a:r>
              <a:rPr sz="2800" spc="-220" dirty="0">
                <a:latin typeface="Times New Roman"/>
                <a:cs typeface="Times New Roman"/>
              </a:rPr>
              <a:t> </a:t>
            </a:r>
            <a:r>
              <a:rPr sz="2800" i="1" spc="-35" dirty="0">
                <a:latin typeface="Times New Roman"/>
                <a:cs typeface="Times New Roman"/>
              </a:rPr>
              <a:t>b</a:t>
            </a:r>
            <a:r>
              <a:rPr sz="2475" spc="165" baseline="-23569" dirty="0">
                <a:latin typeface="Times New Roman"/>
                <a:cs typeface="Times New Roman"/>
              </a:rPr>
              <a:t>0</a:t>
            </a:r>
            <a:r>
              <a:rPr sz="2475" baseline="-23569" dirty="0">
                <a:latin typeface="Times New Roman"/>
                <a:cs typeface="Times New Roman"/>
              </a:rPr>
              <a:t> </a:t>
            </a:r>
            <a:r>
              <a:rPr sz="2475" spc="-127" baseline="-23569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Symbol"/>
                <a:cs typeface="Symbol"/>
              </a:rPr>
              <a:t></a:t>
            </a:r>
            <a:r>
              <a:rPr sz="2800" spc="-360" dirty="0">
                <a:latin typeface="Times New Roman"/>
                <a:cs typeface="Times New Roman"/>
              </a:rPr>
              <a:t> </a:t>
            </a:r>
            <a:r>
              <a:rPr sz="2800" i="1" spc="-200" dirty="0">
                <a:latin typeface="Times New Roman"/>
                <a:cs typeface="Times New Roman"/>
              </a:rPr>
              <a:t>b</a:t>
            </a:r>
            <a:r>
              <a:rPr sz="2475" spc="165" baseline="-23569" dirty="0">
                <a:latin typeface="Times New Roman"/>
                <a:cs typeface="Times New Roman"/>
              </a:rPr>
              <a:t>1</a:t>
            </a:r>
            <a:r>
              <a:rPr sz="2475" spc="-345" baseline="-23569" dirty="0">
                <a:latin typeface="Times New Roman"/>
                <a:cs typeface="Times New Roman"/>
              </a:rPr>
              <a:t> </a:t>
            </a:r>
            <a:r>
              <a:rPr sz="2800" i="1" spc="254" dirty="0">
                <a:latin typeface="Times New Roman"/>
                <a:cs typeface="Times New Roman"/>
              </a:rPr>
              <a:t>X</a:t>
            </a:r>
            <a:r>
              <a:rPr sz="2800" i="1" spc="14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Symbol"/>
                <a:cs typeface="Symbol"/>
              </a:rPr>
              <a:t></a:t>
            </a:r>
            <a:r>
              <a:rPr sz="2800" spc="-405" dirty="0">
                <a:latin typeface="Times New Roman"/>
                <a:cs typeface="Times New Roman"/>
              </a:rPr>
              <a:t> </a:t>
            </a:r>
            <a:r>
              <a:rPr sz="3000" spc="95" dirty="0">
                <a:latin typeface="Symbol"/>
                <a:cs typeface="Symbol"/>
              </a:rPr>
              <a:t></a:t>
            </a:r>
            <a:endParaRPr sz="3000">
              <a:latin typeface="Symbol"/>
              <a:cs typeface="Symbol"/>
            </a:endParaRPr>
          </a:p>
          <a:p>
            <a:pPr marL="406400" indent="-343535">
              <a:lnSpc>
                <a:spcPct val="100000"/>
              </a:lnSpc>
              <a:spcBef>
                <a:spcPts val="1610"/>
              </a:spcBef>
              <a:buChar char="•"/>
              <a:tabLst>
                <a:tab pos="406400" algn="l"/>
                <a:tab pos="407034" algn="l"/>
              </a:tabLst>
            </a:pPr>
            <a:r>
              <a:rPr sz="2000" dirty="0">
                <a:latin typeface="Arial MT"/>
                <a:cs typeface="Arial MT"/>
              </a:rPr>
              <a:t>Keterangan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807085" marR="81280" lvl="1" indent="-287020">
              <a:lnSpc>
                <a:spcPct val="100000"/>
              </a:lnSpc>
              <a:spcBef>
                <a:spcPts val="470"/>
              </a:spcBef>
              <a:buFont typeface="Times New Roman"/>
              <a:buChar char="–"/>
              <a:tabLst>
                <a:tab pos="807085" algn="l"/>
                <a:tab pos="807720" algn="l"/>
                <a:tab pos="1179195" algn="l"/>
                <a:tab pos="1706245" algn="l"/>
                <a:tab pos="2858770" algn="l"/>
                <a:tab pos="4032250" algn="l"/>
                <a:tab pos="4687570" algn="l"/>
                <a:tab pos="5326380" algn="l"/>
                <a:tab pos="6558280" algn="l"/>
                <a:tab pos="7533640" algn="l"/>
              </a:tabLst>
            </a:pPr>
            <a:r>
              <a:rPr sz="2000" i="1" spc="5" dirty="0">
                <a:latin typeface="Times New Roman"/>
                <a:cs typeface="Times New Roman"/>
              </a:rPr>
              <a:t>b</a:t>
            </a:r>
            <a:r>
              <a:rPr sz="1950" spc="22" baseline="-21367" dirty="0">
                <a:latin typeface="Times New Roman"/>
                <a:cs typeface="Times New Roman"/>
              </a:rPr>
              <a:t>0</a:t>
            </a:r>
            <a:r>
              <a:rPr sz="1950" baseline="-21367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	</a:t>
            </a:r>
            <a:r>
              <a:rPr sz="2000" i="1" spc="-10" dirty="0">
                <a:latin typeface="Times New Roman"/>
                <a:cs typeface="Times New Roman"/>
              </a:rPr>
              <a:t>b</a:t>
            </a:r>
            <a:r>
              <a:rPr sz="1950" spc="22" baseline="-21367" dirty="0">
                <a:latin typeface="Times New Roman"/>
                <a:cs typeface="Times New Roman"/>
              </a:rPr>
              <a:t>1</a:t>
            </a:r>
            <a:r>
              <a:rPr sz="1950" baseline="-21367" dirty="0">
                <a:latin typeface="Times New Roman"/>
                <a:cs typeface="Times New Roman"/>
              </a:rPr>
              <a:t>  </a:t>
            </a:r>
            <a:r>
              <a:rPr sz="1950" spc="-67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ah	p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ra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er	y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ng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k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	dit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10" dirty="0">
                <a:latin typeface="Times New Roman"/>
                <a:cs typeface="Times New Roman"/>
              </a:rPr>
              <a:t>k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	n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nya	un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uk  </a:t>
            </a:r>
            <a:r>
              <a:rPr sz="2000" spc="-5" dirty="0">
                <a:latin typeface="Times New Roman"/>
                <a:cs typeface="Times New Roman"/>
              </a:rPr>
              <a:t>membangun persamaan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regresi.</a:t>
            </a:r>
            <a:endParaRPr sz="2000">
              <a:latin typeface="Times New Roman"/>
              <a:cs typeface="Times New Roman"/>
            </a:endParaRPr>
          </a:p>
          <a:p>
            <a:pPr marL="8070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807085" algn="l"/>
                <a:tab pos="807720" algn="l"/>
              </a:tabLst>
            </a:pP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5" dirty="0">
                <a:latin typeface="Times New Roman"/>
                <a:cs typeface="Times New Roman"/>
              </a:rPr>
              <a:t> telah</a:t>
            </a:r>
            <a:r>
              <a:rPr sz="2000" dirty="0">
                <a:latin typeface="Times New Roman"/>
                <a:cs typeface="Times New Roman"/>
              </a:rPr>
              <a:t> diketahui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sebelumnya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bernilai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konstan.</a:t>
            </a:r>
            <a:endParaRPr sz="2000">
              <a:latin typeface="Times New Roman"/>
              <a:cs typeface="Times New Roman"/>
            </a:endParaRPr>
          </a:p>
          <a:p>
            <a:pPr marL="807085" marR="80645" lvl="1" indent="-287020">
              <a:lnSpc>
                <a:spcPct val="100000"/>
              </a:lnSpc>
              <a:spcBef>
                <a:spcPts val="495"/>
              </a:spcBef>
              <a:buChar char="–"/>
              <a:tabLst>
                <a:tab pos="807085" algn="l"/>
                <a:tab pos="807720" algn="l"/>
                <a:tab pos="3286760" algn="l"/>
              </a:tabLst>
            </a:pPr>
            <a:r>
              <a:rPr sz="2000" spc="-5" dirty="0">
                <a:latin typeface="Times New Roman"/>
                <a:cs typeface="Times New Roman"/>
              </a:rPr>
              <a:t>Deviasi/Penyimpangan	nilai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bersifat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independent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berdistribusi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Normal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dirty="0">
                <a:latin typeface="Times New Roman"/>
                <a:cs typeface="Times New Roman"/>
              </a:rPr>
              <a:t> ~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N(0,</a:t>
            </a:r>
            <a:r>
              <a:rPr sz="2000" dirty="0">
                <a:latin typeface="Symbol"/>
                <a:cs typeface="Symbol"/>
              </a:rPr>
              <a:t></a:t>
            </a:r>
            <a:r>
              <a:rPr sz="1950" baseline="25641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 marL="807085" lvl="1" indent="-287020">
              <a:lnSpc>
                <a:spcPct val="100000"/>
              </a:lnSpc>
              <a:spcBef>
                <a:spcPts val="465"/>
              </a:spcBef>
              <a:buChar char="–"/>
              <a:tabLst>
                <a:tab pos="807085" algn="l"/>
                <a:tab pos="807720" algn="l"/>
              </a:tabLst>
            </a:pPr>
            <a:r>
              <a:rPr sz="2000" spc="-5" dirty="0">
                <a:latin typeface="Times New Roman"/>
                <a:cs typeface="Times New Roman"/>
              </a:rPr>
              <a:t>Nilai-nilai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parameter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regresi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</a:t>
            </a:r>
            <a:r>
              <a:rPr sz="1950" baseline="-21367" dirty="0">
                <a:latin typeface="Times New Roman"/>
                <a:cs typeface="Times New Roman"/>
              </a:rPr>
              <a:t>0</a:t>
            </a:r>
            <a:r>
              <a:rPr sz="1950" spc="375" baseline="-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i="1" spc="10" dirty="0">
                <a:latin typeface="Times New Roman"/>
                <a:cs typeface="Times New Roman"/>
              </a:rPr>
              <a:t>b</a:t>
            </a:r>
            <a:r>
              <a:rPr sz="1950" spc="15" baseline="-21367" dirty="0">
                <a:latin typeface="Times New Roman"/>
                <a:cs typeface="Times New Roman"/>
              </a:rPr>
              <a:t>1</a:t>
            </a:r>
            <a:r>
              <a:rPr sz="1950" spc="30" baseline="-21367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tidak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diketahui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sebelumnya.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Kita</a:t>
            </a:r>
            <a:endParaRPr sz="2000">
              <a:latin typeface="Times New Roman"/>
              <a:cs typeface="Times New Roman"/>
            </a:endParaRPr>
          </a:p>
          <a:p>
            <a:pPr marL="8070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perkirakan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nilai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mereka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dengan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menghitung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dari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yang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ada.</a:t>
            </a:r>
            <a:endParaRPr sz="2000">
              <a:latin typeface="Times New Roman"/>
              <a:cs typeface="Times New Roman"/>
            </a:endParaRPr>
          </a:p>
          <a:p>
            <a:pPr marL="807085" lvl="1" indent="-287020">
              <a:lnSpc>
                <a:spcPct val="100000"/>
              </a:lnSpc>
              <a:spcBef>
                <a:spcPts val="480"/>
              </a:spcBef>
              <a:buFont typeface="Times New Roman"/>
              <a:buChar char="–"/>
              <a:tabLst>
                <a:tab pos="807085" algn="l"/>
                <a:tab pos="807720" algn="l"/>
              </a:tabLst>
            </a:pPr>
            <a:r>
              <a:rPr sz="2000" i="1" spc="10" dirty="0">
                <a:latin typeface="Times New Roman"/>
                <a:cs typeface="Times New Roman"/>
              </a:rPr>
              <a:t>b</a:t>
            </a:r>
            <a:r>
              <a:rPr sz="1950" spc="15" baseline="-21367" dirty="0">
                <a:latin typeface="Times New Roman"/>
                <a:cs typeface="Times New Roman"/>
              </a:rPr>
              <a:t>1</a:t>
            </a:r>
            <a:r>
              <a:rPr sz="1950" spc="7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menunjukkan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tingkat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perubahan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untuk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setiap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kenaikan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nilai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X.</a:t>
            </a:r>
            <a:endParaRPr sz="2000">
              <a:latin typeface="Times New Roman"/>
              <a:cs typeface="Times New Roman"/>
            </a:endParaRPr>
          </a:p>
          <a:p>
            <a:pPr marL="406400" indent="-343535">
              <a:lnSpc>
                <a:spcPct val="100000"/>
              </a:lnSpc>
              <a:spcBef>
                <a:spcPts val="560"/>
              </a:spcBef>
              <a:buChar char="•"/>
              <a:tabLst>
                <a:tab pos="406400" algn="l"/>
                <a:tab pos="407034" algn="l"/>
              </a:tabLst>
            </a:pPr>
            <a:r>
              <a:rPr sz="2400" spc="-5" dirty="0">
                <a:latin typeface="Times New Roman"/>
                <a:cs typeface="Times New Roman"/>
              </a:rPr>
              <a:t>Hasil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Estimasi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Persamaan</a:t>
            </a:r>
            <a:r>
              <a:rPr sz="2400" dirty="0">
                <a:latin typeface="Times New Roman"/>
                <a:cs typeface="Times New Roman"/>
              </a:rPr>
              <a:t> Regresi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405"/>
              </a:spcBef>
            </a:pPr>
            <a:r>
              <a:rPr sz="2750" i="1" spc="-1030" dirty="0">
                <a:latin typeface="Times New Roman"/>
                <a:cs typeface="Times New Roman"/>
              </a:rPr>
              <a:t>y</a:t>
            </a:r>
            <a:r>
              <a:rPr sz="4125" spc="37" baseline="3030" dirty="0">
                <a:latin typeface="Times New Roman"/>
                <a:cs typeface="Times New Roman"/>
              </a:rPr>
              <a:t>ˆ</a:t>
            </a:r>
            <a:r>
              <a:rPr sz="4125" spc="67" baseline="3030" dirty="0">
                <a:latin typeface="Times New Roman"/>
                <a:cs typeface="Times New Roman"/>
              </a:rPr>
              <a:t> </a:t>
            </a:r>
            <a:r>
              <a:rPr sz="2750" spc="40" dirty="0">
                <a:latin typeface="Symbol"/>
                <a:cs typeface="Symbol"/>
              </a:rPr>
              <a:t></a:t>
            </a:r>
            <a:r>
              <a:rPr sz="2750" spc="-245" dirty="0">
                <a:latin typeface="Times New Roman"/>
                <a:cs typeface="Times New Roman"/>
              </a:rPr>
              <a:t> </a:t>
            </a:r>
            <a:r>
              <a:rPr sz="2750" i="1" spc="-170" dirty="0">
                <a:latin typeface="Times New Roman"/>
                <a:cs typeface="Times New Roman"/>
              </a:rPr>
              <a:t>b</a:t>
            </a:r>
            <a:r>
              <a:rPr sz="2400" spc="30" baseline="-22569" dirty="0">
                <a:latin typeface="Times New Roman"/>
                <a:cs typeface="Times New Roman"/>
              </a:rPr>
              <a:t>0</a:t>
            </a:r>
            <a:r>
              <a:rPr sz="2400" baseline="-22569" dirty="0">
                <a:latin typeface="Times New Roman"/>
                <a:cs typeface="Times New Roman"/>
              </a:rPr>
              <a:t> </a:t>
            </a:r>
            <a:r>
              <a:rPr sz="2400" spc="-209" baseline="-22569" dirty="0">
                <a:latin typeface="Times New Roman"/>
                <a:cs typeface="Times New Roman"/>
              </a:rPr>
              <a:t> </a:t>
            </a:r>
            <a:r>
              <a:rPr sz="2750" spc="40" dirty="0">
                <a:latin typeface="Symbol"/>
                <a:cs typeface="Symbol"/>
              </a:rPr>
              <a:t></a:t>
            </a:r>
            <a:r>
              <a:rPr sz="2750" spc="-375" dirty="0">
                <a:latin typeface="Times New Roman"/>
                <a:cs typeface="Times New Roman"/>
              </a:rPr>
              <a:t> </a:t>
            </a:r>
            <a:r>
              <a:rPr sz="2750" i="1" spc="-315" dirty="0">
                <a:latin typeface="Times New Roman"/>
                <a:cs typeface="Times New Roman"/>
              </a:rPr>
              <a:t>b</a:t>
            </a:r>
            <a:r>
              <a:rPr sz="2400" spc="157" baseline="-22569" dirty="0">
                <a:latin typeface="Times New Roman"/>
                <a:cs typeface="Times New Roman"/>
              </a:rPr>
              <a:t>1</a:t>
            </a:r>
            <a:r>
              <a:rPr sz="2750" i="1" spc="35" dirty="0">
                <a:latin typeface="Times New Roman"/>
                <a:cs typeface="Times New Roman"/>
              </a:rPr>
              <a:t>x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Regresi</a:t>
            </a:r>
            <a:r>
              <a:rPr spc="-35" dirty="0"/>
              <a:t> </a:t>
            </a:r>
            <a:r>
              <a:rPr dirty="0"/>
              <a:t>Linier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7840" y="3486404"/>
            <a:ext cx="816102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8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5" dirty="0">
                <a:latin typeface="Times New Roman"/>
                <a:cs typeface="Times New Roman"/>
              </a:rPr>
              <a:t>Metode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least</a:t>
            </a:r>
            <a:r>
              <a:rPr sz="2400" i="1" spc="29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squares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kuadrat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terkecil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memberikan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kita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hasil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estimasi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"terbaik"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untuk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pada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sampel.</a:t>
            </a:r>
            <a:endParaRPr sz="2400">
              <a:latin typeface="Times New Roman"/>
              <a:cs typeface="Times New Roman"/>
            </a:endParaRPr>
          </a:p>
          <a:p>
            <a:pPr marL="393700" marR="56515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5" dirty="0">
                <a:latin typeface="Times New Roman"/>
                <a:cs typeface="Times New Roman"/>
              </a:rPr>
              <a:t>Metode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least</a:t>
            </a:r>
            <a:r>
              <a:rPr sz="2400" i="1" spc="29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squares</a:t>
            </a:r>
            <a:r>
              <a:rPr sz="2400" i="1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kuadrat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terkecil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memilih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nilai-nilai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spc="-7" baseline="-20833" dirty="0">
                <a:latin typeface="Times New Roman"/>
                <a:cs typeface="Times New Roman"/>
              </a:rPr>
              <a:t>0 </a:t>
            </a:r>
            <a:r>
              <a:rPr sz="2400" spc="-57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</a:t>
            </a:r>
            <a:r>
              <a:rPr sz="2400" spc="-5" dirty="0">
                <a:latin typeface="Times New Roman"/>
                <a:cs typeface="Times New Roman"/>
              </a:rPr>
              <a:t> b</a:t>
            </a:r>
            <a:r>
              <a:rPr sz="2400" spc="-7" baseline="-20833" dirty="0">
                <a:latin typeface="Times New Roman"/>
                <a:cs typeface="Times New Roman"/>
              </a:rPr>
              <a:t>1</a:t>
            </a:r>
            <a:r>
              <a:rPr sz="2400" spc="284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untuk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meminimalkan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sum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of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squared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errors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(SSE).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240" y="1208147"/>
            <a:ext cx="5553075" cy="135255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68300" indent="-343535">
              <a:lnSpc>
                <a:spcPct val="100000"/>
              </a:lnSpc>
              <a:spcBef>
                <a:spcPts val="755"/>
              </a:spcBef>
              <a:buChar char="•"/>
              <a:tabLst>
                <a:tab pos="368300" algn="l"/>
                <a:tab pos="368935" algn="l"/>
              </a:tabLst>
            </a:pPr>
            <a:r>
              <a:rPr sz="2400" spc="-5" dirty="0">
                <a:latin typeface="Times New Roman"/>
                <a:cs typeface="Times New Roman"/>
              </a:rPr>
              <a:t>Estimasi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Persamaan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Umum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Regresi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59105">
              <a:lnSpc>
                <a:spcPts val="3295"/>
              </a:lnSpc>
              <a:spcBef>
                <a:spcPts val="740"/>
              </a:spcBef>
            </a:pPr>
            <a:r>
              <a:rPr sz="2750" i="1" spc="-1030" dirty="0">
                <a:latin typeface="Times New Roman"/>
                <a:cs typeface="Times New Roman"/>
              </a:rPr>
              <a:t>y</a:t>
            </a:r>
            <a:r>
              <a:rPr sz="4125" spc="37" baseline="3030" dirty="0">
                <a:latin typeface="Times New Roman"/>
                <a:cs typeface="Times New Roman"/>
              </a:rPr>
              <a:t>ˆ</a:t>
            </a:r>
            <a:r>
              <a:rPr sz="4125" spc="67" baseline="3030" dirty="0">
                <a:latin typeface="Times New Roman"/>
                <a:cs typeface="Times New Roman"/>
              </a:rPr>
              <a:t> </a:t>
            </a:r>
            <a:r>
              <a:rPr sz="2750" spc="40" dirty="0">
                <a:latin typeface="Symbol"/>
                <a:cs typeface="Symbol"/>
              </a:rPr>
              <a:t></a:t>
            </a:r>
            <a:r>
              <a:rPr sz="2750" spc="-245" dirty="0">
                <a:latin typeface="Times New Roman"/>
                <a:cs typeface="Times New Roman"/>
              </a:rPr>
              <a:t> </a:t>
            </a:r>
            <a:r>
              <a:rPr sz="2750" i="1" spc="-170" dirty="0">
                <a:latin typeface="Times New Roman"/>
                <a:cs typeface="Times New Roman"/>
              </a:rPr>
              <a:t>b</a:t>
            </a:r>
            <a:r>
              <a:rPr sz="2400" spc="30" baseline="-22569" dirty="0">
                <a:latin typeface="Times New Roman"/>
                <a:cs typeface="Times New Roman"/>
              </a:rPr>
              <a:t>0</a:t>
            </a:r>
            <a:r>
              <a:rPr sz="2400" baseline="-22569" dirty="0">
                <a:latin typeface="Times New Roman"/>
                <a:cs typeface="Times New Roman"/>
              </a:rPr>
              <a:t> </a:t>
            </a:r>
            <a:r>
              <a:rPr sz="2400" spc="-209" baseline="-22569" dirty="0">
                <a:latin typeface="Times New Roman"/>
                <a:cs typeface="Times New Roman"/>
              </a:rPr>
              <a:t> </a:t>
            </a:r>
            <a:r>
              <a:rPr sz="2750" spc="40" dirty="0">
                <a:latin typeface="Symbol"/>
                <a:cs typeface="Symbol"/>
              </a:rPr>
              <a:t></a:t>
            </a:r>
            <a:r>
              <a:rPr sz="2750" spc="-375" dirty="0">
                <a:latin typeface="Times New Roman"/>
                <a:cs typeface="Times New Roman"/>
              </a:rPr>
              <a:t> </a:t>
            </a:r>
            <a:r>
              <a:rPr sz="2750" i="1" spc="-315" dirty="0">
                <a:latin typeface="Times New Roman"/>
                <a:cs typeface="Times New Roman"/>
              </a:rPr>
              <a:t>b</a:t>
            </a:r>
            <a:r>
              <a:rPr sz="2400" spc="157" baseline="-22569" dirty="0">
                <a:latin typeface="Times New Roman"/>
                <a:cs typeface="Times New Roman"/>
              </a:rPr>
              <a:t>1</a:t>
            </a:r>
            <a:r>
              <a:rPr sz="2750" i="1" spc="35" dirty="0">
                <a:latin typeface="Times New Roman"/>
                <a:cs typeface="Times New Roman"/>
              </a:rPr>
              <a:t>x</a:t>
            </a:r>
            <a:endParaRPr sz="2750">
              <a:latin typeface="Times New Roman"/>
              <a:cs typeface="Times New Roman"/>
            </a:endParaRPr>
          </a:p>
          <a:p>
            <a:pPr marL="368300" indent="-343535">
              <a:lnSpc>
                <a:spcPts val="2875"/>
              </a:lnSpc>
              <a:buChar char="•"/>
              <a:tabLst>
                <a:tab pos="368300" algn="l"/>
                <a:tab pos="368935" algn="l"/>
              </a:tabLst>
            </a:pPr>
            <a:r>
              <a:rPr sz="2400" dirty="0">
                <a:latin typeface="Times New Roman"/>
                <a:cs typeface="Times New Roman"/>
              </a:rPr>
              <a:t>Menghitung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sum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of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squared </a:t>
            </a:r>
            <a:r>
              <a:rPr sz="2400" i="1" dirty="0">
                <a:latin typeface="Times New Roman"/>
                <a:cs typeface="Times New Roman"/>
              </a:rPr>
              <a:t>errors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(SSE):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8320" y="2629256"/>
            <a:ext cx="10223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2108" y="2832586"/>
            <a:ext cx="10223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92640" y="2825584"/>
            <a:ext cx="11303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15" dirty="0">
                <a:latin typeface="Times New Roman"/>
                <a:cs typeface="Times New Roman"/>
              </a:rPr>
              <a:t>ˆ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4763" y="2763469"/>
            <a:ext cx="17595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5580" algn="l"/>
              </a:tabLst>
            </a:pPr>
            <a:r>
              <a:rPr sz="3200" spc="-70" dirty="0">
                <a:latin typeface="Symbol"/>
                <a:cs typeface="Symbol"/>
              </a:rPr>
              <a:t></a:t>
            </a:r>
            <a:r>
              <a:rPr sz="3200" spc="-70" dirty="0">
                <a:latin typeface="Times New Roman"/>
                <a:cs typeface="Times New Roman"/>
              </a:rPr>
              <a:t>	</a:t>
            </a:r>
            <a:r>
              <a:rPr sz="3200" spc="-70" dirty="0">
                <a:latin typeface="Symbol"/>
                <a:cs typeface="Symbol"/>
              </a:rPr>
              <a:t>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3187" y="2682222"/>
            <a:ext cx="155575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65580" algn="l"/>
              </a:tabLst>
            </a:pPr>
            <a:r>
              <a:rPr sz="1250" i="1" spc="-25" dirty="0">
                <a:latin typeface="Times New Roman"/>
                <a:cs typeface="Times New Roman"/>
              </a:rPr>
              <a:t>n	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54775" y="3203781"/>
            <a:ext cx="168275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65580" algn="l"/>
              </a:tabLst>
            </a:pPr>
            <a:r>
              <a:rPr sz="1250" i="1" spc="65" dirty="0">
                <a:latin typeface="Times New Roman"/>
                <a:cs typeface="Times New Roman"/>
              </a:rPr>
              <a:t>i</a:t>
            </a:r>
            <a:r>
              <a:rPr sz="1250" spc="-105" dirty="0">
                <a:latin typeface="Symbol"/>
                <a:cs typeface="Symbol"/>
              </a:rPr>
              <a:t></a:t>
            </a:r>
            <a:r>
              <a:rPr sz="1250" spc="-25" dirty="0">
                <a:latin typeface="Times New Roman"/>
                <a:cs typeface="Times New Roman"/>
              </a:rPr>
              <a:t>1</a:t>
            </a:r>
            <a:r>
              <a:rPr sz="1250" dirty="0">
                <a:latin typeface="Times New Roman"/>
                <a:cs typeface="Times New Roman"/>
              </a:rPr>
              <a:t>	</a:t>
            </a:r>
            <a:r>
              <a:rPr sz="1250" i="1" spc="65" dirty="0">
                <a:latin typeface="Times New Roman"/>
                <a:cs typeface="Times New Roman"/>
              </a:rPr>
              <a:t>i</a:t>
            </a:r>
            <a:r>
              <a:rPr sz="1250" spc="-105" dirty="0">
                <a:latin typeface="Symbol"/>
                <a:cs typeface="Symbol"/>
              </a:rPr>
              <a:t></a:t>
            </a:r>
            <a:r>
              <a:rPr sz="1250" spc="-25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8426" y="3016870"/>
            <a:ext cx="186880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56995" algn="l"/>
                <a:tab pos="1779270" algn="l"/>
              </a:tabLst>
            </a:pPr>
            <a:r>
              <a:rPr sz="1250" i="1" spc="-15" dirty="0">
                <a:latin typeface="Times New Roman"/>
                <a:cs typeface="Times New Roman"/>
              </a:rPr>
              <a:t>i	</a:t>
            </a:r>
            <a:r>
              <a:rPr sz="1250" spc="-25" dirty="0">
                <a:latin typeface="Times New Roman"/>
                <a:cs typeface="Times New Roman"/>
              </a:rPr>
              <a:t>0	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0019" y="3016870"/>
            <a:ext cx="6794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i="1" spc="-15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18968" y="2751423"/>
            <a:ext cx="276479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014730" algn="l"/>
                <a:tab pos="1464945" algn="l"/>
                <a:tab pos="2169795" algn="l"/>
              </a:tabLst>
            </a:pPr>
            <a:r>
              <a:rPr sz="2100" spc="-15" dirty="0">
                <a:latin typeface="Times New Roman"/>
                <a:cs typeface="Times New Roman"/>
              </a:rPr>
              <a:t>(</a:t>
            </a:r>
            <a:r>
              <a:rPr sz="2100" spc="-300" dirty="0">
                <a:latin typeface="Times New Roman"/>
                <a:cs typeface="Times New Roman"/>
              </a:rPr>
              <a:t> </a:t>
            </a:r>
            <a:r>
              <a:rPr sz="2100" i="1" spc="-15" dirty="0">
                <a:latin typeface="Times New Roman"/>
                <a:cs typeface="Times New Roman"/>
              </a:rPr>
              <a:t>y</a:t>
            </a:r>
            <a:r>
              <a:rPr sz="2100" i="1" dirty="0">
                <a:latin typeface="Times New Roman"/>
                <a:cs typeface="Times New Roman"/>
              </a:rPr>
              <a:t> </a:t>
            </a:r>
            <a:r>
              <a:rPr sz="2100" i="1" spc="-16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Symbol"/>
                <a:cs typeface="Symbol"/>
              </a:rPr>
              <a:t>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i="1" spc="-15" dirty="0">
                <a:latin typeface="Times New Roman"/>
                <a:cs typeface="Times New Roman"/>
              </a:rPr>
              <a:t>y</a:t>
            </a:r>
            <a:r>
              <a:rPr sz="2100" i="1" spc="50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Times New Roman"/>
                <a:cs typeface="Times New Roman"/>
              </a:rPr>
              <a:t>)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0" dirty="0">
                <a:latin typeface="Symbol"/>
                <a:cs typeface="Symbol"/>
              </a:rPr>
              <a:t>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800" spc="-114" dirty="0">
                <a:latin typeface="Symbol"/>
                <a:cs typeface="Symbol"/>
              </a:rPr>
              <a:t></a:t>
            </a:r>
            <a:r>
              <a:rPr sz="2100" i="1" spc="-15" dirty="0">
                <a:latin typeface="Times New Roman"/>
                <a:cs typeface="Times New Roman"/>
              </a:rPr>
              <a:t>y</a:t>
            </a:r>
            <a:r>
              <a:rPr sz="2100" i="1" spc="-15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Symbol"/>
                <a:cs typeface="Symbol"/>
              </a:rPr>
              <a:t></a:t>
            </a:r>
            <a:r>
              <a:rPr sz="2100" spc="-275" dirty="0">
                <a:latin typeface="Times New Roman"/>
                <a:cs typeface="Times New Roman"/>
              </a:rPr>
              <a:t> </a:t>
            </a:r>
            <a:r>
              <a:rPr sz="2100" i="1" spc="-20" dirty="0">
                <a:latin typeface="Times New Roman"/>
                <a:cs typeface="Times New Roman"/>
              </a:rPr>
              <a:t>b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spc="-20" dirty="0">
                <a:latin typeface="Symbol"/>
                <a:cs typeface="Symbol"/>
              </a:rPr>
              <a:t></a:t>
            </a:r>
            <a:r>
              <a:rPr sz="2100" spc="-275" dirty="0">
                <a:latin typeface="Times New Roman"/>
                <a:cs typeface="Times New Roman"/>
              </a:rPr>
              <a:t> </a:t>
            </a:r>
            <a:r>
              <a:rPr sz="2100" i="1" spc="-20" dirty="0">
                <a:latin typeface="Times New Roman"/>
                <a:cs typeface="Times New Roman"/>
              </a:rPr>
              <a:t>b</a:t>
            </a:r>
            <a:r>
              <a:rPr sz="2100" i="1" spc="-55" dirty="0">
                <a:latin typeface="Times New Roman"/>
                <a:cs typeface="Times New Roman"/>
              </a:rPr>
              <a:t> </a:t>
            </a:r>
            <a:r>
              <a:rPr sz="2100" i="1" spc="70" dirty="0">
                <a:latin typeface="Times New Roman"/>
                <a:cs typeface="Times New Roman"/>
              </a:rPr>
              <a:t>x</a:t>
            </a:r>
            <a:r>
              <a:rPr sz="2800" spc="-254" dirty="0">
                <a:latin typeface="Symbol"/>
                <a:cs typeface="Symbol"/>
              </a:rPr>
              <a:t>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630" y="2838288"/>
            <a:ext cx="65468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i="1" spc="25" dirty="0">
                <a:latin typeface="Times New Roman"/>
                <a:cs typeface="Times New Roman"/>
              </a:rPr>
              <a:t>SS</a:t>
            </a:r>
            <a:r>
              <a:rPr sz="2100" i="1" spc="-20" dirty="0">
                <a:latin typeface="Times New Roman"/>
                <a:cs typeface="Times New Roman"/>
              </a:rPr>
              <a:t>E</a:t>
            </a:r>
            <a:r>
              <a:rPr sz="2100" i="1" spc="-13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50825" y="5732691"/>
            <a:ext cx="2413635" cy="0"/>
          </a:xfrm>
          <a:custGeom>
            <a:avLst/>
            <a:gdLst/>
            <a:ahLst/>
            <a:cxnLst/>
            <a:rect l="l" t="t" r="r" b="b"/>
            <a:pathLst>
              <a:path w="2413635">
                <a:moveTo>
                  <a:pt x="0" y="0"/>
                </a:moveTo>
                <a:lnTo>
                  <a:pt x="2413606" y="0"/>
                </a:lnTo>
              </a:path>
            </a:pathLst>
          </a:custGeom>
          <a:ln w="12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22004" y="5146363"/>
            <a:ext cx="1971675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1230" algn="l"/>
                <a:tab pos="1628775" algn="l"/>
              </a:tabLst>
            </a:pPr>
            <a:r>
              <a:rPr sz="3850" spc="-155" dirty="0">
                <a:latin typeface="Symbol"/>
                <a:cs typeface="Symbol"/>
              </a:rPr>
              <a:t></a:t>
            </a:r>
            <a:r>
              <a:rPr sz="3850" spc="-155" dirty="0">
                <a:latin typeface="Times New Roman"/>
                <a:cs typeface="Times New Roman"/>
              </a:rPr>
              <a:t>	</a:t>
            </a:r>
            <a:r>
              <a:rPr sz="3850" spc="-155" dirty="0">
                <a:latin typeface="Symbol"/>
                <a:cs typeface="Symbol"/>
              </a:rPr>
              <a:t></a:t>
            </a:r>
            <a:r>
              <a:rPr sz="3850" spc="-155" dirty="0">
                <a:latin typeface="Times New Roman"/>
                <a:cs typeface="Times New Roman"/>
              </a:rPr>
              <a:t>	</a:t>
            </a:r>
            <a:r>
              <a:rPr sz="3850" spc="-155" dirty="0">
                <a:latin typeface="Symbol"/>
                <a:cs typeface="Symbol"/>
              </a:rPr>
              <a:t></a:t>
            </a:r>
            <a:endParaRPr sz="38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9763" y="5688453"/>
            <a:ext cx="11557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4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9485" y="5591948"/>
            <a:ext cx="1935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spc="10" dirty="0">
                <a:latin typeface="Times New Roman"/>
                <a:cs typeface="Times New Roman"/>
              </a:rPr>
              <a:t>n</a:t>
            </a:r>
            <a:r>
              <a:rPr sz="5775" spc="127" baseline="-8658" dirty="0">
                <a:latin typeface="Symbol"/>
                <a:cs typeface="Symbol"/>
              </a:rPr>
              <a:t></a:t>
            </a:r>
            <a:r>
              <a:rPr sz="2550" spc="85" dirty="0">
                <a:latin typeface="Times New Roman"/>
                <a:cs typeface="Times New Roman"/>
              </a:rPr>
              <a:t>x</a:t>
            </a:r>
            <a:r>
              <a:rPr sz="2250" spc="-67" baseline="40740" dirty="0">
                <a:latin typeface="Times New Roman"/>
                <a:cs typeface="Times New Roman"/>
              </a:rPr>
              <a:t>2</a:t>
            </a:r>
            <a:r>
              <a:rPr sz="2250" baseline="40740" dirty="0">
                <a:latin typeface="Times New Roman"/>
                <a:cs typeface="Times New Roman"/>
              </a:rPr>
              <a:t> </a:t>
            </a:r>
            <a:r>
              <a:rPr sz="2250" spc="-240" baseline="40740" dirty="0">
                <a:latin typeface="Times New Roman"/>
                <a:cs typeface="Times New Roman"/>
              </a:rPr>
              <a:t> </a:t>
            </a:r>
            <a:r>
              <a:rPr sz="2550" spc="-70" dirty="0">
                <a:latin typeface="Symbol"/>
                <a:cs typeface="Symbol"/>
              </a:rPr>
              <a:t></a:t>
            </a:r>
            <a:r>
              <a:rPr sz="2550" spc="-250" dirty="0">
                <a:latin typeface="Times New Roman"/>
                <a:cs typeface="Times New Roman"/>
              </a:rPr>
              <a:t> </a:t>
            </a:r>
            <a:r>
              <a:rPr sz="4000" spc="-725" dirty="0">
                <a:latin typeface="Symbol"/>
                <a:cs typeface="Symbol"/>
              </a:rPr>
              <a:t></a:t>
            </a:r>
            <a:r>
              <a:rPr sz="5775" spc="127" baseline="-8658" dirty="0">
                <a:latin typeface="Symbol"/>
                <a:cs typeface="Symbol"/>
              </a:rPr>
              <a:t></a:t>
            </a:r>
            <a:r>
              <a:rPr sz="2550" spc="70" dirty="0">
                <a:latin typeface="Times New Roman"/>
                <a:cs typeface="Times New Roman"/>
              </a:rPr>
              <a:t>x</a:t>
            </a:r>
            <a:r>
              <a:rPr sz="4000" spc="-725" dirty="0">
                <a:latin typeface="Symbol"/>
                <a:cs typeface="Symbol"/>
              </a:rPr>
              <a:t></a:t>
            </a:r>
            <a:r>
              <a:rPr sz="2250" spc="-67" baseline="57407" dirty="0">
                <a:latin typeface="Times New Roman"/>
                <a:cs typeface="Times New Roman"/>
              </a:rPr>
              <a:t>2</a:t>
            </a:r>
            <a:endParaRPr sz="2250" baseline="57407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58075" y="5235975"/>
            <a:ext cx="179705" cy="4171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50" spc="-65" dirty="0">
                <a:latin typeface="Times New Roman"/>
                <a:cs typeface="Times New Roman"/>
              </a:rPr>
              <a:t>n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5188" y="5473337"/>
            <a:ext cx="501015" cy="4171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18135" algn="l"/>
              </a:tabLst>
            </a:pPr>
            <a:r>
              <a:rPr sz="2550" spc="-65" dirty="0">
                <a:latin typeface="Times New Roman"/>
                <a:cs typeface="Times New Roman"/>
              </a:rPr>
              <a:t>b	</a:t>
            </a:r>
            <a:r>
              <a:rPr sz="2550" spc="-70" dirty="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48849" y="5513872"/>
            <a:ext cx="143510" cy="0"/>
          </a:xfrm>
          <a:custGeom>
            <a:avLst/>
            <a:gdLst/>
            <a:ahLst/>
            <a:cxnLst/>
            <a:rect l="l" t="t" r="r" b="b"/>
            <a:pathLst>
              <a:path w="143510">
                <a:moveTo>
                  <a:pt x="0" y="0"/>
                </a:moveTo>
                <a:lnTo>
                  <a:pt x="143173" y="0"/>
                </a:lnTo>
              </a:path>
            </a:pathLst>
          </a:custGeom>
          <a:ln w="1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33182" y="5513872"/>
            <a:ext cx="147955" cy="0"/>
          </a:xfrm>
          <a:custGeom>
            <a:avLst/>
            <a:gdLst/>
            <a:ahLst/>
            <a:cxnLst/>
            <a:rect l="l" t="t" r="r" b="b"/>
            <a:pathLst>
              <a:path w="147954">
                <a:moveTo>
                  <a:pt x="0" y="0"/>
                </a:moveTo>
                <a:lnTo>
                  <a:pt x="147415" y="0"/>
                </a:lnTo>
              </a:path>
            </a:pathLst>
          </a:custGeom>
          <a:ln w="1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84548" y="5730023"/>
            <a:ext cx="1656714" cy="0"/>
          </a:xfrm>
          <a:custGeom>
            <a:avLst/>
            <a:gdLst/>
            <a:ahLst/>
            <a:cxnLst/>
            <a:rect l="l" t="t" r="r" b="b"/>
            <a:pathLst>
              <a:path w="1656715">
                <a:moveTo>
                  <a:pt x="0" y="0"/>
                </a:moveTo>
                <a:lnTo>
                  <a:pt x="1656335" y="0"/>
                </a:lnTo>
              </a:path>
            </a:pathLst>
          </a:custGeom>
          <a:ln w="12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23635" y="5719401"/>
            <a:ext cx="17843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75" dirty="0">
                <a:latin typeface="Times New Roman"/>
                <a:cs typeface="Times New Roman"/>
              </a:rPr>
              <a:t>n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82550" y="5054110"/>
            <a:ext cx="6093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0594" algn="l"/>
                <a:tab pos="1651635" algn="l"/>
                <a:tab pos="4417695" algn="l"/>
                <a:tab pos="5809615" algn="l"/>
              </a:tabLst>
            </a:pPr>
            <a:r>
              <a:rPr sz="2550" spc="-160" dirty="0">
                <a:latin typeface="Times New Roman"/>
                <a:cs typeface="Times New Roman"/>
              </a:rPr>
              <a:t>x</a:t>
            </a:r>
            <a:r>
              <a:rPr sz="2550" spc="-65" dirty="0">
                <a:latin typeface="Times New Roman"/>
                <a:cs typeface="Times New Roman"/>
              </a:rPr>
              <a:t>y</a:t>
            </a:r>
            <a:r>
              <a:rPr sz="2550" spc="-210" dirty="0">
                <a:latin typeface="Times New Roman"/>
                <a:cs typeface="Times New Roman"/>
              </a:rPr>
              <a:t> </a:t>
            </a:r>
            <a:r>
              <a:rPr sz="2550" spc="-45" dirty="0">
                <a:latin typeface="Times New Roman"/>
                <a:cs typeface="Times New Roman"/>
              </a:rPr>
              <a:t>-</a:t>
            </a:r>
            <a:r>
              <a:rPr sz="2550" spc="-275" dirty="0">
                <a:latin typeface="Times New Roman"/>
                <a:cs typeface="Times New Roman"/>
              </a:rPr>
              <a:t> </a:t>
            </a:r>
            <a:r>
              <a:rPr sz="4000" spc="-540" dirty="0">
                <a:latin typeface="Symbol"/>
                <a:cs typeface="Symbol"/>
              </a:rPr>
              <a:t>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2550" spc="70" dirty="0">
                <a:latin typeface="Times New Roman"/>
                <a:cs typeface="Times New Roman"/>
              </a:rPr>
              <a:t>x</a:t>
            </a:r>
            <a:r>
              <a:rPr sz="4000" spc="-805" dirty="0">
                <a:latin typeface="Symbol"/>
                <a:cs typeface="Symbol"/>
              </a:rPr>
              <a:t></a:t>
            </a:r>
            <a:r>
              <a:rPr sz="4000" spc="-540" dirty="0">
                <a:latin typeface="Symbol"/>
                <a:cs typeface="Symbol"/>
              </a:rPr>
              <a:t>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2550" i="1" spc="60" dirty="0">
                <a:latin typeface="Times New Roman"/>
                <a:cs typeface="Times New Roman"/>
              </a:rPr>
              <a:t>y</a:t>
            </a:r>
            <a:r>
              <a:rPr sz="4000" spc="-540" dirty="0">
                <a:latin typeface="Symbol"/>
                <a:cs typeface="Symbol"/>
              </a:rPr>
              <a:t>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3950" spc="-530" dirty="0">
                <a:latin typeface="Symbol"/>
                <a:cs typeface="Symbol"/>
              </a:rPr>
              <a:t>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2550" spc="65" dirty="0">
                <a:latin typeface="Times New Roman"/>
                <a:cs typeface="Times New Roman"/>
              </a:rPr>
              <a:t>x</a:t>
            </a:r>
            <a:r>
              <a:rPr sz="3950" spc="-530" dirty="0">
                <a:latin typeface="Symbol"/>
                <a:cs typeface="Symbol"/>
              </a:rPr>
              <a:t></a:t>
            </a:r>
            <a:endParaRPr sz="39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31110" y="5235578"/>
            <a:ext cx="51435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75" dirty="0">
                <a:latin typeface="Times New Roman"/>
                <a:cs typeface="Times New Roman"/>
              </a:rPr>
              <a:t>y</a:t>
            </a:r>
            <a:r>
              <a:rPr sz="2550" spc="-320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-</a:t>
            </a:r>
            <a:r>
              <a:rPr sz="2550" spc="-315" dirty="0">
                <a:latin typeface="Times New Roman"/>
                <a:cs typeface="Times New Roman"/>
              </a:rPr>
              <a:t> </a:t>
            </a:r>
            <a:r>
              <a:rPr sz="2550" spc="-75" dirty="0">
                <a:latin typeface="Times New Roman"/>
                <a:cs typeface="Times New Roman"/>
              </a:rPr>
              <a:t>b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05213" y="5685637"/>
            <a:ext cx="11493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5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35730" y="5685637"/>
            <a:ext cx="11493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5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66496" y="5152419"/>
            <a:ext cx="1305560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57885" algn="l"/>
              </a:tabLst>
            </a:pPr>
            <a:r>
              <a:rPr sz="3800" spc="-140" dirty="0">
                <a:latin typeface="Symbol"/>
                <a:cs typeface="Symbol"/>
              </a:rPr>
              <a:t></a:t>
            </a:r>
            <a:r>
              <a:rPr sz="3800" spc="-140" dirty="0">
                <a:latin typeface="Times New Roman"/>
                <a:cs typeface="Times New Roman"/>
              </a:rPr>
              <a:t>	</a:t>
            </a:r>
            <a:r>
              <a:rPr sz="1500" spc="-50" dirty="0">
                <a:latin typeface="Times New Roman"/>
                <a:cs typeface="Times New Roman"/>
              </a:rPr>
              <a:t>1</a:t>
            </a:r>
            <a:r>
              <a:rPr sz="1500" spc="-229" dirty="0">
                <a:latin typeface="Times New Roman"/>
                <a:cs typeface="Times New Roman"/>
              </a:rPr>
              <a:t> </a:t>
            </a:r>
            <a:r>
              <a:rPr sz="3800" spc="-140" dirty="0">
                <a:latin typeface="Symbol"/>
                <a:cs typeface="Symbol"/>
              </a:rPr>
              <a:t>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74962" y="5471829"/>
            <a:ext cx="166433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980" algn="l"/>
              </a:tabLst>
            </a:pPr>
            <a:r>
              <a:rPr sz="2550" spc="-75" dirty="0">
                <a:latin typeface="Times New Roman"/>
                <a:cs typeface="Times New Roman"/>
              </a:rPr>
              <a:t>b	</a:t>
            </a:r>
            <a:r>
              <a:rPr sz="2550" spc="-85" dirty="0">
                <a:latin typeface="Symbol"/>
                <a:cs typeface="Symbol"/>
              </a:rPr>
              <a:t></a:t>
            </a:r>
            <a:r>
              <a:rPr sz="2550" spc="-145" dirty="0">
                <a:latin typeface="Times New Roman"/>
                <a:cs typeface="Times New Roman"/>
              </a:rPr>
              <a:t> </a:t>
            </a:r>
            <a:r>
              <a:rPr sz="2550" spc="-75" dirty="0">
                <a:latin typeface="Times New Roman"/>
                <a:cs typeface="Times New Roman"/>
              </a:rPr>
              <a:t>y</a:t>
            </a:r>
            <a:r>
              <a:rPr sz="2550" spc="-280" dirty="0">
                <a:latin typeface="Times New Roman"/>
                <a:cs typeface="Times New Roman"/>
              </a:rPr>
              <a:t> </a:t>
            </a:r>
            <a:r>
              <a:rPr sz="2550" spc="-85" dirty="0">
                <a:latin typeface="Symbol"/>
                <a:cs typeface="Symbol"/>
              </a:rPr>
              <a:t></a:t>
            </a:r>
            <a:r>
              <a:rPr sz="2550" spc="-220" dirty="0">
                <a:latin typeface="Times New Roman"/>
                <a:cs typeface="Times New Roman"/>
              </a:rPr>
              <a:t> </a:t>
            </a:r>
            <a:r>
              <a:rPr sz="2550" spc="-75" dirty="0">
                <a:latin typeface="Times New Roman"/>
                <a:cs typeface="Times New Roman"/>
              </a:rPr>
              <a:t>b</a:t>
            </a:r>
            <a:r>
              <a:rPr sz="2550" spc="210" dirty="0">
                <a:latin typeface="Times New Roman"/>
                <a:cs typeface="Times New Roman"/>
              </a:rPr>
              <a:t> </a:t>
            </a:r>
            <a:r>
              <a:rPr sz="2550" spc="-75" dirty="0">
                <a:latin typeface="Times New Roman"/>
                <a:cs typeface="Times New Roman"/>
              </a:rPr>
              <a:t>x</a:t>
            </a:r>
            <a:r>
              <a:rPr sz="2550" spc="-65" dirty="0">
                <a:latin typeface="Times New Roman"/>
                <a:cs typeface="Times New Roman"/>
              </a:rPr>
              <a:t> </a:t>
            </a:r>
            <a:r>
              <a:rPr sz="2550" spc="-85" dirty="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5988" y="264617"/>
            <a:ext cx="62706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Visualisasi</a:t>
            </a:r>
            <a:r>
              <a:rPr spc="-55" dirty="0"/>
              <a:t> </a:t>
            </a:r>
            <a:r>
              <a:rPr dirty="0"/>
              <a:t>Regresi</a:t>
            </a:r>
            <a:r>
              <a:rPr spc="-10" dirty="0"/>
              <a:t> </a:t>
            </a:r>
            <a:r>
              <a:rPr spc="-5" dirty="0"/>
              <a:t>Linier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94257"/>
            <a:ext cx="18935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 MT"/>
                <a:cs typeface="Arial MT"/>
              </a:rPr>
              <a:t>Plot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25" y="1700212"/>
            <a:ext cx="4248150" cy="42418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932426" y="1687512"/>
            <a:ext cx="3961129" cy="4032250"/>
            <a:chOff x="4932426" y="1687512"/>
            <a:chExt cx="3961129" cy="40322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2426" y="1687512"/>
              <a:ext cx="3960749" cy="40322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32651" y="3179699"/>
              <a:ext cx="611505" cy="292100"/>
            </a:xfrm>
            <a:custGeom>
              <a:avLst/>
              <a:gdLst/>
              <a:ahLst/>
              <a:cxnLst/>
              <a:rect l="l" t="t" r="r" b="b"/>
              <a:pathLst>
                <a:path w="611504" h="292100">
                  <a:moveTo>
                    <a:pt x="611124" y="2921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3339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32651" y="2803525"/>
              <a:ext cx="611505" cy="319405"/>
            </a:xfrm>
            <a:custGeom>
              <a:avLst/>
              <a:gdLst/>
              <a:ahLst/>
              <a:cxnLst/>
              <a:rect l="l" t="t" r="r" b="b"/>
              <a:pathLst>
                <a:path w="611504" h="319405">
                  <a:moveTo>
                    <a:pt x="611124" y="3191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33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21401" y="2401951"/>
              <a:ext cx="30480" cy="800100"/>
            </a:xfrm>
            <a:custGeom>
              <a:avLst/>
              <a:gdLst/>
              <a:ahLst/>
              <a:cxnLst/>
              <a:rect l="l" t="t" r="r" b="b"/>
              <a:pathLst>
                <a:path w="30479" h="800100">
                  <a:moveTo>
                    <a:pt x="0" y="0"/>
                  </a:moveTo>
                  <a:lnTo>
                    <a:pt x="25400" y="0"/>
                  </a:lnTo>
                </a:path>
                <a:path w="30479" h="800100">
                  <a:moveTo>
                    <a:pt x="4699" y="800100"/>
                  </a:moveTo>
                  <a:lnTo>
                    <a:pt x="30099" y="800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58003" y="1260728"/>
            <a:ext cx="2527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Plot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Error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Regresi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55079" y="2372179"/>
            <a:ext cx="243204" cy="88455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40"/>
              </a:spcBef>
            </a:pPr>
            <a:r>
              <a:rPr sz="2000" b="1" i="1" dirty="0">
                <a:solidFill>
                  <a:srgbClr val="FF3300"/>
                </a:solidFill>
                <a:latin typeface="Times New Roman"/>
                <a:cs typeface="Times New Roman"/>
              </a:rPr>
              <a:t>y</a:t>
            </a:r>
            <a:r>
              <a:rPr sz="1950" b="1" i="1" baseline="-21367" dirty="0">
                <a:solidFill>
                  <a:srgbClr val="FF3300"/>
                </a:solidFill>
                <a:latin typeface="Times New Roman"/>
                <a:cs typeface="Times New Roman"/>
              </a:rPr>
              <a:t>i</a:t>
            </a:r>
            <a:endParaRPr sz="1950" baseline="-21367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  <a:spcBef>
                <a:spcPts val="1060"/>
              </a:spcBef>
            </a:pPr>
            <a:r>
              <a:rPr sz="1800" i="1" spc="-240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700" spc="-359" baseline="3086" dirty="0">
                <a:solidFill>
                  <a:srgbClr val="0000FF"/>
                </a:solidFill>
                <a:latin typeface="Times New Roman"/>
                <a:cs typeface="Times New Roman"/>
              </a:rPr>
              <a:t>ˆ</a:t>
            </a:r>
            <a:r>
              <a:rPr sz="2400" i="1" spc="-359" baseline="-26041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sz="2400" baseline="-26041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18401" y="1816100"/>
            <a:ext cx="1332230" cy="1900555"/>
            <a:chOff x="7018401" y="1816100"/>
            <a:chExt cx="1332230" cy="190055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8401" y="2924111"/>
              <a:ext cx="649287" cy="7921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129526" y="1944751"/>
              <a:ext cx="179705" cy="1367155"/>
            </a:xfrm>
            <a:custGeom>
              <a:avLst/>
              <a:gdLst/>
              <a:ahLst/>
              <a:cxnLst/>
              <a:rect l="l" t="t" r="r" b="b"/>
              <a:pathLst>
                <a:path w="179704" h="1367154">
                  <a:moveTo>
                    <a:pt x="179324" y="1362075"/>
                  </a:moveTo>
                  <a:lnTo>
                    <a:pt x="0" y="1362075"/>
                  </a:lnTo>
                </a:path>
                <a:path w="179704" h="1367154">
                  <a:moveTo>
                    <a:pt x="1524" y="1366774"/>
                  </a:moveTo>
                  <a:lnTo>
                    <a:pt x="635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5749" y="1892935"/>
              <a:ext cx="179450" cy="1035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72350" y="1816100"/>
              <a:ext cx="977900" cy="3238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13813" y="296621"/>
            <a:ext cx="4517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</a:t>
            </a:r>
            <a:r>
              <a:rPr sz="4000" dirty="0"/>
              <a:t> </a:t>
            </a:r>
            <a:r>
              <a:rPr sz="4000" spc="-5" dirty="0"/>
              <a:t>Studi</a:t>
            </a:r>
            <a:r>
              <a:rPr sz="4000" spc="-15" dirty="0"/>
              <a:t> </a:t>
            </a:r>
            <a:r>
              <a:rPr sz="4000" spc="-5" dirty="0"/>
              <a:t>Kasus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35940" y="1297304"/>
            <a:ext cx="77838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Arial MT"/>
                <a:cs typeface="Arial MT"/>
              </a:rPr>
              <a:t>Perhatikan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data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Biaya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iklan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yang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digunakan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(X)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hubungannya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dengan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Tingkat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penjualan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5" dirty="0">
                <a:latin typeface="Arial MT"/>
                <a:cs typeface="Arial MT"/>
              </a:rPr>
              <a:t>(Y)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diberikan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dalam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dataset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berikut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6126276"/>
            <a:ext cx="30835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Tentukan persamaan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Regresinya!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93762" y="1982851"/>
          <a:ext cx="4663440" cy="408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41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1250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54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1380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1425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54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1425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90"/>
                        </a:lnSpc>
                        <a:spcBef>
                          <a:spcPts val="7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48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1450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348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46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1300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601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1510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11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1575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1270"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71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5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1650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13813" y="296621"/>
            <a:ext cx="4517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Contoh</a:t>
            </a:r>
            <a:r>
              <a:rPr sz="4000" dirty="0"/>
              <a:t> </a:t>
            </a:r>
            <a:r>
              <a:rPr sz="4000" spc="-5" dirty="0"/>
              <a:t>Studi</a:t>
            </a:r>
            <a:r>
              <a:rPr sz="4000" spc="-15" dirty="0"/>
              <a:t> </a:t>
            </a:r>
            <a:r>
              <a:rPr sz="4000" spc="-5" dirty="0"/>
              <a:t>Kasus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35940" y="1249451"/>
            <a:ext cx="6845300" cy="6076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70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Arial MT"/>
                <a:cs typeface="Arial MT"/>
              </a:rPr>
              <a:t>Penyelesaian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75"/>
              </a:spcBef>
              <a:tabLst>
                <a:tab pos="756285" algn="l"/>
              </a:tabLst>
            </a:pPr>
            <a:r>
              <a:rPr sz="1600" spc="-5" dirty="0">
                <a:latin typeface="Arial MT"/>
                <a:cs typeface="Arial MT"/>
              </a:rPr>
              <a:t>–	Mengestimasi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least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squares/kuadrat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terkecil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dari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koefisien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Regresi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7977" y="2270726"/>
            <a:ext cx="319849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820545" algn="l"/>
              </a:tabLst>
            </a:pPr>
            <a:r>
              <a:rPr sz="3975" spc="37" baseline="-8385" dirty="0">
                <a:latin typeface="Symbol"/>
                <a:cs typeface="Symbol"/>
              </a:rPr>
              <a:t></a:t>
            </a:r>
            <a:r>
              <a:rPr sz="3975" spc="-517" baseline="-8385" dirty="0">
                <a:latin typeface="Times New Roman"/>
                <a:cs typeface="Times New Roman"/>
              </a:rPr>
              <a:t> </a:t>
            </a:r>
            <a:r>
              <a:rPr sz="1750" i="1" spc="15" dirty="0">
                <a:latin typeface="Times New Roman"/>
                <a:cs typeface="Times New Roman"/>
              </a:rPr>
              <a:t>y</a:t>
            </a:r>
            <a:r>
              <a:rPr sz="1750" i="1" spc="-25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r>
              <a:rPr sz="1750" spc="-265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1436</a:t>
            </a:r>
            <a:r>
              <a:rPr sz="1750" spc="20" dirty="0">
                <a:latin typeface="Times New Roman"/>
                <a:cs typeface="Times New Roman"/>
              </a:rPr>
              <a:t>5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3975" spc="37" baseline="-8385" dirty="0">
                <a:latin typeface="Symbol"/>
                <a:cs typeface="Symbol"/>
              </a:rPr>
              <a:t></a:t>
            </a:r>
            <a:r>
              <a:rPr sz="3975" spc="-637" baseline="-8385" dirty="0">
                <a:latin typeface="Times New Roman"/>
                <a:cs typeface="Times New Roman"/>
              </a:rPr>
              <a:t> </a:t>
            </a:r>
            <a:r>
              <a:rPr sz="1750" i="1" spc="-45" dirty="0">
                <a:latin typeface="Times New Roman"/>
                <a:cs typeface="Times New Roman"/>
              </a:rPr>
              <a:t>x</a:t>
            </a:r>
            <a:r>
              <a:rPr sz="1750" i="1" spc="15" dirty="0">
                <a:latin typeface="Times New Roman"/>
                <a:cs typeface="Times New Roman"/>
              </a:rPr>
              <a:t>y</a:t>
            </a:r>
            <a:r>
              <a:rPr sz="1750" i="1" spc="-10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r>
              <a:rPr sz="1750" spc="-155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81875</a:t>
            </a:r>
            <a:r>
              <a:rPr sz="1750" spc="20" dirty="0">
                <a:latin typeface="Times New Roman"/>
                <a:cs typeface="Times New Roman"/>
              </a:rPr>
              <a:t>5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8617" y="1889422"/>
            <a:ext cx="288226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608455" algn="l"/>
              </a:tabLst>
            </a:pPr>
            <a:r>
              <a:rPr sz="3975" spc="37" baseline="-8385" dirty="0">
                <a:latin typeface="Symbol"/>
                <a:cs typeface="Symbol"/>
              </a:rPr>
              <a:t></a:t>
            </a:r>
            <a:r>
              <a:rPr sz="3975" spc="-637" baseline="-8385" dirty="0">
                <a:latin typeface="Times New Roman"/>
                <a:cs typeface="Times New Roman"/>
              </a:rPr>
              <a:t> </a:t>
            </a:r>
            <a:r>
              <a:rPr sz="1750" i="1" spc="15" dirty="0">
                <a:latin typeface="Times New Roman"/>
                <a:cs typeface="Times New Roman"/>
              </a:rPr>
              <a:t>x</a:t>
            </a:r>
            <a:r>
              <a:rPr sz="1750" i="1" spc="-50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r>
              <a:rPr sz="1750" spc="-130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56</a:t>
            </a:r>
            <a:r>
              <a:rPr sz="1750" spc="20" dirty="0">
                <a:latin typeface="Times New Roman"/>
                <a:cs typeface="Times New Roman"/>
              </a:rPr>
              <a:t>4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3975" spc="37" baseline="-8385" dirty="0">
                <a:latin typeface="Symbol"/>
                <a:cs typeface="Symbol"/>
              </a:rPr>
              <a:t></a:t>
            </a:r>
            <a:r>
              <a:rPr sz="3975" spc="-637" baseline="-8385" dirty="0">
                <a:latin typeface="Times New Roman"/>
                <a:cs typeface="Times New Roman"/>
              </a:rPr>
              <a:t> </a:t>
            </a:r>
            <a:r>
              <a:rPr sz="1750" i="1" spc="90" dirty="0">
                <a:latin typeface="Times New Roman"/>
                <a:cs typeface="Times New Roman"/>
              </a:rPr>
              <a:t>x</a:t>
            </a:r>
            <a:r>
              <a:rPr sz="1500" spc="30" baseline="41666" dirty="0">
                <a:latin typeface="Times New Roman"/>
                <a:cs typeface="Times New Roman"/>
              </a:rPr>
              <a:t>2</a:t>
            </a:r>
            <a:r>
              <a:rPr sz="1500" baseline="41666" dirty="0">
                <a:latin typeface="Times New Roman"/>
                <a:cs typeface="Times New Roman"/>
              </a:rPr>
              <a:t> </a:t>
            </a:r>
            <a:r>
              <a:rPr sz="1500" spc="67" baseline="41666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r>
              <a:rPr sz="1750" spc="-130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3260</a:t>
            </a:r>
            <a:r>
              <a:rPr sz="1750" spc="20" dirty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7876" y="2001670"/>
            <a:ext cx="54483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i="1" spc="20" dirty="0">
                <a:latin typeface="Times New Roman"/>
                <a:cs typeface="Times New Roman"/>
              </a:rPr>
              <a:t>n</a:t>
            </a:r>
            <a:r>
              <a:rPr sz="1750" i="1" spc="-70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r>
              <a:rPr sz="1750" spc="-265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10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75541" y="3196657"/>
            <a:ext cx="1546225" cy="0"/>
          </a:xfrm>
          <a:custGeom>
            <a:avLst/>
            <a:gdLst/>
            <a:ahLst/>
            <a:cxnLst/>
            <a:rect l="l" t="t" r="r" b="b"/>
            <a:pathLst>
              <a:path w="1546225">
                <a:moveTo>
                  <a:pt x="0" y="0"/>
                </a:moveTo>
                <a:lnTo>
                  <a:pt x="1546077" y="0"/>
                </a:lnTo>
              </a:path>
            </a:pathLst>
          </a:custGeom>
          <a:ln w="8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66521" y="3162973"/>
            <a:ext cx="9207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20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7230" y="3015433"/>
            <a:ext cx="55372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75" dirty="0">
                <a:latin typeface="Symbol"/>
                <a:cs typeface="Symbol"/>
              </a:rPr>
              <a:t></a:t>
            </a:r>
            <a:r>
              <a:rPr sz="1750" spc="-60" dirty="0">
                <a:latin typeface="Times New Roman"/>
                <a:cs typeface="Times New Roman"/>
              </a:rPr>
              <a:t>1</a:t>
            </a:r>
            <a:r>
              <a:rPr sz="1750" dirty="0">
                <a:latin typeface="Times New Roman"/>
                <a:cs typeface="Times New Roman"/>
              </a:rPr>
              <a:t>0</a:t>
            </a:r>
            <a:r>
              <a:rPr sz="1750" spc="-20" dirty="0">
                <a:latin typeface="Times New Roman"/>
                <a:cs typeface="Times New Roman"/>
              </a:rPr>
              <a:t>.</a:t>
            </a:r>
            <a:r>
              <a:rPr sz="1750" spc="20" dirty="0">
                <a:latin typeface="Times New Roman"/>
                <a:cs typeface="Times New Roman"/>
              </a:rPr>
              <a:t>8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3291" y="2839340"/>
            <a:ext cx="2392045" cy="6388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75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7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75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(81875</a:t>
            </a:r>
            <a:r>
              <a:rPr sz="1750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sz="17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1750" u="sng" spc="-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50" u="sng" spc="2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175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175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56</a:t>
            </a:r>
            <a:r>
              <a:rPr sz="175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sz="175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1750" u="sng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175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1436</a:t>
            </a:r>
            <a:r>
              <a:rPr sz="1750" u="sng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sz="17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  <a:p>
            <a:pPr marR="15240" algn="ctr">
              <a:lnSpc>
                <a:spcPct val="100000"/>
              </a:lnSpc>
              <a:spcBef>
                <a:spcPts val="315"/>
              </a:spcBef>
            </a:pPr>
            <a:r>
              <a:rPr sz="1750" spc="-60" dirty="0">
                <a:latin typeface="Times New Roman"/>
                <a:cs typeface="Times New Roman"/>
              </a:rPr>
              <a:t>1</a:t>
            </a:r>
            <a:r>
              <a:rPr sz="1750" dirty="0">
                <a:latin typeface="Times New Roman"/>
                <a:cs typeface="Times New Roman"/>
              </a:rPr>
              <a:t>0</a:t>
            </a:r>
            <a:r>
              <a:rPr sz="1750" spc="-30" dirty="0">
                <a:latin typeface="Times New Roman"/>
                <a:cs typeface="Times New Roman"/>
              </a:rPr>
              <a:t>(</a:t>
            </a:r>
            <a:r>
              <a:rPr sz="1750" spc="-60" dirty="0">
                <a:latin typeface="Times New Roman"/>
                <a:cs typeface="Times New Roman"/>
              </a:rPr>
              <a:t>3260</a:t>
            </a:r>
            <a:r>
              <a:rPr sz="1750" spc="80" dirty="0">
                <a:latin typeface="Times New Roman"/>
                <a:cs typeface="Times New Roman"/>
              </a:rPr>
              <a:t>4</a:t>
            </a:r>
            <a:r>
              <a:rPr sz="1750" spc="10" dirty="0">
                <a:latin typeface="Times New Roman"/>
                <a:cs typeface="Times New Roman"/>
              </a:rPr>
              <a:t>)</a:t>
            </a:r>
            <a:r>
              <a:rPr sz="1750" spc="-190" dirty="0">
                <a:latin typeface="Times New Roman"/>
                <a:cs typeface="Times New Roman"/>
              </a:rPr>
              <a:t> </a:t>
            </a:r>
            <a:r>
              <a:rPr sz="1750" spc="225" dirty="0">
                <a:latin typeface="Symbol"/>
                <a:cs typeface="Symbol"/>
              </a:rPr>
              <a:t></a:t>
            </a:r>
            <a:r>
              <a:rPr sz="1750" spc="-35" dirty="0">
                <a:latin typeface="Times New Roman"/>
                <a:cs typeface="Times New Roman"/>
              </a:rPr>
              <a:t>(</a:t>
            </a:r>
            <a:r>
              <a:rPr sz="1750" spc="-60" dirty="0">
                <a:latin typeface="Times New Roman"/>
                <a:cs typeface="Times New Roman"/>
              </a:rPr>
              <a:t>56</a:t>
            </a:r>
            <a:r>
              <a:rPr sz="1750" spc="30" dirty="0">
                <a:latin typeface="Times New Roman"/>
                <a:cs typeface="Times New Roman"/>
              </a:rPr>
              <a:t>4</a:t>
            </a:r>
            <a:r>
              <a:rPr sz="1750" spc="55" dirty="0">
                <a:latin typeface="Times New Roman"/>
                <a:cs typeface="Times New Roman"/>
              </a:rPr>
              <a:t>)</a:t>
            </a:r>
            <a:r>
              <a:rPr sz="1500" spc="30" baseline="41666" dirty="0">
                <a:latin typeface="Times New Roman"/>
                <a:cs typeface="Times New Roman"/>
              </a:rPr>
              <a:t>2</a:t>
            </a:r>
            <a:endParaRPr sz="1500" baseline="41666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66195" y="3015433"/>
            <a:ext cx="1504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89893" y="2792477"/>
            <a:ext cx="129667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67385" algn="l"/>
                <a:tab pos="1039494" algn="l"/>
              </a:tabLst>
            </a:pPr>
            <a:r>
              <a:rPr sz="2600" spc="60" dirty="0">
                <a:latin typeface="Symbol"/>
                <a:cs typeface="Symbol"/>
              </a:rPr>
              <a:t></a:t>
            </a:r>
            <a:r>
              <a:rPr sz="2600" spc="60" dirty="0">
                <a:latin typeface="Times New Roman"/>
                <a:cs typeface="Times New Roman"/>
              </a:rPr>
              <a:t>	</a:t>
            </a:r>
            <a:r>
              <a:rPr sz="2600" spc="60" dirty="0">
                <a:latin typeface="Symbol"/>
                <a:cs typeface="Symbol"/>
              </a:rPr>
              <a:t></a:t>
            </a:r>
            <a:r>
              <a:rPr sz="2600" spc="60" dirty="0">
                <a:latin typeface="Times New Roman"/>
                <a:cs typeface="Times New Roman"/>
              </a:rPr>
              <a:t>	</a:t>
            </a:r>
            <a:r>
              <a:rPr sz="2600" spc="60" dirty="0">
                <a:latin typeface="Symbol"/>
                <a:cs typeface="Symbol"/>
              </a:rPr>
              <a:t>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3626" y="3074092"/>
            <a:ext cx="143573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50" i="1" spc="10" dirty="0">
                <a:latin typeface="Times New Roman"/>
                <a:cs typeface="Times New Roman"/>
              </a:rPr>
              <a:t>n</a:t>
            </a:r>
            <a:r>
              <a:rPr sz="3900" spc="390" baseline="-8547" dirty="0">
                <a:latin typeface="Symbol"/>
                <a:cs typeface="Symbol"/>
              </a:rPr>
              <a:t></a:t>
            </a:r>
            <a:r>
              <a:rPr sz="1750" i="1" spc="80" dirty="0">
                <a:latin typeface="Times New Roman"/>
                <a:cs typeface="Times New Roman"/>
              </a:rPr>
              <a:t>x</a:t>
            </a:r>
            <a:r>
              <a:rPr sz="1500" spc="30" baseline="41666" dirty="0">
                <a:latin typeface="Times New Roman"/>
                <a:cs typeface="Times New Roman"/>
              </a:rPr>
              <a:t>2</a:t>
            </a:r>
            <a:r>
              <a:rPr sz="1500" baseline="41666" dirty="0">
                <a:latin typeface="Times New Roman"/>
                <a:cs typeface="Times New Roman"/>
              </a:rPr>
              <a:t> </a:t>
            </a:r>
            <a:r>
              <a:rPr sz="1500" spc="-112" baseline="41666" dirty="0">
                <a:latin typeface="Times New Roman"/>
                <a:cs typeface="Times New Roman"/>
              </a:rPr>
              <a:t> </a:t>
            </a:r>
            <a:r>
              <a:rPr sz="1750" spc="229" dirty="0">
                <a:latin typeface="Symbol"/>
                <a:cs typeface="Symbol"/>
              </a:rPr>
              <a:t></a:t>
            </a:r>
            <a:r>
              <a:rPr sz="1750" spc="5" dirty="0">
                <a:latin typeface="Times New Roman"/>
                <a:cs typeface="Times New Roman"/>
              </a:rPr>
              <a:t>(</a:t>
            </a:r>
            <a:r>
              <a:rPr sz="3900" spc="390" baseline="-8547" dirty="0">
                <a:latin typeface="Symbol"/>
                <a:cs typeface="Symbol"/>
              </a:rPr>
              <a:t></a:t>
            </a:r>
            <a:r>
              <a:rPr sz="1750" i="1" spc="15" dirty="0">
                <a:latin typeface="Times New Roman"/>
                <a:cs typeface="Times New Roman"/>
              </a:rPr>
              <a:t>x</a:t>
            </a:r>
            <a:r>
              <a:rPr sz="1750" spc="60" dirty="0">
                <a:latin typeface="Times New Roman"/>
                <a:cs typeface="Times New Roman"/>
              </a:rPr>
              <a:t>)</a:t>
            </a:r>
            <a:r>
              <a:rPr sz="1500" spc="30" baseline="41666" dirty="0">
                <a:latin typeface="Times New Roman"/>
                <a:cs typeface="Times New Roman"/>
              </a:rPr>
              <a:t>2</a:t>
            </a:r>
            <a:endParaRPr sz="1500" baseline="41666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7492" y="2853243"/>
            <a:ext cx="15455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335" algn="l"/>
                <a:tab pos="1049020" algn="l"/>
                <a:tab pos="1431290" algn="l"/>
              </a:tabLst>
            </a:pPr>
            <a:r>
              <a:rPr sz="1750" i="1" spc="20" dirty="0">
                <a:latin typeface="Times New Roman"/>
                <a:cs typeface="Times New Roman"/>
              </a:rPr>
              <a:t>n	</a:t>
            </a:r>
            <a:r>
              <a:rPr sz="1750" i="1" spc="-55" dirty="0">
                <a:latin typeface="Times New Roman"/>
                <a:cs typeface="Times New Roman"/>
              </a:rPr>
              <a:t>x</a:t>
            </a:r>
            <a:r>
              <a:rPr sz="1750" i="1" spc="15" dirty="0">
                <a:latin typeface="Times New Roman"/>
                <a:cs typeface="Times New Roman"/>
              </a:rPr>
              <a:t>y</a:t>
            </a:r>
            <a:r>
              <a:rPr sz="1750" i="1" spc="-135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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i="1" spc="15" dirty="0">
                <a:latin typeface="Times New Roman"/>
                <a:cs typeface="Times New Roman"/>
              </a:rPr>
              <a:t>x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i="1" spc="15" dirty="0">
                <a:latin typeface="Times New Roman"/>
                <a:cs typeface="Times New Roman"/>
              </a:rPr>
              <a:t>y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9890" y="3015433"/>
            <a:ext cx="3619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i="1" spc="20" dirty="0">
                <a:latin typeface="Times New Roman"/>
                <a:cs typeface="Times New Roman"/>
              </a:rPr>
              <a:t>b</a:t>
            </a:r>
            <a:r>
              <a:rPr sz="1750" i="1" spc="240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64476" y="4005901"/>
            <a:ext cx="1779270" cy="0"/>
          </a:xfrm>
          <a:custGeom>
            <a:avLst/>
            <a:gdLst/>
            <a:ahLst/>
            <a:cxnLst/>
            <a:rect l="l" t="t" r="r" b="b"/>
            <a:pathLst>
              <a:path w="1779270">
                <a:moveTo>
                  <a:pt x="0" y="0"/>
                </a:moveTo>
                <a:lnTo>
                  <a:pt x="1778706" y="0"/>
                </a:lnTo>
              </a:path>
            </a:pathLst>
          </a:custGeom>
          <a:ln w="9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758555" y="3994699"/>
            <a:ext cx="189865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39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1388" y="3970360"/>
            <a:ext cx="12192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229" dirty="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1733" y="3515445"/>
            <a:ext cx="5945505" cy="629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49605">
              <a:lnSpc>
                <a:spcPts val="2430"/>
              </a:lnSpc>
              <a:spcBef>
                <a:spcPts val="114"/>
              </a:spcBef>
              <a:tabLst>
                <a:tab pos="1124585" algn="l"/>
                <a:tab pos="2144395" algn="l"/>
              </a:tabLst>
            </a:pPr>
            <a:r>
              <a:rPr sz="2850" spc="-105" dirty="0">
                <a:latin typeface="Symbol"/>
                <a:cs typeface="Symbol"/>
              </a:rPr>
              <a:t></a:t>
            </a:r>
            <a:r>
              <a:rPr sz="2850" spc="-105" dirty="0">
                <a:latin typeface="Times New Roman"/>
                <a:cs typeface="Times New Roman"/>
              </a:rPr>
              <a:t>	</a:t>
            </a:r>
            <a:r>
              <a:rPr sz="1800" spc="390" dirty="0">
                <a:latin typeface="Times New Roman"/>
                <a:cs typeface="Times New Roman"/>
              </a:rPr>
              <a:t>y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260" dirty="0">
                <a:latin typeface="Times New Roman"/>
                <a:cs typeface="Times New Roman"/>
              </a:rPr>
              <a:t>-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390" dirty="0">
                <a:latin typeface="Times New Roman"/>
                <a:cs typeface="Times New Roman"/>
              </a:rPr>
              <a:t>b	</a:t>
            </a:r>
            <a:r>
              <a:rPr sz="1800" spc="220" dirty="0">
                <a:latin typeface="Times New Roman"/>
                <a:cs typeface="Times New Roman"/>
              </a:rPr>
              <a:t>x</a:t>
            </a:r>
            <a:r>
              <a:rPr sz="2850" spc="220" dirty="0">
                <a:latin typeface="Symbol"/>
                <a:cs typeface="Symbol"/>
              </a:rPr>
              <a:t></a:t>
            </a:r>
            <a:endParaRPr sz="2850">
              <a:latin typeface="Symbol"/>
              <a:cs typeface="Symbol"/>
            </a:endParaRPr>
          </a:p>
          <a:p>
            <a:pPr marL="38100">
              <a:lnSpc>
                <a:spcPts val="2310"/>
              </a:lnSpc>
              <a:tabLst>
                <a:tab pos="379730" algn="l"/>
                <a:tab pos="733425" algn="l"/>
                <a:tab pos="1641475" algn="l"/>
                <a:tab pos="2494915" algn="l"/>
              </a:tabLst>
            </a:pPr>
            <a:r>
              <a:rPr sz="1800" i="1" spc="390" dirty="0">
                <a:latin typeface="Times New Roman"/>
                <a:cs typeface="Times New Roman"/>
              </a:rPr>
              <a:t>b	</a:t>
            </a:r>
            <a:r>
              <a:rPr sz="1800" spc="430" dirty="0">
                <a:latin typeface="Symbol"/>
                <a:cs typeface="Symbol"/>
              </a:rPr>
              <a:t></a:t>
            </a:r>
            <a:r>
              <a:rPr sz="1800" spc="430" dirty="0">
                <a:latin typeface="Times New Roman"/>
                <a:cs typeface="Times New Roman"/>
              </a:rPr>
              <a:t>	</a:t>
            </a:r>
            <a:r>
              <a:rPr sz="4125" spc="1207" baseline="18181" dirty="0">
                <a:latin typeface="Symbol"/>
                <a:cs typeface="Symbol"/>
              </a:rPr>
              <a:t></a:t>
            </a:r>
            <a:r>
              <a:rPr sz="4125" spc="1207" baseline="18181" dirty="0">
                <a:latin typeface="Times New Roman"/>
                <a:cs typeface="Times New Roman"/>
              </a:rPr>
              <a:t>	</a:t>
            </a:r>
            <a:r>
              <a:rPr sz="1575" spc="345" baseline="47619" dirty="0">
                <a:latin typeface="Times New Roman"/>
                <a:cs typeface="Times New Roman"/>
              </a:rPr>
              <a:t>1</a:t>
            </a:r>
            <a:r>
              <a:rPr sz="1575" spc="-157" baseline="47619" dirty="0">
                <a:latin typeface="Times New Roman"/>
                <a:cs typeface="Times New Roman"/>
              </a:rPr>
              <a:t> </a:t>
            </a:r>
            <a:r>
              <a:rPr sz="4125" spc="1207" baseline="18181" dirty="0">
                <a:latin typeface="Symbol"/>
                <a:cs typeface="Symbol"/>
              </a:rPr>
              <a:t></a:t>
            </a:r>
            <a:r>
              <a:rPr sz="4125" baseline="18181" dirty="0">
                <a:latin typeface="Times New Roman"/>
                <a:cs typeface="Times New Roman"/>
              </a:rPr>
              <a:t>	</a:t>
            </a:r>
            <a:r>
              <a:rPr sz="1800" spc="430" dirty="0">
                <a:latin typeface="Symbol"/>
                <a:cs typeface="Symbol"/>
              </a:rPr>
              <a:t>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295" dirty="0">
                <a:latin typeface="Times New Roman"/>
                <a:cs typeface="Times New Roman"/>
              </a:rPr>
              <a:t>1</a:t>
            </a:r>
            <a:r>
              <a:rPr sz="1800" spc="300" dirty="0">
                <a:latin typeface="Times New Roman"/>
                <a:cs typeface="Times New Roman"/>
              </a:rPr>
              <a:t>4</a:t>
            </a:r>
            <a:r>
              <a:rPr sz="1800" spc="295" dirty="0">
                <a:latin typeface="Times New Roman"/>
                <a:cs typeface="Times New Roman"/>
              </a:rPr>
              <a:t>3</a:t>
            </a:r>
            <a:r>
              <a:rPr sz="1800" spc="475" dirty="0">
                <a:latin typeface="Times New Roman"/>
                <a:cs typeface="Times New Roman"/>
              </a:rPr>
              <a:t>6</a:t>
            </a:r>
            <a:r>
              <a:rPr sz="1800" spc="165" dirty="0">
                <a:latin typeface="Times New Roman"/>
                <a:cs typeface="Times New Roman"/>
              </a:rPr>
              <a:t>.</a:t>
            </a:r>
            <a:r>
              <a:rPr sz="1800" spc="390" dirty="0">
                <a:latin typeface="Times New Roman"/>
                <a:cs typeface="Times New Roman"/>
              </a:rPr>
              <a:t>5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530" dirty="0">
                <a:latin typeface="Symbol"/>
                <a:cs typeface="Symbol"/>
              </a:rPr>
              <a:t></a:t>
            </a:r>
            <a:r>
              <a:rPr sz="1800" spc="300" dirty="0">
                <a:latin typeface="Times New Roman"/>
                <a:cs typeface="Times New Roman"/>
              </a:rPr>
              <a:t>1</a:t>
            </a:r>
            <a:r>
              <a:rPr sz="1800" spc="390" dirty="0">
                <a:latin typeface="Times New Roman"/>
                <a:cs typeface="Times New Roman"/>
              </a:rPr>
              <a:t>0</a:t>
            </a:r>
            <a:r>
              <a:rPr sz="1800" spc="165" dirty="0">
                <a:latin typeface="Times New Roman"/>
                <a:cs typeface="Times New Roman"/>
              </a:rPr>
              <a:t>.</a:t>
            </a:r>
            <a:r>
              <a:rPr sz="1800" spc="300" dirty="0">
                <a:latin typeface="Times New Roman"/>
                <a:cs typeface="Times New Roman"/>
              </a:rPr>
              <a:t>8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300" dirty="0">
                <a:latin typeface="Times New Roman"/>
                <a:cs typeface="Times New Roman"/>
              </a:rPr>
              <a:t>5</a:t>
            </a:r>
            <a:r>
              <a:rPr sz="1800" spc="385" dirty="0">
                <a:latin typeface="Times New Roman"/>
                <a:cs typeface="Times New Roman"/>
              </a:rPr>
              <a:t>6</a:t>
            </a:r>
            <a:r>
              <a:rPr sz="1800" spc="175" dirty="0">
                <a:latin typeface="Times New Roman"/>
                <a:cs typeface="Times New Roman"/>
              </a:rPr>
              <a:t>.</a:t>
            </a:r>
            <a:r>
              <a:rPr sz="1800" spc="340" dirty="0">
                <a:latin typeface="Times New Roman"/>
                <a:cs typeface="Times New Roman"/>
              </a:rPr>
              <a:t>4</a:t>
            </a:r>
            <a:r>
              <a:rPr sz="1800" spc="260" dirty="0">
                <a:latin typeface="Times New Roman"/>
                <a:cs typeface="Times New Roman"/>
              </a:rPr>
              <a:t>)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430" dirty="0">
                <a:latin typeface="Symbol"/>
                <a:cs typeface="Symbol"/>
              </a:rPr>
              <a:t>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295" dirty="0">
                <a:latin typeface="Times New Roman"/>
                <a:cs typeface="Times New Roman"/>
              </a:rPr>
              <a:t>8</a:t>
            </a:r>
            <a:r>
              <a:rPr sz="1800" spc="300" dirty="0">
                <a:latin typeface="Times New Roman"/>
                <a:cs typeface="Times New Roman"/>
              </a:rPr>
              <a:t>2</a:t>
            </a:r>
            <a:r>
              <a:rPr sz="1800" spc="39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8044" y="4473728"/>
            <a:ext cx="6847205" cy="187325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1365"/>
              </a:spcBef>
            </a:pPr>
            <a:r>
              <a:rPr sz="2350" i="1" spc="-880" dirty="0">
                <a:latin typeface="Times New Roman"/>
                <a:cs typeface="Times New Roman"/>
              </a:rPr>
              <a:t>y</a:t>
            </a:r>
            <a:r>
              <a:rPr sz="3525" spc="37" baseline="2364" dirty="0">
                <a:latin typeface="Times New Roman"/>
                <a:cs typeface="Times New Roman"/>
              </a:rPr>
              <a:t>ˆ</a:t>
            </a:r>
            <a:r>
              <a:rPr sz="3525" spc="60" baseline="2364" dirty="0">
                <a:latin typeface="Times New Roman"/>
                <a:cs typeface="Times New Roman"/>
              </a:rPr>
              <a:t> </a:t>
            </a:r>
            <a:r>
              <a:rPr sz="2350" spc="45" dirty="0">
                <a:latin typeface="Symbol"/>
                <a:cs typeface="Symbol"/>
              </a:rPr>
              <a:t></a:t>
            </a:r>
            <a:r>
              <a:rPr sz="2350" spc="-210" dirty="0">
                <a:latin typeface="Times New Roman"/>
                <a:cs typeface="Times New Roman"/>
              </a:rPr>
              <a:t> </a:t>
            </a:r>
            <a:r>
              <a:rPr sz="2350" i="1" spc="-135" dirty="0">
                <a:latin typeface="Times New Roman"/>
                <a:cs typeface="Times New Roman"/>
              </a:rPr>
              <a:t>b</a:t>
            </a:r>
            <a:r>
              <a:rPr sz="2025" spc="44" baseline="-22633" dirty="0">
                <a:latin typeface="Times New Roman"/>
                <a:cs typeface="Times New Roman"/>
              </a:rPr>
              <a:t>0</a:t>
            </a:r>
            <a:r>
              <a:rPr sz="2025" baseline="-22633" dirty="0">
                <a:latin typeface="Times New Roman"/>
                <a:cs typeface="Times New Roman"/>
              </a:rPr>
              <a:t> </a:t>
            </a:r>
            <a:r>
              <a:rPr sz="2025" spc="-165" baseline="-22633" dirty="0">
                <a:latin typeface="Times New Roman"/>
                <a:cs typeface="Times New Roman"/>
              </a:rPr>
              <a:t> </a:t>
            </a:r>
            <a:r>
              <a:rPr sz="2350" spc="45" dirty="0">
                <a:latin typeface="Symbol"/>
                <a:cs typeface="Symbol"/>
              </a:rPr>
              <a:t></a:t>
            </a:r>
            <a:r>
              <a:rPr sz="2350" spc="-320" dirty="0">
                <a:latin typeface="Times New Roman"/>
                <a:cs typeface="Times New Roman"/>
              </a:rPr>
              <a:t> </a:t>
            </a:r>
            <a:r>
              <a:rPr sz="2350" i="1" spc="-260" dirty="0">
                <a:latin typeface="Times New Roman"/>
                <a:cs typeface="Times New Roman"/>
              </a:rPr>
              <a:t>b</a:t>
            </a:r>
            <a:r>
              <a:rPr sz="2025" spc="157" baseline="-22633" dirty="0">
                <a:latin typeface="Times New Roman"/>
                <a:cs typeface="Times New Roman"/>
              </a:rPr>
              <a:t>1</a:t>
            </a:r>
            <a:r>
              <a:rPr sz="2350" i="1" spc="35" dirty="0">
                <a:latin typeface="Times New Roman"/>
                <a:cs typeface="Times New Roman"/>
              </a:rPr>
              <a:t>x</a:t>
            </a:r>
            <a:endParaRPr sz="23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44"/>
              </a:spcBef>
              <a:tabLst>
                <a:tab pos="324485" algn="l"/>
              </a:tabLst>
            </a:pPr>
            <a:r>
              <a:rPr sz="1600" spc="-5" dirty="0">
                <a:latin typeface="Arial MT"/>
                <a:cs typeface="Arial MT"/>
              </a:rPr>
              <a:t>–	Hasil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Estimasi Persamaan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Regresinya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adalah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marL="337820">
              <a:lnSpc>
                <a:spcPct val="100000"/>
              </a:lnSpc>
              <a:spcBef>
                <a:spcPts val="1080"/>
              </a:spcBef>
            </a:pPr>
            <a:r>
              <a:rPr sz="1900" spc="-825" dirty="0">
                <a:latin typeface="Times New Roman"/>
                <a:cs typeface="Times New Roman"/>
              </a:rPr>
              <a:t>y</a:t>
            </a:r>
            <a:r>
              <a:rPr sz="2850" spc="89" baseline="2923" dirty="0">
                <a:latin typeface="Times New Roman"/>
                <a:cs typeface="Times New Roman"/>
              </a:rPr>
              <a:t>ˆ</a:t>
            </a:r>
            <a:r>
              <a:rPr sz="2850" spc="307" baseline="2923" dirty="0">
                <a:latin typeface="Times New Roman"/>
                <a:cs typeface="Times New Roman"/>
              </a:rPr>
              <a:t> </a:t>
            </a:r>
            <a:r>
              <a:rPr sz="1900" spc="105" dirty="0">
                <a:latin typeface="Symbol"/>
                <a:cs typeface="Symbol"/>
              </a:rPr>
              <a:t>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spc="35" dirty="0">
                <a:latin typeface="Times New Roman"/>
                <a:cs typeface="Times New Roman"/>
              </a:rPr>
              <a:t>8</a:t>
            </a:r>
            <a:r>
              <a:rPr sz="1900" spc="40" dirty="0">
                <a:latin typeface="Times New Roman"/>
                <a:cs typeface="Times New Roman"/>
              </a:rPr>
              <a:t>2</a:t>
            </a:r>
            <a:r>
              <a:rPr sz="1900" spc="95" dirty="0">
                <a:latin typeface="Times New Roman"/>
                <a:cs typeface="Times New Roman"/>
              </a:rPr>
              <a:t>8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240" dirty="0">
                <a:latin typeface="Symbol"/>
                <a:cs typeface="Symbol"/>
              </a:rPr>
              <a:t></a:t>
            </a:r>
            <a:r>
              <a:rPr sz="1900" spc="35" dirty="0">
                <a:latin typeface="Times New Roman"/>
                <a:cs typeface="Times New Roman"/>
              </a:rPr>
              <a:t>1</a:t>
            </a:r>
            <a:r>
              <a:rPr sz="1900" spc="40" dirty="0">
                <a:latin typeface="Times New Roman"/>
                <a:cs typeface="Times New Roman"/>
              </a:rPr>
              <a:t>0</a:t>
            </a:r>
            <a:r>
              <a:rPr sz="1900" spc="70" dirty="0">
                <a:latin typeface="Times New Roman"/>
                <a:cs typeface="Times New Roman"/>
              </a:rPr>
              <a:t>.</a:t>
            </a:r>
            <a:r>
              <a:rPr sz="1900" spc="40" dirty="0">
                <a:latin typeface="Times New Roman"/>
                <a:cs typeface="Times New Roman"/>
              </a:rPr>
              <a:t>8</a:t>
            </a:r>
            <a:r>
              <a:rPr sz="1900" spc="95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  <a:p>
            <a:pPr marL="324485">
              <a:lnSpc>
                <a:spcPct val="100000"/>
              </a:lnSpc>
              <a:spcBef>
                <a:spcPts val="495"/>
              </a:spcBef>
            </a:pPr>
            <a:r>
              <a:rPr sz="1600" spc="-5" dirty="0">
                <a:latin typeface="Arial MT"/>
                <a:cs typeface="Arial MT"/>
              </a:rPr>
              <a:t>Ini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berarti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bahwa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jika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biaya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iklan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meningkat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sebesar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$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1,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maka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kita akan</a:t>
            </a:r>
            <a:endParaRPr sz="1600">
              <a:latin typeface="Arial MT"/>
              <a:cs typeface="Arial MT"/>
            </a:endParaRPr>
          </a:p>
          <a:p>
            <a:pPr marL="324485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mendapati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tingkat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penjualan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naik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$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10.8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699509"/>
            <a:ext cx="19532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1C1C1C"/>
                </a:solidFill>
                <a:latin typeface="Arial"/>
                <a:cs typeface="Arial"/>
              </a:rPr>
              <a:t>Selesai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742</Words>
  <Application>Microsoft Office PowerPoint</Application>
  <PresentationFormat>On-screen Show (4:3)</PresentationFormat>
  <Paragraphs>134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MT</vt:lpstr>
      <vt:lpstr>Calibri</vt:lpstr>
      <vt:lpstr>Calibri Light</vt:lpstr>
      <vt:lpstr>Symbol</vt:lpstr>
      <vt:lpstr>Times New Roman</vt:lpstr>
      <vt:lpstr>Wingdings</vt:lpstr>
      <vt:lpstr>Office Theme</vt:lpstr>
      <vt:lpstr>Pokok Pembahasan</vt:lpstr>
      <vt:lpstr>Regresi Linier</vt:lpstr>
      <vt:lpstr>Model Regresi Linier</vt:lpstr>
      <vt:lpstr>Model Regresi Linier</vt:lpstr>
      <vt:lpstr>Model Regresi Linier</vt:lpstr>
      <vt:lpstr>Visualisasi Regresi Linier</vt:lpstr>
      <vt:lpstr>Contoh Studi Kasus</vt:lpstr>
      <vt:lpstr>Contoh Studi Kasus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Imam Cholissodin</dc:creator>
  <cp:keywords>Pengenalan Pola</cp:keywords>
  <cp:lastModifiedBy>arief kelik nugroho</cp:lastModifiedBy>
  <cp:revision>1</cp:revision>
  <dcterms:created xsi:type="dcterms:W3CDTF">2021-10-20T23:00:27Z</dcterms:created>
  <dcterms:modified xsi:type="dcterms:W3CDTF">2026-08-18T14:04:05Z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2014-07-07T00:00:00Z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2021-10-20T00:00:00Z</vt:filetime>
  </property>
</Properties>
</file>