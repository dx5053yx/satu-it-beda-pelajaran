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483B7-453C-478D-AE77-2C7FA5E87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A3206-0E94-4F75-AEF8-1499D2B46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AE231-2853-4947-A480-B095E32A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BEBE-E691-4473-8142-F2E10A69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531B-4707-4E41-BFD2-044FD397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892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1391-1591-4016-AE3F-76444EFEE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A7364-4618-4861-88B3-E15CD5557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1BAD-2084-4A05-A3BE-95F1172EE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2341E-058C-447D-BFEC-732E851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C5D26-A712-4C85-AED0-58178A99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313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D0DF2-E024-47CD-8AD4-99844B70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61110-2D3A-4DA8-8355-BC7911D6F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A5C61-FAC3-42D1-BB1D-92F2F90B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84E97-F1DA-4A85-AADD-D25725B5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A62B-5C10-4746-BE3C-CA7B26DD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620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ABF8-7FA6-4D07-9AEE-B3CBCAF8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1B0CB-7656-4F51-ABEF-AEF46DD70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1C405-D0FA-42EB-8C9D-15B350F3B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AD2A7-A007-44EB-97C6-65A8AD11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891DC-400D-446F-96E9-083BFDB8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BDF9D-9082-4CAE-BAF9-06A30790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831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CA48-CA21-4A7C-A464-FE25D4EC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B4D9F-4825-4552-AF32-E963E8F8C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8612D-2F26-4117-A887-A3BB12F39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6104F2-9B17-4614-A34D-29113DAAE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0AB3F-9AB3-41EB-AFCD-61DBBFD9A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C4F6C-1A9B-403F-85CE-D3CBC45F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6356B-F760-48A4-B81A-756DAF65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C757-6D62-4AC0-90FA-5EDB27C9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602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2849-DCE8-4FD1-9FD3-2BA95417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63938-1C3D-45FD-8462-1F134A84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5FBE6-C56E-4B53-91D8-79E0B672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3DDF6-FF4C-4A9D-8EC4-F599E5A5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668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71C13-9EC9-4D5D-B313-93CF2633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D7877-A130-4C50-A6D7-6CA0A0C8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59A71-1AFE-41BC-B7B4-3337F2B8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121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A6BA-E59E-4ACC-A034-89BF902FD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B7D0-9354-4375-A784-4C45479E8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6F875-9630-4F2E-8DB5-E4BC7603A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3A81C-50EF-4B83-B106-5C097FC5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65236-0262-4538-8435-DDD886AA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DD420-F57D-43EA-AEB9-AA531F64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853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B9C8-3D67-4523-9D91-EFE09C6E8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949EE-F4E6-4D43-8971-BBFA23D11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CC7ED-EB65-47B2-B511-59A617FAB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E01C9-4D64-4AC7-B56C-23CEBE51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3785F-E8E1-454C-949B-C1487EE30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6F8F6-74CB-4466-AC9D-5BA2023D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87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1A7B-AACF-4A82-BF8A-67D7118F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C929D-4785-41ED-9933-8D83A099B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0591B-E648-41D6-B32E-F23E0944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D8A25-21BD-4304-AC21-E9B8313DC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B5BDD-6701-44A9-9971-A71CE8DC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762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BDA38-9FCF-4897-B878-C9D6E5683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4F43B-8E08-4270-A2F9-EF171386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1F869-E4F9-4A54-A75F-31372A76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AC23D-E196-4E50-BF58-E4C08DDB4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A897E-DF2E-4B5A-9502-C8A93ABB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4001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826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299C0-0F2C-4B2D-97FF-22ECDD70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B3C78-E5F2-4D44-8B4A-23A8FFEA8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6833D-8EB8-4BA4-9277-A81C36D61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CF33E-CB61-469B-98E8-F46E2AF81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920C9-C3D9-483B-8FDF-0175BE43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0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9714" y="3593668"/>
            <a:ext cx="560451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Linear Discriminant</a:t>
            </a:r>
            <a:r>
              <a:rPr sz="3200" b="1" spc="-114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Analysis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0168" y="98298"/>
            <a:ext cx="48482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latin typeface="Arial"/>
                <a:cs typeface="Arial"/>
              </a:rPr>
              <a:t>Pengenalan Pola/  Pattern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4407" y="149428"/>
            <a:ext cx="5033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Pokok</a:t>
            </a:r>
            <a:r>
              <a:rPr sz="4400" spc="-50" dirty="0"/>
              <a:t> </a:t>
            </a:r>
            <a:r>
              <a:rPr sz="4400" dirty="0"/>
              <a:t>Pembahasan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133395"/>
            <a:ext cx="6038850" cy="34664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Linear Discriminant Analysis</a:t>
            </a:r>
            <a:r>
              <a:rPr sz="2800" spc="6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(LDA)</a:t>
            </a:r>
            <a:endParaRPr sz="28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9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Pengertian Klasifikasi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LDA</a:t>
            </a:r>
            <a:endParaRPr sz="24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Rumus Umum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LDA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Case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Study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Pengenalan Citra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Digital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Demos Program Naïve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Bayes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dirty="0">
                <a:latin typeface="Arial"/>
                <a:cs typeface="Arial"/>
              </a:rPr>
              <a:t>Latihan </a:t>
            </a:r>
            <a:r>
              <a:rPr sz="2800" spc="-5" dirty="0">
                <a:latin typeface="Arial"/>
                <a:cs typeface="Arial"/>
              </a:rPr>
              <a:t>&amp; Tugas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5194" y="264617"/>
            <a:ext cx="3754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Klasifikasi</a:t>
            </a:r>
            <a:r>
              <a:rPr sz="4400" spc="-95" dirty="0"/>
              <a:t> </a:t>
            </a:r>
            <a:r>
              <a:rPr sz="4400" dirty="0"/>
              <a:t>LDA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8074659" cy="5148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353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Dua </a:t>
            </a:r>
            <a:r>
              <a:rPr sz="2000" spc="-5" dirty="0">
                <a:latin typeface="Arial"/>
                <a:cs typeface="Arial"/>
              </a:rPr>
              <a:t>pendekatan klasik untuk menghitung transformasi </a:t>
            </a:r>
            <a:r>
              <a:rPr sz="2000" dirty="0">
                <a:latin typeface="Arial"/>
                <a:cs typeface="Arial"/>
              </a:rPr>
              <a:t>linier </a:t>
            </a:r>
            <a:r>
              <a:rPr sz="2000" spc="-5" dirty="0">
                <a:latin typeface="Arial"/>
                <a:cs typeface="Arial"/>
              </a:rPr>
              <a:t>yang  </a:t>
            </a:r>
            <a:r>
              <a:rPr sz="2000" dirty="0">
                <a:latin typeface="Arial"/>
                <a:cs typeface="Arial"/>
              </a:rPr>
              <a:t>optimal (Review)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475"/>
              </a:spcBef>
              <a:buChar char="–"/>
              <a:tabLst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Principal 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Components Analysis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(PCA)</a:t>
            </a:r>
            <a:r>
              <a:rPr sz="2000" dirty="0">
                <a:latin typeface="Arial"/>
                <a:cs typeface="Arial"/>
              </a:rPr>
              <a:t>: mencari </a:t>
            </a:r>
            <a:r>
              <a:rPr sz="2000" spc="-5" dirty="0">
                <a:latin typeface="Arial"/>
                <a:cs typeface="Arial"/>
              </a:rPr>
              <a:t>proyeksi yang  </a:t>
            </a:r>
            <a:r>
              <a:rPr sz="2000" b="1" spc="-5" dirty="0">
                <a:latin typeface="Arial"/>
                <a:cs typeface="Arial"/>
              </a:rPr>
              <a:t>menyediakan informasi </a:t>
            </a:r>
            <a:r>
              <a:rPr sz="2000" dirty="0">
                <a:latin typeface="Arial"/>
                <a:cs typeface="Arial"/>
              </a:rPr>
              <a:t>sebanyak mungkin dalam data </a:t>
            </a:r>
            <a:r>
              <a:rPr sz="2000" spc="-5" dirty="0">
                <a:latin typeface="Arial"/>
                <a:cs typeface="Arial"/>
              </a:rPr>
              <a:t>dengan  </a:t>
            </a:r>
            <a:r>
              <a:rPr sz="2000" dirty="0">
                <a:latin typeface="Arial"/>
                <a:cs typeface="Arial"/>
              </a:rPr>
              <a:t>pendekatan </a:t>
            </a:r>
            <a:r>
              <a:rPr sz="2000" spc="-5" dirty="0">
                <a:latin typeface="Arial"/>
                <a:cs typeface="Arial"/>
              </a:rPr>
              <a:t>least-squares. </a:t>
            </a:r>
            <a:r>
              <a:rPr sz="2000" dirty="0">
                <a:latin typeface="Arial"/>
                <a:cs typeface="Arial"/>
              </a:rPr>
              <a:t>PCA </a:t>
            </a:r>
            <a:r>
              <a:rPr sz="2000" spc="-5" dirty="0">
                <a:latin typeface="Arial"/>
                <a:cs typeface="Arial"/>
              </a:rPr>
              <a:t>memberikan </a:t>
            </a:r>
            <a:r>
              <a:rPr sz="2000" dirty="0">
                <a:latin typeface="Arial"/>
                <a:cs typeface="Arial"/>
              </a:rPr>
              <a:t>perlakuan </a:t>
            </a:r>
            <a:r>
              <a:rPr sz="2000" spc="-5" dirty="0">
                <a:latin typeface="Arial"/>
                <a:cs typeface="Arial"/>
              </a:rPr>
              <a:t>statistik  </a:t>
            </a:r>
            <a:r>
              <a:rPr sz="2000" dirty="0">
                <a:latin typeface="Arial"/>
                <a:cs typeface="Arial"/>
              </a:rPr>
              <a:t>yang sama bagi seluruh data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kelas.</a:t>
            </a:r>
            <a:endParaRPr sz="2000">
              <a:latin typeface="Arial"/>
              <a:cs typeface="Arial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484"/>
              </a:spcBef>
              <a:buChar char="–"/>
              <a:tabLst>
                <a:tab pos="756920" algn="l"/>
              </a:tabLst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Linear Discriminant Analysis (LDA)</a:t>
            </a:r>
            <a:r>
              <a:rPr sz="2000" dirty="0">
                <a:latin typeface="Arial"/>
                <a:cs typeface="Arial"/>
              </a:rPr>
              <a:t>: </a:t>
            </a:r>
            <a:r>
              <a:rPr sz="2000" spc="-5" dirty="0">
                <a:latin typeface="Arial"/>
                <a:cs typeface="Arial"/>
              </a:rPr>
              <a:t>mencari proyeksi terbaik  </a:t>
            </a:r>
            <a:r>
              <a:rPr sz="2000" dirty="0">
                <a:latin typeface="Arial"/>
                <a:cs typeface="Arial"/>
              </a:rPr>
              <a:t>yang dapat </a:t>
            </a:r>
            <a:r>
              <a:rPr sz="2000" b="1" spc="-5" dirty="0">
                <a:latin typeface="Arial"/>
                <a:cs typeface="Arial"/>
              </a:rPr>
              <a:t>memisahkan </a:t>
            </a:r>
            <a:r>
              <a:rPr sz="2000" b="1" dirty="0">
                <a:latin typeface="Arial"/>
                <a:cs typeface="Arial"/>
              </a:rPr>
              <a:t>data </a:t>
            </a:r>
            <a:r>
              <a:rPr sz="2000" dirty="0">
                <a:latin typeface="Arial"/>
                <a:cs typeface="Arial"/>
              </a:rPr>
              <a:t>dengan </a:t>
            </a:r>
            <a:r>
              <a:rPr sz="2000" spc="-5" dirty="0">
                <a:latin typeface="Arial"/>
                <a:cs typeface="Arial"/>
              </a:rPr>
              <a:t>pendekatan least-  </a:t>
            </a:r>
            <a:r>
              <a:rPr sz="2000" dirty="0">
                <a:latin typeface="Arial"/>
                <a:cs typeface="Arial"/>
              </a:rPr>
              <a:t>squares. LDA memberikan perlakuan </a:t>
            </a:r>
            <a:r>
              <a:rPr sz="2000" spc="-5" dirty="0">
                <a:latin typeface="Arial"/>
                <a:cs typeface="Arial"/>
              </a:rPr>
              <a:t>statistik yang berbeda/  </a:t>
            </a:r>
            <a:r>
              <a:rPr sz="2000" dirty="0">
                <a:latin typeface="Arial"/>
                <a:cs typeface="Arial"/>
              </a:rPr>
              <a:t>terpisah </a:t>
            </a:r>
            <a:r>
              <a:rPr sz="2000" spc="-5" dirty="0">
                <a:latin typeface="Arial"/>
                <a:cs typeface="Arial"/>
              </a:rPr>
              <a:t>untuk tiap-tiap </a:t>
            </a:r>
            <a:r>
              <a:rPr sz="2000" dirty="0">
                <a:latin typeface="Arial"/>
                <a:cs typeface="Arial"/>
              </a:rPr>
              <a:t>kelas </a:t>
            </a:r>
            <a:r>
              <a:rPr sz="2000" spc="-5" dirty="0">
                <a:latin typeface="Arial"/>
                <a:cs typeface="Arial"/>
              </a:rPr>
              <a:t>dengan menemukan </a:t>
            </a:r>
            <a:r>
              <a:rPr sz="2000" dirty="0">
                <a:latin typeface="Arial"/>
                <a:cs typeface="Arial"/>
              </a:rPr>
              <a:t>kombinasi  linier dari </a:t>
            </a:r>
            <a:r>
              <a:rPr sz="2000" spc="-5" dirty="0">
                <a:latin typeface="Arial"/>
                <a:cs typeface="Arial"/>
              </a:rPr>
              <a:t>fitur </a:t>
            </a:r>
            <a:r>
              <a:rPr sz="2000" dirty="0">
                <a:latin typeface="Arial"/>
                <a:cs typeface="Arial"/>
              </a:rPr>
              <a:t>yang menjadi ciri khas objek setiap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kelas.</a:t>
            </a:r>
            <a:endParaRPr sz="2000">
              <a:latin typeface="Arial"/>
              <a:cs typeface="Arial"/>
            </a:endParaRPr>
          </a:p>
          <a:p>
            <a:pPr marL="355600" indent="-343535" algn="just">
              <a:lnSpc>
                <a:spcPct val="100000"/>
              </a:lnSpc>
              <a:spcBef>
                <a:spcPts val="484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Tujuan PCA : </a:t>
            </a:r>
            <a:r>
              <a:rPr sz="2000" spc="-5" dirty="0">
                <a:latin typeface="Arial"/>
                <a:cs typeface="Arial"/>
              </a:rPr>
              <a:t>mengurangi </a:t>
            </a:r>
            <a:r>
              <a:rPr sz="2000" dirty="0">
                <a:latin typeface="Arial"/>
                <a:cs typeface="Arial"/>
              </a:rPr>
              <a:t>dimensi </a:t>
            </a:r>
            <a:r>
              <a:rPr sz="2000" spc="-5" dirty="0">
                <a:latin typeface="Arial"/>
                <a:cs typeface="Arial"/>
              </a:rPr>
              <a:t>data </a:t>
            </a:r>
            <a:r>
              <a:rPr sz="2000" dirty="0">
                <a:latin typeface="Arial"/>
                <a:cs typeface="Arial"/>
              </a:rPr>
              <a:t>dengan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mempertahankan</a:t>
            </a:r>
            <a:endParaRPr sz="200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sebanyak mungkin informasi dari dataset yang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asli.</a:t>
            </a:r>
            <a:endParaRPr sz="2000">
              <a:latin typeface="Arial"/>
              <a:cs typeface="Arial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480"/>
              </a:spcBef>
              <a:buChar char="•"/>
              <a:tabLst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Tujuan LDA : mencari proyeksi linear </a:t>
            </a:r>
            <a:r>
              <a:rPr sz="2000" spc="-5" dirty="0">
                <a:latin typeface="Arial"/>
                <a:cs typeface="Arial"/>
              </a:rPr>
              <a:t>(fisherface) untuk  </a:t>
            </a:r>
            <a:r>
              <a:rPr sz="2000" dirty="0">
                <a:latin typeface="Arial"/>
                <a:cs typeface="Arial"/>
              </a:rPr>
              <a:t>memaksimumkan pemisahan </a:t>
            </a:r>
            <a:r>
              <a:rPr sz="2000" spc="-5" dirty="0">
                <a:latin typeface="Arial"/>
                <a:cs typeface="Arial"/>
              </a:rPr>
              <a:t>antar kelas dan juga </a:t>
            </a:r>
            <a:r>
              <a:rPr sz="2000" dirty="0">
                <a:latin typeface="Arial"/>
                <a:cs typeface="Arial"/>
              </a:rPr>
              <a:t>meminimumkan  jarak di dalam kelas objek yang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Contoh Studi</a:t>
            </a:r>
            <a:r>
              <a:rPr spc="-10" dirty="0"/>
              <a:t> </a:t>
            </a:r>
            <a:r>
              <a:rPr spc="-5" dirty="0"/>
              <a:t>Kasus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7304"/>
            <a:ext cx="79470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"/>
                <a:cs typeface="Arial"/>
              </a:rPr>
              <a:t>Pabrik "ABC" memproduksi chip rings dengan kualitas tinggi dan sangat mahal </a:t>
            </a:r>
            <a:r>
              <a:rPr sz="1600" spc="-10" dirty="0">
                <a:latin typeface="Arial"/>
                <a:cs typeface="Arial"/>
              </a:rPr>
              <a:t>yang  </a:t>
            </a:r>
            <a:r>
              <a:rPr sz="1600" spc="-5" dirty="0">
                <a:latin typeface="Arial"/>
                <a:cs typeface="Arial"/>
              </a:rPr>
              <a:t>diukur dengan dua fitur </a:t>
            </a:r>
            <a:r>
              <a:rPr sz="1600" spc="-10" dirty="0">
                <a:latin typeface="Arial"/>
                <a:cs typeface="Arial"/>
              </a:rPr>
              <a:t>yaitu </a:t>
            </a:r>
            <a:r>
              <a:rPr sz="1600" spc="-5" dirty="0">
                <a:latin typeface="Arial"/>
                <a:cs typeface="Arial"/>
              </a:rPr>
              <a:t>curvature/kelengkungan dan diameter. Hasil quality  control oleh para ahli diberikan dalam dataset berikut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5443524"/>
            <a:ext cx="77044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Jika </a:t>
            </a:r>
            <a:r>
              <a:rPr sz="1600" spc="-5" dirty="0">
                <a:latin typeface="Arial"/>
                <a:cs typeface="Arial"/>
              </a:rPr>
              <a:t>diketahui sebuah chip rings memiliki curvature 2.81 dan diameter 5.46. Tentukan  kelas quality controlnya.! (Gunakan Konsep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LDA)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3762" y="2198751"/>
          <a:ext cx="6995159" cy="297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Curvature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Diameter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Quality 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Control</a:t>
                      </a:r>
                      <a:r>
                        <a:rPr sz="1800" b="1" spc="-7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spc="-5" dirty="0">
                          <a:latin typeface="Carlito"/>
                          <a:cs typeface="Carlito"/>
                        </a:rPr>
                        <a:t>Result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2.95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6.63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2.53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7.79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3.57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5.65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3.57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5.45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3.16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4.46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Not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3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2.58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6.22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Not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2.16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3.52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Not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passed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Contoh Studi</a:t>
            </a:r>
            <a:r>
              <a:rPr spc="-10" dirty="0"/>
              <a:t> </a:t>
            </a:r>
            <a:r>
              <a:rPr spc="-5" dirty="0"/>
              <a:t>Kasus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7927"/>
            <a:ext cx="4467860" cy="13658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"/>
                <a:cs typeface="Arial"/>
              </a:rPr>
              <a:t>Penyelesaian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600" spc="-5" dirty="0">
                <a:latin typeface="Arial"/>
                <a:cs typeface="Arial"/>
              </a:rPr>
              <a:t>–	Fase Training :</a:t>
            </a:r>
            <a:endParaRPr sz="16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869"/>
              </a:spcBef>
            </a:pPr>
            <a:r>
              <a:rPr sz="1800" dirty="0">
                <a:latin typeface="Arial"/>
                <a:cs typeface="Arial"/>
              </a:rPr>
              <a:t>X = features </a:t>
            </a:r>
            <a:r>
              <a:rPr sz="1800" spc="-5" dirty="0">
                <a:latin typeface="Arial"/>
                <a:cs typeface="Arial"/>
              </a:rPr>
              <a:t>(variables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independent)</a:t>
            </a:r>
            <a:endParaRPr sz="1800">
              <a:latin typeface="Arial"/>
              <a:cs typeface="Arial"/>
            </a:endParaRPr>
          </a:p>
          <a:p>
            <a:pPr marL="4445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Arial"/>
                <a:cs typeface="Arial"/>
              </a:rPr>
              <a:t>Y = </a:t>
            </a:r>
            <a:r>
              <a:rPr sz="1800" spc="-5" dirty="0">
                <a:latin typeface="Arial"/>
                <a:cs typeface="Arial"/>
              </a:rPr>
              <a:t>Kelas/ Group (variables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dependent)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3003" y="2870657"/>
            <a:ext cx="3924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6264" algn="l"/>
              </a:tabLst>
            </a:pPr>
            <a:r>
              <a:rPr sz="1800" spc="-5" dirty="0">
                <a:latin typeface="Arial"/>
                <a:cs typeface="Arial"/>
              </a:rPr>
              <a:t>2.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Memisahkan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	</a:t>
            </a:r>
            <a:r>
              <a:rPr sz="1800" spc="-5" dirty="0">
                <a:latin typeface="Arial"/>
                <a:cs typeface="Arial"/>
              </a:rPr>
              <a:t>berdasarkan group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7290" y="2808859"/>
            <a:ext cx="2123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1. </a:t>
            </a:r>
            <a:r>
              <a:rPr sz="1800" spc="-5" dirty="0">
                <a:latin typeface="Arial"/>
                <a:cs typeface="Arial"/>
              </a:rPr>
              <a:t>Labeling </a:t>
            </a:r>
            <a:r>
              <a:rPr sz="1800" dirty="0">
                <a:latin typeface="Arial"/>
                <a:cs typeface="Arial"/>
              </a:rPr>
              <a:t>Dataset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17575" y="3212973"/>
            <a:ext cx="7686675" cy="2405380"/>
            <a:chOff x="917575" y="3212973"/>
            <a:chExt cx="7686675" cy="2405380"/>
          </a:xfrm>
        </p:grpSpPr>
        <p:sp>
          <p:nvSpPr>
            <p:cNvPr id="7" name="object 7"/>
            <p:cNvSpPr/>
            <p:nvPr/>
          </p:nvSpPr>
          <p:spPr>
            <a:xfrm>
              <a:off x="917575" y="3213036"/>
              <a:ext cx="4375150" cy="240512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76851" y="3212973"/>
              <a:ext cx="3827399" cy="187172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Contoh Studi</a:t>
            </a:r>
            <a:r>
              <a:rPr spc="-10" dirty="0"/>
              <a:t> </a:t>
            </a:r>
            <a:r>
              <a:rPr spc="-5" dirty="0"/>
              <a:t>Kasus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7927"/>
            <a:ext cx="4467860" cy="13658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"/>
                <a:cs typeface="Arial"/>
              </a:rPr>
              <a:t>Penyelesaian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600" spc="-5" dirty="0">
                <a:latin typeface="Arial"/>
                <a:cs typeface="Arial"/>
              </a:rPr>
              <a:t>–	Fase Training :</a:t>
            </a:r>
            <a:endParaRPr sz="16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869"/>
              </a:spcBef>
            </a:pPr>
            <a:r>
              <a:rPr sz="1800" dirty="0">
                <a:latin typeface="Arial"/>
                <a:cs typeface="Arial"/>
              </a:rPr>
              <a:t>X = features </a:t>
            </a:r>
            <a:r>
              <a:rPr sz="1800" spc="-5" dirty="0">
                <a:latin typeface="Arial"/>
                <a:cs typeface="Arial"/>
              </a:rPr>
              <a:t>(variables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independent)</a:t>
            </a:r>
            <a:endParaRPr sz="1800">
              <a:latin typeface="Arial"/>
              <a:cs typeface="Arial"/>
            </a:endParaRPr>
          </a:p>
          <a:p>
            <a:pPr marL="4445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Arial"/>
                <a:cs typeface="Arial"/>
              </a:rPr>
              <a:t>Y = </a:t>
            </a:r>
            <a:r>
              <a:rPr sz="1800" spc="-5" dirty="0">
                <a:latin typeface="Arial"/>
                <a:cs typeface="Arial"/>
              </a:rPr>
              <a:t>Kelas/ Group (variables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dependent)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9452" y="3005454"/>
            <a:ext cx="2354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5" baseline="-20833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minus mean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global)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2735960"/>
            <a:ext cx="4006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803650" algn="l"/>
              </a:tabLst>
            </a:pPr>
            <a:r>
              <a:rPr sz="1800" spc="-5" dirty="0">
                <a:latin typeface="Arial"/>
                <a:cs typeface="Arial"/>
              </a:rPr>
              <a:t>3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5" dirty="0">
                <a:latin typeface="Arial"/>
                <a:cs typeface="Arial"/>
              </a:rPr>
              <a:t> Hit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μ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tur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s 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ri	</a:t>
            </a:r>
            <a:r>
              <a:rPr sz="2700" spc="-7" baseline="1543" dirty="0">
                <a:latin typeface="Arial"/>
                <a:cs typeface="Arial"/>
              </a:rPr>
              <a:t>4.  </a:t>
            </a:r>
            <a:r>
              <a:rPr sz="1800" spc="-5" dirty="0">
                <a:latin typeface="Arial"/>
                <a:cs typeface="Arial"/>
              </a:rPr>
              <a:t>group </a:t>
            </a:r>
            <a:r>
              <a:rPr sz="1800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dan </a:t>
            </a:r>
            <a:r>
              <a:rPr sz="1800" dirty="0">
                <a:latin typeface="Arial"/>
                <a:cs typeface="Arial"/>
              </a:rPr>
              <a:t>μ = </a:t>
            </a:r>
            <a:r>
              <a:rPr sz="1800" spc="-5" dirty="0">
                <a:latin typeface="Arial"/>
                <a:cs typeface="Arial"/>
              </a:rPr>
              <a:t>mean </a:t>
            </a:r>
            <a:r>
              <a:rPr sz="1800" spc="-10" dirty="0">
                <a:latin typeface="Arial"/>
                <a:cs typeface="Arial"/>
              </a:rPr>
              <a:t>global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00112" y="3360801"/>
            <a:ext cx="7837805" cy="1332230"/>
            <a:chOff x="900112" y="3360801"/>
            <a:chExt cx="7837805" cy="1332230"/>
          </a:xfrm>
        </p:grpSpPr>
        <p:sp>
          <p:nvSpPr>
            <p:cNvPr id="7" name="object 7"/>
            <p:cNvSpPr/>
            <p:nvPr/>
          </p:nvSpPr>
          <p:spPr>
            <a:xfrm>
              <a:off x="900112" y="3378263"/>
              <a:ext cx="4048125" cy="5730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1712" y="3933761"/>
              <a:ext cx="2060575" cy="5603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16526" y="3360801"/>
              <a:ext cx="4021074" cy="13318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74851" y="2852137"/>
            <a:ext cx="9398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i="1" spc="90" dirty="0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2352" y="2620034"/>
            <a:ext cx="3162300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700" spc="-7" baseline="1543" dirty="0">
                <a:latin typeface="Arial"/>
                <a:cs typeface="Arial"/>
              </a:rPr>
              <a:t>Hitung </a:t>
            </a:r>
            <a:r>
              <a:rPr sz="2700" i="1" spc="275" dirty="0">
                <a:latin typeface="Times New Roman"/>
                <a:cs typeface="Times New Roman"/>
              </a:rPr>
              <a:t>x</a:t>
            </a:r>
            <a:r>
              <a:rPr sz="2700" i="1" spc="-190" dirty="0">
                <a:latin typeface="Times New Roman"/>
                <a:cs typeface="Times New Roman"/>
              </a:rPr>
              <a:t> </a:t>
            </a:r>
            <a:r>
              <a:rPr sz="2400" spc="247" baseline="43402" dirty="0">
                <a:latin typeface="Times New Roman"/>
                <a:cs typeface="Times New Roman"/>
              </a:rPr>
              <a:t>0 </a:t>
            </a:r>
            <a:r>
              <a:rPr sz="2700" spc="-7" baseline="1543" dirty="0">
                <a:latin typeface="Arial"/>
                <a:cs typeface="Arial"/>
              </a:rPr>
              <a:t>(Mean Corrected) </a:t>
            </a:r>
            <a:r>
              <a:rPr sz="2700" baseline="1543" dirty="0">
                <a:latin typeface="Arial"/>
                <a:cs typeface="Arial"/>
              </a:rPr>
              <a:t>:</a:t>
            </a:r>
            <a:endParaRPr sz="2700" baseline="154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9119" y="4536440"/>
            <a:ext cx="335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5. </a:t>
            </a:r>
            <a:r>
              <a:rPr sz="1800" spc="-5" dirty="0">
                <a:latin typeface="Arial"/>
                <a:cs typeface="Arial"/>
              </a:rPr>
              <a:t>Hitung </a:t>
            </a:r>
            <a:r>
              <a:rPr sz="1800" dirty="0">
                <a:latin typeface="Arial"/>
                <a:cs typeface="Arial"/>
              </a:rPr>
              <a:t>matrik </a:t>
            </a:r>
            <a:r>
              <a:rPr sz="1800" spc="-5" dirty="0">
                <a:latin typeface="Arial"/>
                <a:cs typeface="Arial"/>
              </a:rPr>
              <a:t>Kovarian group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00112" y="4664075"/>
            <a:ext cx="7417434" cy="1157605"/>
            <a:chOff x="900112" y="4664075"/>
            <a:chExt cx="7417434" cy="1157605"/>
          </a:xfrm>
        </p:grpSpPr>
        <p:sp>
          <p:nvSpPr>
            <p:cNvPr id="14" name="object 14"/>
            <p:cNvSpPr/>
            <p:nvPr/>
          </p:nvSpPr>
          <p:spPr>
            <a:xfrm>
              <a:off x="900112" y="4664075"/>
              <a:ext cx="1997075" cy="10541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73850" y="5051425"/>
              <a:ext cx="1643126" cy="75406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9975" y="5022850"/>
              <a:ext cx="1849501" cy="7985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79119" y="5830620"/>
            <a:ext cx="442785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C(1,1) = </a:t>
            </a:r>
            <a:r>
              <a:rPr sz="1400" spc="-5" dirty="0">
                <a:latin typeface="Arial"/>
                <a:cs typeface="Arial"/>
              </a:rPr>
              <a:t>(4/7)*(0.166) </a:t>
            </a:r>
            <a:r>
              <a:rPr sz="1400" dirty="0">
                <a:latin typeface="Arial"/>
                <a:cs typeface="Arial"/>
              </a:rPr>
              <a:t>+ </a:t>
            </a:r>
            <a:r>
              <a:rPr sz="1400" spc="-5" dirty="0">
                <a:latin typeface="Arial"/>
                <a:cs typeface="Arial"/>
              </a:rPr>
              <a:t>(3/7)*(0.259)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0.206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C(1,2) = C(2,1) = (4/7)*(-0.192) + </a:t>
            </a:r>
            <a:r>
              <a:rPr sz="1400" spc="-5" dirty="0">
                <a:latin typeface="Arial"/>
                <a:cs typeface="Arial"/>
              </a:rPr>
              <a:t>(3/7)*(-0.286)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-0.233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C(2,2) = </a:t>
            </a:r>
            <a:r>
              <a:rPr sz="1400" spc="-5" dirty="0">
                <a:latin typeface="Arial"/>
                <a:cs typeface="Arial"/>
              </a:rPr>
              <a:t>(4/7)*(1.349) </a:t>
            </a:r>
            <a:r>
              <a:rPr sz="1400" dirty="0">
                <a:latin typeface="Arial"/>
                <a:cs typeface="Arial"/>
              </a:rPr>
              <a:t>+ </a:t>
            </a:r>
            <a:r>
              <a:rPr sz="1400" spc="-5" dirty="0">
                <a:latin typeface="Arial"/>
                <a:cs typeface="Arial"/>
              </a:rPr>
              <a:t>(3/7)*(2.142)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1.689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89476" y="5084762"/>
            <a:ext cx="4018279" cy="1513205"/>
            <a:chOff x="4189476" y="5084762"/>
            <a:chExt cx="4018279" cy="1513205"/>
          </a:xfrm>
        </p:grpSpPr>
        <p:sp>
          <p:nvSpPr>
            <p:cNvPr id="19" name="object 19"/>
            <p:cNvSpPr/>
            <p:nvPr/>
          </p:nvSpPr>
          <p:spPr>
            <a:xfrm>
              <a:off x="4189476" y="5084762"/>
              <a:ext cx="2073275" cy="74295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80126" y="5897562"/>
              <a:ext cx="215900" cy="555625"/>
            </a:xfrm>
            <a:custGeom>
              <a:avLst/>
              <a:gdLst/>
              <a:ahLst/>
              <a:cxnLst/>
              <a:rect l="l" t="t" r="r" b="b"/>
              <a:pathLst>
                <a:path w="215900" h="555625">
                  <a:moveTo>
                    <a:pt x="0" y="0"/>
                  </a:moveTo>
                  <a:lnTo>
                    <a:pt x="41995" y="1413"/>
                  </a:lnTo>
                  <a:lnTo>
                    <a:pt x="76311" y="5268"/>
                  </a:lnTo>
                  <a:lnTo>
                    <a:pt x="99458" y="10988"/>
                  </a:lnTo>
                  <a:lnTo>
                    <a:pt x="107950" y="17995"/>
                  </a:lnTo>
                  <a:lnTo>
                    <a:pt x="107950" y="259816"/>
                  </a:lnTo>
                  <a:lnTo>
                    <a:pt x="116423" y="266823"/>
                  </a:lnTo>
                  <a:lnTo>
                    <a:pt x="139541" y="272543"/>
                  </a:lnTo>
                  <a:lnTo>
                    <a:pt x="173851" y="276399"/>
                  </a:lnTo>
                  <a:lnTo>
                    <a:pt x="215900" y="277812"/>
                  </a:lnTo>
                  <a:lnTo>
                    <a:pt x="173851" y="279225"/>
                  </a:lnTo>
                  <a:lnTo>
                    <a:pt x="139541" y="283081"/>
                  </a:lnTo>
                  <a:lnTo>
                    <a:pt x="116423" y="288801"/>
                  </a:lnTo>
                  <a:lnTo>
                    <a:pt x="107950" y="295808"/>
                  </a:lnTo>
                  <a:lnTo>
                    <a:pt x="107950" y="537629"/>
                  </a:lnTo>
                  <a:lnTo>
                    <a:pt x="99458" y="544636"/>
                  </a:lnTo>
                  <a:lnTo>
                    <a:pt x="76311" y="550356"/>
                  </a:lnTo>
                  <a:lnTo>
                    <a:pt x="41995" y="554211"/>
                  </a:lnTo>
                  <a:lnTo>
                    <a:pt x="0" y="55562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77001" y="5654675"/>
              <a:ext cx="2230374" cy="94297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56325" y="5373750"/>
              <a:ext cx="409575" cy="93980"/>
            </a:xfrm>
            <a:custGeom>
              <a:avLst/>
              <a:gdLst/>
              <a:ahLst/>
              <a:cxnLst/>
              <a:rect l="l" t="t" r="r" b="b"/>
              <a:pathLst>
                <a:path w="409575" h="93979">
                  <a:moveTo>
                    <a:pt x="362711" y="0"/>
                  </a:moveTo>
                  <a:lnTo>
                    <a:pt x="362711" y="23368"/>
                  </a:lnTo>
                  <a:lnTo>
                    <a:pt x="0" y="23368"/>
                  </a:lnTo>
                  <a:lnTo>
                    <a:pt x="0" y="70231"/>
                  </a:lnTo>
                  <a:lnTo>
                    <a:pt x="362711" y="70231"/>
                  </a:lnTo>
                  <a:lnTo>
                    <a:pt x="362711" y="93599"/>
                  </a:lnTo>
                  <a:lnTo>
                    <a:pt x="409575" y="46736"/>
                  </a:lnTo>
                  <a:lnTo>
                    <a:pt x="3627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56325" y="5373750"/>
              <a:ext cx="409575" cy="93980"/>
            </a:xfrm>
            <a:custGeom>
              <a:avLst/>
              <a:gdLst/>
              <a:ahLst/>
              <a:cxnLst/>
              <a:rect l="l" t="t" r="r" b="b"/>
              <a:pathLst>
                <a:path w="409575" h="93979">
                  <a:moveTo>
                    <a:pt x="0" y="23368"/>
                  </a:moveTo>
                  <a:lnTo>
                    <a:pt x="362711" y="23368"/>
                  </a:lnTo>
                  <a:lnTo>
                    <a:pt x="362711" y="0"/>
                  </a:lnTo>
                  <a:lnTo>
                    <a:pt x="409575" y="46736"/>
                  </a:lnTo>
                  <a:lnTo>
                    <a:pt x="362711" y="93599"/>
                  </a:lnTo>
                  <a:lnTo>
                    <a:pt x="362711" y="70231"/>
                  </a:lnTo>
                  <a:lnTo>
                    <a:pt x="0" y="70231"/>
                  </a:lnTo>
                  <a:lnTo>
                    <a:pt x="0" y="2336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Contoh Studi</a:t>
            </a:r>
            <a:r>
              <a:rPr spc="-10" dirty="0"/>
              <a:t> </a:t>
            </a:r>
            <a:r>
              <a:rPr spc="-5" dirty="0"/>
              <a:t>Kasus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7927"/>
            <a:ext cx="4467860" cy="13658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"/>
                <a:cs typeface="Arial"/>
              </a:rPr>
              <a:t>Penyelesaian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600" spc="-5" dirty="0">
                <a:latin typeface="Arial"/>
                <a:cs typeface="Arial"/>
              </a:rPr>
              <a:t>–	Fase Training :</a:t>
            </a:r>
            <a:endParaRPr sz="16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869"/>
              </a:spcBef>
            </a:pPr>
            <a:r>
              <a:rPr sz="1800" dirty="0">
                <a:latin typeface="Arial"/>
                <a:cs typeface="Arial"/>
              </a:rPr>
              <a:t>X = features </a:t>
            </a:r>
            <a:r>
              <a:rPr sz="1800" spc="-5" dirty="0">
                <a:latin typeface="Arial"/>
                <a:cs typeface="Arial"/>
              </a:rPr>
              <a:t>(variables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independent)</a:t>
            </a:r>
            <a:endParaRPr sz="1800">
              <a:latin typeface="Arial"/>
              <a:cs typeface="Arial"/>
            </a:endParaRPr>
          </a:p>
          <a:p>
            <a:pPr marL="4445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Arial"/>
                <a:cs typeface="Arial"/>
              </a:rPr>
              <a:t>Y = </a:t>
            </a:r>
            <a:r>
              <a:rPr sz="1800" spc="-5" dirty="0">
                <a:latin typeface="Arial"/>
                <a:cs typeface="Arial"/>
              </a:rPr>
              <a:t>Kelas/ Group (variables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dependent)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4852" y="2731134"/>
            <a:ext cx="3453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7. </a:t>
            </a:r>
            <a:r>
              <a:rPr sz="1800" spc="-5" dirty="0">
                <a:latin typeface="Arial"/>
                <a:cs typeface="Arial"/>
              </a:rPr>
              <a:t>Hitung Probabilitas Prior Setiap  Kelas.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2735960"/>
            <a:ext cx="2743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6. </a:t>
            </a:r>
            <a:r>
              <a:rPr sz="1800" spc="-5" dirty="0">
                <a:latin typeface="Arial"/>
                <a:cs typeface="Arial"/>
              </a:rPr>
              <a:t>Hitung invers dari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matrik  </a:t>
            </a:r>
            <a:r>
              <a:rPr sz="1800" spc="-5" dirty="0">
                <a:latin typeface="Arial"/>
                <a:cs typeface="Arial"/>
              </a:rPr>
              <a:t>Kovarian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0587" y="3213100"/>
            <a:ext cx="6705600" cy="1968500"/>
            <a:chOff x="890587" y="3213100"/>
            <a:chExt cx="6705600" cy="1968500"/>
          </a:xfrm>
        </p:grpSpPr>
        <p:sp>
          <p:nvSpPr>
            <p:cNvPr id="7" name="object 7"/>
            <p:cNvSpPr/>
            <p:nvPr/>
          </p:nvSpPr>
          <p:spPr>
            <a:xfrm>
              <a:off x="890587" y="3213100"/>
              <a:ext cx="2232025" cy="19685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0" y="3349625"/>
              <a:ext cx="3024124" cy="7270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3444" y="4033265"/>
            <a:ext cx="7812405" cy="165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Note </a:t>
            </a:r>
            <a:r>
              <a:rPr sz="1400" dirty="0">
                <a:latin typeface="Arial"/>
                <a:cs typeface="Arial"/>
              </a:rPr>
              <a:t>: </a:t>
            </a:r>
            <a:r>
              <a:rPr sz="1400" spc="-5" dirty="0">
                <a:latin typeface="Arial"/>
                <a:cs typeface="Arial"/>
              </a:rPr>
              <a:t>Jika tidak diketahui Prob. Prior dari  Populasinya. </a:t>
            </a:r>
            <a:r>
              <a:rPr sz="1400" spc="-10" dirty="0">
                <a:latin typeface="Arial"/>
                <a:cs typeface="Arial"/>
              </a:rPr>
              <a:t>Maka </a:t>
            </a:r>
            <a:r>
              <a:rPr sz="1400" spc="-5" dirty="0">
                <a:latin typeface="Arial"/>
                <a:cs typeface="Arial"/>
              </a:rPr>
              <a:t>Prob Prior dari diasumsikan  dengan menghitung banyak data setiap kelas  </a:t>
            </a:r>
            <a:r>
              <a:rPr sz="1400" dirty="0">
                <a:latin typeface="Arial"/>
                <a:cs typeface="Arial"/>
              </a:rPr>
              <a:t>dibagi </a:t>
            </a:r>
            <a:r>
              <a:rPr sz="1400" spc="-5" dirty="0">
                <a:latin typeface="Arial"/>
                <a:cs typeface="Arial"/>
              </a:rPr>
              <a:t>dengan banyak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8. </a:t>
            </a:r>
            <a:r>
              <a:rPr sz="1800" spc="-5" dirty="0">
                <a:latin typeface="Arial"/>
                <a:cs typeface="Arial"/>
              </a:rPr>
              <a:t>Hitung Fungsi Diskriminan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50163" y="6103100"/>
            <a:ext cx="176530" cy="0"/>
          </a:xfrm>
          <a:custGeom>
            <a:avLst/>
            <a:gdLst/>
            <a:ahLst/>
            <a:cxnLst/>
            <a:rect l="l" t="t" r="r" b="b"/>
            <a:pathLst>
              <a:path w="176530">
                <a:moveTo>
                  <a:pt x="0" y="0"/>
                </a:moveTo>
                <a:lnTo>
                  <a:pt x="176327" y="0"/>
                </a:lnTo>
              </a:path>
            </a:pathLst>
          </a:custGeom>
          <a:ln w="12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57268" y="6092417"/>
            <a:ext cx="17526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dirty="0"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3050" y="5674861"/>
            <a:ext cx="17526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05884" y="6061760"/>
            <a:ext cx="7429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1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7464" y="6061760"/>
            <a:ext cx="7429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1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7274" y="6061760"/>
            <a:ext cx="2050414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8960" algn="l"/>
                <a:tab pos="1167765" algn="l"/>
                <a:tab pos="1988820" algn="l"/>
              </a:tabLst>
            </a:pPr>
            <a:r>
              <a:rPr sz="1400" i="1" spc="-10" dirty="0">
                <a:latin typeface="Times New Roman"/>
                <a:cs typeface="Times New Roman"/>
              </a:rPr>
              <a:t>i	i	</a:t>
            </a:r>
            <a:r>
              <a:rPr sz="1400" i="1" spc="-15" dirty="0">
                <a:latin typeface="Times New Roman"/>
                <a:cs typeface="Times New Roman"/>
              </a:rPr>
              <a:t>k	</a:t>
            </a:r>
            <a:r>
              <a:rPr sz="1400" i="1" spc="-1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88600" y="5861426"/>
            <a:ext cx="928369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1615" indent="-209550">
              <a:lnSpc>
                <a:spcPct val="100000"/>
              </a:lnSpc>
              <a:spcBef>
                <a:spcPts val="135"/>
              </a:spcBef>
              <a:buFont typeface="Symbol"/>
              <a:buChar char=""/>
              <a:tabLst>
                <a:tab pos="222250" algn="l"/>
              </a:tabLst>
            </a:pPr>
            <a:r>
              <a:rPr sz="2350" spc="-80" dirty="0">
                <a:latin typeface="Times New Roman"/>
                <a:cs typeface="Times New Roman"/>
              </a:rPr>
              <a:t>ln( </a:t>
            </a:r>
            <a:r>
              <a:rPr sz="2350" i="1" dirty="0">
                <a:latin typeface="Times New Roman"/>
                <a:cs typeface="Times New Roman"/>
              </a:rPr>
              <a:t>p</a:t>
            </a:r>
            <a:r>
              <a:rPr sz="2350" i="1" spc="-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27185" y="5855048"/>
            <a:ext cx="489584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9095" algn="l"/>
              </a:tabLst>
            </a:pPr>
            <a:r>
              <a:rPr sz="1400" spc="-110" dirty="0">
                <a:latin typeface="Symbol"/>
                <a:cs typeface="Symbol"/>
              </a:rPr>
              <a:t></a:t>
            </a:r>
            <a:r>
              <a:rPr sz="1400" spc="-1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i="1" spc="-15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7711" y="5845429"/>
            <a:ext cx="277812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81305" algn="l"/>
                <a:tab pos="1932939" algn="l"/>
                <a:tab pos="2567305" algn="l"/>
              </a:tabLst>
            </a:pPr>
            <a:r>
              <a:rPr sz="2350" i="1" dirty="0">
                <a:latin typeface="Times New Roman"/>
                <a:cs typeface="Times New Roman"/>
              </a:rPr>
              <a:t>f	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500" i="1" spc="-85" dirty="0">
                <a:latin typeface="Symbol"/>
                <a:cs typeface="Symbol"/>
              </a:rPr>
              <a:t></a:t>
            </a:r>
            <a:r>
              <a:rPr sz="2500" i="1" spc="-8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C</a:t>
            </a:r>
            <a:r>
              <a:rPr sz="2350" i="1" spc="-500" dirty="0">
                <a:latin typeface="Times New Roman"/>
                <a:cs typeface="Times New Roman"/>
              </a:rPr>
              <a:t> </a:t>
            </a:r>
            <a:r>
              <a:rPr sz="2100" baseline="41666" dirty="0">
                <a:latin typeface="Symbol"/>
                <a:cs typeface="Symbol"/>
              </a:rPr>
              <a:t></a:t>
            </a:r>
            <a:r>
              <a:rPr sz="2100" baseline="41666" dirty="0">
                <a:latin typeface="Times New Roman"/>
                <a:cs typeface="Times New Roman"/>
              </a:rPr>
              <a:t>1</a:t>
            </a:r>
            <a:r>
              <a:rPr sz="2350" i="1" dirty="0">
                <a:latin typeface="Times New Roman"/>
                <a:cs typeface="Times New Roman"/>
              </a:rPr>
              <a:t>x</a:t>
            </a:r>
            <a:r>
              <a:rPr sz="2100" i="1" baseline="41666" dirty="0">
                <a:latin typeface="Times New Roman"/>
                <a:cs typeface="Times New Roman"/>
              </a:rPr>
              <a:t>T </a:t>
            </a:r>
            <a:r>
              <a:rPr sz="2100" i="1" spc="104" baseline="41666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500" i="1" spc="-85" dirty="0">
                <a:latin typeface="Symbol"/>
                <a:cs typeface="Symbol"/>
              </a:rPr>
              <a:t></a:t>
            </a:r>
            <a:r>
              <a:rPr sz="2500" i="1" spc="-14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C	</a:t>
            </a:r>
            <a:r>
              <a:rPr sz="2500" i="1" spc="-85" dirty="0">
                <a:latin typeface="Symbol"/>
                <a:cs typeface="Symbol"/>
              </a:rPr>
              <a:t>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7080" y="5833973"/>
            <a:ext cx="28174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Note </a:t>
            </a:r>
            <a:r>
              <a:rPr sz="1400" dirty="0">
                <a:latin typeface="Arial"/>
                <a:cs typeface="Arial"/>
              </a:rPr>
              <a:t>: Pilih </a:t>
            </a:r>
            <a:r>
              <a:rPr sz="1400" spc="5" dirty="0">
                <a:latin typeface="Arial"/>
                <a:cs typeface="Arial"/>
              </a:rPr>
              <a:t>f</a:t>
            </a:r>
            <a:r>
              <a:rPr sz="1350" spc="7" baseline="-21604" dirty="0">
                <a:latin typeface="Arial"/>
                <a:cs typeface="Arial"/>
              </a:rPr>
              <a:t>i </a:t>
            </a:r>
            <a:r>
              <a:rPr sz="1400" spc="-5" dirty="0">
                <a:latin typeface="Arial"/>
                <a:cs typeface="Arial"/>
              </a:rPr>
              <a:t>yang </a:t>
            </a:r>
            <a:r>
              <a:rPr sz="1400" dirty="0">
                <a:latin typeface="Arial"/>
                <a:cs typeface="Arial"/>
              </a:rPr>
              <a:t>paling </a:t>
            </a:r>
            <a:r>
              <a:rPr sz="1400" spc="-5" dirty="0">
                <a:latin typeface="Arial"/>
                <a:cs typeface="Arial"/>
              </a:rPr>
              <a:t>maksimal  </a:t>
            </a:r>
            <a:r>
              <a:rPr sz="1400" dirty="0">
                <a:latin typeface="Arial"/>
                <a:cs typeface="Arial"/>
              </a:rPr>
              <a:t>sebagai </a:t>
            </a:r>
            <a:r>
              <a:rPr sz="1400" spc="-5" dirty="0">
                <a:latin typeface="Arial"/>
                <a:cs typeface="Arial"/>
              </a:rPr>
              <a:t>keputusan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kelasnya.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80432" y="1324546"/>
            <a:ext cx="4048125" cy="4224020"/>
            <a:chOff x="4980432" y="1324546"/>
            <a:chExt cx="4048125" cy="4224020"/>
          </a:xfrm>
        </p:grpSpPr>
        <p:sp>
          <p:nvSpPr>
            <p:cNvPr id="21" name="object 21"/>
            <p:cNvSpPr/>
            <p:nvPr/>
          </p:nvSpPr>
          <p:spPr>
            <a:xfrm>
              <a:off x="4980432" y="1324546"/>
              <a:ext cx="4048125" cy="5730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82032" y="1880171"/>
              <a:ext cx="2060575" cy="5603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77333" y="5121211"/>
              <a:ext cx="2652776" cy="4270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Contoh Studi</a:t>
            </a:r>
            <a:r>
              <a:rPr spc="-10" dirty="0"/>
              <a:t> </a:t>
            </a:r>
            <a:r>
              <a:rPr spc="-5" dirty="0"/>
              <a:t>Kasus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7927"/>
            <a:ext cx="4467860" cy="18611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Arial"/>
                <a:cs typeface="Arial"/>
              </a:rPr>
              <a:t>Penyelesaian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600" spc="-5" dirty="0">
                <a:latin typeface="Arial"/>
                <a:cs typeface="Arial"/>
              </a:rPr>
              <a:t>–	Fase Training :</a:t>
            </a:r>
            <a:endParaRPr sz="16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869"/>
              </a:spcBef>
            </a:pPr>
            <a:r>
              <a:rPr sz="1800" dirty="0">
                <a:latin typeface="Arial"/>
                <a:cs typeface="Arial"/>
              </a:rPr>
              <a:t>X = features </a:t>
            </a:r>
            <a:r>
              <a:rPr sz="1800" spc="-5" dirty="0">
                <a:latin typeface="Arial"/>
                <a:cs typeface="Arial"/>
              </a:rPr>
              <a:t>(variables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independent)</a:t>
            </a:r>
            <a:endParaRPr sz="1800">
              <a:latin typeface="Arial"/>
              <a:cs typeface="Arial"/>
            </a:endParaRPr>
          </a:p>
          <a:p>
            <a:pPr marL="4445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Arial"/>
                <a:cs typeface="Arial"/>
              </a:rPr>
              <a:t>Y = </a:t>
            </a:r>
            <a:r>
              <a:rPr sz="1800" spc="-5" dirty="0">
                <a:latin typeface="Arial"/>
                <a:cs typeface="Arial"/>
              </a:rPr>
              <a:t>Kelas/ Group (variables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dependent)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39"/>
              </a:spcBef>
            </a:pPr>
            <a:r>
              <a:rPr sz="1800" dirty="0">
                <a:latin typeface="Arial"/>
                <a:cs typeface="Arial"/>
              </a:rPr>
              <a:t>8. </a:t>
            </a:r>
            <a:r>
              <a:rPr sz="1800" spc="-5" dirty="0">
                <a:latin typeface="Arial"/>
                <a:cs typeface="Arial"/>
              </a:rPr>
              <a:t>Hitung Fungsi Diskriminan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0163" y="3520237"/>
            <a:ext cx="176530" cy="0"/>
          </a:xfrm>
          <a:custGeom>
            <a:avLst/>
            <a:gdLst/>
            <a:ahLst/>
            <a:cxnLst/>
            <a:rect l="l" t="t" r="r" b="b"/>
            <a:pathLst>
              <a:path w="176530">
                <a:moveTo>
                  <a:pt x="0" y="0"/>
                </a:moveTo>
                <a:lnTo>
                  <a:pt x="176327" y="0"/>
                </a:lnTo>
              </a:path>
            </a:pathLst>
          </a:custGeom>
          <a:ln w="12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57268" y="3509555"/>
            <a:ext cx="17526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dirty="0"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3050" y="3091998"/>
            <a:ext cx="17526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5884" y="3478897"/>
            <a:ext cx="7429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1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7464" y="3478897"/>
            <a:ext cx="7429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1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3495" y="3478897"/>
            <a:ext cx="7429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i="1" spc="-1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7274" y="3478897"/>
            <a:ext cx="125920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8960" algn="l"/>
                <a:tab pos="1167765" algn="l"/>
              </a:tabLst>
            </a:pPr>
            <a:r>
              <a:rPr sz="1400" i="1" spc="-10" dirty="0">
                <a:latin typeface="Times New Roman"/>
                <a:cs typeface="Times New Roman"/>
              </a:rPr>
              <a:t>i	i	</a:t>
            </a:r>
            <a:r>
              <a:rPr sz="1400" i="1" spc="-15" dirty="0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88600" y="3278564"/>
            <a:ext cx="928369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1615" indent="-209550">
              <a:lnSpc>
                <a:spcPct val="100000"/>
              </a:lnSpc>
              <a:spcBef>
                <a:spcPts val="135"/>
              </a:spcBef>
              <a:buFont typeface="Symbol"/>
              <a:buChar char=""/>
              <a:tabLst>
                <a:tab pos="222250" algn="l"/>
              </a:tabLst>
            </a:pPr>
            <a:r>
              <a:rPr sz="2350" spc="-80" dirty="0">
                <a:latin typeface="Times New Roman"/>
                <a:cs typeface="Times New Roman"/>
              </a:rPr>
              <a:t>ln( </a:t>
            </a:r>
            <a:r>
              <a:rPr sz="2350" i="1" dirty="0">
                <a:latin typeface="Times New Roman"/>
                <a:cs typeface="Times New Roman"/>
              </a:rPr>
              <a:t>p</a:t>
            </a:r>
            <a:r>
              <a:rPr sz="2350" i="1" spc="-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27185" y="3272185"/>
            <a:ext cx="489584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9095" algn="l"/>
              </a:tabLst>
            </a:pPr>
            <a:r>
              <a:rPr sz="1400" spc="-110" dirty="0">
                <a:latin typeface="Symbol"/>
                <a:cs typeface="Symbol"/>
              </a:rPr>
              <a:t></a:t>
            </a:r>
            <a:r>
              <a:rPr sz="1400" spc="-1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i="1" spc="-15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7711" y="3262567"/>
            <a:ext cx="2778125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81305" algn="l"/>
                <a:tab pos="1932939" algn="l"/>
                <a:tab pos="2567305" algn="l"/>
              </a:tabLst>
            </a:pPr>
            <a:r>
              <a:rPr sz="2350" i="1" dirty="0">
                <a:latin typeface="Times New Roman"/>
                <a:cs typeface="Times New Roman"/>
              </a:rPr>
              <a:t>f	</a:t>
            </a:r>
            <a:r>
              <a:rPr sz="2350" dirty="0">
                <a:latin typeface="Symbol"/>
                <a:cs typeface="Symbol"/>
              </a:rPr>
              <a:t>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500" i="1" spc="-85" dirty="0">
                <a:latin typeface="Symbol"/>
                <a:cs typeface="Symbol"/>
              </a:rPr>
              <a:t></a:t>
            </a:r>
            <a:r>
              <a:rPr sz="2500" i="1" spc="-8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C</a:t>
            </a:r>
            <a:r>
              <a:rPr sz="2350" i="1" spc="-500" dirty="0">
                <a:latin typeface="Times New Roman"/>
                <a:cs typeface="Times New Roman"/>
              </a:rPr>
              <a:t> </a:t>
            </a:r>
            <a:r>
              <a:rPr sz="2100" baseline="41666" dirty="0">
                <a:latin typeface="Symbol"/>
                <a:cs typeface="Symbol"/>
              </a:rPr>
              <a:t></a:t>
            </a:r>
            <a:r>
              <a:rPr sz="2100" baseline="41666" dirty="0">
                <a:latin typeface="Times New Roman"/>
                <a:cs typeface="Times New Roman"/>
              </a:rPr>
              <a:t>1</a:t>
            </a:r>
            <a:r>
              <a:rPr sz="2350" i="1" dirty="0">
                <a:latin typeface="Times New Roman"/>
                <a:cs typeface="Times New Roman"/>
              </a:rPr>
              <a:t>x</a:t>
            </a:r>
            <a:r>
              <a:rPr sz="2100" i="1" baseline="41666" dirty="0">
                <a:latin typeface="Times New Roman"/>
                <a:cs typeface="Times New Roman"/>
              </a:rPr>
              <a:t>T </a:t>
            </a:r>
            <a:r>
              <a:rPr sz="2100" i="1" spc="104" baseline="41666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Symbol"/>
                <a:cs typeface="Symbol"/>
              </a:rPr>
              <a:t>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500" i="1" spc="-85" dirty="0">
                <a:latin typeface="Symbol"/>
                <a:cs typeface="Symbol"/>
              </a:rPr>
              <a:t></a:t>
            </a:r>
            <a:r>
              <a:rPr sz="2500" i="1" spc="-145" dirty="0">
                <a:latin typeface="Times New Roman"/>
                <a:cs typeface="Times New Roman"/>
              </a:rPr>
              <a:t> </a:t>
            </a:r>
            <a:r>
              <a:rPr sz="2350" i="1" dirty="0">
                <a:latin typeface="Times New Roman"/>
                <a:cs typeface="Times New Roman"/>
              </a:rPr>
              <a:t>C	</a:t>
            </a:r>
            <a:r>
              <a:rPr sz="2500" i="1" spc="-85" dirty="0">
                <a:latin typeface="Symbol"/>
                <a:cs typeface="Symbol"/>
              </a:rPr>
              <a:t>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47080" y="3250438"/>
            <a:ext cx="28174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Note </a:t>
            </a:r>
            <a:r>
              <a:rPr sz="1400" dirty="0">
                <a:latin typeface="Arial"/>
                <a:cs typeface="Arial"/>
              </a:rPr>
              <a:t>: Pilih </a:t>
            </a:r>
            <a:r>
              <a:rPr sz="1400" spc="5" dirty="0">
                <a:latin typeface="Arial"/>
                <a:cs typeface="Arial"/>
              </a:rPr>
              <a:t>f</a:t>
            </a:r>
            <a:r>
              <a:rPr sz="1350" spc="7" baseline="-21604" dirty="0">
                <a:latin typeface="Arial"/>
                <a:cs typeface="Arial"/>
              </a:rPr>
              <a:t>i </a:t>
            </a:r>
            <a:r>
              <a:rPr sz="1400" spc="-5" dirty="0">
                <a:latin typeface="Arial"/>
                <a:cs typeface="Arial"/>
              </a:rPr>
              <a:t>yang </a:t>
            </a:r>
            <a:r>
              <a:rPr sz="1400" dirty="0">
                <a:latin typeface="Arial"/>
                <a:cs typeface="Arial"/>
              </a:rPr>
              <a:t>paling </a:t>
            </a:r>
            <a:r>
              <a:rPr sz="1400" spc="-5" dirty="0">
                <a:latin typeface="Arial"/>
                <a:cs typeface="Arial"/>
              </a:rPr>
              <a:t>maksimal  </a:t>
            </a:r>
            <a:r>
              <a:rPr sz="1400" dirty="0">
                <a:latin typeface="Arial"/>
                <a:cs typeface="Arial"/>
              </a:rPr>
              <a:t>sebagai </a:t>
            </a:r>
            <a:r>
              <a:rPr sz="1400" spc="-5" dirty="0">
                <a:latin typeface="Arial"/>
                <a:cs typeface="Arial"/>
              </a:rPr>
              <a:t>keputusan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kelasnya.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1550" y="3984625"/>
            <a:ext cx="7632700" cy="2305050"/>
            <a:chOff x="971550" y="3984625"/>
            <a:chExt cx="7632700" cy="2305050"/>
          </a:xfrm>
        </p:grpSpPr>
        <p:sp>
          <p:nvSpPr>
            <p:cNvPr id="16" name="object 16"/>
            <p:cNvSpPr/>
            <p:nvPr/>
          </p:nvSpPr>
          <p:spPr>
            <a:xfrm>
              <a:off x="971550" y="3984625"/>
              <a:ext cx="5011674" cy="23050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27826" y="3984625"/>
              <a:ext cx="2376424" cy="23050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296621"/>
            <a:ext cx="5499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Pengenalan </a:t>
            </a:r>
            <a:r>
              <a:rPr spc="-5" dirty="0"/>
              <a:t>Citra</a:t>
            </a:r>
            <a:r>
              <a:rPr spc="25" dirty="0"/>
              <a:t> </a:t>
            </a:r>
            <a:r>
              <a:rPr spc="-10" dirty="0"/>
              <a:t>Digital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33906"/>
            <a:ext cx="4012565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Pengambilan Citra (Acquisiton)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Ada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cahaya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Melibatkan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Hardware</a:t>
            </a:r>
            <a:endParaRPr sz="20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Kamera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digital</a:t>
            </a:r>
            <a:endParaRPr sz="20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Media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Penyimpanan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Digitasi Citra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87450" y="2060575"/>
            <a:ext cx="7234555" cy="4032250"/>
            <a:chOff x="1187450" y="2060575"/>
            <a:chExt cx="7234555" cy="4032250"/>
          </a:xfrm>
        </p:grpSpPr>
        <p:sp>
          <p:nvSpPr>
            <p:cNvPr id="5" name="object 5"/>
            <p:cNvSpPr/>
            <p:nvPr/>
          </p:nvSpPr>
          <p:spPr>
            <a:xfrm>
              <a:off x="4211701" y="2060575"/>
              <a:ext cx="2305050" cy="12970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7450" y="3668775"/>
              <a:ext cx="2663825" cy="24240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51275" y="3573525"/>
              <a:ext cx="4570349" cy="2519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49800" y="5097601"/>
              <a:ext cx="1008380" cy="171450"/>
            </a:xfrm>
            <a:custGeom>
              <a:avLst/>
              <a:gdLst/>
              <a:ahLst/>
              <a:cxnLst/>
              <a:rect l="l" t="t" r="r" b="b"/>
              <a:pathLst>
                <a:path w="1008379" h="171450">
                  <a:moveTo>
                    <a:pt x="932561" y="85586"/>
                  </a:moveTo>
                  <a:lnTo>
                    <a:pt x="846454" y="135814"/>
                  </a:lnTo>
                  <a:lnTo>
                    <a:pt x="840775" y="140864"/>
                  </a:lnTo>
                  <a:lnTo>
                    <a:pt x="837596" y="147450"/>
                  </a:lnTo>
                  <a:lnTo>
                    <a:pt x="837132" y="154727"/>
                  </a:lnTo>
                  <a:lnTo>
                    <a:pt x="839597" y="161849"/>
                  </a:lnTo>
                  <a:lnTo>
                    <a:pt x="844647" y="167528"/>
                  </a:lnTo>
                  <a:lnTo>
                    <a:pt x="851233" y="170707"/>
                  </a:lnTo>
                  <a:lnTo>
                    <a:pt x="858510" y="171172"/>
                  </a:lnTo>
                  <a:lnTo>
                    <a:pt x="865632" y="168707"/>
                  </a:lnTo>
                  <a:lnTo>
                    <a:pt x="975493" y="104572"/>
                  </a:lnTo>
                  <a:lnTo>
                    <a:pt x="970407" y="104572"/>
                  </a:lnTo>
                  <a:lnTo>
                    <a:pt x="970407" y="102032"/>
                  </a:lnTo>
                  <a:lnTo>
                    <a:pt x="960754" y="102032"/>
                  </a:lnTo>
                  <a:lnTo>
                    <a:pt x="932561" y="85586"/>
                  </a:lnTo>
                  <a:close/>
                </a:path>
                <a:path w="1008379" h="171450">
                  <a:moveTo>
                    <a:pt x="899795" y="66472"/>
                  </a:moveTo>
                  <a:lnTo>
                    <a:pt x="0" y="66472"/>
                  </a:lnTo>
                  <a:lnTo>
                    <a:pt x="0" y="104572"/>
                  </a:lnTo>
                  <a:lnTo>
                    <a:pt x="900012" y="104572"/>
                  </a:lnTo>
                  <a:lnTo>
                    <a:pt x="932561" y="85586"/>
                  </a:lnTo>
                  <a:lnTo>
                    <a:pt x="899795" y="66472"/>
                  </a:lnTo>
                  <a:close/>
                </a:path>
                <a:path w="1008379" h="171450">
                  <a:moveTo>
                    <a:pt x="975443" y="66472"/>
                  </a:moveTo>
                  <a:lnTo>
                    <a:pt x="970407" y="66472"/>
                  </a:lnTo>
                  <a:lnTo>
                    <a:pt x="970407" y="104572"/>
                  </a:lnTo>
                  <a:lnTo>
                    <a:pt x="975493" y="104572"/>
                  </a:lnTo>
                  <a:lnTo>
                    <a:pt x="1008126" y="85522"/>
                  </a:lnTo>
                  <a:lnTo>
                    <a:pt x="975443" y="66472"/>
                  </a:lnTo>
                  <a:close/>
                </a:path>
                <a:path w="1008379" h="171450">
                  <a:moveTo>
                    <a:pt x="960754" y="69139"/>
                  </a:moveTo>
                  <a:lnTo>
                    <a:pt x="932561" y="85586"/>
                  </a:lnTo>
                  <a:lnTo>
                    <a:pt x="960754" y="102032"/>
                  </a:lnTo>
                  <a:lnTo>
                    <a:pt x="960754" y="69139"/>
                  </a:lnTo>
                  <a:close/>
                </a:path>
                <a:path w="1008379" h="171450">
                  <a:moveTo>
                    <a:pt x="970407" y="69139"/>
                  </a:moveTo>
                  <a:lnTo>
                    <a:pt x="960754" y="69139"/>
                  </a:lnTo>
                  <a:lnTo>
                    <a:pt x="960754" y="102032"/>
                  </a:lnTo>
                  <a:lnTo>
                    <a:pt x="970407" y="102032"/>
                  </a:lnTo>
                  <a:lnTo>
                    <a:pt x="970407" y="69139"/>
                  </a:lnTo>
                  <a:close/>
                </a:path>
                <a:path w="1008379" h="171450">
                  <a:moveTo>
                    <a:pt x="858510" y="0"/>
                  </a:moveTo>
                  <a:lnTo>
                    <a:pt x="851233" y="464"/>
                  </a:lnTo>
                  <a:lnTo>
                    <a:pt x="844647" y="3643"/>
                  </a:lnTo>
                  <a:lnTo>
                    <a:pt x="839597" y="9322"/>
                  </a:lnTo>
                  <a:lnTo>
                    <a:pt x="837132" y="16444"/>
                  </a:lnTo>
                  <a:lnTo>
                    <a:pt x="837596" y="23721"/>
                  </a:lnTo>
                  <a:lnTo>
                    <a:pt x="840775" y="30307"/>
                  </a:lnTo>
                  <a:lnTo>
                    <a:pt x="846454" y="35357"/>
                  </a:lnTo>
                  <a:lnTo>
                    <a:pt x="932561" y="85586"/>
                  </a:lnTo>
                  <a:lnTo>
                    <a:pt x="960754" y="69139"/>
                  </a:lnTo>
                  <a:lnTo>
                    <a:pt x="970407" y="69139"/>
                  </a:lnTo>
                  <a:lnTo>
                    <a:pt x="970407" y="66472"/>
                  </a:lnTo>
                  <a:lnTo>
                    <a:pt x="975443" y="66472"/>
                  </a:lnTo>
                  <a:lnTo>
                    <a:pt x="865632" y="2464"/>
                  </a:lnTo>
                  <a:lnTo>
                    <a:pt x="8585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296621"/>
            <a:ext cx="5499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Pengenalan </a:t>
            </a:r>
            <a:r>
              <a:rPr spc="-5" dirty="0"/>
              <a:t>Citra</a:t>
            </a:r>
            <a:r>
              <a:rPr spc="25" dirty="0"/>
              <a:t> </a:t>
            </a:r>
            <a:r>
              <a:rPr spc="-10" dirty="0"/>
              <a:t>Digital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1951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Resolusi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Citra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88144"/>
            <a:ext cx="8069580" cy="127571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1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Tingkat Kecerahan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(Intensitas)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0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Citra Berwarna : 0 sampai 255 (Terdapat 256 </a:t>
            </a:r>
            <a:r>
              <a:rPr sz="1600" spc="-10" dirty="0">
                <a:latin typeface="Arial"/>
                <a:cs typeface="Arial"/>
              </a:rPr>
              <a:t>warna, </a:t>
            </a:r>
            <a:r>
              <a:rPr sz="1600" spc="-5" dirty="0">
                <a:latin typeface="Arial"/>
                <a:cs typeface="Arial"/>
              </a:rPr>
              <a:t>dengan 3 sampai 4</a:t>
            </a:r>
            <a:r>
              <a:rPr sz="1600" spc="2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lapisan)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Citra </a:t>
            </a:r>
            <a:r>
              <a:rPr sz="1600" spc="-10" dirty="0">
                <a:latin typeface="Arial"/>
                <a:cs typeface="Arial"/>
              </a:rPr>
              <a:t>Grayscale </a:t>
            </a:r>
            <a:r>
              <a:rPr sz="1600" spc="-5" dirty="0">
                <a:latin typeface="Arial"/>
                <a:cs typeface="Arial"/>
              </a:rPr>
              <a:t>: 0 sampai 255 (Terdapat 256 </a:t>
            </a:r>
            <a:r>
              <a:rPr sz="1600" spc="-10" dirty="0">
                <a:latin typeface="Arial"/>
                <a:cs typeface="Arial"/>
              </a:rPr>
              <a:t>warna, </a:t>
            </a:r>
            <a:r>
              <a:rPr sz="1600" spc="-5" dirty="0">
                <a:latin typeface="Arial"/>
                <a:cs typeface="Arial"/>
              </a:rPr>
              <a:t>dengan 1</a:t>
            </a:r>
            <a:r>
              <a:rPr sz="1600" spc="2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lapisan)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Citra Biner : 0 dan 1 (Terdapat 2 warna, dengan 1</a:t>
            </a:r>
            <a:r>
              <a:rPr sz="1600" spc="1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lapisan)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7412" y="1700276"/>
            <a:ext cx="8077200" cy="3176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296621"/>
            <a:ext cx="5499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Pengenalan </a:t>
            </a:r>
            <a:r>
              <a:rPr spc="-5" dirty="0"/>
              <a:t>Citra</a:t>
            </a:r>
            <a:r>
              <a:rPr spc="25" dirty="0"/>
              <a:t> </a:t>
            </a:r>
            <a:r>
              <a:rPr spc="-10" dirty="0"/>
              <a:t>Digital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</a:t>
            </a:r>
          </a:p>
          <a:p>
            <a:pPr marL="297180" marR="5080">
              <a:lnSpc>
                <a:spcPct val="100000"/>
              </a:lnSpc>
              <a:spcBef>
                <a:spcPts val="1240"/>
              </a:spcBef>
            </a:pPr>
            <a:r>
              <a:rPr sz="1600" spc="-5" dirty="0"/>
              <a:t>Harus ada min. 3 dan max. 4 lapisan. [ (lapisan R dan G dan B) dan/atau A) ].  Red (lapisan/channel merah), Green (lapisan hijau), Blue (lapisan biru),</a:t>
            </a:r>
            <a:r>
              <a:rPr sz="1600" spc="135" dirty="0"/>
              <a:t> </a:t>
            </a:r>
            <a:r>
              <a:rPr sz="1600" spc="-5" dirty="0"/>
              <a:t>Alpha</a:t>
            </a:r>
            <a:endParaRPr sz="1600"/>
          </a:p>
          <a:p>
            <a:pPr marL="297180">
              <a:lnSpc>
                <a:spcPct val="100000"/>
              </a:lnSpc>
              <a:spcBef>
                <a:spcPts val="385"/>
              </a:spcBef>
            </a:pPr>
            <a:r>
              <a:rPr sz="1600" spc="-5" dirty="0"/>
              <a:t>(lapisan Transparan).</a:t>
            </a:r>
            <a:endParaRPr sz="1600"/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299085" algn="l"/>
              </a:tabLst>
            </a:pPr>
            <a:r>
              <a:rPr sz="1600" spc="-5" dirty="0"/>
              <a:t>–	Citra </a:t>
            </a:r>
            <a:r>
              <a:rPr sz="1600" spc="-10" dirty="0"/>
              <a:t>Grayscale </a:t>
            </a:r>
            <a:r>
              <a:rPr sz="1600" spc="-5" dirty="0"/>
              <a:t>: 0 sampai 255 (Terdapat 256 </a:t>
            </a:r>
            <a:r>
              <a:rPr sz="1600" spc="-10" dirty="0"/>
              <a:t>warna, </a:t>
            </a:r>
            <a:r>
              <a:rPr sz="1600" spc="-5" dirty="0"/>
              <a:t>dengan 1</a:t>
            </a:r>
            <a:r>
              <a:rPr sz="1600" spc="229" dirty="0"/>
              <a:t> </a:t>
            </a:r>
            <a:r>
              <a:rPr sz="1600" spc="-5" dirty="0"/>
              <a:t>lapisan)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35940" y="1229960"/>
            <a:ext cx="8069580" cy="68961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1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Tingkat Kecerahan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(Intensitas)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  <a:tabLst>
                <a:tab pos="756285" algn="l"/>
              </a:tabLst>
            </a:pPr>
            <a:r>
              <a:rPr sz="1600" spc="-5" dirty="0">
                <a:latin typeface="Arial"/>
                <a:cs typeface="Arial"/>
              </a:rPr>
              <a:t>–	Citra Berwarna : 0 sampai 255 (Terdapat 256 </a:t>
            </a:r>
            <a:r>
              <a:rPr sz="1600" spc="-10" dirty="0">
                <a:latin typeface="Arial"/>
                <a:cs typeface="Arial"/>
              </a:rPr>
              <a:t>warna, </a:t>
            </a:r>
            <a:r>
              <a:rPr sz="1600" spc="-5" dirty="0">
                <a:latin typeface="Arial"/>
                <a:cs typeface="Arial"/>
              </a:rPr>
              <a:t>dengan 3 sampai 4</a:t>
            </a:r>
            <a:r>
              <a:rPr sz="1600" spc="25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lapisan)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5114290"/>
            <a:ext cx="5568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spc="-5" dirty="0">
                <a:latin typeface="Arial"/>
                <a:cs typeface="Arial"/>
              </a:rPr>
              <a:t>–	Citra Biner : 0 dan 1 (Terdapat 2 warna, dengan 1</a:t>
            </a:r>
            <a:r>
              <a:rPr sz="1600" spc="16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lapisan)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19275" y="1976437"/>
            <a:ext cx="5774055" cy="1105535"/>
            <a:chOff x="1319275" y="1976437"/>
            <a:chExt cx="5774055" cy="1105535"/>
          </a:xfrm>
        </p:grpSpPr>
        <p:sp>
          <p:nvSpPr>
            <p:cNvPr id="6" name="object 6"/>
            <p:cNvSpPr/>
            <p:nvPr/>
          </p:nvSpPr>
          <p:spPr>
            <a:xfrm>
              <a:off x="1331976" y="2349563"/>
              <a:ext cx="1871980" cy="719455"/>
            </a:xfrm>
            <a:custGeom>
              <a:avLst/>
              <a:gdLst/>
              <a:ahLst/>
              <a:cxnLst/>
              <a:rect l="l" t="t" r="r" b="b"/>
              <a:pathLst>
                <a:path w="1871980" h="719455">
                  <a:moveTo>
                    <a:pt x="1871599" y="0"/>
                  </a:moveTo>
                  <a:lnTo>
                    <a:pt x="0" y="0"/>
                  </a:lnTo>
                  <a:lnTo>
                    <a:pt x="0" y="358711"/>
                  </a:lnTo>
                  <a:lnTo>
                    <a:pt x="0" y="574611"/>
                  </a:lnTo>
                  <a:lnTo>
                    <a:pt x="0" y="719137"/>
                  </a:lnTo>
                  <a:lnTo>
                    <a:pt x="1871599" y="719137"/>
                  </a:lnTo>
                  <a:lnTo>
                    <a:pt x="1871599" y="574611"/>
                  </a:lnTo>
                  <a:lnTo>
                    <a:pt x="1871599" y="358711"/>
                  </a:lnTo>
                  <a:lnTo>
                    <a:pt x="18715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1975" y="2349563"/>
              <a:ext cx="1871980" cy="719455"/>
            </a:xfrm>
            <a:custGeom>
              <a:avLst/>
              <a:gdLst/>
              <a:ahLst/>
              <a:cxnLst/>
              <a:rect l="l" t="t" r="r" b="b"/>
              <a:pathLst>
                <a:path w="1871980" h="719455">
                  <a:moveTo>
                    <a:pt x="0" y="719137"/>
                  </a:moveTo>
                  <a:lnTo>
                    <a:pt x="1871599" y="719137"/>
                  </a:lnTo>
                  <a:lnTo>
                    <a:pt x="1871599" y="0"/>
                  </a:lnTo>
                  <a:lnTo>
                    <a:pt x="0" y="0"/>
                  </a:lnTo>
                  <a:lnTo>
                    <a:pt x="0" y="719137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08175" y="2205037"/>
              <a:ext cx="1871980" cy="719455"/>
            </a:xfrm>
            <a:custGeom>
              <a:avLst/>
              <a:gdLst/>
              <a:ahLst/>
              <a:cxnLst/>
              <a:rect l="l" t="t" r="r" b="b"/>
              <a:pathLst>
                <a:path w="1871979" h="719455">
                  <a:moveTo>
                    <a:pt x="1871726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0" y="719137"/>
                  </a:lnTo>
                  <a:lnTo>
                    <a:pt x="1871726" y="719137"/>
                  </a:lnTo>
                  <a:lnTo>
                    <a:pt x="1871726" y="503237"/>
                  </a:lnTo>
                  <a:lnTo>
                    <a:pt x="187172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8174" y="2205037"/>
              <a:ext cx="1871980" cy="719455"/>
            </a:xfrm>
            <a:custGeom>
              <a:avLst/>
              <a:gdLst/>
              <a:ahLst/>
              <a:cxnLst/>
              <a:rect l="l" t="t" r="r" b="b"/>
              <a:pathLst>
                <a:path w="1871979" h="719455">
                  <a:moveTo>
                    <a:pt x="0" y="719137"/>
                  </a:moveTo>
                  <a:lnTo>
                    <a:pt x="1871726" y="719137"/>
                  </a:lnTo>
                  <a:lnTo>
                    <a:pt x="1871726" y="0"/>
                  </a:lnTo>
                  <a:lnTo>
                    <a:pt x="0" y="0"/>
                  </a:lnTo>
                  <a:lnTo>
                    <a:pt x="0" y="719137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21000" y="1989137"/>
              <a:ext cx="1871980" cy="719455"/>
            </a:xfrm>
            <a:custGeom>
              <a:avLst/>
              <a:gdLst/>
              <a:ahLst/>
              <a:cxnLst/>
              <a:rect l="l" t="t" r="r" b="b"/>
              <a:pathLst>
                <a:path w="1871979" h="719455">
                  <a:moveTo>
                    <a:pt x="1871599" y="0"/>
                  </a:moveTo>
                  <a:lnTo>
                    <a:pt x="0" y="0"/>
                  </a:lnTo>
                  <a:lnTo>
                    <a:pt x="0" y="719137"/>
                  </a:lnTo>
                  <a:lnTo>
                    <a:pt x="1871599" y="719137"/>
                  </a:lnTo>
                  <a:lnTo>
                    <a:pt x="1871599" y="0"/>
                  </a:lnTo>
                  <a:close/>
                </a:path>
              </a:pathLst>
            </a:custGeom>
            <a:solidFill>
              <a:srgbClr val="7575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21000" y="1989137"/>
              <a:ext cx="1871980" cy="719455"/>
            </a:xfrm>
            <a:custGeom>
              <a:avLst/>
              <a:gdLst/>
              <a:ahLst/>
              <a:cxnLst/>
              <a:rect l="l" t="t" r="r" b="b"/>
              <a:pathLst>
                <a:path w="1871979" h="719455">
                  <a:moveTo>
                    <a:pt x="0" y="719137"/>
                  </a:moveTo>
                  <a:lnTo>
                    <a:pt x="1871599" y="719137"/>
                  </a:lnTo>
                  <a:lnTo>
                    <a:pt x="1871599" y="0"/>
                  </a:lnTo>
                  <a:lnTo>
                    <a:pt x="0" y="0"/>
                  </a:lnTo>
                  <a:lnTo>
                    <a:pt x="0" y="719137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27600" y="2421001"/>
              <a:ext cx="504825" cy="179705"/>
            </a:xfrm>
            <a:custGeom>
              <a:avLst/>
              <a:gdLst/>
              <a:ahLst/>
              <a:cxnLst/>
              <a:rect l="l" t="t" r="r" b="b"/>
              <a:pathLst>
                <a:path w="504825" h="179705">
                  <a:moveTo>
                    <a:pt x="415036" y="0"/>
                  </a:moveTo>
                  <a:lnTo>
                    <a:pt x="415036" y="44831"/>
                  </a:lnTo>
                  <a:lnTo>
                    <a:pt x="0" y="44831"/>
                  </a:lnTo>
                  <a:lnTo>
                    <a:pt x="0" y="134493"/>
                  </a:lnTo>
                  <a:lnTo>
                    <a:pt x="415036" y="134493"/>
                  </a:lnTo>
                  <a:lnTo>
                    <a:pt x="415036" y="179324"/>
                  </a:lnTo>
                  <a:lnTo>
                    <a:pt x="504825" y="89662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27600" y="2421001"/>
              <a:ext cx="504825" cy="179705"/>
            </a:xfrm>
            <a:custGeom>
              <a:avLst/>
              <a:gdLst/>
              <a:ahLst/>
              <a:cxnLst/>
              <a:rect l="l" t="t" r="r" b="b"/>
              <a:pathLst>
                <a:path w="504825" h="179705">
                  <a:moveTo>
                    <a:pt x="0" y="44831"/>
                  </a:moveTo>
                  <a:lnTo>
                    <a:pt x="415036" y="44831"/>
                  </a:lnTo>
                  <a:lnTo>
                    <a:pt x="415036" y="0"/>
                  </a:lnTo>
                  <a:lnTo>
                    <a:pt x="504825" y="89662"/>
                  </a:lnTo>
                  <a:lnTo>
                    <a:pt x="415036" y="179324"/>
                  </a:lnTo>
                  <a:lnTo>
                    <a:pt x="415036" y="134493"/>
                  </a:lnTo>
                  <a:lnTo>
                    <a:pt x="0" y="134493"/>
                  </a:lnTo>
                  <a:lnTo>
                    <a:pt x="0" y="44831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97525" y="2019236"/>
              <a:ext cx="1995424" cy="85566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57780" y="2469641"/>
            <a:ext cx="203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21001" y="2349563"/>
            <a:ext cx="782955" cy="358775"/>
          </a:xfrm>
          <a:prstGeom prst="rect">
            <a:avLst/>
          </a:prstGeom>
          <a:solidFill>
            <a:srgbClr val="7575D1"/>
          </a:solidFill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73025" algn="ctr">
              <a:lnSpc>
                <a:spcPts val="1355"/>
              </a:lnSpc>
            </a:pP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1975" y="2024062"/>
            <a:ext cx="6923405" cy="4284980"/>
            <a:chOff x="1331975" y="2024062"/>
            <a:chExt cx="6923405" cy="4284980"/>
          </a:xfrm>
        </p:grpSpPr>
        <p:sp>
          <p:nvSpPr>
            <p:cNvPr id="19" name="object 19"/>
            <p:cNvSpPr/>
            <p:nvPr/>
          </p:nvSpPr>
          <p:spPr>
            <a:xfrm>
              <a:off x="1331975" y="4292663"/>
              <a:ext cx="1993900" cy="8016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1975" y="5516562"/>
              <a:ext cx="1993900" cy="7921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5999" y="2024062"/>
              <a:ext cx="2159000" cy="83343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296621"/>
            <a:ext cx="5499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Pengenalan </a:t>
            </a:r>
            <a:r>
              <a:rPr spc="-5" dirty="0"/>
              <a:t>Citra</a:t>
            </a:r>
            <a:r>
              <a:rPr spc="25" dirty="0"/>
              <a:t> </a:t>
            </a:r>
            <a:r>
              <a:rPr spc="-10" dirty="0"/>
              <a:t>Digital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683133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Histogram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Citra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(Grafik banyaknya kemunculan warna tertentu pada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citra)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1550" y="1916048"/>
            <a:ext cx="7704455" cy="2809875"/>
            <a:chOff x="971550" y="1916048"/>
            <a:chExt cx="7704455" cy="2809875"/>
          </a:xfrm>
        </p:grpSpPr>
        <p:sp>
          <p:nvSpPr>
            <p:cNvPr id="5" name="object 5"/>
            <p:cNvSpPr/>
            <p:nvPr/>
          </p:nvSpPr>
          <p:spPr>
            <a:xfrm>
              <a:off x="4787900" y="1916048"/>
              <a:ext cx="3887851" cy="28098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4726" y="3213099"/>
              <a:ext cx="503555" cy="107950"/>
            </a:xfrm>
            <a:custGeom>
              <a:avLst/>
              <a:gdLst/>
              <a:ahLst/>
              <a:cxnLst/>
              <a:rect l="l" t="t" r="r" b="b"/>
              <a:pathLst>
                <a:path w="503554" h="107950">
                  <a:moveTo>
                    <a:pt x="449199" y="0"/>
                  </a:moveTo>
                  <a:lnTo>
                    <a:pt x="449199" y="26924"/>
                  </a:lnTo>
                  <a:lnTo>
                    <a:pt x="0" y="26924"/>
                  </a:lnTo>
                  <a:lnTo>
                    <a:pt x="0" y="80899"/>
                  </a:lnTo>
                  <a:lnTo>
                    <a:pt x="449199" y="80899"/>
                  </a:lnTo>
                  <a:lnTo>
                    <a:pt x="449199" y="107950"/>
                  </a:lnTo>
                  <a:lnTo>
                    <a:pt x="503174" y="53975"/>
                  </a:lnTo>
                  <a:lnTo>
                    <a:pt x="449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1550" y="2170048"/>
              <a:ext cx="3067050" cy="23082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4726" y="3213099"/>
              <a:ext cx="503555" cy="107950"/>
            </a:xfrm>
            <a:custGeom>
              <a:avLst/>
              <a:gdLst/>
              <a:ahLst/>
              <a:cxnLst/>
              <a:rect l="l" t="t" r="r" b="b"/>
              <a:pathLst>
                <a:path w="503554" h="107950">
                  <a:moveTo>
                    <a:pt x="0" y="26924"/>
                  </a:moveTo>
                  <a:lnTo>
                    <a:pt x="449199" y="26924"/>
                  </a:lnTo>
                  <a:lnTo>
                    <a:pt x="449199" y="0"/>
                  </a:lnTo>
                  <a:lnTo>
                    <a:pt x="503174" y="53975"/>
                  </a:lnTo>
                  <a:lnTo>
                    <a:pt x="449199" y="107950"/>
                  </a:lnTo>
                  <a:lnTo>
                    <a:pt x="449199" y="80899"/>
                  </a:lnTo>
                  <a:lnTo>
                    <a:pt x="0" y="80899"/>
                  </a:lnTo>
                  <a:lnTo>
                    <a:pt x="0" y="2692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296621"/>
            <a:ext cx="5499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Pengenalan </a:t>
            </a:r>
            <a:r>
              <a:rPr spc="-5" dirty="0"/>
              <a:t>Citra</a:t>
            </a:r>
            <a:r>
              <a:rPr spc="25" dirty="0"/>
              <a:t> </a:t>
            </a:r>
            <a:r>
              <a:rPr spc="-10" dirty="0"/>
              <a:t>Digital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3992372"/>
            <a:ext cx="2195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spc="-5" dirty="0">
                <a:latin typeface="Arial"/>
                <a:cs typeface="Arial"/>
              </a:rPr>
              <a:t>–	Peningkatan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Kontras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6100" y="1989201"/>
            <a:ext cx="7439025" cy="4248150"/>
            <a:chOff x="1316100" y="1989201"/>
            <a:chExt cx="7439025" cy="4248150"/>
          </a:xfrm>
        </p:grpSpPr>
        <p:sp>
          <p:nvSpPr>
            <p:cNvPr id="5" name="object 5"/>
            <p:cNvSpPr/>
            <p:nvPr/>
          </p:nvSpPr>
          <p:spPr>
            <a:xfrm>
              <a:off x="1328800" y="1989201"/>
              <a:ext cx="3387725" cy="18715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16100" y="4365561"/>
              <a:ext cx="3400425" cy="187172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64225" y="1989201"/>
              <a:ext cx="3386074" cy="1896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64225" y="4365561"/>
              <a:ext cx="3390900" cy="18717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5940" y="1221508"/>
            <a:ext cx="7068184" cy="70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Contoh Penerapan Pengolahan Citra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  <a:tabLst>
                <a:tab pos="756285" algn="l"/>
                <a:tab pos="4513580" algn="l"/>
                <a:tab pos="4800600" algn="l"/>
              </a:tabLst>
            </a:pPr>
            <a:r>
              <a:rPr sz="2400" spc="-7" baseline="1736" dirty="0">
                <a:latin typeface="Arial"/>
                <a:cs typeface="Arial"/>
              </a:rPr>
              <a:t>–	Menghilangkan</a:t>
            </a:r>
            <a:r>
              <a:rPr sz="2400" spc="15" baseline="1736" dirty="0">
                <a:latin typeface="Arial"/>
                <a:cs typeface="Arial"/>
              </a:rPr>
              <a:t> </a:t>
            </a:r>
            <a:r>
              <a:rPr sz="2400" spc="-7" baseline="1736" dirty="0">
                <a:latin typeface="Arial"/>
                <a:cs typeface="Arial"/>
              </a:rPr>
              <a:t>Noise	</a:t>
            </a:r>
            <a:r>
              <a:rPr sz="1600" spc="-5" dirty="0">
                <a:latin typeface="Arial"/>
                <a:cs typeface="Arial"/>
              </a:rPr>
              <a:t>–	Penajaman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(Sharpening)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7201" y="3999103"/>
            <a:ext cx="2342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spc="-5" dirty="0">
                <a:latin typeface="Arial"/>
                <a:cs typeface="Arial"/>
              </a:rPr>
              <a:t>–	Pengkaburan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(Bluring)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036" y="296621"/>
            <a:ext cx="5499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Pengenalan </a:t>
            </a:r>
            <a:r>
              <a:rPr spc="-5" dirty="0"/>
              <a:t>Citra</a:t>
            </a:r>
            <a:r>
              <a:rPr spc="25" dirty="0"/>
              <a:t> </a:t>
            </a:r>
            <a:r>
              <a:rPr spc="-10" dirty="0"/>
              <a:t>Digital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3992372"/>
            <a:ext cx="1439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600" spc="-5" dirty="0">
                <a:latin typeface="Arial"/>
                <a:cs typeface="Arial"/>
              </a:rPr>
              <a:t>–	Deteksi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Tepi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221508"/>
            <a:ext cx="6451600" cy="70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Contoh Penerapan Pengolahan Citra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  <a:tabLst>
                <a:tab pos="756285" algn="l"/>
                <a:tab pos="4513580" algn="l"/>
                <a:tab pos="4800600" algn="l"/>
              </a:tabLst>
            </a:pPr>
            <a:r>
              <a:rPr sz="2400" spc="-7" baseline="1736" dirty="0">
                <a:latin typeface="Arial"/>
                <a:cs typeface="Arial"/>
              </a:rPr>
              <a:t>–	Segmentasi</a:t>
            </a:r>
            <a:r>
              <a:rPr sz="2400" spc="30" baseline="1736" dirty="0">
                <a:latin typeface="Arial"/>
                <a:cs typeface="Arial"/>
              </a:rPr>
              <a:t> </a:t>
            </a:r>
            <a:r>
              <a:rPr sz="2400" spc="-7" baseline="1736" dirty="0">
                <a:latin typeface="Arial"/>
                <a:cs typeface="Arial"/>
              </a:rPr>
              <a:t>Citra	</a:t>
            </a:r>
            <a:r>
              <a:rPr sz="1600" spc="-5" dirty="0">
                <a:latin typeface="Arial"/>
                <a:cs typeface="Arial"/>
              </a:rPr>
              <a:t>–	Deteksi Kulit/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Skin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09750" y="1916048"/>
            <a:ext cx="7625080" cy="4321810"/>
            <a:chOff x="1309750" y="1916048"/>
            <a:chExt cx="7625080" cy="4321810"/>
          </a:xfrm>
        </p:grpSpPr>
        <p:sp>
          <p:nvSpPr>
            <p:cNvPr id="6" name="object 6"/>
            <p:cNvSpPr/>
            <p:nvPr/>
          </p:nvSpPr>
          <p:spPr>
            <a:xfrm>
              <a:off x="1309750" y="1989200"/>
              <a:ext cx="3400425" cy="1896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2450" y="4384611"/>
              <a:ext cx="3394075" cy="18526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64225" y="1916048"/>
              <a:ext cx="3570224" cy="20415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270" y="354114"/>
            <a:ext cx="675005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Demos Program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3776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Arial"/>
                <a:cs typeface="Arial"/>
              </a:rPr>
              <a:t>Visualisasi Proses Klasifikasi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452C1-457B-42F5-BC04-60C64DAA57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7037" b="16667"/>
          <a:stretch/>
        </p:blipFill>
        <p:spPr>
          <a:xfrm>
            <a:off x="0" y="838200"/>
            <a:ext cx="914400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699509"/>
            <a:ext cx="19532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1C1C1C"/>
                </a:solidFill>
                <a:latin typeface="Arial"/>
                <a:cs typeface="Arial"/>
              </a:rPr>
              <a:t>Selesai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869</Words>
  <Application>Microsoft Office PowerPoint</Application>
  <PresentationFormat>On-screen Show (4:3)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Carlito</vt:lpstr>
      <vt:lpstr>Symbol</vt:lpstr>
      <vt:lpstr>Times New Roman</vt:lpstr>
      <vt:lpstr>Wingdings</vt:lpstr>
      <vt:lpstr>Office Theme</vt:lpstr>
      <vt:lpstr>Pengenalan Pola/  Pattern Recognition</vt:lpstr>
      <vt:lpstr>Pokok Pembahasan</vt:lpstr>
      <vt:lpstr>Klasifikasi LDA</vt:lpstr>
      <vt:lpstr>Contoh Studi Kasus</vt:lpstr>
      <vt:lpstr>Contoh Studi Kasus</vt:lpstr>
      <vt:lpstr>Contoh Studi Kasus</vt:lpstr>
      <vt:lpstr>Contoh Studi Kasus</vt:lpstr>
      <vt:lpstr>Contoh Studi Kasus</vt:lpstr>
      <vt:lpstr>Pengenalan Citra Digital</vt:lpstr>
      <vt:lpstr>Pengenalan Citra Digital</vt:lpstr>
      <vt:lpstr>Pengenalan Citra Digital</vt:lpstr>
      <vt:lpstr>Pengenalan Citra Digital</vt:lpstr>
      <vt:lpstr>Pengenalan Citra Digital</vt:lpstr>
      <vt:lpstr>Pengenalan Citra Digital</vt:lpstr>
      <vt:lpstr>Demos Program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Klassifikasi III</dc:title>
  <dc:creator>Imam Cholissodin</dc:creator>
  <cp:keywords>Pengenalan Pola</cp:keywords>
  <cp:lastModifiedBy>arief kelik nugroho</cp:lastModifiedBy>
  <cp:revision>2</cp:revision>
  <dcterms:created xsi:type="dcterms:W3CDTF">2021-09-23T00:52:12Z</dcterms:created>
  <dcterms:modified xsi:type="dcterms:W3CDTF">2021-09-23T02:18:49Z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2021-09-23T00:00:00Z</vt:filetime>
  </property>
</Properties>
</file>